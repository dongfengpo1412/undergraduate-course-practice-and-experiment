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6"/>
  </p:notesMasterIdLst>
  <p:handoutMasterIdLst>
    <p:handoutMasterId r:id="rId27"/>
  </p:handoutMasterIdLst>
  <p:sldIdLst>
    <p:sldId id="303" r:id="rId2"/>
    <p:sldId id="390" r:id="rId3"/>
    <p:sldId id="397" r:id="rId4"/>
    <p:sldId id="426" r:id="rId5"/>
    <p:sldId id="398" r:id="rId6"/>
    <p:sldId id="399" r:id="rId7"/>
    <p:sldId id="431" r:id="rId8"/>
    <p:sldId id="432" r:id="rId9"/>
    <p:sldId id="425" r:id="rId10"/>
    <p:sldId id="433" r:id="rId11"/>
    <p:sldId id="434" r:id="rId12"/>
    <p:sldId id="257" r:id="rId13"/>
    <p:sldId id="407" r:id="rId14"/>
    <p:sldId id="351" r:id="rId15"/>
    <p:sldId id="422" r:id="rId16"/>
    <p:sldId id="423" r:id="rId17"/>
    <p:sldId id="420" r:id="rId18"/>
    <p:sldId id="421" r:id="rId19"/>
    <p:sldId id="406" r:id="rId20"/>
    <p:sldId id="424" r:id="rId21"/>
    <p:sldId id="427" r:id="rId22"/>
    <p:sldId id="428" r:id="rId23"/>
    <p:sldId id="429" r:id="rId24"/>
    <p:sldId id="430" r:id="rId25"/>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rgbClr val="990033"/>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2400" kern="1200">
        <a:solidFill>
          <a:srgbClr val="990033"/>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2400" kern="1200">
        <a:solidFill>
          <a:srgbClr val="990033"/>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2400" kern="1200">
        <a:solidFill>
          <a:srgbClr val="990033"/>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2400" kern="1200">
        <a:solidFill>
          <a:srgbClr val="990033"/>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2400" kern="1200">
        <a:solidFill>
          <a:srgbClr val="990033"/>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2400" kern="1200">
        <a:solidFill>
          <a:srgbClr val="990033"/>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2400" kern="1200">
        <a:solidFill>
          <a:srgbClr val="990033"/>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2400" kern="1200">
        <a:solidFill>
          <a:srgbClr val="990033"/>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000000"/>
    <a:srgbClr val="990000"/>
    <a:srgbClr val="008000"/>
    <a:srgbClr val="99FFCC"/>
    <a:srgbClr val="FFFF99"/>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43" autoAdjust="0"/>
    <p:restoredTop sz="83888" autoAdjust="0"/>
  </p:normalViewPr>
  <p:slideViewPr>
    <p:cSldViewPr>
      <p:cViewPr varScale="1">
        <p:scale>
          <a:sx n="90" d="100"/>
          <a:sy n="90" d="100"/>
        </p:scale>
        <p:origin x="1143" y="48"/>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276"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1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C048520-03FE-3342-89E7-CC7B5494A657}"/>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ea typeface="宋体" pitchFamily="2" charset="-122"/>
              </a:defRPr>
            </a:lvl1pPr>
          </a:lstStyle>
          <a:p>
            <a:pPr>
              <a:defRPr/>
            </a:pPr>
            <a:endParaRPr lang="en-US" altLang="zh-CN"/>
          </a:p>
        </p:txBody>
      </p:sp>
      <p:sp>
        <p:nvSpPr>
          <p:cNvPr id="53251" name="Rectangle 3">
            <a:extLst>
              <a:ext uri="{FF2B5EF4-FFF2-40B4-BE49-F238E27FC236}">
                <a16:creationId xmlns:a16="http://schemas.microsoft.com/office/drawing/2014/main" id="{78377598-3643-1AB1-6F2E-8824BBEF8CF8}"/>
              </a:ext>
            </a:extLst>
          </p:cNvPr>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ea typeface="宋体" pitchFamily="2" charset="-122"/>
              </a:defRPr>
            </a:lvl1pPr>
          </a:lstStyle>
          <a:p>
            <a:pPr>
              <a:defRPr/>
            </a:pPr>
            <a:endParaRPr lang="en-US" altLang="zh-CN"/>
          </a:p>
        </p:txBody>
      </p:sp>
      <p:sp>
        <p:nvSpPr>
          <p:cNvPr id="53252" name="Rectangle 4">
            <a:extLst>
              <a:ext uri="{FF2B5EF4-FFF2-40B4-BE49-F238E27FC236}">
                <a16:creationId xmlns:a16="http://schemas.microsoft.com/office/drawing/2014/main" id="{717AB0AE-BE56-859C-F22F-4EAF08907E3E}"/>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ea typeface="宋体" pitchFamily="2" charset="-122"/>
              </a:defRPr>
            </a:lvl1pPr>
          </a:lstStyle>
          <a:p>
            <a:pPr>
              <a:defRPr/>
            </a:pPr>
            <a:endParaRPr lang="en-US" altLang="zh-CN"/>
          </a:p>
        </p:txBody>
      </p:sp>
      <p:sp>
        <p:nvSpPr>
          <p:cNvPr id="53253" name="Rectangle 5">
            <a:extLst>
              <a:ext uri="{FF2B5EF4-FFF2-40B4-BE49-F238E27FC236}">
                <a16:creationId xmlns:a16="http://schemas.microsoft.com/office/drawing/2014/main" id="{A8C069EF-9B5A-769D-845D-8A6B46533764}"/>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ea typeface="宋体" panose="02010600030101010101" pitchFamily="2" charset="-122"/>
              </a:defRPr>
            </a:lvl1pPr>
          </a:lstStyle>
          <a:p>
            <a:pPr>
              <a:defRPr/>
            </a:pPr>
            <a:fld id="{EA8B7A08-2B30-46D0-878C-C4C28978B09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7CD3533E-8638-AC25-C024-FF1FE1704648}"/>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ea typeface="宋体" pitchFamily="2" charset="-122"/>
              </a:defRPr>
            </a:lvl1pPr>
          </a:lstStyle>
          <a:p>
            <a:pPr>
              <a:defRPr/>
            </a:pPr>
            <a:endParaRPr lang="en-US" altLang="zh-CN"/>
          </a:p>
        </p:txBody>
      </p:sp>
      <p:sp>
        <p:nvSpPr>
          <p:cNvPr id="55299" name="Rectangle 3">
            <a:extLst>
              <a:ext uri="{FF2B5EF4-FFF2-40B4-BE49-F238E27FC236}">
                <a16:creationId xmlns:a16="http://schemas.microsoft.com/office/drawing/2014/main" id="{575729B8-AA73-3D69-910A-07BD42384C1B}"/>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ea typeface="宋体"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101E9FD6-82A7-9405-EDE6-4A95D9AFE48A}"/>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5301" name="Rectangle 5">
            <a:extLst>
              <a:ext uri="{FF2B5EF4-FFF2-40B4-BE49-F238E27FC236}">
                <a16:creationId xmlns:a16="http://schemas.microsoft.com/office/drawing/2014/main" id="{260643E8-F144-9A56-4048-3EB18C40CEAA}"/>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5302" name="Rectangle 6">
            <a:extLst>
              <a:ext uri="{FF2B5EF4-FFF2-40B4-BE49-F238E27FC236}">
                <a16:creationId xmlns:a16="http://schemas.microsoft.com/office/drawing/2014/main" id="{954C152D-3363-0026-A0D9-4B9623D349F5}"/>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ea typeface="宋体" pitchFamily="2" charset="-122"/>
              </a:defRPr>
            </a:lvl1pPr>
          </a:lstStyle>
          <a:p>
            <a:pPr>
              <a:defRPr/>
            </a:pPr>
            <a:endParaRPr lang="en-US" altLang="zh-CN"/>
          </a:p>
        </p:txBody>
      </p:sp>
      <p:sp>
        <p:nvSpPr>
          <p:cNvPr id="55303" name="Rectangle 7">
            <a:extLst>
              <a:ext uri="{FF2B5EF4-FFF2-40B4-BE49-F238E27FC236}">
                <a16:creationId xmlns:a16="http://schemas.microsoft.com/office/drawing/2014/main" id="{F3A9F778-583F-F656-C9D0-43FF39E3C494}"/>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ea typeface="宋体" panose="02010600030101010101" pitchFamily="2" charset="-122"/>
              </a:defRPr>
            </a:lvl1pPr>
          </a:lstStyle>
          <a:p>
            <a:pPr>
              <a:defRPr/>
            </a:pPr>
            <a:fld id="{58C48A81-EABE-430D-BC21-F9FAA19FBF7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FF6D14C-9112-8574-9545-62004113A6D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1FEC5AF-4DBD-46E9-940D-480C6B54B9FD}" type="slidenum">
              <a:rPr lang="en-US" altLang="zh-CN">
                <a:solidFill>
                  <a:srgbClr val="990033"/>
                </a:solidFill>
              </a:rPr>
              <a:pPr>
                <a:spcBef>
                  <a:spcPct val="0"/>
                </a:spcBef>
              </a:pPr>
              <a:t>1</a:t>
            </a:fld>
            <a:endParaRPr lang="en-US" altLang="zh-CN">
              <a:solidFill>
                <a:srgbClr val="990033"/>
              </a:solidFill>
            </a:endParaRPr>
          </a:p>
        </p:txBody>
      </p:sp>
      <p:sp>
        <p:nvSpPr>
          <p:cNvPr id="6147" name="Rectangle 2">
            <a:extLst>
              <a:ext uri="{FF2B5EF4-FFF2-40B4-BE49-F238E27FC236}">
                <a16:creationId xmlns:a16="http://schemas.microsoft.com/office/drawing/2014/main" id="{856D249A-4209-2CDB-18CF-AC17F615B18C}"/>
              </a:ext>
            </a:extLst>
          </p:cNvPr>
          <p:cNvSpPr>
            <a:spLocks noChangeArrowheads="1" noTextEdit="1"/>
          </p:cNvSpPr>
          <p:nvPr>
            <p:ph type="sldImg"/>
          </p:nvPr>
        </p:nvSpPr>
        <p:spPr>
          <a:ln/>
        </p:spPr>
      </p:sp>
      <p:sp>
        <p:nvSpPr>
          <p:cNvPr id="6148" name="Rectangle 3">
            <a:extLst>
              <a:ext uri="{FF2B5EF4-FFF2-40B4-BE49-F238E27FC236}">
                <a16:creationId xmlns:a16="http://schemas.microsoft.com/office/drawing/2014/main" id="{5F7DEEF1-75F8-3196-1FEA-1839A6025AB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4A29F7D-14A9-C982-20B6-214D0C23FA0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01374DB-B65F-47B1-8CF0-4E9DDCB6F7E5}" type="slidenum">
              <a:rPr lang="en-US" altLang="zh-CN">
                <a:solidFill>
                  <a:srgbClr val="990033"/>
                </a:solidFill>
              </a:rPr>
              <a:pPr>
                <a:spcBef>
                  <a:spcPct val="0"/>
                </a:spcBef>
              </a:pPr>
              <a:t>12</a:t>
            </a:fld>
            <a:endParaRPr lang="en-US" altLang="zh-CN">
              <a:solidFill>
                <a:srgbClr val="990033"/>
              </a:solidFill>
            </a:endParaRPr>
          </a:p>
        </p:txBody>
      </p:sp>
      <p:sp>
        <p:nvSpPr>
          <p:cNvPr id="18435" name="Rectangle 2">
            <a:extLst>
              <a:ext uri="{FF2B5EF4-FFF2-40B4-BE49-F238E27FC236}">
                <a16:creationId xmlns:a16="http://schemas.microsoft.com/office/drawing/2014/main" id="{2B8EC0BF-9568-6A44-2AA3-652095FF5549}"/>
              </a:ext>
            </a:extLst>
          </p:cNvPr>
          <p:cNvSpPr>
            <a:spLocks noChangeArrowheads="1" noTextEdit="1"/>
          </p:cNvSpPr>
          <p:nvPr>
            <p:ph type="sldImg"/>
          </p:nvPr>
        </p:nvSpPr>
        <p:spPr>
          <a:ln/>
        </p:spPr>
      </p:sp>
      <p:sp>
        <p:nvSpPr>
          <p:cNvPr id="18436" name="Rectangle 3">
            <a:extLst>
              <a:ext uri="{FF2B5EF4-FFF2-40B4-BE49-F238E27FC236}">
                <a16:creationId xmlns:a16="http://schemas.microsoft.com/office/drawing/2014/main" id="{7FD22DAA-EDF6-ABC8-791C-5009352A9C5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04F990AC-4C3A-C429-A332-28994928604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DDA1891-C834-4D0F-BC64-146C361D0A80}" type="slidenum">
              <a:rPr lang="en-US" altLang="zh-CN">
                <a:solidFill>
                  <a:srgbClr val="990033"/>
                </a:solidFill>
              </a:rPr>
              <a:pPr>
                <a:spcBef>
                  <a:spcPct val="0"/>
                </a:spcBef>
              </a:pPr>
              <a:t>14</a:t>
            </a:fld>
            <a:endParaRPr lang="en-US" altLang="zh-CN">
              <a:solidFill>
                <a:srgbClr val="990033"/>
              </a:solidFill>
            </a:endParaRPr>
          </a:p>
        </p:txBody>
      </p:sp>
      <p:sp>
        <p:nvSpPr>
          <p:cNvPr id="21507" name="Rectangle 2">
            <a:extLst>
              <a:ext uri="{FF2B5EF4-FFF2-40B4-BE49-F238E27FC236}">
                <a16:creationId xmlns:a16="http://schemas.microsoft.com/office/drawing/2014/main" id="{5BD115CD-4F62-9D0E-0E7D-E284C795BE51}"/>
              </a:ext>
            </a:extLst>
          </p:cNvPr>
          <p:cNvSpPr>
            <a:spLocks noChangeArrowheads="1" noTextEdit="1"/>
          </p:cNvSpPr>
          <p:nvPr>
            <p:ph type="sldImg"/>
          </p:nvPr>
        </p:nvSpPr>
        <p:spPr>
          <a:ln/>
        </p:spPr>
      </p:sp>
      <p:sp>
        <p:nvSpPr>
          <p:cNvPr id="21508" name="Rectangle 3">
            <a:extLst>
              <a:ext uri="{FF2B5EF4-FFF2-40B4-BE49-F238E27FC236}">
                <a16:creationId xmlns:a16="http://schemas.microsoft.com/office/drawing/2014/main" id="{90202DFB-F59E-B1BB-3E13-FBB5D20A31E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487B589-EFDB-463F-DBA4-A1DAFBCC044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E189994-A98C-44B1-975C-5043491AA537}" type="slidenum">
              <a:rPr lang="en-US" altLang="zh-CN"/>
              <a:pPr>
                <a:spcBef>
                  <a:spcPct val="0"/>
                </a:spcBef>
              </a:pPr>
              <a:t>16</a:t>
            </a:fld>
            <a:endParaRPr lang="en-US" altLang="zh-CN"/>
          </a:p>
        </p:txBody>
      </p:sp>
      <p:sp>
        <p:nvSpPr>
          <p:cNvPr id="24579" name="Rectangle 2">
            <a:extLst>
              <a:ext uri="{FF2B5EF4-FFF2-40B4-BE49-F238E27FC236}">
                <a16:creationId xmlns:a16="http://schemas.microsoft.com/office/drawing/2014/main" id="{B68C597A-47E9-EA88-72A0-2BBD3A15B319}"/>
              </a:ext>
            </a:extLst>
          </p:cNvPr>
          <p:cNvSpPr>
            <a:spLocks noChangeArrowheads="1" noTextEdit="1"/>
          </p:cNvSpPr>
          <p:nvPr>
            <p:ph type="sldImg"/>
          </p:nvPr>
        </p:nvSpPr>
        <p:spPr>
          <a:ln/>
        </p:spPr>
      </p:sp>
      <p:sp>
        <p:nvSpPr>
          <p:cNvPr id="24580" name="Rectangle 3">
            <a:extLst>
              <a:ext uri="{FF2B5EF4-FFF2-40B4-BE49-F238E27FC236}">
                <a16:creationId xmlns:a16="http://schemas.microsoft.com/office/drawing/2014/main" id="{3D654D52-8DF4-5305-B669-C2853A582A6D}"/>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a:t>1</a:t>
            </a:r>
            <a:r>
              <a:rPr lang="zh-CN" altLang="en-US"/>
              <a:t>、最大信号输出频率由采样率决定，倍频或混频也可以提高信号的输出频率，但将带来结构复杂、引入附加频率、无法实现信号频率捷变等缺点。而提高采样频率，扩大信号直接输出的频率范围或带宽，不仅可以直接在时域内产生所需的激励信号，同时也可以提高测试系统的实时性。 </a:t>
            </a:r>
          </a:p>
          <a:p>
            <a:pPr eaLnBrk="1" hangingPunct="1"/>
            <a:r>
              <a:rPr lang="en-US" altLang="zh-CN"/>
              <a:t>2</a:t>
            </a:r>
            <a:r>
              <a:rPr lang="zh-CN" altLang="en-US"/>
              <a:t>、存储深度越深，表示用来描述信号一个周期的样本数目就越多，就能描述复杂度更高的波形，所描述波形细节的效果也就越好。随着持续采样技术与海量存储技术的发展，在一些测试验证过程中常常对现场信息进行长时间捕获与记录，用于后续分析以及回放，这对任意波形合成技术的存储深度以及持续波形产生能力提出了较高的要求。</a:t>
            </a:r>
          </a:p>
          <a:p>
            <a:pPr eaLnBrk="1" hangingPunct="1"/>
            <a:r>
              <a:rPr lang="en-US" altLang="zh-CN"/>
              <a:t>2</a:t>
            </a:r>
            <a:r>
              <a:rPr lang="zh-CN" altLang="en-US"/>
              <a:t>、作为一种基于数字技术的波形合成方法，任意波形合成过程中具有较多的误差来源。进一步研究误差来源对输出波形的影响情况，以及在提高采样频率的同时改善输出波形的质量，是高速任意波形合成的关键技术及难点。 </a:t>
            </a:r>
          </a:p>
          <a:p>
            <a:pPr eaLnBrk="1" hangingPunct="1"/>
            <a:r>
              <a:rPr lang="en-US" altLang="zh-CN"/>
              <a:t>4</a:t>
            </a:r>
            <a:r>
              <a:rPr lang="zh-CN" altLang="en-US"/>
              <a:t>、由于布局布线及传输延迟等因素的影响，单纯从物理上保证通道间信号的同步精度非常困难。因此，精密同步是多通道任意波形合成的关键技术之一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35">
            <a:extLst>
              <a:ext uri="{FF2B5EF4-FFF2-40B4-BE49-F238E27FC236}">
                <a16:creationId xmlns:a16="http://schemas.microsoft.com/office/drawing/2014/main" id="{D57A9C79-FDF3-CE6E-8251-384CBB375698}"/>
              </a:ext>
            </a:extLst>
          </p:cNvPr>
          <p:cNvSpPr>
            <a:spLocks noChangeArrowheads="1"/>
          </p:cNvSpPr>
          <p:nvPr/>
        </p:nvSpPr>
        <p:spPr bwMode="hidden">
          <a:xfrm>
            <a:off x="0" y="0"/>
            <a:ext cx="3505200" cy="6858000"/>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eaLnBrk="1" hangingPunct="1">
              <a:defRPr/>
            </a:pPr>
            <a:endParaRPr kumimoji="0" lang="zh-CN" altLang="zh-CN">
              <a:solidFill>
                <a:schemeClr val="tx1"/>
              </a:solidFill>
              <a:ea typeface="宋体" panose="02010600030101010101" pitchFamily="2" charset="-122"/>
            </a:endParaRPr>
          </a:p>
        </p:txBody>
      </p:sp>
      <p:sp>
        <p:nvSpPr>
          <p:cNvPr id="3" name="Rectangle 36">
            <a:extLst>
              <a:ext uri="{FF2B5EF4-FFF2-40B4-BE49-F238E27FC236}">
                <a16:creationId xmlns:a16="http://schemas.microsoft.com/office/drawing/2014/main" id="{A9AFA801-9CB0-266E-7583-F29BDA12E407}"/>
              </a:ext>
            </a:extLst>
          </p:cNvPr>
          <p:cNvSpPr>
            <a:spLocks noChangeArrowheads="1"/>
          </p:cNvSpPr>
          <p:nvPr/>
        </p:nvSpPr>
        <p:spPr bwMode="hidden">
          <a:xfrm>
            <a:off x="1716088" y="1690688"/>
            <a:ext cx="7427912" cy="2533650"/>
          </a:xfrm>
          <a:prstGeom prst="rect">
            <a:avLst/>
          </a:prstGeom>
          <a:solidFill>
            <a:srgbClr val="000099"/>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4" name="Rectangle 38">
            <a:extLst>
              <a:ext uri="{FF2B5EF4-FFF2-40B4-BE49-F238E27FC236}">
                <a16:creationId xmlns:a16="http://schemas.microsoft.com/office/drawing/2014/main" id="{6B04D881-E3A0-8EA6-69B7-68EF88428B01}"/>
              </a:ext>
            </a:extLst>
          </p:cNvPr>
          <p:cNvSpPr>
            <a:spLocks noChangeArrowheads="1"/>
          </p:cNvSpPr>
          <p:nvPr/>
        </p:nvSpPr>
        <p:spPr bwMode="auto">
          <a:xfrm>
            <a:off x="573088" y="3582988"/>
            <a:ext cx="576262" cy="641350"/>
          </a:xfrm>
          <a:prstGeom prst="rect">
            <a:avLst/>
          </a:prstGeom>
          <a:solidFill>
            <a:schemeClr val="accent2"/>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5" name="Rectangle 39">
            <a:extLst>
              <a:ext uri="{FF2B5EF4-FFF2-40B4-BE49-F238E27FC236}">
                <a16:creationId xmlns:a16="http://schemas.microsoft.com/office/drawing/2014/main" id="{60FDA937-CC5A-CBA2-8288-E14A63971087}"/>
              </a:ext>
            </a:extLst>
          </p:cNvPr>
          <p:cNvSpPr>
            <a:spLocks noChangeArrowheads="1"/>
          </p:cNvSpPr>
          <p:nvPr/>
        </p:nvSpPr>
        <p:spPr bwMode="auto">
          <a:xfrm>
            <a:off x="1716088" y="1690688"/>
            <a:ext cx="574675" cy="642937"/>
          </a:xfrm>
          <a:prstGeom prst="rect">
            <a:avLst/>
          </a:prstGeom>
          <a:solidFill>
            <a:schemeClr val="folHlink"/>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6" name="Rectangle 40">
            <a:extLst>
              <a:ext uri="{FF2B5EF4-FFF2-40B4-BE49-F238E27FC236}">
                <a16:creationId xmlns:a16="http://schemas.microsoft.com/office/drawing/2014/main" id="{55D62906-DE21-FCBB-F6A6-156A87E0AD11}"/>
              </a:ext>
            </a:extLst>
          </p:cNvPr>
          <p:cNvSpPr>
            <a:spLocks noChangeArrowheads="1"/>
          </p:cNvSpPr>
          <p:nvPr/>
        </p:nvSpPr>
        <p:spPr bwMode="auto">
          <a:xfrm>
            <a:off x="2281238" y="1066800"/>
            <a:ext cx="585787" cy="635000"/>
          </a:xfrm>
          <a:prstGeom prst="rect">
            <a:avLst/>
          </a:prstGeom>
          <a:solidFill>
            <a:schemeClr val="folHlink"/>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7" name="Rectangle 41">
            <a:extLst>
              <a:ext uri="{FF2B5EF4-FFF2-40B4-BE49-F238E27FC236}">
                <a16:creationId xmlns:a16="http://schemas.microsoft.com/office/drawing/2014/main" id="{3273446B-B379-FA5C-8A80-BD20782B6C18}"/>
              </a:ext>
            </a:extLst>
          </p:cNvPr>
          <p:cNvSpPr>
            <a:spLocks noChangeArrowheads="1"/>
          </p:cNvSpPr>
          <p:nvPr/>
        </p:nvSpPr>
        <p:spPr bwMode="auto">
          <a:xfrm>
            <a:off x="1141413" y="3582988"/>
            <a:ext cx="584200" cy="641350"/>
          </a:xfrm>
          <a:prstGeom prst="rect">
            <a:avLst/>
          </a:prstGeom>
          <a:solidFill>
            <a:srgbClr val="000099"/>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8" name="Rectangle 43">
            <a:extLst>
              <a:ext uri="{FF2B5EF4-FFF2-40B4-BE49-F238E27FC236}">
                <a16:creationId xmlns:a16="http://schemas.microsoft.com/office/drawing/2014/main" id="{0A27C274-9448-436D-5E99-8EE1A60206D2}"/>
              </a:ext>
            </a:extLst>
          </p:cNvPr>
          <p:cNvSpPr>
            <a:spLocks noChangeArrowheads="1"/>
          </p:cNvSpPr>
          <p:nvPr/>
        </p:nvSpPr>
        <p:spPr bwMode="auto">
          <a:xfrm>
            <a:off x="1141413" y="2324100"/>
            <a:ext cx="584200" cy="633413"/>
          </a:xfrm>
          <a:prstGeom prst="rect">
            <a:avLst/>
          </a:prstGeom>
          <a:solidFill>
            <a:schemeClr val="folHlink"/>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9" name="Rectangle 45">
            <a:extLst>
              <a:ext uri="{FF2B5EF4-FFF2-40B4-BE49-F238E27FC236}">
                <a16:creationId xmlns:a16="http://schemas.microsoft.com/office/drawing/2014/main" id="{73151C53-CFF5-F47D-4F52-B89C8E7CF9FA}"/>
              </a:ext>
            </a:extLst>
          </p:cNvPr>
          <p:cNvSpPr>
            <a:spLocks noChangeArrowheads="1"/>
          </p:cNvSpPr>
          <p:nvPr/>
        </p:nvSpPr>
        <p:spPr bwMode="auto">
          <a:xfrm>
            <a:off x="1716088" y="2324100"/>
            <a:ext cx="574675" cy="633413"/>
          </a:xfrm>
          <a:prstGeom prst="rect">
            <a:avLst/>
          </a:prstGeom>
          <a:solidFill>
            <a:schemeClr val="accent2"/>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10" name="Rectangle 46">
            <a:extLst>
              <a:ext uri="{FF2B5EF4-FFF2-40B4-BE49-F238E27FC236}">
                <a16:creationId xmlns:a16="http://schemas.microsoft.com/office/drawing/2014/main" id="{B26F5255-B913-9C94-568A-36666C8E9B35}"/>
              </a:ext>
            </a:extLst>
          </p:cNvPr>
          <p:cNvSpPr>
            <a:spLocks noChangeArrowheads="1"/>
          </p:cNvSpPr>
          <p:nvPr/>
        </p:nvSpPr>
        <p:spPr bwMode="auto">
          <a:xfrm>
            <a:off x="573088" y="2947988"/>
            <a:ext cx="576262" cy="644525"/>
          </a:xfrm>
          <a:prstGeom prst="rect">
            <a:avLst/>
          </a:prstGeom>
          <a:solidFill>
            <a:schemeClr val="folHlink"/>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11" name="Rectangle 47">
            <a:extLst>
              <a:ext uri="{FF2B5EF4-FFF2-40B4-BE49-F238E27FC236}">
                <a16:creationId xmlns:a16="http://schemas.microsoft.com/office/drawing/2014/main" id="{6F36D641-0F4B-15F4-8DE3-B4B4490E49B2}"/>
              </a:ext>
            </a:extLst>
          </p:cNvPr>
          <p:cNvSpPr>
            <a:spLocks noChangeArrowheads="1"/>
          </p:cNvSpPr>
          <p:nvPr/>
        </p:nvSpPr>
        <p:spPr bwMode="auto">
          <a:xfrm>
            <a:off x="1141413" y="2947988"/>
            <a:ext cx="584200" cy="644525"/>
          </a:xfrm>
          <a:prstGeom prst="rect">
            <a:avLst/>
          </a:prstGeom>
          <a:solidFill>
            <a:schemeClr val="accent2"/>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12" name="Rectangle 64">
            <a:extLst>
              <a:ext uri="{FF2B5EF4-FFF2-40B4-BE49-F238E27FC236}">
                <a16:creationId xmlns:a16="http://schemas.microsoft.com/office/drawing/2014/main" id="{71291B46-9EE9-7B04-28B1-D2286CEC88E7}"/>
              </a:ext>
            </a:extLst>
          </p:cNvPr>
          <p:cNvSpPr>
            <a:spLocks noChangeArrowheads="1"/>
          </p:cNvSpPr>
          <p:nvPr/>
        </p:nvSpPr>
        <p:spPr bwMode="auto">
          <a:xfrm>
            <a:off x="2286000" y="1676400"/>
            <a:ext cx="574675" cy="633413"/>
          </a:xfrm>
          <a:prstGeom prst="rect">
            <a:avLst/>
          </a:prstGeom>
          <a:solidFill>
            <a:schemeClr val="accent2"/>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13" name="Rectangle 65">
            <a:extLst>
              <a:ext uri="{FF2B5EF4-FFF2-40B4-BE49-F238E27FC236}">
                <a16:creationId xmlns:a16="http://schemas.microsoft.com/office/drawing/2014/main" id="{E09ECE90-0952-A44C-947C-7B8E303D72DF}"/>
              </a:ext>
            </a:extLst>
          </p:cNvPr>
          <p:cNvSpPr>
            <a:spLocks noChangeArrowheads="1"/>
          </p:cNvSpPr>
          <p:nvPr/>
        </p:nvSpPr>
        <p:spPr bwMode="auto">
          <a:xfrm>
            <a:off x="0" y="2311400"/>
            <a:ext cx="576263" cy="644525"/>
          </a:xfrm>
          <a:prstGeom prst="rect">
            <a:avLst/>
          </a:prstGeom>
          <a:solidFill>
            <a:srgbClr val="4D3CA2"/>
          </a:solidFill>
          <a:ln>
            <a:noFill/>
          </a:ln>
        </p:spPr>
        <p:txBody>
          <a:bodyPr/>
          <a:lstStyle>
            <a:lvl1pPr eaLnBrk="0" hangingPunct="0">
              <a:defRPr kumimoji="1" sz="2400">
                <a:solidFill>
                  <a:srgbClr val="990033"/>
                </a:solidFill>
                <a:latin typeface="Times New Roman" panose="02020603050405020304" pitchFamily="18" charset="0"/>
                <a:ea typeface="黑体" panose="02010609060101010101" pitchFamily="49" charset="-122"/>
              </a:defRPr>
            </a:lvl1pPr>
            <a:lvl2pPr marL="742950" indent="-285750" eaLnBrk="0" hangingPunct="0">
              <a:defRPr kumimoji="1" sz="2400">
                <a:solidFill>
                  <a:srgbClr val="990033"/>
                </a:solidFill>
                <a:latin typeface="Times New Roman" panose="02020603050405020304" pitchFamily="18" charset="0"/>
                <a:ea typeface="黑体" panose="02010609060101010101" pitchFamily="49" charset="-122"/>
              </a:defRPr>
            </a:lvl2pPr>
            <a:lvl3pPr marL="1143000" indent="-228600" eaLnBrk="0" hangingPunct="0">
              <a:defRPr kumimoji="1" sz="2400">
                <a:solidFill>
                  <a:srgbClr val="990033"/>
                </a:solidFill>
                <a:latin typeface="Times New Roman" panose="02020603050405020304" pitchFamily="18" charset="0"/>
                <a:ea typeface="黑体" panose="02010609060101010101" pitchFamily="49" charset="-122"/>
              </a:defRPr>
            </a:lvl3pPr>
            <a:lvl4pPr marL="1600200" indent="-228600" eaLnBrk="0" hangingPunct="0">
              <a:defRPr kumimoji="1" sz="2400">
                <a:solidFill>
                  <a:srgbClr val="990033"/>
                </a:solidFill>
                <a:latin typeface="Times New Roman" panose="02020603050405020304" pitchFamily="18" charset="0"/>
                <a:ea typeface="黑体" panose="02010609060101010101" pitchFamily="49" charset="-122"/>
              </a:defRPr>
            </a:lvl4pPr>
            <a:lvl5pPr marL="2057400" indent="-228600" eaLnBrk="0" hangingPunct="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defRPr/>
            </a:pPr>
            <a:endParaRPr kumimoji="0" lang="zh-CN" altLang="zh-CN">
              <a:solidFill>
                <a:schemeClr val="tx1"/>
              </a:solidFill>
              <a:ea typeface="宋体" panose="02010600030101010101" pitchFamily="2" charset="-122"/>
            </a:endParaRPr>
          </a:p>
        </p:txBody>
      </p:sp>
      <p:sp>
        <p:nvSpPr>
          <p:cNvPr id="14" name="Rectangle 31">
            <a:extLst>
              <a:ext uri="{FF2B5EF4-FFF2-40B4-BE49-F238E27FC236}">
                <a16:creationId xmlns:a16="http://schemas.microsoft.com/office/drawing/2014/main" id="{400538C1-9733-68F0-161A-3404C77CA0EA}"/>
              </a:ext>
            </a:extLst>
          </p:cNvPr>
          <p:cNvSpPr>
            <a:spLocks noGrp="1" noChangeArrowheads="1"/>
          </p:cNvSpPr>
          <p:nvPr>
            <p:ph type="dt" sz="quarter" idx="10"/>
          </p:nvPr>
        </p:nvSpPr>
        <p:spPr bwMode="auto">
          <a:xfrm>
            <a:off x="685800" y="6348413"/>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kumimoji="0" sz="1400">
                <a:solidFill>
                  <a:schemeClr val="tx1"/>
                </a:solidFill>
                <a:ea typeface="+mn-ea"/>
              </a:defRPr>
            </a:lvl1pPr>
          </a:lstStyle>
          <a:p>
            <a:pPr>
              <a:defRPr/>
            </a:pPr>
            <a:endParaRPr lang="en-US" altLang="zh-CN"/>
          </a:p>
        </p:txBody>
      </p:sp>
      <p:sp>
        <p:nvSpPr>
          <p:cNvPr id="15" name="Rectangle 32">
            <a:extLst>
              <a:ext uri="{FF2B5EF4-FFF2-40B4-BE49-F238E27FC236}">
                <a16:creationId xmlns:a16="http://schemas.microsoft.com/office/drawing/2014/main" id="{A45E271B-333B-C103-08C0-F168B13DA6AB}"/>
              </a:ext>
            </a:extLst>
          </p:cNvPr>
          <p:cNvSpPr>
            <a:spLocks noGrp="1" noChangeArrowheads="1"/>
          </p:cNvSpPr>
          <p:nvPr>
            <p:ph type="ftr" sz="quarter" idx="11"/>
          </p:nvPr>
        </p:nvSpPr>
        <p:spPr bwMode="auto">
          <a:xfrm>
            <a:off x="3657600" y="6348413"/>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kumimoji="0" sz="1400">
                <a:solidFill>
                  <a:schemeClr val="tx1"/>
                </a:solidFill>
                <a:ea typeface="+mn-ea"/>
              </a:defRPr>
            </a:lvl1pPr>
          </a:lstStyle>
          <a:p>
            <a:pPr>
              <a:defRPr/>
            </a:pPr>
            <a:endParaRPr lang="en-US" altLang="zh-CN"/>
          </a:p>
        </p:txBody>
      </p:sp>
      <p:sp>
        <p:nvSpPr>
          <p:cNvPr id="16" name="Rectangle 33">
            <a:extLst>
              <a:ext uri="{FF2B5EF4-FFF2-40B4-BE49-F238E27FC236}">
                <a16:creationId xmlns:a16="http://schemas.microsoft.com/office/drawing/2014/main" id="{B8656CA6-B847-2222-C5B5-0AC9F812BF5A}"/>
              </a:ext>
            </a:extLst>
          </p:cNvPr>
          <p:cNvSpPr>
            <a:spLocks noGrp="1" noChangeArrowheads="1"/>
          </p:cNvSpPr>
          <p:nvPr>
            <p:ph type="sldNum" sz="quarter" idx="12"/>
          </p:nvPr>
        </p:nvSpPr>
        <p:spPr bwMode="auto">
          <a:xfrm>
            <a:off x="7086600" y="6348413"/>
            <a:ext cx="19050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kumimoji="0" sz="1400" smtClean="0">
                <a:solidFill>
                  <a:schemeClr val="tx1"/>
                </a:solidFill>
                <a:ea typeface="宋体" panose="02010600030101010101" pitchFamily="2" charset="-122"/>
              </a:defRPr>
            </a:lvl1pPr>
          </a:lstStyle>
          <a:p>
            <a:pPr>
              <a:defRPr/>
            </a:pPr>
            <a:fld id="{69C62A5C-26E5-4F26-9EAF-BB8FA50EEA26}" type="slidenum">
              <a:rPr lang="en-US" altLang="zh-CN"/>
              <a:pPr>
                <a:defRPr/>
              </a:pPr>
              <a:t>‹#›</a:t>
            </a:fld>
            <a:endParaRPr lang="en-US" altLang="zh-CN"/>
          </a:p>
        </p:txBody>
      </p:sp>
    </p:spTree>
    <p:extLst>
      <p:ext uri="{BB962C8B-B14F-4D97-AF65-F5344CB8AC3E}">
        <p14:creationId xmlns:p14="http://schemas.microsoft.com/office/powerpoint/2010/main" val="3269287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72253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69006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24627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88707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49172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685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412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741246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81011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2052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image" Target="../media/image7.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pic>
        <p:nvPicPr>
          <p:cNvPr id="1026" name="Picture 45">
            <a:extLst>
              <a:ext uri="{FF2B5EF4-FFF2-40B4-BE49-F238E27FC236}">
                <a16:creationId xmlns:a16="http://schemas.microsoft.com/office/drawing/2014/main" id="{EB567BB3-4EF6-A0CB-193E-765E4DCA39CC}"/>
              </a:ext>
            </a:extLst>
          </p:cNvPr>
          <p:cNvPicPr>
            <a:picLocks noChangeAspect="1" noChangeArrowheads="1"/>
          </p:cNvPicPr>
          <p:nvPr userDrawn="1"/>
        </p:nvPicPr>
        <p:blipFill>
          <a:blip r:embed="rId14">
            <a:lum bright="-6000" contrast="6000"/>
            <a:extLst>
              <a:ext uri="{28A0092B-C50C-407E-A947-70E740481C1C}">
                <a14:useLocalDpi xmlns:a14="http://schemas.microsoft.com/office/drawing/2010/main" val="0"/>
              </a:ext>
            </a:extLst>
          </a:blip>
          <a:srcRect/>
          <a:stretch>
            <a:fillRect/>
          </a:stretch>
        </p:blipFill>
        <p:spPr bwMode="auto">
          <a:xfrm>
            <a:off x="8448675" y="22225"/>
            <a:ext cx="66675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36"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ctr"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ctr"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ctr"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ctr" rtl="0" fontAlgn="base">
        <a:spcBef>
          <a:spcPct val="0"/>
        </a:spcBef>
        <a:spcAft>
          <a:spcPct val="0"/>
        </a:spcAft>
        <a:defRPr kumimoji="1" sz="4400">
          <a:solidFill>
            <a:schemeClr val="tx2"/>
          </a:solidFill>
          <a:latin typeface="Tahoma" pitchFamily="34" charset="0"/>
          <a:ea typeface="宋体" pitchFamily="2" charset="-122"/>
        </a:defRPr>
      </a:lvl6pPr>
      <a:lvl7pPr marL="914400" algn="ctr" rtl="0" fontAlgn="base">
        <a:spcBef>
          <a:spcPct val="0"/>
        </a:spcBef>
        <a:spcAft>
          <a:spcPct val="0"/>
        </a:spcAft>
        <a:defRPr kumimoji="1" sz="4400">
          <a:solidFill>
            <a:schemeClr val="tx2"/>
          </a:solidFill>
          <a:latin typeface="Tahoma" pitchFamily="34" charset="0"/>
          <a:ea typeface="宋体" pitchFamily="2" charset="-122"/>
        </a:defRPr>
      </a:lvl7pPr>
      <a:lvl8pPr marL="1371600" algn="ctr" rtl="0" fontAlgn="base">
        <a:spcBef>
          <a:spcPct val="0"/>
        </a:spcBef>
        <a:spcAft>
          <a:spcPct val="0"/>
        </a:spcAft>
        <a:defRPr kumimoji="1" sz="4400">
          <a:solidFill>
            <a:schemeClr val="tx2"/>
          </a:solidFill>
          <a:latin typeface="Tahoma" pitchFamily="34" charset="0"/>
          <a:ea typeface="宋体" pitchFamily="2" charset="-122"/>
        </a:defRPr>
      </a:lvl8pPr>
      <a:lvl9pPr marL="1828800" algn="ctr"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SzPct val="90000"/>
        <a:buBlip>
          <a:blip r:embed="rId15"/>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SzPct val="80000"/>
        <a:buBlip>
          <a:blip r:embed="rId16"/>
        </a:buBlip>
        <a:defRPr kumimoji="1" sz="2800">
          <a:solidFill>
            <a:schemeClr val="tx1"/>
          </a:solidFill>
          <a:latin typeface="+mn-lt"/>
          <a:ea typeface="+mn-ea"/>
        </a:defRPr>
      </a:lvl2pPr>
      <a:lvl3pPr marL="1143000" indent="-228600" algn="l" rtl="0" eaLnBrk="0" fontAlgn="base" hangingPunct="0">
        <a:spcBef>
          <a:spcPct val="20000"/>
        </a:spcBef>
        <a:spcAft>
          <a:spcPct val="0"/>
        </a:spcAft>
        <a:buSzPct val="70000"/>
        <a:buBlip>
          <a:blip r:embed="rId17"/>
        </a:buBlip>
        <a:defRPr kumimoji="1" sz="2400">
          <a:solidFill>
            <a:schemeClr val="tx1"/>
          </a:solidFill>
          <a:latin typeface="+mn-lt"/>
          <a:ea typeface="+mn-ea"/>
        </a:defRPr>
      </a:lvl3pPr>
      <a:lvl4pPr marL="1600200" indent="-228600" algn="l" rtl="0" eaLnBrk="0" fontAlgn="base" hangingPunct="0">
        <a:spcBef>
          <a:spcPct val="20000"/>
        </a:spcBef>
        <a:spcAft>
          <a:spcPct val="0"/>
        </a:spcAft>
        <a:buSzPct val="70000"/>
        <a:buBlip>
          <a:blip r:embed="rId18"/>
        </a:buBlip>
        <a:defRPr kumimoji="1" sz="2000">
          <a:solidFill>
            <a:schemeClr val="tx1"/>
          </a:solidFill>
          <a:latin typeface="+mn-lt"/>
          <a:ea typeface="+mn-ea"/>
        </a:defRPr>
      </a:lvl4pPr>
      <a:lvl5pPr marL="2057400" indent="-228600" algn="l" rtl="0" eaLnBrk="0" fontAlgn="base" hangingPunct="0">
        <a:spcBef>
          <a:spcPct val="20000"/>
        </a:spcBef>
        <a:spcAft>
          <a:spcPct val="0"/>
        </a:spcAft>
        <a:buSzPct val="70000"/>
        <a:buBlip>
          <a:blip r:embed="rId19"/>
        </a:buBlip>
        <a:defRPr kumimoji="1" sz="2000">
          <a:solidFill>
            <a:schemeClr val="tx1"/>
          </a:solidFill>
          <a:latin typeface="+mn-lt"/>
          <a:ea typeface="+mn-ea"/>
        </a:defRPr>
      </a:lvl5pPr>
      <a:lvl6pPr marL="2514600" indent="-228600" algn="l" rtl="0" fontAlgn="base">
        <a:spcBef>
          <a:spcPct val="20000"/>
        </a:spcBef>
        <a:spcAft>
          <a:spcPct val="0"/>
        </a:spcAft>
        <a:buSzPct val="70000"/>
        <a:buBlip>
          <a:blip r:embed="rId19"/>
        </a:buBlip>
        <a:defRPr kumimoji="1" sz="2000">
          <a:solidFill>
            <a:schemeClr val="tx1"/>
          </a:solidFill>
          <a:latin typeface="+mn-lt"/>
          <a:ea typeface="+mn-ea"/>
        </a:defRPr>
      </a:lvl6pPr>
      <a:lvl7pPr marL="2971800" indent="-228600" algn="l" rtl="0" fontAlgn="base">
        <a:spcBef>
          <a:spcPct val="20000"/>
        </a:spcBef>
        <a:spcAft>
          <a:spcPct val="0"/>
        </a:spcAft>
        <a:buSzPct val="70000"/>
        <a:buBlip>
          <a:blip r:embed="rId19"/>
        </a:buBlip>
        <a:defRPr kumimoji="1" sz="2000">
          <a:solidFill>
            <a:schemeClr val="tx1"/>
          </a:solidFill>
          <a:latin typeface="+mn-lt"/>
          <a:ea typeface="+mn-ea"/>
        </a:defRPr>
      </a:lvl7pPr>
      <a:lvl8pPr marL="3429000" indent="-228600" algn="l" rtl="0" fontAlgn="base">
        <a:spcBef>
          <a:spcPct val="20000"/>
        </a:spcBef>
        <a:spcAft>
          <a:spcPct val="0"/>
        </a:spcAft>
        <a:buSzPct val="70000"/>
        <a:buBlip>
          <a:blip r:embed="rId19"/>
        </a:buBlip>
        <a:defRPr kumimoji="1" sz="2000">
          <a:solidFill>
            <a:schemeClr val="tx1"/>
          </a:solidFill>
          <a:latin typeface="+mn-lt"/>
          <a:ea typeface="+mn-ea"/>
        </a:defRPr>
      </a:lvl8pPr>
      <a:lvl9pPr marL="3886200" indent="-228600" algn="l" rtl="0" fontAlgn="base">
        <a:spcBef>
          <a:spcPct val="20000"/>
        </a:spcBef>
        <a:spcAft>
          <a:spcPct val="0"/>
        </a:spcAft>
        <a:buSzPct val="70000"/>
        <a:buBlip>
          <a:blip r:embed="rId19"/>
        </a:buBlip>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5">
            <a:extLst>
              <a:ext uri="{FF2B5EF4-FFF2-40B4-BE49-F238E27FC236}">
                <a16:creationId xmlns:a16="http://schemas.microsoft.com/office/drawing/2014/main" id="{350DC39A-BA09-5A9D-5230-2A660AA686F2}"/>
              </a:ext>
            </a:extLst>
          </p:cNvPr>
          <p:cNvGraphicFramePr>
            <a:graphicFrameLocks noChangeAspect="1"/>
          </p:cNvGraphicFramePr>
          <p:nvPr/>
        </p:nvGraphicFramePr>
        <p:xfrm>
          <a:off x="6896100" y="19050"/>
          <a:ext cx="2209800" cy="536575"/>
        </p:xfrm>
        <a:graphic>
          <a:graphicData uri="http://schemas.openxmlformats.org/presentationml/2006/ole">
            <mc:AlternateContent xmlns:mc="http://schemas.openxmlformats.org/markup-compatibility/2006">
              <mc:Choice xmlns:v="urn:schemas-microsoft-com:vml" Requires="v">
                <p:oleObj name="BMP 图象" r:id="rId3" imgW="3696216" imgH="866896" progId="Paint.Picture">
                  <p:embed/>
                </p:oleObj>
              </mc:Choice>
              <mc:Fallback>
                <p:oleObj name="BMP 图象" r:id="rId3" imgW="3696216" imgH="866896" progId="Paint.Picture">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6100" y="19050"/>
                        <a:ext cx="220980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 name="Rectangle 6">
            <a:extLst>
              <a:ext uri="{FF2B5EF4-FFF2-40B4-BE49-F238E27FC236}">
                <a16:creationId xmlns:a16="http://schemas.microsoft.com/office/drawing/2014/main" id="{78765B80-3105-C4D6-051C-B82F38B6DAA9}"/>
              </a:ext>
            </a:extLst>
          </p:cNvPr>
          <p:cNvSpPr>
            <a:spLocks noChangeArrowheads="1"/>
          </p:cNvSpPr>
          <p:nvPr/>
        </p:nvSpPr>
        <p:spPr bwMode="auto">
          <a:xfrm>
            <a:off x="0" y="4941888"/>
            <a:ext cx="9040813"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a:r>
              <a:rPr lang="zh-CN" altLang="en-US" sz="4000" b="1">
                <a:solidFill>
                  <a:srgbClr val="990000"/>
                </a:solidFill>
                <a:latin typeface="黑体" panose="02010609060101010101" pitchFamily="49" charset="-122"/>
              </a:rPr>
              <a:t>实验一：信号的时域测量</a:t>
            </a:r>
          </a:p>
        </p:txBody>
      </p:sp>
      <p:sp>
        <p:nvSpPr>
          <p:cNvPr id="5124" name="Rectangle 15">
            <a:extLst>
              <a:ext uri="{FF2B5EF4-FFF2-40B4-BE49-F238E27FC236}">
                <a16:creationId xmlns:a16="http://schemas.microsoft.com/office/drawing/2014/main" id="{415DDEA0-61C4-D7EA-7A03-695340F94D6C}"/>
              </a:ext>
            </a:extLst>
          </p:cNvPr>
          <p:cNvSpPr>
            <a:spLocks noChangeArrowheads="1"/>
          </p:cNvSpPr>
          <p:nvPr/>
        </p:nvSpPr>
        <p:spPr bwMode="auto">
          <a:xfrm>
            <a:off x="2627313" y="2565400"/>
            <a:ext cx="6516687"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r>
              <a:rPr kumimoji="0" lang="zh-CN" altLang="en-US" sz="4800" b="1">
                <a:solidFill>
                  <a:srgbClr val="FFCC00"/>
                </a:solidFill>
                <a:latin typeface="楷体_GB2312" pitchFamily="49" charset="-122"/>
                <a:ea typeface="楷体_GB2312" pitchFamily="49" charset="-122"/>
              </a:rPr>
              <a:t>数据采集与处理技术</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ECAA2487-217F-640A-E831-5FF85CE20470}"/>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t>什么是时域测试</a:t>
            </a:r>
          </a:p>
        </p:txBody>
      </p:sp>
      <p:pic>
        <p:nvPicPr>
          <p:cNvPr id="7171" name="Picture 2" descr="c:\documents and settings\administrator\application data\360se6\User Data\temp\9c16fdfaaf51f3de91fde08f94eef01f3b297989.jpg">
            <a:extLst>
              <a:ext uri="{FF2B5EF4-FFF2-40B4-BE49-F238E27FC236}">
                <a16:creationId xmlns:a16="http://schemas.microsoft.com/office/drawing/2014/main" id="{1054A714-5195-74F3-D013-80C6B78451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2565400"/>
            <a:ext cx="5934075" cy="363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内容占位符 2">
            <a:extLst>
              <a:ext uri="{FF2B5EF4-FFF2-40B4-BE49-F238E27FC236}">
                <a16:creationId xmlns:a16="http://schemas.microsoft.com/office/drawing/2014/main" id="{5F9F1806-4592-B4B3-F1C3-3BC143B091B3}"/>
              </a:ext>
            </a:extLst>
          </p:cNvPr>
          <p:cNvSpPr>
            <a:spLocks noGrp="1"/>
          </p:cNvSpPr>
          <p:nvPr>
            <p:ph idx="1"/>
          </p:nvPr>
        </p:nvSpPr>
        <p:spPr bwMode="auto">
          <a:xfrm>
            <a:off x="539750" y="1196975"/>
            <a:ext cx="82296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t>按照</a:t>
            </a:r>
            <a:r>
              <a:rPr lang="zh-CN" altLang="en-US" b="1">
                <a:solidFill>
                  <a:srgbClr val="FF0000"/>
                </a:solidFill>
              </a:rPr>
              <a:t>时间的先后顺序</a:t>
            </a:r>
            <a:r>
              <a:rPr lang="zh-CN" altLang="en-US"/>
              <a:t>记录事件的发生情况。</a:t>
            </a:r>
            <a:endParaRPr lang="en-US" altLang="zh-CN"/>
          </a:p>
          <a:p>
            <a:pPr eaLnBrk="1" hangingPunct="1"/>
            <a:r>
              <a:rPr lang="zh-CN" altLang="en-US"/>
              <a:t>基本被测对象：电压和电流</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FACF8332-635E-0C26-0560-2E16A286855A}"/>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b="1"/>
              <a:t>时域测试系统的基本组成</a:t>
            </a:r>
          </a:p>
        </p:txBody>
      </p:sp>
      <p:sp>
        <p:nvSpPr>
          <p:cNvPr id="3" name="内容占位符 2">
            <a:extLst>
              <a:ext uri="{FF2B5EF4-FFF2-40B4-BE49-F238E27FC236}">
                <a16:creationId xmlns:a16="http://schemas.microsoft.com/office/drawing/2014/main" id="{FBF974DB-9A40-1FE9-9184-5D81A0C4D387}"/>
              </a:ext>
            </a:extLst>
          </p:cNvPr>
          <p:cNvSpPr>
            <a:spLocks noGrp="1"/>
          </p:cNvSpPr>
          <p:nvPr>
            <p:ph idx="1"/>
          </p:nvPr>
        </p:nvSpPr>
        <p:spPr>
          <a:xfrm>
            <a:off x="368300" y="5445125"/>
            <a:ext cx="8596313" cy="927100"/>
          </a:xfrm>
        </p:spPr>
        <p:txBody>
          <a:bodyPr/>
          <a:lstStyle/>
          <a:p>
            <a:pPr>
              <a:defRPr/>
            </a:pPr>
            <a:r>
              <a:rPr lang="zh-CN" altLang="en-US" sz="2800" b="1" dirty="0">
                <a:solidFill>
                  <a:srgbClr val="0000FF"/>
                </a:solidFill>
                <a:latin typeface="+mn-ea"/>
              </a:rPr>
              <a:t>采集系统关键指标：</a:t>
            </a:r>
            <a:r>
              <a:rPr lang="zh-CN" altLang="en-US" sz="2800" b="1" dirty="0">
                <a:solidFill>
                  <a:srgbClr val="FF0000"/>
                </a:solidFill>
                <a:latin typeface="+mn-ea"/>
              </a:rPr>
              <a:t>输入带宽、采样率、存储深度</a:t>
            </a:r>
            <a:endParaRPr lang="zh-CN" altLang="en-US" sz="2800" dirty="0"/>
          </a:p>
        </p:txBody>
      </p:sp>
      <p:sp>
        <p:nvSpPr>
          <p:cNvPr id="8196" name="Rectangle 5">
            <a:extLst>
              <a:ext uri="{FF2B5EF4-FFF2-40B4-BE49-F238E27FC236}">
                <a16:creationId xmlns:a16="http://schemas.microsoft.com/office/drawing/2014/main" id="{C5B1E2F9-81D5-BD30-62DE-578B5B34DDF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8197" name="Rectangle 7">
            <a:extLst>
              <a:ext uri="{FF2B5EF4-FFF2-40B4-BE49-F238E27FC236}">
                <a16:creationId xmlns:a16="http://schemas.microsoft.com/office/drawing/2014/main" id="{BF42A663-BFFF-A6FE-529F-1CD8137181E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8198" name="Rectangle 12">
            <a:extLst>
              <a:ext uri="{FF2B5EF4-FFF2-40B4-BE49-F238E27FC236}">
                <a16:creationId xmlns:a16="http://schemas.microsoft.com/office/drawing/2014/main" id="{FF9F25E9-8297-781A-A70B-EB6EBEEF5D8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graphicFrame>
        <p:nvGraphicFramePr>
          <p:cNvPr id="8199" name="对象 3">
            <a:extLst>
              <a:ext uri="{FF2B5EF4-FFF2-40B4-BE49-F238E27FC236}">
                <a16:creationId xmlns:a16="http://schemas.microsoft.com/office/drawing/2014/main" id="{7C73E25A-058D-043F-90E0-1C8E1B8AC2DE}"/>
              </a:ext>
            </a:extLst>
          </p:cNvPr>
          <p:cNvGraphicFramePr>
            <a:graphicFrameLocks noChangeAspect="1"/>
          </p:cNvGraphicFramePr>
          <p:nvPr/>
        </p:nvGraphicFramePr>
        <p:xfrm>
          <a:off x="431800" y="1484313"/>
          <a:ext cx="8280400" cy="1460500"/>
        </p:xfrm>
        <a:graphic>
          <a:graphicData uri="http://schemas.openxmlformats.org/presentationml/2006/ole">
            <mc:AlternateContent xmlns:mc="http://schemas.openxmlformats.org/markup-compatibility/2006">
              <mc:Choice xmlns:v="urn:schemas-microsoft-com:vml" Requires="v">
                <p:oleObj name="Visio" r:id="rId2" imgW="4264792" imgH="754655" progId="Visio.Drawing.11">
                  <p:embed/>
                </p:oleObj>
              </mc:Choice>
              <mc:Fallback>
                <p:oleObj name="Visio" r:id="rId2" imgW="4264792" imgH="754655" progId="Visio.Drawing.11">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1484313"/>
                        <a:ext cx="82804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0" name="内容占位符 2">
            <a:extLst>
              <a:ext uri="{FF2B5EF4-FFF2-40B4-BE49-F238E27FC236}">
                <a16:creationId xmlns:a16="http://schemas.microsoft.com/office/drawing/2014/main" id="{8BA8652D-9A16-B029-586C-F0DE94758C45}"/>
              </a:ext>
            </a:extLst>
          </p:cNvPr>
          <p:cNvSpPr txBox="1">
            <a:spLocks/>
          </p:cNvSpPr>
          <p:nvPr/>
        </p:nvSpPr>
        <p:spPr bwMode="auto">
          <a:xfrm>
            <a:off x="358775" y="3141663"/>
            <a:ext cx="2484438"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spcBef>
                <a:spcPct val="20000"/>
              </a:spcBef>
              <a:buSzPct val="90000"/>
              <a:buFontTx/>
              <a:buBlip>
                <a:blip r:embed="rId4"/>
              </a:buBlip>
            </a:pPr>
            <a:r>
              <a:rPr lang="zh-CN" altLang="en-US" sz="2800">
                <a:solidFill>
                  <a:srgbClr val="0000FF"/>
                </a:solidFill>
                <a:latin typeface="华文楷体" panose="02010600040101010101" pitchFamily="2" charset="-122"/>
                <a:ea typeface="华文楷体" panose="02010600040101010101" pitchFamily="2" charset="-122"/>
              </a:rPr>
              <a:t>函数发生器</a:t>
            </a:r>
            <a:endParaRPr lang="en-US" altLang="zh-CN" sz="2800">
              <a:solidFill>
                <a:srgbClr val="0000FF"/>
              </a:solidFill>
              <a:latin typeface="华文楷体" panose="02010600040101010101" pitchFamily="2" charset="-122"/>
              <a:ea typeface="华文楷体" panose="02010600040101010101" pitchFamily="2" charset="-122"/>
            </a:endParaRPr>
          </a:p>
          <a:p>
            <a:pPr>
              <a:spcBef>
                <a:spcPct val="20000"/>
              </a:spcBef>
              <a:buSzPct val="90000"/>
              <a:buFontTx/>
              <a:buBlip>
                <a:blip r:embed="rId4"/>
              </a:buBlip>
            </a:pPr>
            <a:r>
              <a:rPr lang="en-US" altLang="zh-CN" sz="2800">
                <a:solidFill>
                  <a:srgbClr val="0000FF"/>
                </a:solidFill>
                <a:latin typeface="华文楷体" panose="02010600040101010101" pitchFamily="2" charset="-122"/>
                <a:ea typeface="华文楷体" panose="02010600040101010101" pitchFamily="2" charset="-122"/>
              </a:rPr>
              <a:t>DDS</a:t>
            </a:r>
            <a:r>
              <a:rPr lang="zh-CN" altLang="en-US" sz="2800">
                <a:solidFill>
                  <a:srgbClr val="0000FF"/>
                </a:solidFill>
                <a:latin typeface="华文楷体" panose="02010600040101010101" pitchFamily="2" charset="-122"/>
                <a:ea typeface="华文楷体" panose="02010600040101010101" pitchFamily="2" charset="-122"/>
              </a:rPr>
              <a:t>信号源</a:t>
            </a:r>
            <a:endParaRPr lang="en-US" altLang="zh-CN" sz="2800">
              <a:solidFill>
                <a:srgbClr val="0000FF"/>
              </a:solidFill>
              <a:latin typeface="华文楷体" panose="02010600040101010101" pitchFamily="2" charset="-122"/>
              <a:ea typeface="华文楷体" panose="02010600040101010101" pitchFamily="2" charset="-122"/>
            </a:endParaRPr>
          </a:p>
          <a:p>
            <a:pPr>
              <a:spcBef>
                <a:spcPct val="20000"/>
              </a:spcBef>
              <a:buSzPct val="90000"/>
              <a:buFontTx/>
              <a:buBlip>
                <a:blip r:embed="rId4"/>
              </a:buBlip>
            </a:pPr>
            <a:r>
              <a:rPr lang="zh-CN" altLang="en-US" sz="2800">
                <a:solidFill>
                  <a:srgbClr val="0000FF"/>
                </a:solidFill>
                <a:latin typeface="华文楷体" panose="02010600040101010101" pitchFamily="2" charset="-122"/>
                <a:ea typeface="华文楷体" panose="02010600040101010101" pitchFamily="2" charset="-122"/>
              </a:rPr>
              <a:t>射频信号源</a:t>
            </a:r>
            <a:endParaRPr lang="en-US" altLang="zh-CN" sz="2800">
              <a:solidFill>
                <a:srgbClr val="0000FF"/>
              </a:solidFill>
              <a:latin typeface="华文楷体" panose="02010600040101010101" pitchFamily="2" charset="-122"/>
              <a:ea typeface="华文楷体" panose="02010600040101010101" pitchFamily="2" charset="-122"/>
            </a:endParaRPr>
          </a:p>
          <a:p>
            <a:pPr>
              <a:spcBef>
                <a:spcPct val="20000"/>
              </a:spcBef>
              <a:buSzPct val="90000"/>
              <a:buFontTx/>
              <a:buBlip>
                <a:blip r:embed="rId4"/>
              </a:buBlip>
            </a:pPr>
            <a:r>
              <a:rPr lang="zh-CN" altLang="en-US" sz="2800">
                <a:solidFill>
                  <a:srgbClr val="0000FF"/>
                </a:solidFill>
                <a:latin typeface="华文楷体" panose="02010600040101010101" pitchFamily="2" charset="-122"/>
                <a:ea typeface="华文楷体" panose="02010600040101010101" pitchFamily="2" charset="-122"/>
              </a:rPr>
              <a:t>脉冲源 等</a:t>
            </a:r>
          </a:p>
        </p:txBody>
      </p:sp>
      <p:sp>
        <p:nvSpPr>
          <p:cNvPr id="8201" name="内容占位符 2">
            <a:extLst>
              <a:ext uri="{FF2B5EF4-FFF2-40B4-BE49-F238E27FC236}">
                <a16:creationId xmlns:a16="http://schemas.microsoft.com/office/drawing/2014/main" id="{824E71FA-EA8D-12D3-5E53-E672C2BD4D6B}"/>
              </a:ext>
            </a:extLst>
          </p:cNvPr>
          <p:cNvSpPr txBox="1">
            <a:spLocks/>
          </p:cNvSpPr>
          <p:nvPr/>
        </p:nvSpPr>
        <p:spPr bwMode="auto">
          <a:xfrm>
            <a:off x="3328988" y="3132138"/>
            <a:ext cx="248602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spcBef>
                <a:spcPct val="20000"/>
              </a:spcBef>
              <a:buSzPct val="90000"/>
              <a:buFontTx/>
              <a:buBlip>
                <a:blip r:embed="rId4"/>
              </a:buBlip>
            </a:pPr>
            <a:r>
              <a:rPr lang="zh-CN" altLang="en-US" sz="2800">
                <a:solidFill>
                  <a:srgbClr val="0000FF"/>
                </a:solidFill>
                <a:latin typeface="华文楷体" panose="02010600040101010101" pitchFamily="2" charset="-122"/>
                <a:ea typeface="华文楷体" panose="02010600040101010101" pitchFamily="2" charset="-122"/>
              </a:rPr>
              <a:t>传输线</a:t>
            </a:r>
            <a:r>
              <a:rPr lang="en-US" altLang="zh-CN" sz="2800">
                <a:solidFill>
                  <a:srgbClr val="0000FF"/>
                </a:solidFill>
                <a:latin typeface="华文楷体" panose="02010600040101010101" pitchFamily="2" charset="-122"/>
                <a:ea typeface="华文楷体" panose="02010600040101010101" pitchFamily="2" charset="-122"/>
              </a:rPr>
              <a:t>(</a:t>
            </a:r>
            <a:r>
              <a:rPr lang="zh-CN" altLang="en-US" sz="2800">
                <a:solidFill>
                  <a:srgbClr val="0000FF"/>
                </a:solidFill>
                <a:latin typeface="华文楷体" panose="02010600040101010101" pitchFamily="2" charset="-122"/>
                <a:ea typeface="华文楷体" panose="02010600040101010101" pitchFamily="2" charset="-122"/>
              </a:rPr>
              <a:t>缆</a:t>
            </a:r>
            <a:r>
              <a:rPr lang="en-US" altLang="zh-CN" sz="2800">
                <a:solidFill>
                  <a:srgbClr val="0000FF"/>
                </a:solidFill>
                <a:latin typeface="华文楷体" panose="02010600040101010101" pitchFamily="2" charset="-122"/>
                <a:ea typeface="华文楷体" panose="02010600040101010101" pitchFamily="2" charset="-122"/>
              </a:rPr>
              <a:t>)</a:t>
            </a:r>
          </a:p>
          <a:p>
            <a:pPr>
              <a:spcBef>
                <a:spcPct val="20000"/>
              </a:spcBef>
              <a:buSzPct val="90000"/>
              <a:buFontTx/>
              <a:buBlip>
                <a:blip r:embed="rId4"/>
              </a:buBlip>
            </a:pPr>
            <a:r>
              <a:rPr lang="zh-CN" altLang="en-US" sz="2800">
                <a:solidFill>
                  <a:srgbClr val="0000FF"/>
                </a:solidFill>
                <a:latin typeface="华文楷体" panose="02010600040101010101" pitchFamily="2" charset="-122"/>
                <a:ea typeface="华文楷体" panose="02010600040101010101" pitchFamily="2" charset="-122"/>
              </a:rPr>
              <a:t>放大器元件或电路</a:t>
            </a:r>
            <a:endParaRPr lang="en-US" altLang="zh-CN" sz="2800">
              <a:solidFill>
                <a:srgbClr val="0000FF"/>
              </a:solidFill>
              <a:latin typeface="华文楷体" panose="02010600040101010101" pitchFamily="2" charset="-122"/>
              <a:ea typeface="华文楷体" panose="02010600040101010101" pitchFamily="2" charset="-122"/>
            </a:endParaRPr>
          </a:p>
          <a:p>
            <a:pPr>
              <a:spcBef>
                <a:spcPct val="20000"/>
              </a:spcBef>
              <a:buSzPct val="90000"/>
              <a:buFontTx/>
              <a:buBlip>
                <a:blip r:embed="rId4"/>
              </a:buBlip>
            </a:pPr>
            <a:r>
              <a:rPr lang="zh-CN" altLang="en-US" sz="2800">
                <a:solidFill>
                  <a:srgbClr val="0000FF"/>
                </a:solidFill>
                <a:latin typeface="华文楷体" panose="02010600040101010101" pitchFamily="2" charset="-122"/>
                <a:ea typeface="华文楷体" panose="02010600040101010101" pitchFamily="2" charset="-122"/>
              </a:rPr>
              <a:t>其它被测件</a:t>
            </a:r>
            <a:endParaRPr lang="en-US" altLang="zh-CN" sz="2800">
              <a:solidFill>
                <a:srgbClr val="0000FF"/>
              </a:solidFill>
              <a:latin typeface="华文楷体" panose="02010600040101010101" pitchFamily="2" charset="-122"/>
              <a:ea typeface="华文楷体" panose="02010600040101010101" pitchFamily="2" charset="-122"/>
            </a:endParaRPr>
          </a:p>
        </p:txBody>
      </p:sp>
      <p:sp>
        <p:nvSpPr>
          <p:cNvPr id="8202" name="内容占位符 2">
            <a:extLst>
              <a:ext uri="{FF2B5EF4-FFF2-40B4-BE49-F238E27FC236}">
                <a16:creationId xmlns:a16="http://schemas.microsoft.com/office/drawing/2014/main" id="{3BCA2A87-9FCB-2E1A-0056-B13D54944F61}"/>
              </a:ext>
            </a:extLst>
          </p:cNvPr>
          <p:cNvSpPr txBox="1">
            <a:spLocks/>
          </p:cNvSpPr>
          <p:nvPr/>
        </p:nvSpPr>
        <p:spPr bwMode="auto">
          <a:xfrm>
            <a:off x="6372225" y="3113088"/>
            <a:ext cx="2484438"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spcBef>
                <a:spcPct val="20000"/>
              </a:spcBef>
              <a:buSzPct val="90000"/>
              <a:buFontTx/>
              <a:buBlip>
                <a:blip r:embed="rId4"/>
              </a:buBlip>
            </a:pPr>
            <a:r>
              <a:rPr lang="zh-CN" altLang="en-US" sz="2800">
                <a:solidFill>
                  <a:srgbClr val="0000FF"/>
                </a:solidFill>
                <a:latin typeface="华文楷体" panose="02010600040101010101" pitchFamily="2" charset="-122"/>
                <a:ea typeface="华文楷体" panose="02010600040101010101" pitchFamily="2" charset="-122"/>
              </a:rPr>
              <a:t>示波器</a:t>
            </a:r>
            <a:endParaRPr lang="en-US" altLang="zh-CN" sz="2800">
              <a:solidFill>
                <a:srgbClr val="0000FF"/>
              </a:solidFill>
              <a:latin typeface="华文楷体" panose="02010600040101010101" pitchFamily="2" charset="-122"/>
              <a:ea typeface="华文楷体" panose="02010600040101010101" pitchFamily="2" charset="-122"/>
            </a:endParaRPr>
          </a:p>
          <a:p>
            <a:pPr>
              <a:spcBef>
                <a:spcPct val="20000"/>
              </a:spcBef>
              <a:buSzPct val="90000"/>
              <a:buFontTx/>
              <a:buBlip>
                <a:blip r:embed="rId4"/>
              </a:buBlip>
            </a:pPr>
            <a:r>
              <a:rPr lang="zh-CN" altLang="en-US" sz="2800">
                <a:solidFill>
                  <a:srgbClr val="0000FF"/>
                </a:solidFill>
                <a:latin typeface="华文楷体" panose="02010600040101010101" pitchFamily="2" charset="-122"/>
                <a:ea typeface="华文楷体" panose="02010600040101010101" pitchFamily="2" charset="-122"/>
              </a:rPr>
              <a:t>采集卡</a:t>
            </a:r>
            <a:endParaRPr lang="en-US" altLang="zh-CN" sz="2800">
              <a:solidFill>
                <a:srgbClr val="0000FF"/>
              </a:solidFill>
              <a:latin typeface="华文楷体" panose="02010600040101010101" pitchFamily="2" charset="-122"/>
              <a:ea typeface="华文楷体" panose="02010600040101010101" pitchFamily="2" charset="-122"/>
            </a:endParaRPr>
          </a:p>
          <a:p>
            <a:pPr>
              <a:spcBef>
                <a:spcPct val="20000"/>
              </a:spcBef>
              <a:buSzPct val="90000"/>
              <a:buFontTx/>
              <a:buBlip>
                <a:blip r:embed="rId4"/>
              </a:buBlip>
            </a:pPr>
            <a:r>
              <a:rPr lang="zh-CN" altLang="en-US" sz="2800">
                <a:solidFill>
                  <a:srgbClr val="0000FF"/>
                </a:solidFill>
                <a:latin typeface="华文楷体" panose="02010600040101010101" pitchFamily="2" charset="-122"/>
                <a:ea typeface="华文楷体" panose="02010600040101010101" pitchFamily="2" charset="-122"/>
              </a:rPr>
              <a:t>接收机</a:t>
            </a:r>
            <a:endParaRPr lang="en-US" altLang="zh-CN" sz="2800">
              <a:solidFill>
                <a:srgbClr val="0000FF"/>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6083160C-36CB-8BFC-FBA7-8E0CC7E4C4F0}"/>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b="1"/>
              <a:t>数据采集系统的基本组成</a:t>
            </a:r>
          </a:p>
        </p:txBody>
      </p:sp>
      <p:sp>
        <p:nvSpPr>
          <p:cNvPr id="9219" name="Rectangle 5">
            <a:extLst>
              <a:ext uri="{FF2B5EF4-FFF2-40B4-BE49-F238E27FC236}">
                <a16:creationId xmlns:a16="http://schemas.microsoft.com/office/drawing/2014/main" id="{0AF72776-298A-D956-1958-E4D0C08AD56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9220" name="Rectangle 7">
            <a:extLst>
              <a:ext uri="{FF2B5EF4-FFF2-40B4-BE49-F238E27FC236}">
                <a16:creationId xmlns:a16="http://schemas.microsoft.com/office/drawing/2014/main" id="{142C617C-32E6-F3E7-22E6-E97EEEFD8BE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graphicFrame>
        <p:nvGraphicFramePr>
          <p:cNvPr id="9221" name="对象 6">
            <a:extLst>
              <a:ext uri="{FF2B5EF4-FFF2-40B4-BE49-F238E27FC236}">
                <a16:creationId xmlns:a16="http://schemas.microsoft.com/office/drawing/2014/main" id="{91A92585-196C-3833-0234-F446B7AA06A1}"/>
              </a:ext>
            </a:extLst>
          </p:cNvPr>
          <p:cNvGraphicFramePr>
            <a:graphicFrameLocks noChangeAspect="1"/>
          </p:cNvGraphicFramePr>
          <p:nvPr/>
        </p:nvGraphicFramePr>
        <p:xfrm>
          <a:off x="395288" y="1196975"/>
          <a:ext cx="7916862" cy="3240088"/>
        </p:xfrm>
        <a:graphic>
          <a:graphicData uri="http://schemas.openxmlformats.org/presentationml/2006/ole">
            <mc:AlternateContent xmlns:mc="http://schemas.openxmlformats.org/markup-compatibility/2006">
              <mc:Choice xmlns:v="urn:schemas-microsoft-com:vml" Requires="v">
                <p:oleObj name="Visio" r:id="rId2" imgW="3815520" imgH="1565616" progId="Visio.Drawing.11">
                  <p:embed/>
                </p:oleObj>
              </mc:Choice>
              <mc:Fallback>
                <p:oleObj name="Visio" r:id="rId2" imgW="3815520" imgH="1565616" progId="Visio.Drawing.11">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196975"/>
                        <a:ext cx="791686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内容占位符 2">
            <a:extLst>
              <a:ext uri="{FF2B5EF4-FFF2-40B4-BE49-F238E27FC236}">
                <a16:creationId xmlns:a16="http://schemas.microsoft.com/office/drawing/2014/main" id="{AA235EB7-B568-84A4-8A46-B36C6581AA4B}"/>
              </a:ext>
            </a:extLst>
          </p:cNvPr>
          <p:cNvSpPr>
            <a:spLocks noGrp="1"/>
          </p:cNvSpPr>
          <p:nvPr>
            <p:ph idx="1"/>
          </p:nvPr>
        </p:nvSpPr>
        <p:spPr>
          <a:xfrm>
            <a:off x="274638" y="5157788"/>
            <a:ext cx="8594725" cy="927100"/>
          </a:xfrm>
        </p:spPr>
        <p:txBody>
          <a:bodyPr/>
          <a:lstStyle/>
          <a:p>
            <a:pPr>
              <a:defRPr/>
            </a:pPr>
            <a:r>
              <a:rPr lang="zh-CN" altLang="en-US" sz="2800" b="1" dirty="0">
                <a:solidFill>
                  <a:srgbClr val="0000FF"/>
                </a:solidFill>
                <a:latin typeface="+mn-ea"/>
              </a:rPr>
              <a:t>采集系统关键指标：</a:t>
            </a:r>
            <a:r>
              <a:rPr lang="zh-CN" altLang="en-US" sz="2800" b="1" dirty="0">
                <a:solidFill>
                  <a:srgbClr val="FF0000"/>
                </a:solidFill>
                <a:latin typeface="+mn-ea"/>
              </a:rPr>
              <a:t>输入带宽、采样率、存储深度</a:t>
            </a:r>
            <a:endParaRPr lang="zh-CN"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A5687E6A-77F8-276D-E352-52CCCEBF6B66}"/>
              </a:ext>
            </a:extLst>
          </p:cNvPr>
          <p:cNvSpPr>
            <a:spLocks noChangeArrowheads="1"/>
          </p:cNvSpPr>
          <p:nvPr/>
        </p:nvSpPr>
        <p:spPr bwMode="auto">
          <a:xfrm>
            <a:off x="2333625" y="2409825"/>
            <a:ext cx="9144000" cy="0"/>
          </a:xfrm>
          <a:prstGeom prst="rect">
            <a:avLst/>
          </a:prstGeom>
          <a:noFill/>
          <a:ln>
            <a:noFill/>
          </a:ln>
          <a:effectLst/>
          <a:extLst>
            <a:ext uri="{909E8E84-426E-40DD-AFC4-6F175D3DCCD1}">
              <a14:hiddenFill xmlns:a14="http://schemas.microsoft.com/office/drawing/2010/main">
                <a:gradFill rotWithShape="0">
                  <a:gsLst>
                    <a:gs pos="0">
                      <a:srgbClr val="00CCFF"/>
                    </a:gs>
                    <a:gs pos="100000">
                      <a:srgbClr val="D1F6FF"/>
                    </a:gs>
                  </a:gsLst>
                  <a:path path="rect">
                    <a:fillToRect r="100000" b="100000"/>
                  </a:path>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243" name="Rectangle 5">
            <a:extLst>
              <a:ext uri="{FF2B5EF4-FFF2-40B4-BE49-F238E27FC236}">
                <a16:creationId xmlns:a16="http://schemas.microsoft.com/office/drawing/2014/main" id="{8110F4B2-A7A4-7E6B-FA0B-8127722DDA6D}"/>
              </a:ext>
            </a:extLst>
          </p:cNvPr>
          <p:cNvSpPr>
            <a:spLocks noChangeArrowheads="1"/>
          </p:cNvSpPr>
          <p:nvPr/>
        </p:nvSpPr>
        <p:spPr bwMode="auto">
          <a:xfrm>
            <a:off x="2066925" y="2514600"/>
            <a:ext cx="9144000" cy="0"/>
          </a:xfrm>
          <a:prstGeom prst="rect">
            <a:avLst/>
          </a:prstGeom>
          <a:noFill/>
          <a:ln>
            <a:noFill/>
          </a:ln>
          <a:effectLst/>
          <a:extLst>
            <a:ext uri="{909E8E84-426E-40DD-AFC4-6F175D3DCCD1}">
              <a14:hiddenFill xmlns:a14="http://schemas.microsoft.com/office/drawing/2010/main">
                <a:gradFill rotWithShape="0">
                  <a:gsLst>
                    <a:gs pos="0">
                      <a:srgbClr val="00CCFF"/>
                    </a:gs>
                    <a:gs pos="100000">
                      <a:srgbClr val="D1F6FF"/>
                    </a:gs>
                  </a:gsLst>
                  <a:path path="rect">
                    <a:fillToRect r="100000" b="100000"/>
                  </a:path>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244" name="标题 1">
            <a:extLst>
              <a:ext uri="{FF2B5EF4-FFF2-40B4-BE49-F238E27FC236}">
                <a16:creationId xmlns:a16="http://schemas.microsoft.com/office/drawing/2014/main" id="{A94B1457-BC43-8091-0BCF-B378C3B66573}"/>
              </a:ext>
            </a:extLst>
          </p:cNvPr>
          <p:cNvSpPr>
            <a:spLocks noGrp="1"/>
          </p:cNvSpPr>
          <p:nvPr>
            <p:ph type="title"/>
          </p:nvPr>
        </p:nvSpPr>
        <p:spPr bwMode="auto">
          <a:xfrm>
            <a:off x="457200" y="274638"/>
            <a:ext cx="8229600" cy="850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4000" b="1"/>
              <a:t>典型数据采集系统的硬件组成框图</a:t>
            </a:r>
          </a:p>
        </p:txBody>
      </p:sp>
      <p:sp>
        <p:nvSpPr>
          <p:cNvPr id="10245" name="Rectangle 10">
            <a:extLst>
              <a:ext uri="{FF2B5EF4-FFF2-40B4-BE49-F238E27FC236}">
                <a16:creationId xmlns:a16="http://schemas.microsoft.com/office/drawing/2014/main" id="{7CB2CDF5-97F2-3281-C5C4-1BF67E042C4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246" name="Rectangle 12">
            <a:extLst>
              <a:ext uri="{FF2B5EF4-FFF2-40B4-BE49-F238E27FC236}">
                <a16:creationId xmlns:a16="http://schemas.microsoft.com/office/drawing/2014/main" id="{4FEFE119-CFBE-D35C-0601-9401A08664D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graphicFrame>
        <p:nvGraphicFramePr>
          <p:cNvPr id="10247" name="对象 4">
            <a:extLst>
              <a:ext uri="{FF2B5EF4-FFF2-40B4-BE49-F238E27FC236}">
                <a16:creationId xmlns:a16="http://schemas.microsoft.com/office/drawing/2014/main" id="{F384B6CF-F568-7A3F-5A06-9E5B9BB652E6}"/>
              </a:ext>
            </a:extLst>
          </p:cNvPr>
          <p:cNvGraphicFramePr>
            <a:graphicFrameLocks noChangeAspect="1"/>
          </p:cNvGraphicFramePr>
          <p:nvPr/>
        </p:nvGraphicFramePr>
        <p:xfrm>
          <a:off x="457200" y="1268413"/>
          <a:ext cx="8229600" cy="5184775"/>
        </p:xfrm>
        <a:graphic>
          <a:graphicData uri="http://schemas.openxmlformats.org/presentationml/2006/ole">
            <mc:AlternateContent xmlns:mc="http://schemas.openxmlformats.org/markup-compatibility/2006">
              <mc:Choice xmlns:v="urn:schemas-microsoft-com:vml" Requires="v">
                <p:oleObj name="Visio" r:id="rId2" imgW="5756214" imgH="3632262" progId="Visio.Drawing.11">
                  <p:embed/>
                </p:oleObj>
              </mc:Choice>
              <mc:Fallback>
                <p:oleObj name="Visio" r:id="rId2" imgW="5756214" imgH="3632262" progId="Visio.Drawing.11">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68413"/>
                        <a:ext cx="82296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8" descr="G:\O_F\PJT_SAVE\教学相关\时域测试技术综合实验\2018实验课_PG1000A_ppt\参考资料\PG1000A_平面照片.JPG">
            <a:extLst>
              <a:ext uri="{FF2B5EF4-FFF2-40B4-BE49-F238E27FC236}">
                <a16:creationId xmlns:a16="http://schemas.microsoft.com/office/drawing/2014/main" id="{D01C6F5B-C8B7-1D80-2EBF-1B5BEE17FD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6063" y="1989138"/>
            <a:ext cx="5868987"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形标注 1">
            <a:extLst>
              <a:ext uri="{FF2B5EF4-FFF2-40B4-BE49-F238E27FC236}">
                <a16:creationId xmlns:a16="http://schemas.microsoft.com/office/drawing/2014/main" id="{DDB5288B-52DE-EF26-2451-D10E065B092C}"/>
              </a:ext>
            </a:extLst>
          </p:cNvPr>
          <p:cNvSpPr>
            <a:spLocks noChangeArrowheads="1"/>
          </p:cNvSpPr>
          <p:nvPr/>
        </p:nvSpPr>
        <p:spPr bwMode="auto">
          <a:xfrm>
            <a:off x="0" y="1916113"/>
            <a:ext cx="1541463" cy="1081087"/>
          </a:xfrm>
          <a:prstGeom prst="wedgeEllipseCallout">
            <a:avLst>
              <a:gd name="adj1" fmla="val 105338"/>
              <a:gd name="adj2" fmla="val 75727"/>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eaLnBrk="1" hangingPunct="1"/>
            <a:r>
              <a:rPr lang="en-US" altLang="zh-CN" b="1">
                <a:solidFill>
                  <a:srgbClr val="FF0000"/>
                </a:solidFill>
              </a:rPr>
              <a:t>DDS</a:t>
            </a:r>
          </a:p>
          <a:p>
            <a:pPr algn="ctr" eaLnBrk="1" hangingPunct="1"/>
            <a:r>
              <a:rPr lang="zh-CN" altLang="en-US" b="1">
                <a:solidFill>
                  <a:srgbClr val="FF0000"/>
                </a:solidFill>
              </a:rPr>
              <a:t>信号板</a:t>
            </a:r>
          </a:p>
        </p:txBody>
      </p:sp>
      <p:sp>
        <p:nvSpPr>
          <p:cNvPr id="6" name="椭圆形标注 5">
            <a:extLst>
              <a:ext uri="{FF2B5EF4-FFF2-40B4-BE49-F238E27FC236}">
                <a16:creationId xmlns:a16="http://schemas.microsoft.com/office/drawing/2014/main" id="{9C7500DB-244D-9520-5DA1-176FBBDE9077}"/>
              </a:ext>
            </a:extLst>
          </p:cNvPr>
          <p:cNvSpPr>
            <a:spLocks noChangeArrowheads="1"/>
          </p:cNvSpPr>
          <p:nvPr/>
        </p:nvSpPr>
        <p:spPr bwMode="auto">
          <a:xfrm>
            <a:off x="5867400" y="1268413"/>
            <a:ext cx="2305050" cy="865187"/>
          </a:xfrm>
          <a:prstGeom prst="wedgeEllipseCallout">
            <a:avLst>
              <a:gd name="adj1" fmla="val -20468"/>
              <a:gd name="adj2" fmla="val 143519"/>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r>
              <a:rPr lang="en-US" altLang="zh-CN">
                <a:solidFill>
                  <a:srgbClr val="FF0000"/>
                </a:solidFill>
              </a:rPr>
              <a:t>FPGA</a:t>
            </a:r>
            <a:r>
              <a:rPr lang="zh-CN" altLang="en-US">
                <a:solidFill>
                  <a:srgbClr val="FF0000"/>
                </a:solidFill>
              </a:rPr>
              <a:t>开发板</a:t>
            </a:r>
          </a:p>
        </p:txBody>
      </p:sp>
      <p:sp>
        <p:nvSpPr>
          <p:cNvPr id="7" name="椭圆形标注 6">
            <a:extLst>
              <a:ext uri="{FF2B5EF4-FFF2-40B4-BE49-F238E27FC236}">
                <a16:creationId xmlns:a16="http://schemas.microsoft.com/office/drawing/2014/main" id="{0DACD6EE-CEA3-6505-3E0E-0BA3253EE6A4}"/>
              </a:ext>
            </a:extLst>
          </p:cNvPr>
          <p:cNvSpPr>
            <a:spLocks noChangeArrowheads="1"/>
          </p:cNvSpPr>
          <p:nvPr/>
        </p:nvSpPr>
        <p:spPr bwMode="auto">
          <a:xfrm>
            <a:off x="2268538" y="981075"/>
            <a:ext cx="1727200" cy="1079500"/>
          </a:xfrm>
          <a:prstGeom prst="wedgeEllipseCallout">
            <a:avLst>
              <a:gd name="adj1" fmla="val 51801"/>
              <a:gd name="adj2" fmla="val 106833"/>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eaLnBrk="1" hangingPunct="1"/>
            <a:r>
              <a:rPr lang="zh-CN" altLang="en-US" b="1">
                <a:solidFill>
                  <a:srgbClr val="FF0000"/>
                </a:solidFill>
              </a:rPr>
              <a:t>射频</a:t>
            </a:r>
            <a:endParaRPr lang="en-US" altLang="zh-CN" b="1">
              <a:solidFill>
                <a:srgbClr val="FF0000"/>
              </a:solidFill>
            </a:endParaRPr>
          </a:p>
          <a:p>
            <a:pPr algn="ctr" eaLnBrk="1" hangingPunct="1"/>
            <a:r>
              <a:rPr lang="zh-CN" altLang="en-US" b="1">
                <a:solidFill>
                  <a:srgbClr val="FF0000"/>
                </a:solidFill>
              </a:rPr>
              <a:t>信号板</a:t>
            </a:r>
          </a:p>
        </p:txBody>
      </p:sp>
      <p:sp>
        <p:nvSpPr>
          <p:cNvPr id="11270" name="标题 1">
            <a:extLst>
              <a:ext uri="{FF2B5EF4-FFF2-40B4-BE49-F238E27FC236}">
                <a16:creationId xmlns:a16="http://schemas.microsoft.com/office/drawing/2014/main" id="{D9D0DBE9-C3CA-AFE8-BB72-16AF76C63E32}"/>
              </a:ext>
            </a:extLst>
          </p:cNvPr>
          <p:cNvSpPr>
            <a:spLocks noGrp="1"/>
          </p:cNvSpPr>
          <p:nvPr>
            <p:ph type="title"/>
          </p:nvPr>
        </p:nvSpPr>
        <p:spPr bwMode="auto">
          <a:xfrm>
            <a:off x="468313" y="266700"/>
            <a:ext cx="8229600" cy="850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b="1"/>
              <a:t>实验平台的实物照片</a:t>
            </a:r>
          </a:p>
        </p:txBody>
      </p:sp>
      <p:sp>
        <p:nvSpPr>
          <p:cNvPr id="11271" name="矩形 2">
            <a:extLst>
              <a:ext uri="{FF2B5EF4-FFF2-40B4-BE49-F238E27FC236}">
                <a16:creationId xmlns:a16="http://schemas.microsoft.com/office/drawing/2014/main" id="{2D274D63-32C5-D01D-FABC-AAD0D8D21479}"/>
              </a:ext>
            </a:extLst>
          </p:cNvPr>
          <p:cNvSpPr>
            <a:spLocks noChangeArrowheads="1"/>
          </p:cNvSpPr>
          <p:nvPr/>
        </p:nvSpPr>
        <p:spPr bwMode="auto">
          <a:xfrm>
            <a:off x="1619250" y="3860800"/>
            <a:ext cx="5976938" cy="2520950"/>
          </a:xfrm>
          <a:prstGeom prst="rect">
            <a:avLst/>
          </a:prstGeom>
          <a:noFill/>
          <a:ln w="222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 name="椭圆形标注 9">
            <a:extLst>
              <a:ext uri="{FF2B5EF4-FFF2-40B4-BE49-F238E27FC236}">
                <a16:creationId xmlns:a16="http://schemas.microsoft.com/office/drawing/2014/main" id="{68CA85C1-FCC7-EEEE-B075-4A88FAC4650F}"/>
              </a:ext>
            </a:extLst>
          </p:cNvPr>
          <p:cNvSpPr>
            <a:spLocks noChangeArrowheads="1"/>
          </p:cNvSpPr>
          <p:nvPr/>
        </p:nvSpPr>
        <p:spPr bwMode="auto">
          <a:xfrm>
            <a:off x="7451725" y="3573463"/>
            <a:ext cx="1549400" cy="863600"/>
          </a:xfrm>
          <a:prstGeom prst="wedgeEllipseCallout">
            <a:avLst>
              <a:gd name="adj1" fmla="val -207199"/>
              <a:gd name="adj2" fmla="val 49097"/>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r>
              <a:rPr lang="zh-CN" altLang="en-US">
                <a:solidFill>
                  <a:srgbClr val="FF0000"/>
                </a:solidFill>
              </a:rPr>
              <a:t>示波器</a:t>
            </a:r>
          </a:p>
        </p:txBody>
      </p:sp>
      <p:sp>
        <p:nvSpPr>
          <p:cNvPr id="11" name="椭圆形标注 10">
            <a:extLst>
              <a:ext uri="{FF2B5EF4-FFF2-40B4-BE49-F238E27FC236}">
                <a16:creationId xmlns:a16="http://schemas.microsoft.com/office/drawing/2014/main" id="{B6FBE115-9D13-1FC5-CFFD-A530D470C1DF}"/>
              </a:ext>
            </a:extLst>
          </p:cNvPr>
          <p:cNvSpPr>
            <a:spLocks noChangeArrowheads="1"/>
          </p:cNvSpPr>
          <p:nvPr/>
        </p:nvSpPr>
        <p:spPr bwMode="auto">
          <a:xfrm>
            <a:off x="4140200" y="981075"/>
            <a:ext cx="1727200" cy="747713"/>
          </a:xfrm>
          <a:prstGeom prst="wedgeEllipseCallout">
            <a:avLst>
              <a:gd name="adj1" fmla="val -14338"/>
              <a:gd name="adj2" fmla="val 96958"/>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eaLnBrk="1" hangingPunct="1"/>
            <a:r>
              <a:rPr lang="zh-CN" altLang="en-US" b="1">
                <a:solidFill>
                  <a:srgbClr val="FF0000"/>
                </a:solidFill>
              </a:rPr>
              <a:t>电源适配器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0"/>
                                        <p:tgtEl>
                                          <p:spTgt spid="2"/>
                                        </p:tgtEl>
                                      </p:cBhvr>
                                    </p:animEffect>
                                    <p:anim calcmode="lin" valueType="num">
                                      <p:cBhvr>
                                        <p:cTn id="8" dur="3000" fill="hold"/>
                                        <p:tgtEl>
                                          <p:spTgt spid="2"/>
                                        </p:tgtEl>
                                        <p:attrNameLst>
                                          <p:attrName>ppt_x</p:attrName>
                                        </p:attrNameLst>
                                      </p:cBhvr>
                                      <p:tavLst>
                                        <p:tav tm="0">
                                          <p:val>
                                            <p:strVal val="#ppt_x"/>
                                          </p:val>
                                        </p:tav>
                                        <p:tav tm="100000">
                                          <p:val>
                                            <p:strVal val="#ppt_x"/>
                                          </p:val>
                                        </p:tav>
                                      </p:tavLst>
                                    </p:anim>
                                    <p:anim calcmode="lin" valueType="num">
                                      <p:cBhvr>
                                        <p:cTn id="9" dur="3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3000"/>
                                        <p:tgtEl>
                                          <p:spTgt spid="6"/>
                                        </p:tgtEl>
                                      </p:cBhvr>
                                    </p:animEffect>
                                    <p:anim calcmode="lin" valueType="num">
                                      <p:cBhvr>
                                        <p:cTn id="15" dur="3000" fill="hold"/>
                                        <p:tgtEl>
                                          <p:spTgt spid="6"/>
                                        </p:tgtEl>
                                        <p:attrNameLst>
                                          <p:attrName>ppt_x</p:attrName>
                                        </p:attrNameLst>
                                      </p:cBhvr>
                                      <p:tavLst>
                                        <p:tav tm="0">
                                          <p:val>
                                            <p:strVal val="#ppt_x"/>
                                          </p:val>
                                        </p:tav>
                                        <p:tav tm="100000">
                                          <p:val>
                                            <p:strVal val="#ppt_x"/>
                                          </p:val>
                                        </p:tav>
                                      </p:tavLst>
                                    </p:anim>
                                    <p:anim calcmode="lin" valueType="num">
                                      <p:cBhvr>
                                        <p:cTn id="16" dur="3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35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000"/>
                                        <p:tgtEl>
                                          <p:spTgt spid="10"/>
                                        </p:tgtEl>
                                      </p:cBhvr>
                                    </p:animEffect>
                                    <p:anim calcmode="lin" valueType="num">
                                      <p:cBhvr>
                                        <p:cTn id="27" dur="3000" fill="hold"/>
                                        <p:tgtEl>
                                          <p:spTgt spid="10"/>
                                        </p:tgtEl>
                                        <p:attrNameLst>
                                          <p:attrName>ppt_x</p:attrName>
                                        </p:attrNameLst>
                                      </p:cBhvr>
                                      <p:tavLst>
                                        <p:tav tm="0">
                                          <p:val>
                                            <p:strVal val="#ppt_x"/>
                                          </p:val>
                                        </p:tav>
                                        <p:tav tm="100000">
                                          <p:val>
                                            <p:strVal val="#ppt_x"/>
                                          </p:val>
                                        </p:tav>
                                      </p:tavLst>
                                    </p:anim>
                                    <p:anim calcmode="lin" valueType="num">
                                      <p:cBhvr>
                                        <p:cTn id="28" dur="3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barn(inVertical)">
                                      <p:cBhvr>
                                        <p:cTn id="33" dur="3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2">
            <a:extLst>
              <a:ext uri="{FF2B5EF4-FFF2-40B4-BE49-F238E27FC236}">
                <a16:creationId xmlns:a16="http://schemas.microsoft.com/office/drawing/2014/main" id="{6C5DEBE2-2487-FFCE-1CB4-1BEED07835B0}"/>
              </a:ext>
            </a:extLst>
          </p:cNvPr>
          <p:cNvSpPr>
            <a:spLocks noGrp="1"/>
          </p:cNvSpPr>
          <p:nvPr>
            <p:ph idx="1"/>
          </p:nvPr>
        </p:nvSpPr>
        <p:spPr bwMode="auto">
          <a:xfrm>
            <a:off x="6156325" y="1600200"/>
            <a:ext cx="2879725"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solidFill>
                  <a:srgbClr val="0000FF"/>
                </a:solidFill>
                <a:latin typeface="华文楷体" panose="02010600040101010101" pitchFamily="2" charset="-122"/>
                <a:ea typeface="华文楷体" panose="02010600040101010101" pitchFamily="2" charset="-122"/>
              </a:rPr>
              <a:t>基于</a:t>
            </a:r>
            <a:r>
              <a:rPr lang="en-US" altLang="zh-CN">
                <a:solidFill>
                  <a:srgbClr val="0000FF"/>
                </a:solidFill>
                <a:latin typeface="华文楷体" panose="02010600040101010101" pitchFamily="2" charset="-122"/>
                <a:ea typeface="华文楷体" panose="02010600040101010101" pitchFamily="2" charset="-122"/>
              </a:rPr>
              <a:t>AD9854</a:t>
            </a:r>
            <a:r>
              <a:rPr lang="zh-CN" altLang="en-US">
                <a:solidFill>
                  <a:srgbClr val="0000FF"/>
                </a:solidFill>
                <a:latin typeface="华文楷体" panose="02010600040101010101" pitchFamily="2" charset="-122"/>
                <a:ea typeface="华文楷体" panose="02010600040101010101" pitchFamily="2" charset="-122"/>
              </a:rPr>
              <a:t>的</a:t>
            </a:r>
            <a:r>
              <a:rPr lang="en-US" altLang="zh-CN">
                <a:solidFill>
                  <a:srgbClr val="0000FF"/>
                </a:solidFill>
                <a:latin typeface="华文楷体" panose="02010600040101010101" pitchFamily="2" charset="-122"/>
                <a:ea typeface="华文楷体" panose="02010600040101010101" pitchFamily="2" charset="-122"/>
              </a:rPr>
              <a:t>DDS</a:t>
            </a:r>
            <a:r>
              <a:rPr lang="zh-CN" altLang="en-US">
                <a:solidFill>
                  <a:srgbClr val="0000FF"/>
                </a:solidFill>
                <a:latin typeface="华文楷体" panose="02010600040101010101" pitchFamily="2" charset="-122"/>
                <a:ea typeface="华文楷体" panose="02010600040101010101" pitchFamily="2" charset="-122"/>
              </a:rPr>
              <a:t>信号源模块</a:t>
            </a:r>
            <a:endParaRPr lang="en-US" altLang="zh-CN">
              <a:solidFill>
                <a:srgbClr val="0000FF"/>
              </a:solidFill>
              <a:latin typeface="华文楷体" panose="02010600040101010101" pitchFamily="2" charset="-122"/>
              <a:ea typeface="华文楷体" panose="02010600040101010101" pitchFamily="2" charset="-122"/>
            </a:endParaRPr>
          </a:p>
          <a:p>
            <a:r>
              <a:rPr lang="zh-CN" altLang="en-US">
                <a:solidFill>
                  <a:srgbClr val="0000FF"/>
                </a:solidFill>
                <a:latin typeface="华文楷体" panose="02010600040101010101" pitchFamily="2" charset="-122"/>
                <a:ea typeface="华文楷体" panose="02010600040101010101" pitchFamily="2" charset="-122"/>
              </a:rPr>
              <a:t>频率范围：</a:t>
            </a:r>
            <a:r>
              <a:rPr lang="en-US" altLang="zh-CN">
                <a:solidFill>
                  <a:srgbClr val="0000FF"/>
                </a:solidFill>
                <a:latin typeface="华文楷体" panose="02010600040101010101" pitchFamily="2" charset="-122"/>
                <a:ea typeface="华文楷体" panose="02010600040101010101" pitchFamily="2" charset="-122"/>
              </a:rPr>
              <a:t>DC~120MHz</a:t>
            </a:r>
            <a:endParaRPr lang="zh-CN" altLang="en-US">
              <a:solidFill>
                <a:srgbClr val="0000FF"/>
              </a:solidFill>
              <a:latin typeface="华文楷体" panose="02010600040101010101" pitchFamily="2" charset="-122"/>
              <a:ea typeface="华文楷体" panose="02010600040101010101" pitchFamily="2" charset="-122"/>
            </a:endParaRPr>
          </a:p>
        </p:txBody>
      </p:sp>
      <p:sp>
        <p:nvSpPr>
          <p:cNvPr id="12291" name="Rectangle 6">
            <a:extLst>
              <a:ext uri="{FF2B5EF4-FFF2-40B4-BE49-F238E27FC236}">
                <a16:creationId xmlns:a16="http://schemas.microsoft.com/office/drawing/2014/main" id="{2C84B2A5-FCB4-5E8F-B095-ECB3821DB30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graphicFrame>
        <p:nvGraphicFramePr>
          <p:cNvPr id="12292" name="对象 2">
            <a:extLst>
              <a:ext uri="{FF2B5EF4-FFF2-40B4-BE49-F238E27FC236}">
                <a16:creationId xmlns:a16="http://schemas.microsoft.com/office/drawing/2014/main" id="{B4542BA5-4D24-5D1C-E4D7-ADED94B98034}"/>
              </a:ext>
            </a:extLst>
          </p:cNvPr>
          <p:cNvGraphicFramePr>
            <a:graphicFrameLocks noChangeAspect="1"/>
          </p:cNvGraphicFramePr>
          <p:nvPr/>
        </p:nvGraphicFramePr>
        <p:xfrm>
          <a:off x="468313" y="765175"/>
          <a:ext cx="5688012" cy="5791200"/>
        </p:xfrm>
        <a:graphic>
          <a:graphicData uri="http://schemas.openxmlformats.org/presentationml/2006/ole">
            <mc:AlternateContent xmlns:mc="http://schemas.openxmlformats.org/markup-compatibility/2006">
              <mc:Choice xmlns:v="urn:schemas-microsoft-com:vml" Requires="v">
                <p:oleObj r:id="rId2" imgW="30117932" imgH="30632310" progId="Visio.Drawing.15">
                  <p:embed/>
                </p:oleObj>
              </mc:Choice>
              <mc:Fallback>
                <p:oleObj r:id="rId2" imgW="30117932" imgH="30632310" progId="Visio.Drawing.15">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765175"/>
                        <a:ext cx="5688012"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a:extLst>
              <a:ext uri="{FF2B5EF4-FFF2-40B4-BE49-F238E27FC236}">
                <a16:creationId xmlns:a16="http://schemas.microsoft.com/office/drawing/2014/main" id="{4B12E246-9D68-30A7-5F1C-9821DEB5A458}"/>
              </a:ext>
            </a:extLst>
          </p:cNvPr>
          <p:cNvSpPr>
            <a:spLocks noGrp="1"/>
          </p:cNvSpPr>
          <p:nvPr>
            <p:ph idx="1"/>
          </p:nvPr>
        </p:nvSpPr>
        <p:spPr bwMode="auto">
          <a:xfrm>
            <a:off x="250825" y="5229225"/>
            <a:ext cx="8686800" cy="1008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solidFill>
                  <a:srgbClr val="0000FF"/>
                </a:solidFill>
                <a:latin typeface="华文楷体" panose="02010600040101010101" pitchFamily="2" charset="-122"/>
                <a:ea typeface="华文楷体" panose="02010600040101010101" pitchFamily="2" charset="-122"/>
              </a:rPr>
              <a:t>基于</a:t>
            </a:r>
            <a:r>
              <a:rPr lang="en-US" altLang="zh-CN">
                <a:solidFill>
                  <a:srgbClr val="0000FF"/>
                </a:solidFill>
                <a:latin typeface="华文楷体" panose="02010600040101010101" pitchFamily="2" charset="-122"/>
                <a:ea typeface="华文楷体" panose="02010600040101010101" pitchFamily="2" charset="-122"/>
              </a:rPr>
              <a:t>ADF4351</a:t>
            </a:r>
            <a:r>
              <a:rPr lang="zh-CN" altLang="en-US">
                <a:solidFill>
                  <a:srgbClr val="0000FF"/>
                </a:solidFill>
                <a:latin typeface="华文楷体" panose="02010600040101010101" pitchFamily="2" charset="-122"/>
                <a:ea typeface="华文楷体" panose="02010600040101010101" pitchFamily="2" charset="-122"/>
              </a:rPr>
              <a:t>的射频信号产生模块</a:t>
            </a:r>
            <a:r>
              <a:rPr lang="zh-CN" altLang="zh-CN">
                <a:solidFill>
                  <a:srgbClr val="0000FF"/>
                </a:solidFill>
                <a:latin typeface="华文楷体" panose="02010600040101010101" pitchFamily="2" charset="-122"/>
                <a:ea typeface="华文楷体" panose="02010600040101010101" pitchFamily="2" charset="-122"/>
              </a:rPr>
              <a:t>，可以输出频率</a:t>
            </a:r>
            <a:r>
              <a:rPr lang="en-US" altLang="zh-CN">
                <a:solidFill>
                  <a:srgbClr val="0000FF"/>
                </a:solidFill>
                <a:latin typeface="华文楷体" panose="02010600040101010101" pitchFamily="2" charset="-122"/>
                <a:ea typeface="华文楷体" panose="02010600040101010101" pitchFamily="2" charset="-122"/>
              </a:rPr>
              <a:t>35MHz</a:t>
            </a:r>
            <a:r>
              <a:rPr lang="zh-CN" altLang="zh-CN">
                <a:solidFill>
                  <a:srgbClr val="0000FF"/>
                </a:solidFill>
                <a:latin typeface="华文楷体" panose="02010600040101010101" pitchFamily="2" charset="-122"/>
                <a:ea typeface="华文楷体" panose="02010600040101010101" pitchFamily="2" charset="-122"/>
              </a:rPr>
              <a:t>至</a:t>
            </a:r>
            <a:r>
              <a:rPr lang="en-US" altLang="zh-CN">
                <a:solidFill>
                  <a:srgbClr val="0000FF"/>
                </a:solidFill>
                <a:latin typeface="华文楷体" panose="02010600040101010101" pitchFamily="2" charset="-122"/>
                <a:ea typeface="华文楷体" panose="02010600040101010101" pitchFamily="2" charset="-122"/>
              </a:rPr>
              <a:t>4400MHz</a:t>
            </a:r>
            <a:r>
              <a:rPr lang="zh-CN" altLang="zh-CN">
                <a:solidFill>
                  <a:srgbClr val="0000FF"/>
                </a:solidFill>
                <a:latin typeface="华文楷体" panose="02010600040101010101" pitchFamily="2" charset="-122"/>
                <a:ea typeface="华文楷体" panose="02010600040101010101" pitchFamily="2" charset="-122"/>
              </a:rPr>
              <a:t>的正弦波</a:t>
            </a:r>
            <a:r>
              <a:rPr lang="zh-CN" altLang="en-US">
                <a:solidFill>
                  <a:srgbClr val="0000FF"/>
                </a:solidFill>
                <a:latin typeface="华文楷体" panose="02010600040101010101" pitchFamily="2" charset="-122"/>
                <a:ea typeface="华文楷体" panose="02010600040101010101" pitchFamily="2" charset="-122"/>
              </a:rPr>
              <a:t>。</a:t>
            </a:r>
          </a:p>
        </p:txBody>
      </p:sp>
      <p:pic>
        <p:nvPicPr>
          <p:cNvPr id="13315" name="图片 3">
            <a:extLst>
              <a:ext uri="{FF2B5EF4-FFF2-40B4-BE49-F238E27FC236}">
                <a16:creationId xmlns:a16="http://schemas.microsoft.com/office/drawing/2014/main" id="{35CE804C-9D90-30C3-5EC1-407C802F8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15888"/>
            <a:ext cx="6697662"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a:extLst>
              <a:ext uri="{FF2B5EF4-FFF2-40B4-BE49-F238E27FC236}">
                <a16:creationId xmlns:a16="http://schemas.microsoft.com/office/drawing/2014/main" id="{AF9CD882-DFB5-CE20-B88A-B6814D074A55}"/>
              </a:ext>
            </a:extLst>
          </p:cNvPr>
          <p:cNvSpPr>
            <a:spLocks noGrp="1"/>
          </p:cNvSpPr>
          <p:nvPr>
            <p:ph idx="1"/>
          </p:nvPr>
        </p:nvSpPr>
        <p:spPr bwMode="auto">
          <a:xfrm>
            <a:off x="457200" y="5732463"/>
            <a:ext cx="8229600" cy="576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solidFill>
                  <a:srgbClr val="0000FF"/>
                </a:solidFill>
                <a:latin typeface="华文楷体" panose="02010600040101010101" pitchFamily="2" charset="-122"/>
                <a:ea typeface="华文楷体" panose="02010600040101010101" pitchFamily="2" charset="-122"/>
              </a:rPr>
              <a:t>基于</a:t>
            </a:r>
            <a:r>
              <a:rPr lang="en-US" altLang="zh-CN">
                <a:solidFill>
                  <a:srgbClr val="0000FF"/>
                </a:solidFill>
                <a:latin typeface="华文楷体" panose="02010600040101010101" pitchFamily="2" charset="-122"/>
                <a:ea typeface="华文楷体" panose="02010600040101010101" pitchFamily="2" charset="-122"/>
              </a:rPr>
              <a:t>Spartan6</a:t>
            </a:r>
            <a:r>
              <a:rPr lang="zh-CN" altLang="en-US">
                <a:solidFill>
                  <a:srgbClr val="0000FF"/>
                </a:solidFill>
                <a:latin typeface="华文楷体" panose="02010600040101010101" pitchFamily="2" charset="-122"/>
                <a:ea typeface="华文楷体" panose="02010600040101010101" pitchFamily="2" charset="-122"/>
              </a:rPr>
              <a:t>的</a:t>
            </a:r>
            <a:r>
              <a:rPr lang="en-US" altLang="zh-CN">
                <a:solidFill>
                  <a:srgbClr val="0000FF"/>
                </a:solidFill>
                <a:latin typeface="华文楷体" panose="02010600040101010101" pitchFamily="2" charset="-122"/>
                <a:ea typeface="华文楷体" panose="02010600040101010101" pitchFamily="2" charset="-122"/>
              </a:rPr>
              <a:t>FPGA</a:t>
            </a:r>
            <a:r>
              <a:rPr lang="zh-CN" altLang="en-US">
                <a:solidFill>
                  <a:srgbClr val="0000FF"/>
                </a:solidFill>
                <a:latin typeface="华文楷体" panose="02010600040101010101" pitchFamily="2" charset="-122"/>
                <a:ea typeface="华文楷体" panose="02010600040101010101" pitchFamily="2" charset="-122"/>
              </a:rPr>
              <a:t>开发板</a:t>
            </a:r>
          </a:p>
        </p:txBody>
      </p:sp>
      <p:sp>
        <p:nvSpPr>
          <p:cNvPr id="14339" name="Rectangle 2">
            <a:extLst>
              <a:ext uri="{FF2B5EF4-FFF2-40B4-BE49-F238E27FC236}">
                <a16:creationId xmlns:a16="http://schemas.microsoft.com/office/drawing/2014/main" id="{EEC8C8DE-852E-0460-36CD-D58F9E19FFE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graphicFrame>
        <p:nvGraphicFramePr>
          <p:cNvPr id="14340" name="对象 4">
            <a:extLst>
              <a:ext uri="{FF2B5EF4-FFF2-40B4-BE49-F238E27FC236}">
                <a16:creationId xmlns:a16="http://schemas.microsoft.com/office/drawing/2014/main" id="{CBEA82E3-067D-BEC1-9E84-B1D95CBF78CC}"/>
              </a:ext>
            </a:extLst>
          </p:cNvPr>
          <p:cNvGraphicFramePr>
            <a:graphicFrameLocks noChangeAspect="1"/>
          </p:cNvGraphicFramePr>
          <p:nvPr/>
        </p:nvGraphicFramePr>
        <p:xfrm>
          <a:off x="600075" y="333375"/>
          <a:ext cx="7943850" cy="5329238"/>
        </p:xfrm>
        <a:graphic>
          <a:graphicData uri="http://schemas.openxmlformats.org/presentationml/2006/ole">
            <mc:AlternateContent xmlns:mc="http://schemas.openxmlformats.org/markup-compatibility/2006">
              <mc:Choice xmlns:v="urn:schemas-microsoft-com:vml" Requires="v">
                <p:oleObj r:id="rId2" imgW="25374668" imgH="17040240" progId="Visio.Drawing.15">
                  <p:embed/>
                </p:oleObj>
              </mc:Choice>
              <mc:Fallback>
                <p:oleObj r:id="rId2" imgW="25374668" imgH="17040240" progId="Visio.Drawing.15">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 y="333375"/>
                        <a:ext cx="7943850"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FFA8F09F-84B1-C60E-75FD-A14DD993FC6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363" name="内容占位符 2">
            <a:extLst>
              <a:ext uri="{FF2B5EF4-FFF2-40B4-BE49-F238E27FC236}">
                <a16:creationId xmlns:a16="http://schemas.microsoft.com/office/drawing/2014/main" id="{B7071F00-8BC7-332D-8031-507E40FBA983}"/>
              </a:ext>
            </a:extLst>
          </p:cNvPr>
          <p:cNvSpPr>
            <a:spLocks noGrp="1"/>
          </p:cNvSpPr>
          <p:nvPr>
            <p:ph idx="1"/>
          </p:nvPr>
        </p:nvSpPr>
        <p:spPr bwMode="auto">
          <a:xfrm>
            <a:off x="457200" y="4797425"/>
            <a:ext cx="8229600" cy="20605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spcBef>
                <a:spcPts val="50"/>
              </a:spcBef>
            </a:pPr>
            <a:r>
              <a:rPr lang="zh-CN" altLang="en-US" sz="2800" b="1">
                <a:solidFill>
                  <a:srgbClr val="0000FF"/>
                </a:solidFill>
                <a:latin typeface="华文楷体" panose="02010600040101010101" pitchFamily="2" charset="-122"/>
                <a:ea typeface="华文楷体" panose="02010600040101010101" pitchFamily="2" charset="-122"/>
              </a:rPr>
              <a:t>数字示波器主板实物照片</a:t>
            </a:r>
            <a:endParaRPr lang="en-US" altLang="zh-CN" sz="2800" b="1">
              <a:solidFill>
                <a:srgbClr val="0000FF"/>
              </a:solidFill>
              <a:latin typeface="华文楷体" panose="02010600040101010101" pitchFamily="2" charset="-122"/>
              <a:ea typeface="华文楷体" panose="02010600040101010101" pitchFamily="2" charset="-122"/>
            </a:endParaRPr>
          </a:p>
          <a:p>
            <a:pPr>
              <a:spcBef>
                <a:spcPts val="50"/>
              </a:spcBef>
            </a:pPr>
            <a:r>
              <a:rPr lang="en-US" altLang="zh-CN" sz="2800">
                <a:solidFill>
                  <a:srgbClr val="0000FF"/>
                </a:solidFill>
                <a:latin typeface="华文楷体" panose="02010600040101010101" pitchFamily="2" charset="-122"/>
                <a:ea typeface="华文楷体" panose="02010600040101010101" pitchFamily="2" charset="-122"/>
              </a:rPr>
              <a:t>1</a:t>
            </a:r>
            <a:r>
              <a:rPr lang="zh-CN" altLang="en-US" sz="2800">
                <a:solidFill>
                  <a:srgbClr val="0000FF"/>
                </a:solidFill>
                <a:latin typeface="华文楷体" panose="02010600040101010101" pitchFamily="2" charset="-122"/>
                <a:ea typeface="华文楷体" panose="02010600040101010101" pitchFamily="2" charset="-122"/>
              </a:rPr>
              <a:t>、</a:t>
            </a:r>
            <a:r>
              <a:rPr lang="en-US" altLang="zh-CN" sz="2800">
                <a:solidFill>
                  <a:srgbClr val="0000FF"/>
                </a:solidFill>
                <a:latin typeface="华文楷体" panose="02010600040101010101" pitchFamily="2" charset="-122"/>
                <a:ea typeface="华文楷体" panose="02010600040101010101" pitchFamily="2" charset="-122"/>
              </a:rPr>
              <a:t>2</a:t>
            </a:r>
            <a:r>
              <a:rPr lang="zh-CN" altLang="en-US" sz="2800">
                <a:solidFill>
                  <a:srgbClr val="0000FF"/>
                </a:solidFill>
                <a:latin typeface="华文楷体" panose="02010600040101010101" pitchFamily="2" charset="-122"/>
                <a:ea typeface="华文楷体" panose="02010600040101010101" pitchFamily="2" charset="-122"/>
              </a:rPr>
              <a:t>是信号调理单元；  </a:t>
            </a:r>
            <a:r>
              <a:rPr lang="en-US" altLang="zh-CN" sz="2800" b="1">
                <a:solidFill>
                  <a:srgbClr val="FF0000"/>
                </a:solidFill>
                <a:latin typeface="华文楷体" panose="02010600040101010101" pitchFamily="2" charset="-122"/>
                <a:ea typeface="华文楷体" panose="02010600040101010101" pitchFamily="2" charset="-122"/>
              </a:rPr>
              <a:t>9</a:t>
            </a:r>
            <a:r>
              <a:rPr lang="zh-CN" altLang="en-US" sz="2800" b="1">
                <a:solidFill>
                  <a:srgbClr val="FF0000"/>
                </a:solidFill>
                <a:latin typeface="华文楷体" panose="02010600040101010101" pitchFamily="2" charset="-122"/>
                <a:ea typeface="华文楷体" panose="02010600040101010101" pitchFamily="2" charset="-122"/>
              </a:rPr>
              <a:t>是双通道</a:t>
            </a:r>
            <a:r>
              <a:rPr lang="en-US" altLang="zh-CN" sz="2800" b="1">
                <a:solidFill>
                  <a:srgbClr val="FF0000"/>
                </a:solidFill>
                <a:latin typeface="华文楷体" panose="02010600040101010101" pitchFamily="2" charset="-122"/>
                <a:ea typeface="华文楷体" panose="02010600040101010101" pitchFamily="2" charset="-122"/>
              </a:rPr>
              <a:t>1GSPS ADC</a:t>
            </a:r>
            <a:r>
              <a:rPr lang="zh-CN" altLang="en-US" sz="2800">
                <a:solidFill>
                  <a:srgbClr val="0000FF"/>
                </a:solidFill>
                <a:latin typeface="华文楷体" panose="02010600040101010101" pitchFamily="2" charset="-122"/>
                <a:ea typeface="华文楷体" panose="02010600040101010101" pitchFamily="2" charset="-122"/>
              </a:rPr>
              <a:t>；</a:t>
            </a:r>
            <a:endParaRPr lang="en-US" altLang="zh-CN" sz="2800">
              <a:solidFill>
                <a:srgbClr val="0000FF"/>
              </a:solidFill>
              <a:latin typeface="华文楷体" panose="02010600040101010101" pitchFamily="2" charset="-122"/>
              <a:ea typeface="华文楷体" panose="02010600040101010101" pitchFamily="2" charset="-122"/>
            </a:endParaRPr>
          </a:p>
          <a:p>
            <a:pPr>
              <a:spcBef>
                <a:spcPts val="50"/>
              </a:spcBef>
            </a:pPr>
            <a:r>
              <a:rPr lang="en-US" altLang="zh-CN" sz="2800">
                <a:solidFill>
                  <a:srgbClr val="0000FF"/>
                </a:solidFill>
                <a:latin typeface="华文楷体" panose="02010600040101010101" pitchFamily="2" charset="-122"/>
                <a:ea typeface="华文楷体" panose="02010600040101010101" pitchFamily="2" charset="-122"/>
              </a:rPr>
              <a:t>7</a:t>
            </a:r>
            <a:r>
              <a:rPr lang="zh-CN" altLang="en-US" sz="2800">
                <a:solidFill>
                  <a:srgbClr val="0000FF"/>
                </a:solidFill>
                <a:latin typeface="华文楷体" panose="02010600040101010101" pitchFamily="2" charset="-122"/>
                <a:ea typeface="华文楷体" panose="02010600040101010101" pitchFamily="2" charset="-122"/>
              </a:rPr>
              <a:t>是时钟产生电路；        </a:t>
            </a:r>
            <a:r>
              <a:rPr lang="en-US" altLang="zh-CN" sz="2800">
                <a:solidFill>
                  <a:srgbClr val="0000FF"/>
                </a:solidFill>
                <a:latin typeface="华文楷体" panose="02010600040101010101" pitchFamily="2" charset="-122"/>
                <a:ea typeface="华文楷体" panose="02010600040101010101" pitchFamily="2" charset="-122"/>
              </a:rPr>
              <a:t>10 </a:t>
            </a:r>
            <a:r>
              <a:rPr lang="zh-CN" altLang="en-US" sz="2800">
                <a:solidFill>
                  <a:srgbClr val="0000FF"/>
                </a:solidFill>
                <a:latin typeface="华文楷体" panose="02010600040101010101" pitchFamily="2" charset="-122"/>
                <a:ea typeface="华文楷体" panose="02010600040101010101" pitchFamily="2" charset="-122"/>
              </a:rPr>
              <a:t>是</a:t>
            </a:r>
            <a:r>
              <a:rPr lang="en-US" altLang="zh-CN" sz="2800">
                <a:solidFill>
                  <a:srgbClr val="0000FF"/>
                </a:solidFill>
                <a:latin typeface="华文楷体" panose="02010600040101010101" pitchFamily="2" charset="-122"/>
                <a:ea typeface="华文楷体" panose="02010600040101010101" pitchFamily="2" charset="-122"/>
              </a:rPr>
              <a:t>FPGA</a:t>
            </a:r>
            <a:r>
              <a:rPr lang="zh-CN" altLang="en-US" sz="2800">
                <a:solidFill>
                  <a:srgbClr val="0000FF"/>
                </a:solidFill>
                <a:latin typeface="华文楷体" panose="02010600040101010101" pitchFamily="2" charset="-122"/>
                <a:ea typeface="华文楷体" panose="02010600040101010101" pitchFamily="2" charset="-122"/>
              </a:rPr>
              <a:t>；  </a:t>
            </a:r>
            <a:endParaRPr lang="en-US" altLang="zh-CN" sz="2800">
              <a:solidFill>
                <a:srgbClr val="0000FF"/>
              </a:solidFill>
              <a:latin typeface="华文楷体" panose="02010600040101010101" pitchFamily="2" charset="-122"/>
              <a:ea typeface="华文楷体" panose="02010600040101010101" pitchFamily="2" charset="-122"/>
            </a:endParaRPr>
          </a:p>
          <a:p>
            <a:pPr>
              <a:spcBef>
                <a:spcPts val="50"/>
              </a:spcBef>
            </a:pPr>
            <a:r>
              <a:rPr lang="en-US" altLang="zh-CN" sz="2800">
                <a:solidFill>
                  <a:srgbClr val="0000FF"/>
                </a:solidFill>
                <a:latin typeface="华文楷体" panose="02010600040101010101" pitchFamily="2" charset="-122"/>
                <a:ea typeface="华文楷体" panose="02010600040101010101" pitchFamily="2" charset="-122"/>
              </a:rPr>
              <a:t>4</a:t>
            </a:r>
            <a:r>
              <a:rPr lang="zh-CN" altLang="en-US" sz="2800">
                <a:solidFill>
                  <a:srgbClr val="0000FF"/>
                </a:solidFill>
                <a:latin typeface="华文楷体" panose="02010600040101010101" pitchFamily="2" charset="-122"/>
                <a:ea typeface="华文楷体" panose="02010600040101010101" pitchFamily="2" charset="-122"/>
              </a:rPr>
              <a:t>是处理单元 ；         </a:t>
            </a:r>
            <a:r>
              <a:rPr lang="en-US" altLang="zh-CN" sz="2800">
                <a:solidFill>
                  <a:srgbClr val="0000FF"/>
                </a:solidFill>
                <a:latin typeface="华文楷体" panose="02010600040101010101" pitchFamily="2" charset="-122"/>
                <a:ea typeface="华文楷体" panose="02010600040101010101" pitchFamily="2" charset="-122"/>
              </a:rPr>
              <a:t>	     5 </a:t>
            </a:r>
            <a:r>
              <a:rPr lang="zh-CN" altLang="en-US" sz="2800">
                <a:solidFill>
                  <a:srgbClr val="0000FF"/>
                </a:solidFill>
                <a:latin typeface="华文楷体" panose="02010600040101010101" pitchFamily="2" charset="-122"/>
                <a:ea typeface="华文楷体" panose="02010600040101010101" pitchFamily="2" charset="-122"/>
              </a:rPr>
              <a:t>是电源电路；</a:t>
            </a:r>
          </a:p>
        </p:txBody>
      </p:sp>
      <p:pic>
        <p:nvPicPr>
          <p:cNvPr id="15364" name="图片 3">
            <a:extLst>
              <a:ext uri="{FF2B5EF4-FFF2-40B4-BE49-F238E27FC236}">
                <a16:creationId xmlns:a16="http://schemas.microsoft.com/office/drawing/2014/main" id="{28EE5FC0-5AA6-1DE3-527E-FCCECA539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15888"/>
            <a:ext cx="8208962" cy="439261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2">
            <a:extLst>
              <a:ext uri="{FF2B5EF4-FFF2-40B4-BE49-F238E27FC236}">
                <a16:creationId xmlns:a16="http://schemas.microsoft.com/office/drawing/2014/main" id="{FA73A389-A498-D99E-60C0-93C11991FB64}"/>
              </a:ext>
            </a:extLst>
          </p:cNvPr>
          <p:cNvSpPr>
            <a:spLocks noGrp="1"/>
          </p:cNvSpPr>
          <p:nvPr>
            <p:ph idx="1"/>
          </p:nvPr>
        </p:nvSpPr>
        <p:spPr bwMode="auto">
          <a:xfrm>
            <a:off x="1331913" y="5445125"/>
            <a:ext cx="7351712" cy="622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a:spcBef>
                <a:spcPts val="50"/>
              </a:spcBef>
              <a:buFontTx/>
              <a:buNone/>
            </a:pPr>
            <a:r>
              <a:rPr lang="zh-CN" altLang="en-US" sz="2800" b="1">
                <a:solidFill>
                  <a:srgbClr val="0000FF"/>
                </a:solidFill>
                <a:latin typeface="华文楷体" panose="02010600040101010101" pitchFamily="2" charset="-122"/>
                <a:ea typeface="华文楷体" panose="02010600040101010101" pitchFamily="2" charset="-122"/>
              </a:rPr>
              <a:t>核心器件：高速</a:t>
            </a:r>
            <a:r>
              <a:rPr lang="en-US" altLang="zh-CN" sz="2800" b="1">
                <a:solidFill>
                  <a:srgbClr val="0000FF"/>
                </a:solidFill>
                <a:latin typeface="华文楷体" panose="02010600040101010101" pitchFamily="2" charset="-122"/>
                <a:ea typeface="华文楷体" panose="02010600040101010101" pitchFamily="2" charset="-122"/>
              </a:rPr>
              <a:t>ADC</a:t>
            </a:r>
            <a:r>
              <a:rPr lang="zh-CN" altLang="en-US" sz="2800" b="1">
                <a:solidFill>
                  <a:srgbClr val="0000FF"/>
                </a:solidFill>
                <a:latin typeface="华文楷体" panose="02010600040101010101" pitchFamily="2" charset="-122"/>
                <a:ea typeface="华文楷体" panose="02010600040101010101" pitchFamily="2" charset="-122"/>
              </a:rPr>
              <a:t>（</a:t>
            </a:r>
            <a:r>
              <a:rPr lang="en-US" altLang="zh-CN" sz="2800" b="1">
                <a:solidFill>
                  <a:srgbClr val="0000FF"/>
                </a:solidFill>
                <a:latin typeface="华文楷体" panose="02010600040101010101" pitchFamily="2" charset="-122"/>
                <a:ea typeface="华文楷体" panose="02010600040101010101" pitchFamily="2" charset="-122"/>
              </a:rPr>
              <a:t>MXT2001</a:t>
            </a:r>
            <a:r>
              <a:rPr lang="zh-CN" altLang="en-US" sz="2800" b="1">
                <a:solidFill>
                  <a:srgbClr val="0000FF"/>
                </a:solidFill>
                <a:latin typeface="华文楷体" panose="02010600040101010101" pitchFamily="2" charset="-122"/>
                <a:ea typeface="华文楷体" panose="02010600040101010101" pitchFamily="2" charset="-122"/>
              </a:rPr>
              <a:t>）</a:t>
            </a:r>
            <a:endParaRPr lang="en-US" altLang="zh-CN" sz="2800" b="1">
              <a:solidFill>
                <a:srgbClr val="0000FF"/>
              </a:solidFill>
              <a:latin typeface="华文楷体" panose="02010600040101010101" pitchFamily="2" charset="-122"/>
              <a:ea typeface="华文楷体" panose="02010600040101010101" pitchFamily="2" charset="-122"/>
            </a:endParaRPr>
          </a:p>
        </p:txBody>
      </p:sp>
      <p:pic>
        <p:nvPicPr>
          <p:cNvPr id="16387" name="Picture 3">
            <a:extLst>
              <a:ext uri="{FF2B5EF4-FFF2-40B4-BE49-F238E27FC236}">
                <a16:creationId xmlns:a16="http://schemas.microsoft.com/office/drawing/2014/main" id="{C6CAC0CD-187B-B6D8-39EF-20896258B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0"/>
            <a:ext cx="7561262" cy="525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8" name="椭圆 1">
            <a:extLst>
              <a:ext uri="{FF2B5EF4-FFF2-40B4-BE49-F238E27FC236}">
                <a16:creationId xmlns:a16="http://schemas.microsoft.com/office/drawing/2014/main" id="{A52EA524-C528-A11C-4119-80A0DCCFCA85}"/>
              </a:ext>
            </a:extLst>
          </p:cNvPr>
          <p:cNvSpPr>
            <a:spLocks noChangeArrowheads="1"/>
          </p:cNvSpPr>
          <p:nvPr/>
        </p:nvSpPr>
        <p:spPr bwMode="auto">
          <a:xfrm>
            <a:off x="827088" y="3500438"/>
            <a:ext cx="504825" cy="1008062"/>
          </a:xfrm>
          <a:prstGeom prst="ellipse">
            <a:avLst/>
          </a:prstGeom>
          <a:noFill/>
          <a:ln w="254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389" name="椭圆 7">
            <a:extLst>
              <a:ext uri="{FF2B5EF4-FFF2-40B4-BE49-F238E27FC236}">
                <a16:creationId xmlns:a16="http://schemas.microsoft.com/office/drawing/2014/main" id="{BCA6A201-9C75-9041-B9E1-9D4EDB8F2756}"/>
              </a:ext>
            </a:extLst>
          </p:cNvPr>
          <p:cNvSpPr>
            <a:spLocks noChangeArrowheads="1"/>
          </p:cNvSpPr>
          <p:nvPr/>
        </p:nvSpPr>
        <p:spPr bwMode="auto">
          <a:xfrm>
            <a:off x="827088" y="260350"/>
            <a:ext cx="504825" cy="2592388"/>
          </a:xfrm>
          <a:prstGeom prst="ellipse">
            <a:avLst/>
          </a:prstGeom>
          <a:noFill/>
          <a:ln w="254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390" name="椭圆 8">
            <a:extLst>
              <a:ext uri="{FF2B5EF4-FFF2-40B4-BE49-F238E27FC236}">
                <a16:creationId xmlns:a16="http://schemas.microsoft.com/office/drawing/2014/main" id="{67AD7BFC-C690-E0BE-DF5C-2B2B63AE63B8}"/>
              </a:ext>
            </a:extLst>
          </p:cNvPr>
          <p:cNvSpPr>
            <a:spLocks noChangeArrowheads="1"/>
          </p:cNvSpPr>
          <p:nvPr/>
        </p:nvSpPr>
        <p:spPr bwMode="auto">
          <a:xfrm>
            <a:off x="7092950" y="404813"/>
            <a:ext cx="503238" cy="2808287"/>
          </a:xfrm>
          <a:prstGeom prst="ellipse">
            <a:avLst/>
          </a:prstGeom>
          <a:noFill/>
          <a:ln w="254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391" name="椭圆 9">
            <a:extLst>
              <a:ext uri="{FF2B5EF4-FFF2-40B4-BE49-F238E27FC236}">
                <a16:creationId xmlns:a16="http://schemas.microsoft.com/office/drawing/2014/main" id="{C5978203-3813-C5D4-63C1-045DAA818E31}"/>
              </a:ext>
            </a:extLst>
          </p:cNvPr>
          <p:cNvSpPr>
            <a:spLocks noChangeArrowheads="1"/>
          </p:cNvSpPr>
          <p:nvPr/>
        </p:nvSpPr>
        <p:spPr bwMode="auto">
          <a:xfrm>
            <a:off x="7235825" y="3500438"/>
            <a:ext cx="504825" cy="1152525"/>
          </a:xfrm>
          <a:prstGeom prst="ellipse">
            <a:avLst/>
          </a:prstGeom>
          <a:noFill/>
          <a:ln w="254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392" name="内容占位符 2">
            <a:extLst>
              <a:ext uri="{FF2B5EF4-FFF2-40B4-BE49-F238E27FC236}">
                <a16:creationId xmlns:a16="http://schemas.microsoft.com/office/drawing/2014/main" id="{C47C821D-C867-6A62-49FA-1EA01C94C7E3}"/>
              </a:ext>
            </a:extLst>
          </p:cNvPr>
          <p:cNvSpPr txBox="1">
            <a:spLocks/>
          </p:cNvSpPr>
          <p:nvPr/>
        </p:nvSpPr>
        <p:spPr bwMode="auto">
          <a:xfrm>
            <a:off x="-104775" y="3429000"/>
            <a:ext cx="107632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a:spcBef>
                <a:spcPts val="50"/>
              </a:spcBef>
              <a:buSzPct val="90000"/>
            </a:pPr>
            <a:r>
              <a:rPr lang="zh-CN" altLang="en-US" b="1">
                <a:solidFill>
                  <a:srgbClr val="FF0000"/>
                </a:solidFill>
                <a:latin typeface="华文楷体" panose="02010600040101010101" pitchFamily="2" charset="-122"/>
                <a:ea typeface="华文楷体" panose="02010600040101010101" pitchFamily="2" charset="-122"/>
              </a:rPr>
              <a:t>采样</a:t>
            </a:r>
            <a:endParaRPr lang="en-US" altLang="zh-CN" b="1">
              <a:solidFill>
                <a:srgbClr val="FF0000"/>
              </a:solidFill>
              <a:latin typeface="华文楷体" panose="02010600040101010101" pitchFamily="2" charset="-122"/>
              <a:ea typeface="华文楷体" panose="02010600040101010101" pitchFamily="2" charset="-122"/>
            </a:endParaRPr>
          </a:p>
          <a:p>
            <a:pPr algn="ctr">
              <a:spcBef>
                <a:spcPts val="50"/>
              </a:spcBef>
              <a:buSzPct val="90000"/>
            </a:pPr>
            <a:r>
              <a:rPr lang="zh-CN" altLang="en-US" b="1">
                <a:solidFill>
                  <a:srgbClr val="FF0000"/>
                </a:solidFill>
                <a:latin typeface="华文楷体" panose="02010600040101010101" pitchFamily="2" charset="-122"/>
                <a:ea typeface="华文楷体" panose="02010600040101010101" pitchFamily="2" charset="-122"/>
              </a:rPr>
              <a:t>时钟</a:t>
            </a:r>
            <a:endParaRPr lang="en-US" altLang="zh-CN" b="1">
              <a:solidFill>
                <a:srgbClr val="FF0000"/>
              </a:solidFill>
              <a:latin typeface="华文楷体" panose="02010600040101010101" pitchFamily="2" charset="-122"/>
              <a:ea typeface="华文楷体" panose="02010600040101010101" pitchFamily="2" charset="-122"/>
            </a:endParaRPr>
          </a:p>
          <a:p>
            <a:pPr algn="ctr">
              <a:spcBef>
                <a:spcPts val="50"/>
              </a:spcBef>
              <a:buSzPct val="90000"/>
            </a:pPr>
            <a:r>
              <a:rPr lang="zh-CN" altLang="en-US" b="1">
                <a:solidFill>
                  <a:srgbClr val="FF0000"/>
                </a:solidFill>
                <a:latin typeface="华文楷体" panose="02010600040101010101" pitchFamily="2" charset="-122"/>
                <a:ea typeface="华文楷体" panose="02010600040101010101" pitchFamily="2" charset="-122"/>
              </a:rPr>
              <a:t>输入</a:t>
            </a:r>
            <a:endParaRPr lang="en-US" altLang="zh-CN" b="1">
              <a:solidFill>
                <a:srgbClr val="FF0000"/>
              </a:solidFill>
              <a:latin typeface="华文楷体" panose="02010600040101010101" pitchFamily="2" charset="-122"/>
              <a:ea typeface="华文楷体" panose="02010600040101010101" pitchFamily="2" charset="-122"/>
            </a:endParaRPr>
          </a:p>
        </p:txBody>
      </p:sp>
      <p:sp>
        <p:nvSpPr>
          <p:cNvPr id="16393" name="内容占位符 2">
            <a:extLst>
              <a:ext uri="{FF2B5EF4-FFF2-40B4-BE49-F238E27FC236}">
                <a16:creationId xmlns:a16="http://schemas.microsoft.com/office/drawing/2014/main" id="{F247A2F7-4115-15AE-23EF-3BAC5606A365}"/>
              </a:ext>
            </a:extLst>
          </p:cNvPr>
          <p:cNvSpPr txBox="1">
            <a:spLocks/>
          </p:cNvSpPr>
          <p:nvPr/>
        </p:nvSpPr>
        <p:spPr bwMode="auto">
          <a:xfrm>
            <a:off x="-104775" y="873125"/>
            <a:ext cx="107632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a:spcBef>
                <a:spcPts val="50"/>
              </a:spcBef>
              <a:buSzPct val="90000"/>
            </a:pPr>
            <a:r>
              <a:rPr lang="zh-CN" altLang="en-US" b="1">
                <a:solidFill>
                  <a:srgbClr val="FF0000"/>
                </a:solidFill>
                <a:latin typeface="华文楷体" panose="02010600040101010101" pitchFamily="2" charset="-122"/>
                <a:ea typeface="华文楷体" panose="02010600040101010101" pitchFamily="2" charset="-122"/>
              </a:rPr>
              <a:t>模拟信号输入</a:t>
            </a:r>
            <a:endParaRPr lang="en-US" altLang="zh-CN" b="1">
              <a:solidFill>
                <a:srgbClr val="FF0000"/>
              </a:solidFill>
              <a:latin typeface="华文楷体" panose="02010600040101010101" pitchFamily="2" charset="-122"/>
              <a:ea typeface="华文楷体" panose="02010600040101010101" pitchFamily="2" charset="-122"/>
            </a:endParaRPr>
          </a:p>
        </p:txBody>
      </p:sp>
      <p:sp>
        <p:nvSpPr>
          <p:cNvPr id="16394" name="内容占位符 2">
            <a:extLst>
              <a:ext uri="{FF2B5EF4-FFF2-40B4-BE49-F238E27FC236}">
                <a16:creationId xmlns:a16="http://schemas.microsoft.com/office/drawing/2014/main" id="{69768D28-CB61-4884-BDC7-C7A2026789E1}"/>
              </a:ext>
            </a:extLst>
          </p:cNvPr>
          <p:cNvSpPr txBox="1">
            <a:spLocks/>
          </p:cNvSpPr>
          <p:nvPr/>
        </p:nvSpPr>
        <p:spPr bwMode="auto">
          <a:xfrm>
            <a:off x="7789863" y="1125538"/>
            <a:ext cx="1074737"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a:spcBef>
                <a:spcPts val="50"/>
              </a:spcBef>
              <a:buSzPct val="90000"/>
            </a:pPr>
            <a:r>
              <a:rPr lang="zh-CN" altLang="en-US" b="1">
                <a:solidFill>
                  <a:srgbClr val="FF0000"/>
                </a:solidFill>
                <a:latin typeface="华文楷体" panose="02010600040101010101" pitchFamily="2" charset="-122"/>
                <a:ea typeface="华文楷体" panose="02010600040101010101" pitchFamily="2" charset="-122"/>
              </a:rPr>
              <a:t>数据输出</a:t>
            </a:r>
            <a:endParaRPr lang="en-US" altLang="zh-CN" b="1">
              <a:solidFill>
                <a:srgbClr val="FF0000"/>
              </a:solidFill>
              <a:latin typeface="华文楷体" panose="02010600040101010101" pitchFamily="2" charset="-122"/>
              <a:ea typeface="华文楷体" panose="02010600040101010101" pitchFamily="2" charset="-122"/>
            </a:endParaRPr>
          </a:p>
        </p:txBody>
      </p:sp>
      <p:sp>
        <p:nvSpPr>
          <p:cNvPr id="16395" name="内容占位符 2">
            <a:extLst>
              <a:ext uri="{FF2B5EF4-FFF2-40B4-BE49-F238E27FC236}">
                <a16:creationId xmlns:a16="http://schemas.microsoft.com/office/drawing/2014/main" id="{81DEB061-E760-6616-1271-72C825BA5969}"/>
              </a:ext>
            </a:extLst>
          </p:cNvPr>
          <p:cNvSpPr txBox="1">
            <a:spLocks/>
          </p:cNvSpPr>
          <p:nvPr/>
        </p:nvSpPr>
        <p:spPr bwMode="auto">
          <a:xfrm>
            <a:off x="7789863" y="3579813"/>
            <a:ext cx="1074737"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a:spcBef>
                <a:spcPts val="50"/>
              </a:spcBef>
              <a:buSzPct val="90000"/>
            </a:pPr>
            <a:r>
              <a:rPr lang="zh-CN" altLang="en-US" b="1">
                <a:solidFill>
                  <a:srgbClr val="FF0000"/>
                </a:solidFill>
                <a:latin typeface="华文楷体" panose="02010600040101010101" pitchFamily="2" charset="-122"/>
                <a:ea typeface="华文楷体" panose="02010600040101010101" pitchFamily="2" charset="-122"/>
              </a:rPr>
              <a:t>输出数据同步时钟</a:t>
            </a:r>
            <a:endParaRPr lang="en-US" altLang="zh-CN" b="1">
              <a:solidFill>
                <a:srgbClr val="FF0000"/>
              </a:solidFill>
              <a:latin typeface="华文楷体" panose="02010600040101010101" pitchFamily="2" charset="-122"/>
              <a:ea typeface="华文楷体" panose="02010600040101010101" pitchFamily="2" charset="-122"/>
            </a:endParaRPr>
          </a:p>
        </p:txBody>
      </p:sp>
      <p:pic>
        <p:nvPicPr>
          <p:cNvPr id="16396" name="Picture 4">
            <a:extLst>
              <a:ext uri="{FF2B5EF4-FFF2-40B4-BE49-F238E27FC236}">
                <a16:creationId xmlns:a16="http://schemas.microsoft.com/office/drawing/2014/main" id="{7CD07101-EF57-AC4E-3CAA-28EA6065F4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5057775"/>
            <a:ext cx="2009776"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1405EBD3-7DD7-5491-5E12-F554B759B788}"/>
              </a:ext>
            </a:extLst>
          </p:cNvPr>
          <p:cNvSpPr>
            <a:spLocks noChangeArrowheads="1"/>
          </p:cNvSpPr>
          <p:nvPr/>
        </p:nvSpPr>
        <p:spPr bwMode="auto">
          <a:xfrm>
            <a:off x="293688" y="1052513"/>
            <a:ext cx="8208962"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63538">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r>
              <a:rPr lang="zh-CN" altLang="en-US" sz="3200" b="1">
                <a:solidFill>
                  <a:srgbClr val="000000"/>
                </a:solidFill>
                <a:latin typeface="黑体" panose="02010609060101010101" pitchFamily="49" charset="-122"/>
              </a:rPr>
              <a:t>一、实验目的</a:t>
            </a:r>
          </a:p>
          <a:p>
            <a:pPr eaLnBrk="1" hangingPunct="1">
              <a:lnSpc>
                <a:spcPct val="150000"/>
              </a:lnSpc>
            </a:pPr>
            <a:r>
              <a:rPr lang="en-US" altLang="zh-CN" sz="2800" b="1">
                <a:solidFill>
                  <a:srgbClr val="0000FF"/>
                </a:solidFill>
                <a:ea typeface="楷体_GB2312" pitchFamily="49" charset="-122"/>
              </a:rPr>
              <a:t>1. </a:t>
            </a:r>
            <a:r>
              <a:rPr lang="zh-CN" altLang="en-US" sz="2800" b="1">
                <a:solidFill>
                  <a:srgbClr val="0000FF"/>
                </a:solidFill>
                <a:ea typeface="楷体_GB2312" pitchFamily="49" charset="-122"/>
              </a:rPr>
              <a:t>了解</a:t>
            </a:r>
            <a:r>
              <a:rPr lang="en-US" altLang="zh-CN" sz="2800" b="1">
                <a:solidFill>
                  <a:srgbClr val="0000FF"/>
                </a:solidFill>
                <a:ea typeface="楷体_GB2312" pitchFamily="49" charset="-122"/>
              </a:rPr>
              <a:t>DDS</a:t>
            </a:r>
            <a:r>
              <a:rPr lang="zh-CN" altLang="en-US" sz="2800" b="1">
                <a:solidFill>
                  <a:srgbClr val="0000FF"/>
                </a:solidFill>
                <a:ea typeface="楷体_GB2312" pitchFamily="49" charset="-122"/>
              </a:rPr>
              <a:t>的基本原理，掌握</a:t>
            </a:r>
            <a:r>
              <a:rPr lang="en-US" altLang="zh-CN" sz="2800" b="1">
                <a:solidFill>
                  <a:srgbClr val="0000FF"/>
                </a:solidFill>
                <a:ea typeface="楷体_GB2312" pitchFamily="49" charset="-122"/>
              </a:rPr>
              <a:t>DDS</a:t>
            </a:r>
            <a:r>
              <a:rPr lang="zh-CN" altLang="en-US" sz="2800" b="1">
                <a:solidFill>
                  <a:srgbClr val="0000FF"/>
                </a:solidFill>
                <a:ea typeface="楷体_GB2312" pitchFamily="49" charset="-122"/>
              </a:rPr>
              <a:t>模块的操作使用方法。</a:t>
            </a:r>
          </a:p>
          <a:p>
            <a:pPr eaLnBrk="1" hangingPunct="1">
              <a:lnSpc>
                <a:spcPct val="150000"/>
              </a:lnSpc>
            </a:pPr>
            <a:r>
              <a:rPr lang="en-US" altLang="zh-CN" sz="2800" b="1">
                <a:solidFill>
                  <a:srgbClr val="0000FF"/>
                </a:solidFill>
                <a:ea typeface="楷体_GB2312" pitchFamily="49" charset="-122"/>
              </a:rPr>
              <a:t>2.</a:t>
            </a:r>
            <a:r>
              <a:rPr lang="zh-CN" altLang="en-US" sz="2800" b="1">
                <a:solidFill>
                  <a:srgbClr val="0000FF"/>
                </a:solidFill>
                <a:ea typeface="楷体_GB2312" pitchFamily="49" charset="-122"/>
              </a:rPr>
              <a:t>了解基于</a:t>
            </a:r>
            <a:r>
              <a:rPr lang="en-US" altLang="zh-CN" sz="2800" b="1">
                <a:solidFill>
                  <a:srgbClr val="0000FF"/>
                </a:solidFill>
                <a:ea typeface="楷体_GB2312" pitchFamily="49" charset="-122"/>
              </a:rPr>
              <a:t>ADF4351</a:t>
            </a:r>
            <a:r>
              <a:rPr lang="zh-CN" altLang="en-US" sz="2800" b="1">
                <a:solidFill>
                  <a:srgbClr val="0000FF"/>
                </a:solidFill>
                <a:ea typeface="楷体_GB2312" pitchFamily="49" charset="-122"/>
              </a:rPr>
              <a:t>频率合成器的基本原理，射频信号产生模块的操作使用方法。</a:t>
            </a:r>
            <a:endParaRPr lang="en-US" altLang="zh-CN" sz="2800" b="1">
              <a:solidFill>
                <a:srgbClr val="0000FF"/>
              </a:solidFill>
              <a:ea typeface="楷体_GB2312" pitchFamily="49" charset="-122"/>
            </a:endParaRPr>
          </a:p>
          <a:p>
            <a:pPr eaLnBrk="1" hangingPunct="1">
              <a:lnSpc>
                <a:spcPct val="150000"/>
              </a:lnSpc>
            </a:pPr>
            <a:r>
              <a:rPr lang="en-US" altLang="zh-CN" sz="2800" b="1">
                <a:solidFill>
                  <a:srgbClr val="0000FF"/>
                </a:solidFill>
                <a:ea typeface="楷体_GB2312" pitchFamily="49" charset="-122"/>
              </a:rPr>
              <a:t>3. </a:t>
            </a:r>
            <a:r>
              <a:rPr lang="zh-CN" altLang="en-US" sz="2800" b="1">
                <a:solidFill>
                  <a:srgbClr val="0000FF"/>
                </a:solidFill>
                <a:ea typeface="楷体_GB2312" pitchFamily="49" charset="-122"/>
              </a:rPr>
              <a:t>了解数字示波器的基本原理，掌握数字示波器对信号波形的测量方法。</a:t>
            </a:r>
            <a:endParaRPr lang="en-US" altLang="zh-CN" sz="2800" b="1">
              <a:solidFill>
                <a:srgbClr val="0000FF"/>
              </a:solidFill>
              <a:ea typeface="楷体_GB2312"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3">
            <a:extLst>
              <a:ext uri="{FF2B5EF4-FFF2-40B4-BE49-F238E27FC236}">
                <a16:creationId xmlns:a16="http://schemas.microsoft.com/office/drawing/2014/main" id="{AC842A13-1CB4-62BA-C070-86A572EF48C8}"/>
              </a:ext>
            </a:extLst>
          </p:cNvPr>
          <p:cNvSpPr>
            <a:spLocks noChangeArrowheads="1"/>
          </p:cNvSpPr>
          <p:nvPr/>
        </p:nvSpPr>
        <p:spPr bwMode="auto">
          <a:xfrm>
            <a:off x="684213" y="796925"/>
            <a:ext cx="7343775"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63538">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lnSpc>
                <a:spcPct val="150000"/>
              </a:lnSpc>
            </a:pPr>
            <a:r>
              <a:rPr lang="zh-CN" altLang="en-US" sz="3200" b="1">
                <a:solidFill>
                  <a:srgbClr val="000000"/>
                </a:solidFill>
                <a:latin typeface="黑体" panose="02010609060101010101" pitchFamily="49" charset="-122"/>
              </a:rPr>
              <a:t>二、实验内容</a:t>
            </a:r>
          </a:p>
          <a:p>
            <a:pPr eaLnBrk="1" hangingPunct="1">
              <a:lnSpc>
                <a:spcPct val="150000"/>
              </a:lnSpc>
            </a:pPr>
            <a:r>
              <a:rPr lang="en-US" altLang="zh-CN" b="1">
                <a:solidFill>
                  <a:srgbClr val="0000FF"/>
                </a:solidFill>
                <a:ea typeface="楷体_GB2312" pitchFamily="49" charset="-122"/>
              </a:rPr>
              <a:t>1. </a:t>
            </a:r>
            <a:r>
              <a:rPr lang="zh-CN" altLang="en-US" b="1">
                <a:solidFill>
                  <a:srgbClr val="0000FF"/>
                </a:solidFill>
                <a:ea typeface="楷体_GB2312" pitchFamily="49" charset="-122"/>
              </a:rPr>
              <a:t>控制</a:t>
            </a:r>
            <a:r>
              <a:rPr lang="en-US" altLang="zh-CN" b="1">
                <a:solidFill>
                  <a:srgbClr val="0000FF"/>
                </a:solidFill>
                <a:ea typeface="楷体_GB2312" pitchFamily="49" charset="-122"/>
              </a:rPr>
              <a:t>DDS</a:t>
            </a:r>
            <a:r>
              <a:rPr lang="zh-CN" altLang="en-US" b="1">
                <a:solidFill>
                  <a:srgbClr val="0000FF"/>
                </a:solidFill>
                <a:ea typeface="楷体_GB2312" pitchFamily="49" charset="-122"/>
              </a:rPr>
              <a:t>模块产生不同频率和幅度的正弦波信号及方波信号，并用示波器进行测试。</a:t>
            </a:r>
          </a:p>
          <a:p>
            <a:pPr eaLnBrk="1" hangingPunct="1">
              <a:lnSpc>
                <a:spcPct val="150000"/>
              </a:lnSpc>
            </a:pPr>
            <a:r>
              <a:rPr lang="en-US" altLang="zh-CN" b="1">
                <a:solidFill>
                  <a:srgbClr val="0000FF"/>
                </a:solidFill>
                <a:ea typeface="楷体_GB2312" pitchFamily="49" charset="-122"/>
              </a:rPr>
              <a:t>2. </a:t>
            </a:r>
            <a:r>
              <a:rPr lang="zh-CN" altLang="en-US" b="1">
                <a:solidFill>
                  <a:srgbClr val="0000FF"/>
                </a:solidFill>
                <a:ea typeface="楷体_GB2312" pitchFamily="49" charset="-122"/>
              </a:rPr>
              <a:t>正弦波形参数测量的使用，相位参数测量方法。</a:t>
            </a:r>
            <a:endParaRPr lang="en-US" altLang="zh-CN" b="1">
              <a:solidFill>
                <a:srgbClr val="0000FF"/>
              </a:solidFill>
              <a:ea typeface="楷体_GB2312" pitchFamily="49" charset="-122"/>
            </a:endParaRPr>
          </a:p>
          <a:p>
            <a:pPr eaLnBrk="1" hangingPunct="1">
              <a:lnSpc>
                <a:spcPct val="150000"/>
              </a:lnSpc>
            </a:pPr>
            <a:r>
              <a:rPr lang="en-US" altLang="zh-CN" b="1">
                <a:solidFill>
                  <a:srgbClr val="0000FF"/>
                </a:solidFill>
                <a:ea typeface="楷体_GB2312" pitchFamily="49" charset="-122"/>
              </a:rPr>
              <a:t>3. </a:t>
            </a:r>
            <a:r>
              <a:rPr lang="zh-CN" altLang="en-US" b="1">
                <a:solidFill>
                  <a:srgbClr val="0000FF"/>
                </a:solidFill>
                <a:ea typeface="楷体_GB2312" pitchFamily="49" charset="-122"/>
              </a:rPr>
              <a:t>脉冲波形的参数测量。</a:t>
            </a:r>
            <a:endParaRPr lang="en-US" altLang="zh-CN" b="1">
              <a:solidFill>
                <a:srgbClr val="0000FF"/>
              </a:solidFill>
              <a:ea typeface="楷体_GB2312" pitchFamily="49" charset="-122"/>
            </a:endParaRPr>
          </a:p>
          <a:p>
            <a:pPr eaLnBrk="1" hangingPunct="1">
              <a:lnSpc>
                <a:spcPct val="150000"/>
              </a:lnSpc>
            </a:pPr>
            <a:r>
              <a:rPr lang="en-US" altLang="zh-CN" b="1">
                <a:solidFill>
                  <a:srgbClr val="0000FF"/>
                </a:solidFill>
                <a:ea typeface="楷体_GB2312" pitchFamily="49" charset="-122"/>
              </a:rPr>
              <a:t>4. </a:t>
            </a:r>
            <a:r>
              <a:rPr lang="zh-CN" altLang="en-US" b="1">
                <a:solidFill>
                  <a:srgbClr val="0000FF"/>
                </a:solidFill>
                <a:ea typeface="楷体_GB2312" pitchFamily="49" charset="-122"/>
              </a:rPr>
              <a:t>示波器中数字滤波器功能的使用。</a:t>
            </a:r>
            <a:endParaRPr lang="en-US" altLang="zh-CN" b="1">
              <a:solidFill>
                <a:srgbClr val="0000FF"/>
              </a:solidFill>
              <a:ea typeface="楷体_GB2312" pitchFamily="49" charset="-122"/>
            </a:endParaRPr>
          </a:p>
          <a:p>
            <a:pPr eaLnBrk="1" hangingPunct="1">
              <a:lnSpc>
                <a:spcPct val="150000"/>
              </a:lnSpc>
            </a:pPr>
            <a:r>
              <a:rPr lang="en-US" altLang="zh-CN" b="1">
                <a:solidFill>
                  <a:srgbClr val="0000FF"/>
                </a:solidFill>
                <a:ea typeface="楷体_GB2312" pitchFamily="49" charset="-122"/>
              </a:rPr>
              <a:t>5. </a:t>
            </a:r>
            <a:r>
              <a:rPr lang="zh-CN" altLang="en-US" b="1">
                <a:solidFill>
                  <a:srgbClr val="0000FF"/>
                </a:solidFill>
                <a:ea typeface="楷体_GB2312" pitchFamily="49" charset="-122"/>
              </a:rPr>
              <a:t>射频信号源模块的操作使用。</a:t>
            </a:r>
            <a:endParaRPr lang="en-US" altLang="zh-CN" b="1">
              <a:solidFill>
                <a:srgbClr val="0000FF"/>
              </a:solidFill>
              <a:ea typeface="楷体_GB2312" pitchFamily="49" charset="-122"/>
            </a:endParaRPr>
          </a:p>
          <a:p>
            <a:pPr eaLnBrk="1" hangingPunct="1">
              <a:lnSpc>
                <a:spcPct val="150000"/>
              </a:lnSpc>
            </a:pPr>
            <a:endParaRPr lang="zh-CN" altLang="en-US" b="1">
              <a:solidFill>
                <a:srgbClr val="0000FF"/>
              </a:solidFill>
              <a:ea typeface="楷体_GB2312"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7">
            <a:extLst>
              <a:ext uri="{FF2B5EF4-FFF2-40B4-BE49-F238E27FC236}">
                <a16:creationId xmlns:a16="http://schemas.microsoft.com/office/drawing/2014/main" id="{341FE684-67B1-984A-763E-ACDBB7AB1297}"/>
              </a:ext>
            </a:extLst>
          </p:cNvPr>
          <p:cNvSpPr txBox="1">
            <a:spLocks noChangeArrowheads="1"/>
          </p:cNvSpPr>
          <p:nvPr/>
        </p:nvSpPr>
        <p:spPr bwMode="auto">
          <a:xfrm>
            <a:off x="611188" y="1214438"/>
            <a:ext cx="79629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r>
              <a:rPr lang="zh-CN" altLang="en-US" sz="3200" b="1">
                <a:solidFill>
                  <a:srgbClr val="000000"/>
                </a:solidFill>
                <a:latin typeface="黑体" panose="02010609060101010101" pitchFamily="49" charset="-122"/>
              </a:rPr>
              <a:t>三、预备知识</a:t>
            </a:r>
          </a:p>
          <a:p>
            <a:pPr>
              <a:lnSpc>
                <a:spcPct val="150000"/>
              </a:lnSpc>
            </a:pPr>
            <a:r>
              <a:rPr lang="en-US" altLang="zh-CN" b="1">
                <a:solidFill>
                  <a:srgbClr val="0000FF"/>
                </a:solidFill>
                <a:ea typeface="楷体_GB2312" pitchFamily="49" charset="-122"/>
              </a:rPr>
              <a:t>1. </a:t>
            </a:r>
            <a:r>
              <a:rPr lang="zh-CN" altLang="en-US" b="1">
                <a:solidFill>
                  <a:srgbClr val="0000FF"/>
                </a:solidFill>
                <a:ea typeface="楷体_GB2312" pitchFamily="49" charset="-122"/>
              </a:rPr>
              <a:t>信号产生的基本原理和方法</a:t>
            </a:r>
          </a:p>
          <a:p>
            <a:pPr>
              <a:lnSpc>
                <a:spcPct val="150000"/>
              </a:lnSpc>
            </a:pPr>
            <a:r>
              <a:rPr lang="en-US" altLang="zh-CN" b="1">
                <a:solidFill>
                  <a:srgbClr val="0000FF"/>
                </a:solidFill>
                <a:ea typeface="楷体_GB2312" pitchFamily="49" charset="-122"/>
              </a:rPr>
              <a:t>2. </a:t>
            </a:r>
            <a:r>
              <a:rPr lang="zh-CN" altLang="en-US" b="1">
                <a:solidFill>
                  <a:srgbClr val="0000FF"/>
                </a:solidFill>
                <a:ea typeface="楷体_GB2312" pitchFamily="49" charset="-122"/>
              </a:rPr>
              <a:t>数字示波器的使用方法</a:t>
            </a:r>
          </a:p>
          <a:p>
            <a:pPr>
              <a:lnSpc>
                <a:spcPct val="150000"/>
              </a:lnSpc>
            </a:pPr>
            <a:endParaRPr lang="zh-CN" altLang="en-US" b="1">
              <a:solidFill>
                <a:srgbClr val="0000FF"/>
              </a:solidFill>
              <a:ea typeface="楷体_GB2312" pitchFamily="49" charset="-122"/>
            </a:endParaRPr>
          </a:p>
          <a:p>
            <a:pPr>
              <a:lnSpc>
                <a:spcPct val="150000"/>
              </a:lnSpc>
            </a:pPr>
            <a:r>
              <a:rPr lang="zh-CN" altLang="en-US" sz="3200" b="1">
                <a:solidFill>
                  <a:srgbClr val="000000"/>
                </a:solidFill>
                <a:latin typeface="黑体" panose="02010609060101010101" pitchFamily="49" charset="-122"/>
              </a:rPr>
              <a:t>四、 实验设备与工具</a:t>
            </a:r>
          </a:p>
          <a:p>
            <a:pPr>
              <a:lnSpc>
                <a:spcPct val="150000"/>
              </a:lnSpc>
            </a:pPr>
            <a:r>
              <a:rPr lang="en-US" altLang="zh-CN" b="1">
                <a:solidFill>
                  <a:srgbClr val="0000FF"/>
                </a:solidFill>
                <a:ea typeface="楷体_GB2312" pitchFamily="49" charset="-122"/>
              </a:rPr>
              <a:t>PC </a:t>
            </a:r>
            <a:r>
              <a:rPr lang="zh-CN" altLang="en-US" b="1">
                <a:solidFill>
                  <a:srgbClr val="0000FF"/>
                </a:solidFill>
                <a:ea typeface="楷体_GB2312" pitchFamily="49" charset="-122"/>
              </a:rPr>
              <a:t>机</a:t>
            </a:r>
            <a:r>
              <a:rPr lang="en-US" altLang="zh-CN" b="1">
                <a:solidFill>
                  <a:srgbClr val="0000FF"/>
                </a:solidFill>
                <a:ea typeface="楷体_GB2312" pitchFamily="49" charset="-122"/>
              </a:rPr>
              <a:t>Pentium100 </a:t>
            </a:r>
            <a:r>
              <a:rPr lang="zh-CN" altLang="en-US" b="1">
                <a:solidFill>
                  <a:srgbClr val="0000FF"/>
                </a:solidFill>
                <a:ea typeface="楷体_GB2312" pitchFamily="49" charset="-122"/>
              </a:rPr>
              <a:t>以上，</a:t>
            </a:r>
            <a:r>
              <a:rPr lang="en-US" altLang="zh-CN" b="1">
                <a:solidFill>
                  <a:srgbClr val="0000FF"/>
                </a:solidFill>
                <a:ea typeface="楷体_GB2312" pitchFamily="49" charset="-122"/>
              </a:rPr>
              <a:t>PG1000A</a:t>
            </a:r>
            <a:r>
              <a:rPr lang="zh-CN" altLang="en-US" b="1">
                <a:solidFill>
                  <a:srgbClr val="0000FF"/>
                </a:solidFill>
                <a:ea typeface="楷体_GB2312" pitchFamily="49" charset="-122"/>
              </a:rPr>
              <a:t>实验平台。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7" name="Rectangle 3">
            <a:extLst>
              <a:ext uri="{FF2B5EF4-FFF2-40B4-BE49-F238E27FC236}">
                <a16:creationId xmlns:a16="http://schemas.microsoft.com/office/drawing/2014/main" id="{AC54CABF-5F1C-E2EF-A966-7255F01AB8C0}"/>
              </a:ext>
            </a:extLst>
          </p:cNvPr>
          <p:cNvSpPr>
            <a:spLocks noGrp="1" noChangeArrowheads="1"/>
          </p:cNvSpPr>
          <p:nvPr>
            <p:ph type="body" idx="1"/>
          </p:nvPr>
        </p:nvSpPr>
        <p:spPr bwMode="auto">
          <a:xfrm>
            <a:off x="763588" y="1700213"/>
            <a:ext cx="7847012" cy="14176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chemeClr val="hlink"/>
              </a:buClr>
              <a:buSzTx/>
              <a:buFont typeface="Wingdings" panose="05000000000000000000" pitchFamily="2" charset="2"/>
              <a:buChar char="Ø"/>
            </a:pPr>
            <a:r>
              <a:rPr lang="en-US" altLang="zh-CN" sz="2800" b="1">
                <a:solidFill>
                  <a:srgbClr val="0000CC"/>
                </a:solidFill>
                <a:latin typeface="Times New Roman" panose="02020603050405020304" pitchFamily="18" charset="0"/>
                <a:ea typeface="楷体_GB2312" pitchFamily="49" charset="-122"/>
              </a:rPr>
              <a:t>1971</a:t>
            </a:r>
            <a:r>
              <a:rPr lang="zh-CN" altLang="en-US" sz="2800" b="1">
                <a:solidFill>
                  <a:srgbClr val="0000CC"/>
                </a:solidFill>
                <a:latin typeface="Times New Roman" panose="02020603050405020304" pitchFamily="18" charset="0"/>
                <a:ea typeface="楷体_GB2312" pitchFamily="49" charset="-122"/>
              </a:rPr>
              <a:t>年，美国学者</a:t>
            </a:r>
            <a:r>
              <a:rPr lang="en-US" altLang="zh-CN" sz="2800" b="1">
                <a:solidFill>
                  <a:srgbClr val="0000CC"/>
                </a:solidFill>
                <a:latin typeface="Times New Roman" panose="02020603050405020304" pitchFamily="18" charset="0"/>
                <a:ea typeface="楷体_GB2312" pitchFamily="49" charset="-122"/>
              </a:rPr>
              <a:t>J</a:t>
            </a:r>
            <a:r>
              <a:rPr lang="zh-CN" altLang="en-US" sz="2800" b="1">
                <a:solidFill>
                  <a:srgbClr val="0000CC"/>
                </a:solidFill>
                <a:latin typeface="Times New Roman" panose="02020603050405020304" pitchFamily="18" charset="0"/>
                <a:ea typeface="楷体_GB2312" pitchFamily="49" charset="-122"/>
              </a:rPr>
              <a:t>．</a:t>
            </a:r>
            <a:r>
              <a:rPr lang="en-US" altLang="zh-CN" sz="2800" b="1">
                <a:solidFill>
                  <a:srgbClr val="0000CC"/>
                </a:solidFill>
                <a:latin typeface="Times New Roman" panose="02020603050405020304" pitchFamily="18" charset="0"/>
                <a:ea typeface="楷体_GB2312" pitchFamily="49" charset="-122"/>
              </a:rPr>
              <a:t>Tierncy</a:t>
            </a:r>
            <a:r>
              <a:rPr lang="zh-CN" altLang="en-US" sz="2800" b="1">
                <a:solidFill>
                  <a:srgbClr val="0000CC"/>
                </a:solidFill>
                <a:latin typeface="Times New Roman" panose="02020603050405020304" pitchFamily="18" charset="0"/>
                <a:ea typeface="楷体_GB2312" pitchFamily="49" charset="-122"/>
              </a:rPr>
              <a:t>，</a:t>
            </a:r>
            <a:r>
              <a:rPr lang="en-US" altLang="zh-CN" sz="2800" b="1">
                <a:solidFill>
                  <a:srgbClr val="0000CC"/>
                </a:solidFill>
                <a:latin typeface="Times New Roman" panose="02020603050405020304" pitchFamily="18" charset="0"/>
                <a:ea typeface="楷体_GB2312" pitchFamily="49" charset="-122"/>
              </a:rPr>
              <a:t>C</a:t>
            </a:r>
            <a:r>
              <a:rPr lang="zh-CN" altLang="en-US" sz="2800" b="1">
                <a:solidFill>
                  <a:srgbClr val="0000CC"/>
                </a:solidFill>
                <a:latin typeface="Times New Roman" panose="02020603050405020304" pitchFamily="18" charset="0"/>
                <a:ea typeface="楷体_GB2312" pitchFamily="49" charset="-122"/>
              </a:rPr>
              <a:t>．</a:t>
            </a:r>
            <a:r>
              <a:rPr lang="en-US" altLang="zh-CN" sz="2800" b="1">
                <a:solidFill>
                  <a:srgbClr val="0000CC"/>
                </a:solidFill>
                <a:latin typeface="Times New Roman" panose="02020603050405020304" pitchFamily="18" charset="0"/>
                <a:ea typeface="楷体_GB2312" pitchFamily="49" charset="-122"/>
              </a:rPr>
              <a:t>M</a:t>
            </a:r>
            <a:r>
              <a:rPr lang="zh-CN" altLang="en-US" sz="2800" b="1">
                <a:solidFill>
                  <a:srgbClr val="0000CC"/>
                </a:solidFill>
                <a:latin typeface="Times New Roman" panose="02020603050405020304" pitchFamily="18" charset="0"/>
                <a:ea typeface="楷体_GB2312" pitchFamily="49" charset="-122"/>
              </a:rPr>
              <a:t>．</a:t>
            </a:r>
            <a:r>
              <a:rPr lang="en-US" altLang="zh-CN" sz="2800" b="1">
                <a:solidFill>
                  <a:srgbClr val="0000CC"/>
                </a:solidFill>
                <a:latin typeface="Times New Roman" panose="02020603050405020304" pitchFamily="18" charset="0"/>
                <a:ea typeface="楷体_GB2312" pitchFamily="49" charset="-122"/>
              </a:rPr>
              <a:t>Rader</a:t>
            </a:r>
            <a:r>
              <a:rPr lang="zh-CN" altLang="en-US" sz="2800" b="1">
                <a:solidFill>
                  <a:srgbClr val="0000CC"/>
                </a:solidFill>
                <a:latin typeface="Times New Roman" panose="02020603050405020304" pitchFamily="18" charset="0"/>
                <a:ea typeface="楷体_GB2312" pitchFamily="49" charset="-122"/>
              </a:rPr>
              <a:t>和</a:t>
            </a:r>
            <a:r>
              <a:rPr lang="en-US" altLang="zh-CN" sz="2800" b="1">
                <a:solidFill>
                  <a:srgbClr val="0000CC"/>
                </a:solidFill>
                <a:latin typeface="Times New Roman" panose="02020603050405020304" pitchFamily="18" charset="0"/>
                <a:ea typeface="楷体_GB2312" pitchFamily="49" charset="-122"/>
              </a:rPr>
              <a:t>B</a:t>
            </a:r>
            <a:r>
              <a:rPr lang="zh-CN" altLang="en-US" sz="2800" b="1">
                <a:solidFill>
                  <a:srgbClr val="0000CC"/>
                </a:solidFill>
                <a:latin typeface="Times New Roman" panose="02020603050405020304" pitchFamily="18" charset="0"/>
                <a:ea typeface="楷体_GB2312" pitchFamily="49" charset="-122"/>
              </a:rPr>
              <a:t>．</a:t>
            </a:r>
            <a:r>
              <a:rPr lang="en-US" altLang="zh-CN" sz="2800" b="1">
                <a:solidFill>
                  <a:srgbClr val="0000CC"/>
                </a:solidFill>
                <a:latin typeface="Times New Roman" panose="02020603050405020304" pitchFamily="18" charset="0"/>
                <a:ea typeface="楷体_GB2312" pitchFamily="49" charset="-122"/>
              </a:rPr>
              <a:t>Gold</a:t>
            </a:r>
            <a:r>
              <a:rPr lang="zh-CN" altLang="en-US" sz="2800" b="1">
                <a:solidFill>
                  <a:srgbClr val="0000CC"/>
                </a:solidFill>
                <a:latin typeface="Times New Roman" panose="02020603050405020304" pitchFamily="18" charset="0"/>
                <a:ea typeface="楷体_GB2312" pitchFamily="49" charset="-122"/>
              </a:rPr>
              <a:t>提出了直接数字频率合成（</a:t>
            </a:r>
            <a:r>
              <a:rPr lang="en-US" altLang="zh-CN" sz="2800" b="1">
                <a:solidFill>
                  <a:srgbClr val="0000CC"/>
                </a:solidFill>
                <a:latin typeface="Times New Roman" panose="02020603050405020304" pitchFamily="18" charset="0"/>
                <a:ea typeface="楷体_GB2312" pitchFamily="49" charset="-122"/>
              </a:rPr>
              <a:t>DDS</a:t>
            </a:r>
            <a:r>
              <a:rPr lang="zh-CN" altLang="en-US" sz="2800" b="1">
                <a:solidFill>
                  <a:srgbClr val="0000CC"/>
                </a:solidFill>
                <a:latin typeface="Times New Roman" panose="02020603050405020304" pitchFamily="18" charset="0"/>
                <a:ea typeface="楷体_GB2312" pitchFamily="49" charset="-122"/>
              </a:rPr>
              <a:t>）技术，它从相位概念出发直接合成所需波形</a:t>
            </a:r>
          </a:p>
        </p:txBody>
      </p:sp>
      <p:sp>
        <p:nvSpPr>
          <p:cNvPr id="948228" name="Rectangle 4">
            <a:extLst>
              <a:ext uri="{FF2B5EF4-FFF2-40B4-BE49-F238E27FC236}">
                <a16:creationId xmlns:a16="http://schemas.microsoft.com/office/drawing/2014/main" id="{7634C783-C990-76AE-EBB3-52E2552704AB}"/>
              </a:ext>
            </a:extLst>
          </p:cNvPr>
          <p:cNvSpPr>
            <a:spLocks noChangeArrowheads="1"/>
          </p:cNvSpPr>
          <p:nvPr/>
        </p:nvSpPr>
        <p:spPr bwMode="auto">
          <a:xfrm>
            <a:off x="762000" y="3194050"/>
            <a:ext cx="784701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spcBef>
                <a:spcPct val="20000"/>
              </a:spcBef>
              <a:buClr>
                <a:schemeClr val="bg2"/>
              </a:buClr>
              <a:buFont typeface="Wingdings" panose="05000000000000000000" pitchFamily="2" charset="2"/>
              <a:buChar char="Ø"/>
            </a:pPr>
            <a:r>
              <a:rPr lang="zh-CN" altLang="en-US" sz="2800"/>
              <a:t>全数字控制、频率分辨率高、切换速度快、切换时相位连续</a:t>
            </a:r>
          </a:p>
        </p:txBody>
      </p:sp>
      <p:sp>
        <p:nvSpPr>
          <p:cNvPr id="948229" name="Rectangle 5">
            <a:extLst>
              <a:ext uri="{FF2B5EF4-FFF2-40B4-BE49-F238E27FC236}">
                <a16:creationId xmlns:a16="http://schemas.microsoft.com/office/drawing/2014/main" id="{2CAF8259-8707-E603-FE74-E711BC02ADD6}"/>
              </a:ext>
            </a:extLst>
          </p:cNvPr>
          <p:cNvSpPr>
            <a:spLocks noChangeArrowheads="1"/>
          </p:cNvSpPr>
          <p:nvPr/>
        </p:nvSpPr>
        <p:spPr bwMode="auto">
          <a:xfrm>
            <a:off x="762000" y="4337050"/>
            <a:ext cx="7847013"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spcBef>
                <a:spcPct val="20000"/>
              </a:spcBef>
              <a:buClr>
                <a:schemeClr val="hlink"/>
              </a:buClr>
              <a:buFont typeface="Wingdings" panose="05000000000000000000" pitchFamily="2" charset="2"/>
              <a:buChar char="Ø"/>
            </a:pPr>
            <a:r>
              <a:rPr lang="en-US" altLang="zh-CN" sz="2800">
                <a:solidFill>
                  <a:srgbClr val="0000CC"/>
                </a:solidFill>
              </a:rPr>
              <a:t>Analog </a:t>
            </a:r>
            <a:r>
              <a:rPr lang="zh-CN" altLang="en-US" sz="2800">
                <a:solidFill>
                  <a:srgbClr val="0000CC"/>
                </a:solidFill>
              </a:rPr>
              <a:t>公司、</a:t>
            </a:r>
            <a:r>
              <a:rPr lang="en-US" altLang="zh-CN" sz="2800">
                <a:solidFill>
                  <a:srgbClr val="0000CC"/>
                </a:solidFill>
              </a:rPr>
              <a:t>Qualcomm </a:t>
            </a:r>
            <a:r>
              <a:rPr lang="zh-CN" altLang="en-US" sz="2800">
                <a:solidFill>
                  <a:srgbClr val="0000CC"/>
                </a:solidFill>
              </a:rPr>
              <a:t>公司和</a:t>
            </a:r>
            <a:r>
              <a:rPr lang="en-US" altLang="zh-CN" sz="2800">
                <a:solidFill>
                  <a:srgbClr val="0000CC"/>
                </a:solidFill>
              </a:rPr>
              <a:t>Stanford </a:t>
            </a:r>
            <a:r>
              <a:rPr lang="zh-CN" altLang="en-US" sz="2800">
                <a:solidFill>
                  <a:srgbClr val="0000CC"/>
                </a:solidFill>
              </a:rPr>
              <a:t>公司一系列性能优良的</a:t>
            </a:r>
            <a:r>
              <a:rPr lang="en-US" altLang="zh-CN" sz="2800">
                <a:solidFill>
                  <a:srgbClr val="0000CC"/>
                </a:solidFill>
              </a:rPr>
              <a:t>DDS </a:t>
            </a:r>
            <a:r>
              <a:rPr lang="zh-CN" altLang="en-US" sz="2800">
                <a:solidFill>
                  <a:srgbClr val="0000CC"/>
                </a:solidFill>
              </a:rPr>
              <a:t>器件不断出现</a:t>
            </a:r>
            <a:r>
              <a:rPr lang="en-US" altLang="zh-CN" sz="2800">
                <a:solidFill>
                  <a:srgbClr val="0000CC"/>
                </a:solidFill>
              </a:rPr>
              <a:t>, </a:t>
            </a:r>
            <a:r>
              <a:rPr lang="zh-CN" altLang="en-US" sz="2800">
                <a:solidFill>
                  <a:srgbClr val="0000CC"/>
                </a:solidFill>
              </a:rPr>
              <a:t>工作频率可达</a:t>
            </a:r>
            <a:r>
              <a:rPr lang="en-US" altLang="zh-CN" sz="2800">
                <a:solidFill>
                  <a:srgbClr val="0000CC"/>
                </a:solidFill>
              </a:rPr>
              <a:t>GHz, </a:t>
            </a:r>
            <a:r>
              <a:rPr lang="zh-CN" altLang="en-US" sz="2800">
                <a:solidFill>
                  <a:srgbClr val="0000CC"/>
                </a:solidFill>
              </a:rPr>
              <a:t>频率分辨率可到</a:t>
            </a:r>
            <a:r>
              <a:rPr lang="en-US" altLang="zh-CN" sz="2800">
                <a:solidFill>
                  <a:srgbClr val="0000CC"/>
                </a:solidFill>
              </a:rPr>
              <a:t>mHz</a:t>
            </a:r>
          </a:p>
        </p:txBody>
      </p:sp>
      <p:sp>
        <p:nvSpPr>
          <p:cNvPr id="22533" name="矩形 2">
            <a:extLst>
              <a:ext uri="{FF2B5EF4-FFF2-40B4-BE49-F238E27FC236}">
                <a16:creationId xmlns:a16="http://schemas.microsoft.com/office/drawing/2014/main" id="{FF76D098-2540-17DE-BE42-C42C4CD6E71A}"/>
              </a:ext>
            </a:extLst>
          </p:cNvPr>
          <p:cNvSpPr>
            <a:spLocks noChangeArrowheads="1"/>
          </p:cNvSpPr>
          <p:nvPr/>
        </p:nvSpPr>
        <p:spPr bwMode="auto">
          <a:xfrm>
            <a:off x="762000" y="476250"/>
            <a:ext cx="45862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r>
              <a:rPr lang="zh-CN" altLang="en-US" sz="3600" b="1">
                <a:solidFill>
                  <a:srgbClr val="000000"/>
                </a:solidFill>
                <a:latin typeface="黑体" panose="02010609060101010101" pitchFamily="49" charset="-122"/>
              </a:rPr>
              <a:t>五、 实验原理与说明</a:t>
            </a:r>
            <a:endParaRPr lang="zh-CN" altLang="en-US" sz="36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8227">
                                            <p:txEl>
                                              <p:pRg st="0" end="0"/>
                                            </p:txEl>
                                          </p:spTgt>
                                        </p:tgtEl>
                                        <p:attrNameLst>
                                          <p:attrName>style.visibility</p:attrName>
                                        </p:attrNameLst>
                                      </p:cBhvr>
                                      <p:to>
                                        <p:strVal val="visible"/>
                                      </p:to>
                                    </p:set>
                                    <p:animEffect transition="in" filter="blinds(horizontal)">
                                      <p:cBhvr>
                                        <p:cTn id="7" dur="500"/>
                                        <p:tgtEl>
                                          <p:spTgt spid="948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48228"/>
                                        </p:tgtEl>
                                        <p:attrNameLst>
                                          <p:attrName>style.visibility</p:attrName>
                                        </p:attrNameLst>
                                      </p:cBhvr>
                                      <p:to>
                                        <p:strVal val="visible"/>
                                      </p:to>
                                    </p:set>
                                    <p:animEffect transition="in" filter="box(in)">
                                      <p:cBhvr>
                                        <p:cTn id="12" dur="500"/>
                                        <p:tgtEl>
                                          <p:spTgt spid="9482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948229"/>
                                        </p:tgtEl>
                                        <p:attrNameLst>
                                          <p:attrName>style.visibility</p:attrName>
                                        </p:attrNameLst>
                                      </p:cBhvr>
                                      <p:to>
                                        <p:strVal val="visible"/>
                                      </p:to>
                                    </p:set>
                                    <p:animEffect transition="in" filter="diamond(in)">
                                      <p:cBhvr>
                                        <p:cTn id="17" dur="500"/>
                                        <p:tgtEl>
                                          <p:spTgt spid="948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8227" grpId="0" build="p"/>
      <p:bldP spid="948228" grpId="0"/>
      <p:bldP spid="9482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5BDC846-BE58-0861-8A4A-2472BC31BA4F}"/>
              </a:ext>
            </a:extLst>
          </p:cNvPr>
          <p:cNvSpPr>
            <a:spLocks noGrp="1" noChangeArrowheads="1"/>
          </p:cNvSpPr>
          <p:nvPr>
            <p:ph type="title"/>
          </p:nvPr>
        </p:nvSpPr>
        <p:spPr bwMode="auto">
          <a:xfrm>
            <a:off x="150813" y="0"/>
            <a:ext cx="7391400" cy="1341438"/>
          </a:xfrm>
          <a:noFill/>
          <a:extLst>
            <a:ext uri="{909E8E84-426E-40DD-AFC4-6F175D3DCCD1}">
              <a14:hiddenFill xmlns:a14="http://schemas.microsoft.com/office/drawing/2010/main">
                <a:gradFill rotWithShape="0">
                  <a:gsLst>
                    <a:gs pos="0">
                      <a:schemeClr val="bg2">
                        <a:alpha val="0"/>
                      </a:schemeClr>
                    </a:gs>
                    <a:gs pos="100000">
                      <a:schemeClr val="accent1"/>
                    </a:gs>
                  </a:gsLst>
                  <a:path path="shape">
                    <a:fillToRect l="50000" t="50000" r="50000" b="50000"/>
                  </a:path>
                </a:gra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zh-CN" altLang="en-US" sz="3600" b="1">
                <a:solidFill>
                  <a:srgbClr val="000000"/>
                </a:solidFill>
                <a:latin typeface="黑体" panose="02010609060101010101" pitchFamily="49" charset="-122"/>
              </a:rPr>
              <a:t>五、 实验原理与说明</a:t>
            </a:r>
            <a:br>
              <a:rPr lang="zh-CN" altLang="en-US" sz="3600" b="1">
                <a:solidFill>
                  <a:srgbClr val="000000"/>
                </a:solidFill>
                <a:latin typeface="黑体" panose="02010609060101010101" pitchFamily="49" charset="-122"/>
              </a:rPr>
            </a:br>
            <a:r>
              <a:rPr lang="zh-CN" altLang="en-US" sz="3600" b="1">
                <a:solidFill>
                  <a:srgbClr val="000000"/>
                </a:solidFill>
                <a:latin typeface="黑体" panose="02010609060101010101" pitchFamily="49" charset="-122"/>
              </a:rPr>
              <a:t>     </a:t>
            </a:r>
            <a:r>
              <a:rPr lang="en-US" altLang="zh-CN" sz="2800" b="1">
                <a:solidFill>
                  <a:srgbClr val="A50021"/>
                </a:solidFill>
                <a:ea typeface="楷体_GB2312" pitchFamily="49" charset="-122"/>
              </a:rPr>
              <a:t>DDS</a:t>
            </a:r>
            <a:r>
              <a:rPr lang="zh-CN" altLang="en-US" sz="2800" b="1">
                <a:solidFill>
                  <a:srgbClr val="A50021"/>
                </a:solidFill>
                <a:ea typeface="楷体_GB2312" pitchFamily="49" charset="-122"/>
              </a:rPr>
              <a:t>基本原理</a:t>
            </a:r>
          </a:p>
        </p:txBody>
      </p:sp>
      <p:sp>
        <p:nvSpPr>
          <p:cNvPr id="23555" name="Line 3">
            <a:extLst>
              <a:ext uri="{FF2B5EF4-FFF2-40B4-BE49-F238E27FC236}">
                <a16:creationId xmlns:a16="http://schemas.microsoft.com/office/drawing/2014/main" id="{624EBCEA-8C72-64BE-E3B3-2CB6C303344A}"/>
              </a:ext>
            </a:extLst>
          </p:cNvPr>
          <p:cNvSpPr>
            <a:spLocks noChangeShapeType="1"/>
          </p:cNvSpPr>
          <p:nvPr/>
        </p:nvSpPr>
        <p:spPr bwMode="auto">
          <a:xfrm>
            <a:off x="1636713" y="2636838"/>
            <a:ext cx="609600" cy="0"/>
          </a:xfrm>
          <a:prstGeom prst="line">
            <a:avLst/>
          </a:prstGeom>
          <a:noFill/>
          <a:ln w="5715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56" name="Line 4">
            <a:extLst>
              <a:ext uri="{FF2B5EF4-FFF2-40B4-BE49-F238E27FC236}">
                <a16:creationId xmlns:a16="http://schemas.microsoft.com/office/drawing/2014/main" id="{11D45F71-DBC5-3FCE-841C-FA858619B938}"/>
              </a:ext>
            </a:extLst>
          </p:cNvPr>
          <p:cNvSpPr>
            <a:spLocks noChangeShapeType="1"/>
          </p:cNvSpPr>
          <p:nvPr/>
        </p:nvSpPr>
        <p:spPr bwMode="auto">
          <a:xfrm>
            <a:off x="2170113" y="3551238"/>
            <a:ext cx="3529012"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57" name="Line 5">
            <a:extLst>
              <a:ext uri="{FF2B5EF4-FFF2-40B4-BE49-F238E27FC236}">
                <a16:creationId xmlns:a16="http://schemas.microsoft.com/office/drawing/2014/main" id="{436B9469-0409-608A-BF51-4937B2673FF6}"/>
              </a:ext>
            </a:extLst>
          </p:cNvPr>
          <p:cNvSpPr>
            <a:spLocks noChangeShapeType="1"/>
          </p:cNvSpPr>
          <p:nvPr/>
        </p:nvSpPr>
        <p:spPr bwMode="auto">
          <a:xfrm flipV="1">
            <a:off x="2779713" y="2941638"/>
            <a:ext cx="0" cy="609600"/>
          </a:xfrm>
          <a:prstGeom prst="line">
            <a:avLst/>
          </a:prstGeom>
          <a:noFill/>
          <a:ln w="5715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58" name="Line 6">
            <a:extLst>
              <a:ext uri="{FF2B5EF4-FFF2-40B4-BE49-F238E27FC236}">
                <a16:creationId xmlns:a16="http://schemas.microsoft.com/office/drawing/2014/main" id="{49E4F9D9-4459-74D9-3813-A59225B6E154}"/>
              </a:ext>
            </a:extLst>
          </p:cNvPr>
          <p:cNvSpPr>
            <a:spLocks noChangeShapeType="1"/>
          </p:cNvSpPr>
          <p:nvPr/>
        </p:nvSpPr>
        <p:spPr bwMode="auto">
          <a:xfrm flipV="1">
            <a:off x="5675313" y="2941638"/>
            <a:ext cx="0" cy="609600"/>
          </a:xfrm>
          <a:prstGeom prst="line">
            <a:avLst/>
          </a:prstGeom>
          <a:noFill/>
          <a:ln w="5715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59" name="Text Box 7">
            <a:extLst>
              <a:ext uri="{FF2B5EF4-FFF2-40B4-BE49-F238E27FC236}">
                <a16:creationId xmlns:a16="http://schemas.microsoft.com/office/drawing/2014/main" id="{EA06C9B3-E67A-5799-C3D2-10343A7411DE}"/>
              </a:ext>
            </a:extLst>
          </p:cNvPr>
          <p:cNvSpPr txBox="1">
            <a:spLocks noChangeArrowheads="1"/>
          </p:cNvSpPr>
          <p:nvPr/>
        </p:nvSpPr>
        <p:spPr bwMode="auto">
          <a:xfrm>
            <a:off x="1027113" y="3376613"/>
            <a:ext cx="1143000" cy="3048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57150">
                <a:solidFill>
                  <a:srgbClr val="99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buSzPct val="85000"/>
            </a:pPr>
            <a:r>
              <a:rPr lang="zh-CN" altLang="en-US" sz="2000" b="1">
                <a:solidFill>
                  <a:schemeClr val="tx1"/>
                </a:solidFill>
                <a:latin typeface="Arial" panose="020B0604020202020204" pitchFamily="34" charset="0"/>
                <a:ea typeface="楷体_GB2312" pitchFamily="49" charset="-122"/>
              </a:rPr>
              <a:t>采样时钟</a:t>
            </a:r>
          </a:p>
        </p:txBody>
      </p:sp>
      <p:sp>
        <p:nvSpPr>
          <p:cNvPr id="23560" name="Text Box 8">
            <a:extLst>
              <a:ext uri="{FF2B5EF4-FFF2-40B4-BE49-F238E27FC236}">
                <a16:creationId xmlns:a16="http://schemas.microsoft.com/office/drawing/2014/main" id="{444183D2-95FB-E28C-E2E7-3699F18FE8E6}"/>
              </a:ext>
            </a:extLst>
          </p:cNvPr>
          <p:cNvSpPr txBox="1">
            <a:spLocks noChangeArrowheads="1"/>
          </p:cNvSpPr>
          <p:nvPr/>
        </p:nvSpPr>
        <p:spPr bwMode="auto">
          <a:xfrm>
            <a:off x="7580313" y="2255838"/>
            <a:ext cx="533400" cy="2746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57150">
                <a:solidFill>
                  <a:srgbClr val="99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buSzPct val="85000"/>
            </a:pPr>
            <a:r>
              <a:rPr lang="zh-CN" altLang="en-US" sz="1800" b="1">
                <a:solidFill>
                  <a:schemeClr val="tx1"/>
                </a:solidFill>
                <a:latin typeface="Arial" panose="020B0604020202020204" pitchFamily="34" charset="0"/>
                <a:ea typeface="楷体_GB2312" pitchFamily="49" charset="-122"/>
              </a:rPr>
              <a:t>输出</a:t>
            </a:r>
          </a:p>
        </p:txBody>
      </p:sp>
      <p:grpSp>
        <p:nvGrpSpPr>
          <p:cNvPr id="23561" name="Group 9">
            <a:extLst>
              <a:ext uri="{FF2B5EF4-FFF2-40B4-BE49-F238E27FC236}">
                <a16:creationId xmlns:a16="http://schemas.microsoft.com/office/drawing/2014/main" id="{B9AA3F36-2518-0834-F403-9B870F0B07D1}"/>
              </a:ext>
            </a:extLst>
          </p:cNvPr>
          <p:cNvGrpSpPr>
            <a:grpSpLocks/>
          </p:cNvGrpSpPr>
          <p:nvPr/>
        </p:nvGrpSpPr>
        <p:grpSpPr bwMode="auto">
          <a:xfrm>
            <a:off x="3694113" y="4084638"/>
            <a:ext cx="1143000" cy="609600"/>
            <a:chOff x="2304" y="2880"/>
            <a:chExt cx="720" cy="384"/>
          </a:xfrm>
        </p:grpSpPr>
        <p:sp>
          <p:nvSpPr>
            <p:cNvPr id="23604" name="Line 10">
              <a:extLst>
                <a:ext uri="{FF2B5EF4-FFF2-40B4-BE49-F238E27FC236}">
                  <a16:creationId xmlns:a16="http://schemas.microsoft.com/office/drawing/2014/main" id="{B5681AFE-217F-695D-98AF-E8AC7115DEDA}"/>
                </a:ext>
              </a:extLst>
            </p:cNvPr>
            <p:cNvSpPr>
              <a:spLocks noChangeShapeType="1"/>
            </p:cNvSpPr>
            <p:nvPr/>
          </p:nvSpPr>
          <p:spPr bwMode="auto">
            <a:xfrm>
              <a:off x="2304" y="3072"/>
              <a:ext cx="720"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05" name="Line 11">
              <a:extLst>
                <a:ext uri="{FF2B5EF4-FFF2-40B4-BE49-F238E27FC236}">
                  <a16:creationId xmlns:a16="http://schemas.microsoft.com/office/drawing/2014/main" id="{C97E8A54-2AE5-A59B-2E3B-E8D99DEEF221}"/>
                </a:ext>
              </a:extLst>
            </p:cNvPr>
            <p:cNvSpPr>
              <a:spLocks noChangeShapeType="1"/>
            </p:cNvSpPr>
            <p:nvPr/>
          </p:nvSpPr>
          <p:spPr bwMode="auto">
            <a:xfrm flipV="1">
              <a:off x="2304" y="2976"/>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06" name="Line 12">
              <a:extLst>
                <a:ext uri="{FF2B5EF4-FFF2-40B4-BE49-F238E27FC236}">
                  <a16:creationId xmlns:a16="http://schemas.microsoft.com/office/drawing/2014/main" id="{1022C908-9F38-4847-4C6B-8FF64AAEA586}"/>
                </a:ext>
              </a:extLst>
            </p:cNvPr>
            <p:cNvSpPr>
              <a:spLocks noChangeShapeType="1"/>
            </p:cNvSpPr>
            <p:nvPr/>
          </p:nvSpPr>
          <p:spPr bwMode="auto">
            <a:xfrm flipV="1">
              <a:off x="2400" y="2928"/>
              <a:ext cx="0" cy="144"/>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07" name="Line 13">
              <a:extLst>
                <a:ext uri="{FF2B5EF4-FFF2-40B4-BE49-F238E27FC236}">
                  <a16:creationId xmlns:a16="http://schemas.microsoft.com/office/drawing/2014/main" id="{1800B4AC-E014-43C3-3D3B-C6FA61F39706}"/>
                </a:ext>
              </a:extLst>
            </p:cNvPr>
            <p:cNvSpPr>
              <a:spLocks noChangeShapeType="1"/>
            </p:cNvSpPr>
            <p:nvPr/>
          </p:nvSpPr>
          <p:spPr bwMode="auto">
            <a:xfrm flipV="1">
              <a:off x="2496" y="2880"/>
              <a:ext cx="0" cy="192"/>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08" name="Line 14">
              <a:extLst>
                <a:ext uri="{FF2B5EF4-FFF2-40B4-BE49-F238E27FC236}">
                  <a16:creationId xmlns:a16="http://schemas.microsoft.com/office/drawing/2014/main" id="{95F4AD33-2078-835A-276E-3DC910BAC060}"/>
                </a:ext>
              </a:extLst>
            </p:cNvPr>
            <p:cNvSpPr>
              <a:spLocks noChangeShapeType="1"/>
            </p:cNvSpPr>
            <p:nvPr/>
          </p:nvSpPr>
          <p:spPr bwMode="auto">
            <a:xfrm flipV="1">
              <a:off x="2592" y="2976"/>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09" name="Line 15">
              <a:extLst>
                <a:ext uri="{FF2B5EF4-FFF2-40B4-BE49-F238E27FC236}">
                  <a16:creationId xmlns:a16="http://schemas.microsoft.com/office/drawing/2014/main" id="{EF050D37-9114-9409-4153-F1680BD8507A}"/>
                </a:ext>
              </a:extLst>
            </p:cNvPr>
            <p:cNvSpPr>
              <a:spLocks noChangeShapeType="1"/>
            </p:cNvSpPr>
            <p:nvPr/>
          </p:nvSpPr>
          <p:spPr bwMode="auto">
            <a:xfrm>
              <a:off x="2688" y="3072"/>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10" name="Line 16">
              <a:extLst>
                <a:ext uri="{FF2B5EF4-FFF2-40B4-BE49-F238E27FC236}">
                  <a16:creationId xmlns:a16="http://schemas.microsoft.com/office/drawing/2014/main" id="{43DAE697-62DF-5D51-4DFA-3106B89D234C}"/>
                </a:ext>
              </a:extLst>
            </p:cNvPr>
            <p:cNvSpPr>
              <a:spLocks noChangeShapeType="1"/>
            </p:cNvSpPr>
            <p:nvPr/>
          </p:nvSpPr>
          <p:spPr bwMode="auto">
            <a:xfrm flipV="1">
              <a:off x="2880" y="3072"/>
              <a:ext cx="0" cy="144"/>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11" name="Line 17">
              <a:extLst>
                <a:ext uri="{FF2B5EF4-FFF2-40B4-BE49-F238E27FC236}">
                  <a16:creationId xmlns:a16="http://schemas.microsoft.com/office/drawing/2014/main" id="{544F30CD-C04A-A4CE-3272-B40E2C39ECE1}"/>
                </a:ext>
              </a:extLst>
            </p:cNvPr>
            <p:cNvSpPr>
              <a:spLocks noChangeShapeType="1"/>
            </p:cNvSpPr>
            <p:nvPr/>
          </p:nvSpPr>
          <p:spPr bwMode="auto">
            <a:xfrm flipV="1">
              <a:off x="2976" y="3072"/>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12" name="Line 18">
              <a:extLst>
                <a:ext uri="{FF2B5EF4-FFF2-40B4-BE49-F238E27FC236}">
                  <a16:creationId xmlns:a16="http://schemas.microsoft.com/office/drawing/2014/main" id="{45B1267B-AE2B-07D7-1085-E31AD8159008}"/>
                </a:ext>
              </a:extLst>
            </p:cNvPr>
            <p:cNvSpPr>
              <a:spLocks noChangeShapeType="1"/>
            </p:cNvSpPr>
            <p:nvPr/>
          </p:nvSpPr>
          <p:spPr bwMode="auto">
            <a:xfrm flipV="1">
              <a:off x="2784" y="3072"/>
              <a:ext cx="0" cy="192"/>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grpSp>
      <p:grpSp>
        <p:nvGrpSpPr>
          <p:cNvPr id="23562" name="Group 19">
            <a:extLst>
              <a:ext uri="{FF2B5EF4-FFF2-40B4-BE49-F238E27FC236}">
                <a16:creationId xmlns:a16="http://schemas.microsoft.com/office/drawing/2014/main" id="{0823CE61-708A-E8C9-CB8B-C415CEC7C565}"/>
              </a:ext>
            </a:extLst>
          </p:cNvPr>
          <p:cNvGrpSpPr>
            <a:grpSpLocks/>
          </p:cNvGrpSpPr>
          <p:nvPr/>
        </p:nvGrpSpPr>
        <p:grpSpPr bwMode="auto">
          <a:xfrm>
            <a:off x="5294313" y="4084638"/>
            <a:ext cx="1143000" cy="609600"/>
            <a:chOff x="3312" y="2880"/>
            <a:chExt cx="720" cy="384"/>
          </a:xfrm>
        </p:grpSpPr>
        <p:sp>
          <p:nvSpPr>
            <p:cNvPr id="23589" name="Line 20">
              <a:extLst>
                <a:ext uri="{FF2B5EF4-FFF2-40B4-BE49-F238E27FC236}">
                  <a16:creationId xmlns:a16="http://schemas.microsoft.com/office/drawing/2014/main" id="{3570E350-1B62-4513-D2D4-ABA906C3F985}"/>
                </a:ext>
              </a:extLst>
            </p:cNvPr>
            <p:cNvSpPr>
              <a:spLocks noChangeShapeType="1"/>
            </p:cNvSpPr>
            <p:nvPr/>
          </p:nvSpPr>
          <p:spPr bwMode="auto">
            <a:xfrm>
              <a:off x="3312" y="3072"/>
              <a:ext cx="720"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0" name="Line 21">
              <a:extLst>
                <a:ext uri="{FF2B5EF4-FFF2-40B4-BE49-F238E27FC236}">
                  <a16:creationId xmlns:a16="http://schemas.microsoft.com/office/drawing/2014/main" id="{AF67E6E5-FFF2-6CD4-081D-02302EA020F9}"/>
                </a:ext>
              </a:extLst>
            </p:cNvPr>
            <p:cNvSpPr>
              <a:spLocks noChangeShapeType="1"/>
            </p:cNvSpPr>
            <p:nvPr/>
          </p:nvSpPr>
          <p:spPr bwMode="auto">
            <a:xfrm flipV="1">
              <a:off x="3312" y="2976"/>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1" name="Line 22">
              <a:extLst>
                <a:ext uri="{FF2B5EF4-FFF2-40B4-BE49-F238E27FC236}">
                  <a16:creationId xmlns:a16="http://schemas.microsoft.com/office/drawing/2014/main" id="{4A15E100-7614-5C90-C6E3-77A8F99EF411}"/>
                </a:ext>
              </a:extLst>
            </p:cNvPr>
            <p:cNvSpPr>
              <a:spLocks noChangeShapeType="1"/>
            </p:cNvSpPr>
            <p:nvPr/>
          </p:nvSpPr>
          <p:spPr bwMode="auto">
            <a:xfrm flipV="1">
              <a:off x="3408" y="2880"/>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2" name="Line 23">
              <a:extLst>
                <a:ext uri="{FF2B5EF4-FFF2-40B4-BE49-F238E27FC236}">
                  <a16:creationId xmlns:a16="http://schemas.microsoft.com/office/drawing/2014/main" id="{0E918E9C-ABCC-08AB-8FA0-5615F5BD64DB}"/>
                </a:ext>
              </a:extLst>
            </p:cNvPr>
            <p:cNvSpPr>
              <a:spLocks noChangeShapeType="1"/>
            </p:cNvSpPr>
            <p:nvPr/>
          </p:nvSpPr>
          <p:spPr bwMode="auto">
            <a:xfrm flipV="1">
              <a:off x="3504" y="2880"/>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3" name="Line 24">
              <a:extLst>
                <a:ext uri="{FF2B5EF4-FFF2-40B4-BE49-F238E27FC236}">
                  <a16:creationId xmlns:a16="http://schemas.microsoft.com/office/drawing/2014/main" id="{26E54092-6D23-F0C3-7305-A591889BB55B}"/>
                </a:ext>
              </a:extLst>
            </p:cNvPr>
            <p:cNvSpPr>
              <a:spLocks noChangeShapeType="1"/>
            </p:cNvSpPr>
            <p:nvPr/>
          </p:nvSpPr>
          <p:spPr bwMode="auto">
            <a:xfrm flipV="1">
              <a:off x="3600" y="2976"/>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4" name="Line 25">
              <a:extLst>
                <a:ext uri="{FF2B5EF4-FFF2-40B4-BE49-F238E27FC236}">
                  <a16:creationId xmlns:a16="http://schemas.microsoft.com/office/drawing/2014/main" id="{273B3133-0AFB-D852-58FB-F7780CA404E7}"/>
                </a:ext>
              </a:extLst>
            </p:cNvPr>
            <p:cNvSpPr>
              <a:spLocks noChangeShapeType="1"/>
            </p:cNvSpPr>
            <p:nvPr/>
          </p:nvSpPr>
          <p:spPr bwMode="auto">
            <a:xfrm>
              <a:off x="3696" y="3072"/>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5" name="Line 26">
              <a:extLst>
                <a:ext uri="{FF2B5EF4-FFF2-40B4-BE49-F238E27FC236}">
                  <a16:creationId xmlns:a16="http://schemas.microsoft.com/office/drawing/2014/main" id="{E2D7BE32-D6A3-80F9-337C-8DDF4CFBC32D}"/>
                </a:ext>
              </a:extLst>
            </p:cNvPr>
            <p:cNvSpPr>
              <a:spLocks noChangeShapeType="1"/>
            </p:cNvSpPr>
            <p:nvPr/>
          </p:nvSpPr>
          <p:spPr bwMode="auto">
            <a:xfrm flipV="1">
              <a:off x="3888" y="3168"/>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6" name="Line 27">
              <a:extLst>
                <a:ext uri="{FF2B5EF4-FFF2-40B4-BE49-F238E27FC236}">
                  <a16:creationId xmlns:a16="http://schemas.microsoft.com/office/drawing/2014/main" id="{D06F133C-859B-854E-A40A-84A93130F5A6}"/>
                </a:ext>
              </a:extLst>
            </p:cNvPr>
            <p:cNvSpPr>
              <a:spLocks noChangeShapeType="1"/>
            </p:cNvSpPr>
            <p:nvPr/>
          </p:nvSpPr>
          <p:spPr bwMode="auto">
            <a:xfrm flipV="1">
              <a:off x="3984" y="3072"/>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7" name="Line 28">
              <a:extLst>
                <a:ext uri="{FF2B5EF4-FFF2-40B4-BE49-F238E27FC236}">
                  <a16:creationId xmlns:a16="http://schemas.microsoft.com/office/drawing/2014/main" id="{E93B2CAE-4708-2286-1E58-2269561624C0}"/>
                </a:ext>
              </a:extLst>
            </p:cNvPr>
            <p:cNvSpPr>
              <a:spLocks noChangeShapeType="1"/>
            </p:cNvSpPr>
            <p:nvPr/>
          </p:nvSpPr>
          <p:spPr bwMode="auto">
            <a:xfrm flipV="1">
              <a:off x="3792" y="3168"/>
              <a:ext cx="0" cy="96"/>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8" name="Line 29">
              <a:extLst>
                <a:ext uri="{FF2B5EF4-FFF2-40B4-BE49-F238E27FC236}">
                  <a16:creationId xmlns:a16="http://schemas.microsoft.com/office/drawing/2014/main" id="{C8018D7A-12F9-7AF2-3BC1-0F2742804DC7}"/>
                </a:ext>
              </a:extLst>
            </p:cNvPr>
            <p:cNvSpPr>
              <a:spLocks noChangeShapeType="1"/>
            </p:cNvSpPr>
            <p:nvPr/>
          </p:nvSpPr>
          <p:spPr bwMode="auto">
            <a:xfrm>
              <a:off x="3312" y="2976"/>
              <a:ext cx="96"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99" name="Line 30">
              <a:extLst>
                <a:ext uri="{FF2B5EF4-FFF2-40B4-BE49-F238E27FC236}">
                  <a16:creationId xmlns:a16="http://schemas.microsoft.com/office/drawing/2014/main" id="{A68F1132-A5CF-A2F3-CC93-647B456331F8}"/>
                </a:ext>
              </a:extLst>
            </p:cNvPr>
            <p:cNvSpPr>
              <a:spLocks noChangeShapeType="1"/>
            </p:cNvSpPr>
            <p:nvPr/>
          </p:nvSpPr>
          <p:spPr bwMode="auto">
            <a:xfrm>
              <a:off x="3408" y="2880"/>
              <a:ext cx="96"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00" name="Line 31">
              <a:extLst>
                <a:ext uri="{FF2B5EF4-FFF2-40B4-BE49-F238E27FC236}">
                  <a16:creationId xmlns:a16="http://schemas.microsoft.com/office/drawing/2014/main" id="{C3C85550-AB62-BF2F-1DCB-BF895A8BF19E}"/>
                </a:ext>
              </a:extLst>
            </p:cNvPr>
            <p:cNvSpPr>
              <a:spLocks noChangeShapeType="1"/>
            </p:cNvSpPr>
            <p:nvPr/>
          </p:nvSpPr>
          <p:spPr bwMode="auto">
            <a:xfrm>
              <a:off x="3504" y="2976"/>
              <a:ext cx="96"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01" name="Line 32">
              <a:extLst>
                <a:ext uri="{FF2B5EF4-FFF2-40B4-BE49-F238E27FC236}">
                  <a16:creationId xmlns:a16="http://schemas.microsoft.com/office/drawing/2014/main" id="{9D2FE828-4750-098E-3481-128A90CCF49A}"/>
                </a:ext>
              </a:extLst>
            </p:cNvPr>
            <p:cNvSpPr>
              <a:spLocks noChangeShapeType="1"/>
            </p:cNvSpPr>
            <p:nvPr/>
          </p:nvSpPr>
          <p:spPr bwMode="auto">
            <a:xfrm>
              <a:off x="3696" y="3168"/>
              <a:ext cx="96"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02" name="Line 33">
              <a:extLst>
                <a:ext uri="{FF2B5EF4-FFF2-40B4-BE49-F238E27FC236}">
                  <a16:creationId xmlns:a16="http://schemas.microsoft.com/office/drawing/2014/main" id="{FD4D6AF9-5E43-30AF-2411-91365E12DE26}"/>
                </a:ext>
              </a:extLst>
            </p:cNvPr>
            <p:cNvSpPr>
              <a:spLocks noChangeShapeType="1"/>
            </p:cNvSpPr>
            <p:nvPr/>
          </p:nvSpPr>
          <p:spPr bwMode="auto">
            <a:xfrm>
              <a:off x="3792" y="3264"/>
              <a:ext cx="96"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603" name="Line 34">
              <a:extLst>
                <a:ext uri="{FF2B5EF4-FFF2-40B4-BE49-F238E27FC236}">
                  <a16:creationId xmlns:a16="http://schemas.microsoft.com/office/drawing/2014/main" id="{EB297BB1-464D-6BCC-6F2A-B0976491E2C2}"/>
                </a:ext>
              </a:extLst>
            </p:cNvPr>
            <p:cNvSpPr>
              <a:spLocks noChangeShapeType="1"/>
            </p:cNvSpPr>
            <p:nvPr/>
          </p:nvSpPr>
          <p:spPr bwMode="auto">
            <a:xfrm>
              <a:off x="3888" y="3168"/>
              <a:ext cx="96"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grpSp>
      <p:grpSp>
        <p:nvGrpSpPr>
          <p:cNvPr id="23563" name="Group 35">
            <a:extLst>
              <a:ext uri="{FF2B5EF4-FFF2-40B4-BE49-F238E27FC236}">
                <a16:creationId xmlns:a16="http://schemas.microsoft.com/office/drawing/2014/main" id="{6602C8C2-31A6-B82F-C631-5C07213C4FBD}"/>
              </a:ext>
            </a:extLst>
          </p:cNvPr>
          <p:cNvGrpSpPr>
            <a:grpSpLocks/>
          </p:cNvGrpSpPr>
          <p:nvPr/>
        </p:nvGrpSpPr>
        <p:grpSpPr bwMode="auto">
          <a:xfrm>
            <a:off x="6742113" y="4084638"/>
            <a:ext cx="1143000" cy="609600"/>
            <a:chOff x="4368" y="2880"/>
            <a:chExt cx="720" cy="384"/>
          </a:xfrm>
        </p:grpSpPr>
        <p:sp>
          <p:nvSpPr>
            <p:cNvPr id="23587" name="Line 36">
              <a:extLst>
                <a:ext uri="{FF2B5EF4-FFF2-40B4-BE49-F238E27FC236}">
                  <a16:creationId xmlns:a16="http://schemas.microsoft.com/office/drawing/2014/main" id="{FDF731E8-52F6-DE3D-C6E1-4BEC12E6DDE8}"/>
                </a:ext>
              </a:extLst>
            </p:cNvPr>
            <p:cNvSpPr>
              <a:spLocks noChangeShapeType="1"/>
            </p:cNvSpPr>
            <p:nvPr/>
          </p:nvSpPr>
          <p:spPr bwMode="auto">
            <a:xfrm>
              <a:off x="4368" y="3072"/>
              <a:ext cx="720"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23588" name="Freeform 37">
              <a:extLst>
                <a:ext uri="{FF2B5EF4-FFF2-40B4-BE49-F238E27FC236}">
                  <a16:creationId xmlns:a16="http://schemas.microsoft.com/office/drawing/2014/main" id="{9F902EB3-9DA9-A964-A8A6-DE458FDE32EA}"/>
                </a:ext>
              </a:extLst>
            </p:cNvPr>
            <p:cNvSpPr>
              <a:spLocks/>
            </p:cNvSpPr>
            <p:nvPr/>
          </p:nvSpPr>
          <p:spPr bwMode="auto">
            <a:xfrm>
              <a:off x="4368" y="2880"/>
              <a:ext cx="720" cy="384"/>
            </a:xfrm>
            <a:custGeom>
              <a:avLst/>
              <a:gdLst>
                <a:gd name="T0" fmla="*/ 0 w 720"/>
                <a:gd name="T1" fmla="*/ 2 h 576"/>
                <a:gd name="T2" fmla="*/ 192 w 720"/>
                <a:gd name="T3" fmla="*/ 0 h 576"/>
                <a:gd name="T4" fmla="*/ 384 w 720"/>
                <a:gd name="T5" fmla="*/ 2 h 576"/>
                <a:gd name="T6" fmla="*/ 528 w 720"/>
                <a:gd name="T7" fmla="*/ 5 h 576"/>
                <a:gd name="T8" fmla="*/ 720 w 720"/>
                <a:gd name="T9" fmla="*/ 2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576">
                  <a:moveTo>
                    <a:pt x="0" y="288"/>
                  </a:moveTo>
                  <a:cubicBezTo>
                    <a:pt x="64" y="144"/>
                    <a:pt x="128" y="0"/>
                    <a:pt x="192" y="0"/>
                  </a:cubicBezTo>
                  <a:cubicBezTo>
                    <a:pt x="256" y="0"/>
                    <a:pt x="328" y="192"/>
                    <a:pt x="384" y="288"/>
                  </a:cubicBezTo>
                  <a:cubicBezTo>
                    <a:pt x="440" y="384"/>
                    <a:pt x="472" y="576"/>
                    <a:pt x="528" y="576"/>
                  </a:cubicBezTo>
                  <a:cubicBezTo>
                    <a:pt x="584" y="576"/>
                    <a:pt x="652" y="432"/>
                    <a:pt x="720" y="288"/>
                  </a:cubicBezTo>
                </a:path>
              </a:pathLst>
            </a:custGeom>
            <a:noFill/>
            <a:ln w="57150" cap="flat" cmpd="sng">
              <a:solidFill>
                <a:srgbClr val="000080"/>
              </a:solidFill>
              <a:prstDash val="solid"/>
              <a:round/>
              <a:headEnd type="none" w="med" len="med"/>
              <a:tailEnd type="none"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grpSp>
      <p:sp>
        <p:nvSpPr>
          <p:cNvPr id="23564" name="Rectangle 38">
            <a:extLst>
              <a:ext uri="{FF2B5EF4-FFF2-40B4-BE49-F238E27FC236}">
                <a16:creationId xmlns:a16="http://schemas.microsoft.com/office/drawing/2014/main" id="{3A080CB3-F87E-E441-9166-5200AA63E084}"/>
              </a:ext>
            </a:extLst>
          </p:cNvPr>
          <p:cNvSpPr>
            <a:spLocks noChangeArrowheads="1"/>
          </p:cNvSpPr>
          <p:nvPr/>
        </p:nvSpPr>
        <p:spPr bwMode="auto">
          <a:xfrm>
            <a:off x="2398713" y="2255838"/>
            <a:ext cx="838200" cy="685800"/>
          </a:xfrm>
          <a:prstGeom prst="rect">
            <a:avLst/>
          </a:prstGeom>
          <a:solidFill>
            <a:srgbClr val="008080"/>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008080"/>
            </a:extrusionClr>
            <a:contourClr>
              <a:srgbClr val="00808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flatTx/>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spcBef>
                <a:spcPct val="20000"/>
              </a:spcBef>
              <a:buSzPct val="85000"/>
            </a:pPr>
            <a:r>
              <a:rPr lang="zh-CN" altLang="en-US" sz="1800">
                <a:solidFill>
                  <a:schemeClr val="bg1"/>
                </a:solidFill>
              </a:rPr>
              <a:t>相位</a:t>
            </a:r>
          </a:p>
          <a:p>
            <a:pPr eaLnBrk="1" hangingPunct="1">
              <a:spcBef>
                <a:spcPct val="20000"/>
              </a:spcBef>
              <a:buSzPct val="85000"/>
            </a:pPr>
            <a:r>
              <a:rPr lang="zh-CN" altLang="en-US" sz="1800">
                <a:solidFill>
                  <a:schemeClr val="bg1"/>
                </a:solidFill>
              </a:rPr>
              <a:t> 累加器 </a:t>
            </a:r>
          </a:p>
        </p:txBody>
      </p:sp>
      <p:sp>
        <p:nvSpPr>
          <p:cNvPr id="23565" name="Rectangle 39">
            <a:extLst>
              <a:ext uri="{FF2B5EF4-FFF2-40B4-BE49-F238E27FC236}">
                <a16:creationId xmlns:a16="http://schemas.microsoft.com/office/drawing/2014/main" id="{CBA58B51-C916-C821-F99E-F01787C692CB}"/>
              </a:ext>
            </a:extLst>
          </p:cNvPr>
          <p:cNvSpPr>
            <a:spLocks noChangeArrowheads="1"/>
          </p:cNvSpPr>
          <p:nvPr/>
        </p:nvSpPr>
        <p:spPr bwMode="auto">
          <a:xfrm>
            <a:off x="3922713" y="2255838"/>
            <a:ext cx="838200" cy="685800"/>
          </a:xfrm>
          <a:prstGeom prst="rect">
            <a:avLst/>
          </a:prstGeom>
          <a:solidFill>
            <a:srgbClr val="008080"/>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008080"/>
            </a:extrusionClr>
            <a:contourClr>
              <a:srgbClr val="00808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flatTx/>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spcBef>
                <a:spcPct val="20000"/>
              </a:spcBef>
              <a:buSzPct val="85000"/>
            </a:pPr>
            <a:r>
              <a:rPr lang="zh-CN" altLang="en-US" sz="1800">
                <a:solidFill>
                  <a:schemeClr val="bg1"/>
                </a:solidFill>
              </a:rPr>
              <a:t>数据</a:t>
            </a:r>
          </a:p>
          <a:p>
            <a:pPr eaLnBrk="1" hangingPunct="1">
              <a:spcBef>
                <a:spcPct val="20000"/>
              </a:spcBef>
              <a:buSzPct val="85000"/>
            </a:pPr>
            <a:r>
              <a:rPr lang="zh-CN" altLang="en-US" sz="1800">
                <a:solidFill>
                  <a:schemeClr val="bg1"/>
                </a:solidFill>
              </a:rPr>
              <a:t> 查找表 </a:t>
            </a:r>
          </a:p>
        </p:txBody>
      </p:sp>
      <p:sp>
        <p:nvSpPr>
          <p:cNvPr id="23566" name="Line 40">
            <a:extLst>
              <a:ext uri="{FF2B5EF4-FFF2-40B4-BE49-F238E27FC236}">
                <a16:creationId xmlns:a16="http://schemas.microsoft.com/office/drawing/2014/main" id="{361792AD-F1DD-DF83-C348-004D0504E89D}"/>
              </a:ext>
            </a:extLst>
          </p:cNvPr>
          <p:cNvSpPr>
            <a:spLocks noChangeShapeType="1"/>
          </p:cNvSpPr>
          <p:nvPr/>
        </p:nvSpPr>
        <p:spPr bwMode="auto">
          <a:xfrm>
            <a:off x="3246438" y="2598738"/>
            <a:ext cx="533400" cy="0"/>
          </a:xfrm>
          <a:prstGeom prst="line">
            <a:avLst/>
          </a:prstGeom>
          <a:noFill/>
          <a:ln w="5715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67" name="Rectangle 41">
            <a:extLst>
              <a:ext uri="{FF2B5EF4-FFF2-40B4-BE49-F238E27FC236}">
                <a16:creationId xmlns:a16="http://schemas.microsoft.com/office/drawing/2014/main" id="{E84AC29D-F721-7253-9C70-E5D7A4012515}"/>
              </a:ext>
            </a:extLst>
          </p:cNvPr>
          <p:cNvSpPr>
            <a:spLocks noChangeArrowheads="1"/>
          </p:cNvSpPr>
          <p:nvPr/>
        </p:nvSpPr>
        <p:spPr bwMode="auto">
          <a:xfrm>
            <a:off x="5294313" y="2255838"/>
            <a:ext cx="838200" cy="685800"/>
          </a:xfrm>
          <a:prstGeom prst="rect">
            <a:avLst/>
          </a:prstGeom>
          <a:solidFill>
            <a:srgbClr val="008080"/>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008080"/>
            </a:extrusionClr>
            <a:contourClr>
              <a:srgbClr val="00808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flatTx/>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spcBef>
                <a:spcPct val="20000"/>
              </a:spcBef>
              <a:buSzPct val="85000"/>
            </a:pPr>
            <a:r>
              <a:rPr lang="zh-CN" altLang="en-US" sz="1800">
                <a:solidFill>
                  <a:schemeClr val="bg1"/>
                </a:solidFill>
              </a:rPr>
              <a:t>数模</a:t>
            </a:r>
          </a:p>
          <a:p>
            <a:pPr eaLnBrk="1" hangingPunct="1">
              <a:spcBef>
                <a:spcPct val="20000"/>
              </a:spcBef>
              <a:buSzPct val="85000"/>
            </a:pPr>
            <a:r>
              <a:rPr lang="zh-CN" altLang="en-US" sz="1800">
                <a:solidFill>
                  <a:schemeClr val="bg1"/>
                </a:solidFill>
              </a:rPr>
              <a:t> 转换器 </a:t>
            </a:r>
          </a:p>
        </p:txBody>
      </p:sp>
      <p:sp>
        <p:nvSpPr>
          <p:cNvPr id="23568" name="Rectangle 42">
            <a:extLst>
              <a:ext uri="{FF2B5EF4-FFF2-40B4-BE49-F238E27FC236}">
                <a16:creationId xmlns:a16="http://schemas.microsoft.com/office/drawing/2014/main" id="{E674C20D-417A-EF1C-2046-BEA449761937}"/>
              </a:ext>
            </a:extLst>
          </p:cNvPr>
          <p:cNvSpPr>
            <a:spLocks noChangeArrowheads="1"/>
          </p:cNvSpPr>
          <p:nvPr/>
        </p:nvSpPr>
        <p:spPr bwMode="auto">
          <a:xfrm>
            <a:off x="6665913" y="2255838"/>
            <a:ext cx="838200" cy="685800"/>
          </a:xfrm>
          <a:prstGeom prst="rect">
            <a:avLst/>
          </a:prstGeom>
          <a:solidFill>
            <a:srgbClr val="008080"/>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008080"/>
            </a:extrusionClr>
            <a:contourClr>
              <a:srgbClr val="00808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flatTx/>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spcBef>
                <a:spcPct val="20000"/>
              </a:spcBef>
              <a:buSzPct val="85000"/>
            </a:pPr>
            <a:r>
              <a:rPr lang="zh-CN" altLang="en-US" sz="1800">
                <a:solidFill>
                  <a:schemeClr val="bg1"/>
                </a:solidFill>
              </a:rPr>
              <a:t>低通</a:t>
            </a:r>
          </a:p>
          <a:p>
            <a:pPr eaLnBrk="1" hangingPunct="1">
              <a:spcBef>
                <a:spcPct val="20000"/>
              </a:spcBef>
              <a:buSzPct val="85000"/>
            </a:pPr>
            <a:r>
              <a:rPr lang="zh-CN" altLang="en-US" sz="1800">
                <a:solidFill>
                  <a:schemeClr val="bg1"/>
                </a:solidFill>
              </a:rPr>
              <a:t> 滤波器 </a:t>
            </a:r>
          </a:p>
        </p:txBody>
      </p:sp>
      <p:sp>
        <p:nvSpPr>
          <p:cNvPr id="23569" name="Text Box 43">
            <a:extLst>
              <a:ext uri="{FF2B5EF4-FFF2-40B4-BE49-F238E27FC236}">
                <a16:creationId xmlns:a16="http://schemas.microsoft.com/office/drawing/2014/main" id="{B80F0145-83A6-3F85-B91E-6705493EE433}"/>
              </a:ext>
            </a:extLst>
          </p:cNvPr>
          <p:cNvSpPr txBox="1">
            <a:spLocks noChangeArrowheads="1"/>
          </p:cNvSpPr>
          <p:nvPr/>
        </p:nvSpPr>
        <p:spPr bwMode="auto">
          <a:xfrm>
            <a:off x="874713" y="2332038"/>
            <a:ext cx="762000" cy="5492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57150">
                <a:solidFill>
                  <a:srgbClr val="99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buSzPct val="85000"/>
            </a:pPr>
            <a:r>
              <a:rPr lang="zh-CN" altLang="en-US" sz="1800" b="1">
                <a:solidFill>
                  <a:schemeClr val="tx1"/>
                </a:solidFill>
                <a:latin typeface="Arial" panose="020B0604020202020204" pitchFamily="34" charset="0"/>
                <a:ea typeface="楷体_GB2312" pitchFamily="49" charset="-122"/>
              </a:rPr>
              <a:t>频率</a:t>
            </a:r>
          </a:p>
          <a:p>
            <a:pPr eaLnBrk="1" hangingPunct="1">
              <a:buSzPct val="85000"/>
            </a:pPr>
            <a:r>
              <a:rPr lang="zh-CN" altLang="en-US" sz="1800" b="1">
                <a:solidFill>
                  <a:schemeClr val="tx1"/>
                </a:solidFill>
                <a:latin typeface="Arial" panose="020B0604020202020204" pitchFamily="34" charset="0"/>
                <a:ea typeface="楷体_GB2312" pitchFamily="49" charset="-122"/>
              </a:rPr>
              <a:t>控制字</a:t>
            </a:r>
          </a:p>
        </p:txBody>
      </p:sp>
      <p:sp>
        <p:nvSpPr>
          <p:cNvPr id="23570" name="Line 44">
            <a:extLst>
              <a:ext uri="{FF2B5EF4-FFF2-40B4-BE49-F238E27FC236}">
                <a16:creationId xmlns:a16="http://schemas.microsoft.com/office/drawing/2014/main" id="{845F5A3D-AEB8-94EE-176A-0D96FAE42004}"/>
              </a:ext>
            </a:extLst>
          </p:cNvPr>
          <p:cNvSpPr>
            <a:spLocks noChangeShapeType="1"/>
          </p:cNvSpPr>
          <p:nvPr/>
        </p:nvSpPr>
        <p:spPr bwMode="auto">
          <a:xfrm flipV="1">
            <a:off x="3448050" y="1722438"/>
            <a:ext cx="17463" cy="846137"/>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71" name="Line 45">
            <a:extLst>
              <a:ext uri="{FF2B5EF4-FFF2-40B4-BE49-F238E27FC236}">
                <a16:creationId xmlns:a16="http://schemas.microsoft.com/office/drawing/2014/main" id="{168A340F-A4D6-A407-FF51-6FD54232459B}"/>
              </a:ext>
            </a:extLst>
          </p:cNvPr>
          <p:cNvSpPr>
            <a:spLocks noChangeShapeType="1"/>
          </p:cNvSpPr>
          <p:nvPr/>
        </p:nvSpPr>
        <p:spPr bwMode="auto">
          <a:xfrm>
            <a:off x="1865313" y="2332038"/>
            <a:ext cx="381000" cy="0"/>
          </a:xfrm>
          <a:prstGeom prst="line">
            <a:avLst/>
          </a:prstGeom>
          <a:noFill/>
          <a:ln w="5715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72" name="Line 46">
            <a:extLst>
              <a:ext uri="{FF2B5EF4-FFF2-40B4-BE49-F238E27FC236}">
                <a16:creationId xmlns:a16="http://schemas.microsoft.com/office/drawing/2014/main" id="{0D0B512C-B4AD-F1D2-52FD-734F384765C1}"/>
              </a:ext>
            </a:extLst>
          </p:cNvPr>
          <p:cNvSpPr>
            <a:spLocks noChangeShapeType="1"/>
          </p:cNvSpPr>
          <p:nvPr/>
        </p:nvSpPr>
        <p:spPr bwMode="auto">
          <a:xfrm flipV="1">
            <a:off x="1876425" y="1722438"/>
            <a:ext cx="12700" cy="619125"/>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73" name="Line 47">
            <a:extLst>
              <a:ext uri="{FF2B5EF4-FFF2-40B4-BE49-F238E27FC236}">
                <a16:creationId xmlns:a16="http://schemas.microsoft.com/office/drawing/2014/main" id="{B3B2736C-29C1-8601-32F1-FFB7D2BDE76A}"/>
              </a:ext>
            </a:extLst>
          </p:cNvPr>
          <p:cNvSpPr>
            <a:spLocks noChangeShapeType="1"/>
          </p:cNvSpPr>
          <p:nvPr/>
        </p:nvSpPr>
        <p:spPr bwMode="auto">
          <a:xfrm>
            <a:off x="1865313" y="1744663"/>
            <a:ext cx="1600200" cy="0"/>
          </a:xfrm>
          <a:prstGeom prst="line">
            <a:avLst/>
          </a:prstGeom>
          <a:noFill/>
          <a:ln w="5715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74" name="Line 48">
            <a:extLst>
              <a:ext uri="{FF2B5EF4-FFF2-40B4-BE49-F238E27FC236}">
                <a16:creationId xmlns:a16="http://schemas.microsoft.com/office/drawing/2014/main" id="{B3BAB15F-80AD-7BA8-FBA5-BFEFAED44514}"/>
              </a:ext>
            </a:extLst>
          </p:cNvPr>
          <p:cNvSpPr>
            <a:spLocks noChangeShapeType="1"/>
          </p:cNvSpPr>
          <p:nvPr/>
        </p:nvSpPr>
        <p:spPr bwMode="auto">
          <a:xfrm>
            <a:off x="4760913" y="2598738"/>
            <a:ext cx="381000" cy="0"/>
          </a:xfrm>
          <a:prstGeom prst="line">
            <a:avLst/>
          </a:prstGeom>
          <a:noFill/>
          <a:ln w="5715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75" name="Line 49">
            <a:extLst>
              <a:ext uri="{FF2B5EF4-FFF2-40B4-BE49-F238E27FC236}">
                <a16:creationId xmlns:a16="http://schemas.microsoft.com/office/drawing/2014/main" id="{348C8910-CFFA-C808-54FF-DCB07696BB0D}"/>
              </a:ext>
            </a:extLst>
          </p:cNvPr>
          <p:cNvSpPr>
            <a:spLocks noChangeShapeType="1"/>
          </p:cNvSpPr>
          <p:nvPr/>
        </p:nvSpPr>
        <p:spPr bwMode="auto">
          <a:xfrm>
            <a:off x="6132513" y="2598738"/>
            <a:ext cx="381000" cy="0"/>
          </a:xfrm>
          <a:prstGeom prst="line">
            <a:avLst/>
          </a:prstGeom>
          <a:noFill/>
          <a:ln w="5715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76" name="Line 50">
            <a:extLst>
              <a:ext uri="{FF2B5EF4-FFF2-40B4-BE49-F238E27FC236}">
                <a16:creationId xmlns:a16="http://schemas.microsoft.com/office/drawing/2014/main" id="{BC8A7190-E5AC-F4DC-1F3F-5CEBB6BFE8CC}"/>
              </a:ext>
            </a:extLst>
          </p:cNvPr>
          <p:cNvSpPr>
            <a:spLocks noChangeShapeType="1"/>
          </p:cNvSpPr>
          <p:nvPr/>
        </p:nvSpPr>
        <p:spPr bwMode="auto">
          <a:xfrm>
            <a:off x="7504113" y="2598738"/>
            <a:ext cx="381000" cy="0"/>
          </a:xfrm>
          <a:prstGeom prst="line">
            <a:avLst/>
          </a:prstGeom>
          <a:noFill/>
          <a:ln w="57150">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tIns="46800" rIns="90000" bIns="46800"/>
          <a:lstStyle/>
          <a:p>
            <a:endParaRPr lang="zh-CN" altLang="en-US"/>
          </a:p>
        </p:txBody>
      </p:sp>
      <p:sp>
        <p:nvSpPr>
          <p:cNvPr id="23577" name="Line 51">
            <a:extLst>
              <a:ext uri="{FF2B5EF4-FFF2-40B4-BE49-F238E27FC236}">
                <a16:creationId xmlns:a16="http://schemas.microsoft.com/office/drawing/2014/main" id="{F2AF11E2-A430-7E2B-E7D3-2013C1C92C96}"/>
              </a:ext>
            </a:extLst>
          </p:cNvPr>
          <p:cNvSpPr>
            <a:spLocks noChangeShapeType="1"/>
          </p:cNvSpPr>
          <p:nvPr/>
        </p:nvSpPr>
        <p:spPr bwMode="auto">
          <a:xfrm flipH="1">
            <a:off x="2551113" y="1570038"/>
            <a:ext cx="22860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8" name="Line 52">
            <a:extLst>
              <a:ext uri="{FF2B5EF4-FFF2-40B4-BE49-F238E27FC236}">
                <a16:creationId xmlns:a16="http://schemas.microsoft.com/office/drawing/2014/main" id="{B2AA3484-D889-5CA1-82B9-5BA57E2C12C9}"/>
              </a:ext>
            </a:extLst>
          </p:cNvPr>
          <p:cNvSpPr>
            <a:spLocks noChangeShapeType="1"/>
          </p:cNvSpPr>
          <p:nvPr/>
        </p:nvSpPr>
        <p:spPr bwMode="auto">
          <a:xfrm flipH="1">
            <a:off x="1789113" y="2484438"/>
            <a:ext cx="22860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9" name="Line 53">
            <a:extLst>
              <a:ext uri="{FF2B5EF4-FFF2-40B4-BE49-F238E27FC236}">
                <a16:creationId xmlns:a16="http://schemas.microsoft.com/office/drawing/2014/main" id="{9B8559E3-E54C-5C3B-1B17-E4F2E5004876}"/>
              </a:ext>
            </a:extLst>
          </p:cNvPr>
          <p:cNvSpPr>
            <a:spLocks noChangeShapeType="1"/>
          </p:cNvSpPr>
          <p:nvPr/>
        </p:nvSpPr>
        <p:spPr bwMode="auto">
          <a:xfrm flipH="1">
            <a:off x="3421063" y="2441575"/>
            <a:ext cx="22860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0" name="Line 54">
            <a:extLst>
              <a:ext uri="{FF2B5EF4-FFF2-40B4-BE49-F238E27FC236}">
                <a16:creationId xmlns:a16="http://schemas.microsoft.com/office/drawing/2014/main" id="{7D6627A1-457F-AA42-6E7E-06C883BBF590}"/>
              </a:ext>
            </a:extLst>
          </p:cNvPr>
          <p:cNvSpPr>
            <a:spLocks noChangeShapeType="1"/>
          </p:cNvSpPr>
          <p:nvPr/>
        </p:nvSpPr>
        <p:spPr bwMode="auto">
          <a:xfrm flipH="1">
            <a:off x="4795838" y="2439988"/>
            <a:ext cx="22860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1" name="Text Box 55">
            <a:extLst>
              <a:ext uri="{FF2B5EF4-FFF2-40B4-BE49-F238E27FC236}">
                <a16:creationId xmlns:a16="http://schemas.microsoft.com/office/drawing/2014/main" id="{BFC8DA78-6B31-72E3-CDA6-12774277D441}"/>
              </a:ext>
            </a:extLst>
          </p:cNvPr>
          <p:cNvSpPr txBox="1">
            <a:spLocks noChangeArrowheads="1"/>
          </p:cNvSpPr>
          <p:nvPr/>
        </p:nvSpPr>
        <p:spPr bwMode="auto">
          <a:xfrm>
            <a:off x="2627313" y="1341438"/>
            <a:ext cx="304800" cy="2746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57150">
                <a:solidFill>
                  <a:srgbClr val="99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buSzPct val="85000"/>
            </a:pPr>
            <a:r>
              <a:rPr lang="en-US" altLang="zh-CN" sz="1800" b="1">
                <a:solidFill>
                  <a:schemeClr val="tx1"/>
                </a:solidFill>
                <a:latin typeface="Arial" panose="020B0604020202020204" pitchFamily="34" charset="0"/>
                <a:ea typeface="楷体_GB2312" pitchFamily="49" charset="-122"/>
              </a:rPr>
              <a:t>N</a:t>
            </a:r>
          </a:p>
        </p:txBody>
      </p:sp>
      <p:sp>
        <p:nvSpPr>
          <p:cNvPr id="23582" name="Text Box 56">
            <a:extLst>
              <a:ext uri="{FF2B5EF4-FFF2-40B4-BE49-F238E27FC236}">
                <a16:creationId xmlns:a16="http://schemas.microsoft.com/office/drawing/2014/main" id="{0E61491D-5303-3F91-2E81-F96270C9B231}"/>
              </a:ext>
            </a:extLst>
          </p:cNvPr>
          <p:cNvSpPr txBox="1">
            <a:spLocks noChangeArrowheads="1"/>
          </p:cNvSpPr>
          <p:nvPr/>
        </p:nvSpPr>
        <p:spPr bwMode="auto">
          <a:xfrm>
            <a:off x="1636713" y="2746375"/>
            <a:ext cx="304800" cy="27463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57150">
                <a:solidFill>
                  <a:srgbClr val="99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buSzPct val="85000"/>
            </a:pPr>
            <a:r>
              <a:rPr lang="en-US" altLang="zh-CN" sz="1800" b="1">
                <a:solidFill>
                  <a:schemeClr val="tx1"/>
                </a:solidFill>
                <a:latin typeface="Arial" panose="020B0604020202020204" pitchFamily="34" charset="0"/>
                <a:ea typeface="楷体_GB2312" pitchFamily="49" charset="-122"/>
              </a:rPr>
              <a:t>N</a:t>
            </a:r>
          </a:p>
        </p:txBody>
      </p:sp>
      <p:sp>
        <p:nvSpPr>
          <p:cNvPr id="23583" name="Text Box 57">
            <a:extLst>
              <a:ext uri="{FF2B5EF4-FFF2-40B4-BE49-F238E27FC236}">
                <a16:creationId xmlns:a16="http://schemas.microsoft.com/office/drawing/2014/main" id="{19E8D3FA-21F9-9F58-937E-D70E8B17EB5B}"/>
              </a:ext>
            </a:extLst>
          </p:cNvPr>
          <p:cNvSpPr txBox="1">
            <a:spLocks noChangeArrowheads="1"/>
          </p:cNvSpPr>
          <p:nvPr/>
        </p:nvSpPr>
        <p:spPr bwMode="auto">
          <a:xfrm>
            <a:off x="3465513" y="2179638"/>
            <a:ext cx="304800" cy="2746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57150">
                <a:solidFill>
                  <a:srgbClr val="99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buSzPct val="85000"/>
            </a:pPr>
            <a:r>
              <a:rPr lang="en-US" altLang="zh-CN" sz="1800" b="1">
                <a:solidFill>
                  <a:schemeClr val="tx1"/>
                </a:solidFill>
                <a:latin typeface="Arial" panose="020B0604020202020204" pitchFamily="34" charset="0"/>
                <a:ea typeface="楷体_GB2312" pitchFamily="49" charset="-122"/>
              </a:rPr>
              <a:t>M</a:t>
            </a:r>
          </a:p>
        </p:txBody>
      </p:sp>
      <p:sp>
        <p:nvSpPr>
          <p:cNvPr id="23584" name="Text Box 58">
            <a:extLst>
              <a:ext uri="{FF2B5EF4-FFF2-40B4-BE49-F238E27FC236}">
                <a16:creationId xmlns:a16="http://schemas.microsoft.com/office/drawing/2014/main" id="{040E0536-A609-0A44-700A-30542C5890B2}"/>
              </a:ext>
            </a:extLst>
          </p:cNvPr>
          <p:cNvSpPr txBox="1">
            <a:spLocks noChangeArrowheads="1"/>
          </p:cNvSpPr>
          <p:nvPr/>
        </p:nvSpPr>
        <p:spPr bwMode="auto">
          <a:xfrm>
            <a:off x="4837113" y="2209800"/>
            <a:ext cx="304800" cy="27463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57150">
                <a:solidFill>
                  <a:srgbClr val="99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buSzPct val="85000"/>
            </a:pPr>
            <a:r>
              <a:rPr lang="en-US" altLang="zh-CN" sz="1800" b="1">
                <a:solidFill>
                  <a:schemeClr val="tx1"/>
                </a:solidFill>
                <a:latin typeface="Arial" panose="020B0604020202020204" pitchFamily="34" charset="0"/>
                <a:ea typeface="楷体_GB2312" pitchFamily="49" charset="-122"/>
              </a:rPr>
              <a:t>D</a:t>
            </a:r>
          </a:p>
        </p:txBody>
      </p:sp>
      <p:graphicFrame>
        <p:nvGraphicFramePr>
          <p:cNvPr id="949310" name="Object 62">
            <a:extLst>
              <a:ext uri="{FF2B5EF4-FFF2-40B4-BE49-F238E27FC236}">
                <a16:creationId xmlns:a16="http://schemas.microsoft.com/office/drawing/2014/main" id="{F1E148EB-850B-B77E-2834-7A68A2C48E67}"/>
              </a:ext>
            </a:extLst>
          </p:cNvPr>
          <p:cNvGraphicFramePr>
            <a:graphicFrameLocks noChangeAspect="1"/>
          </p:cNvGraphicFramePr>
          <p:nvPr/>
        </p:nvGraphicFramePr>
        <p:xfrm>
          <a:off x="2851150" y="5265738"/>
          <a:ext cx="1654175" cy="947737"/>
        </p:xfrm>
        <a:graphic>
          <a:graphicData uri="http://schemas.openxmlformats.org/presentationml/2006/ole">
            <mc:AlternateContent xmlns:mc="http://schemas.openxmlformats.org/markup-compatibility/2006">
              <mc:Choice xmlns:v="urn:schemas-microsoft-com:vml" Requires="v">
                <p:oleObj name="Equation" r:id="rId3" imgW="710891" imgH="406224" progId="Equation.DSMT4">
                  <p:embed/>
                </p:oleObj>
              </mc:Choice>
              <mc:Fallback>
                <p:oleObj name="Equation" r:id="rId3" imgW="710891" imgH="406224" progId="Equation.DSMT4">
                  <p:embed/>
                  <p:pic>
                    <p:nvPicPr>
                      <p:cNvPr id="0" name="Object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1150" y="5265738"/>
                        <a:ext cx="1654175"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9311" name="Rectangle 63">
            <a:extLst>
              <a:ext uri="{FF2B5EF4-FFF2-40B4-BE49-F238E27FC236}">
                <a16:creationId xmlns:a16="http://schemas.microsoft.com/office/drawing/2014/main" id="{DBABF2FD-1C75-BB80-028E-1DDCCB14C6B0}"/>
              </a:ext>
            </a:extLst>
          </p:cNvPr>
          <p:cNvSpPr>
            <a:spLocks noChangeArrowheads="1"/>
          </p:cNvSpPr>
          <p:nvPr/>
        </p:nvSpPr>
        <p:spPr bwMode="auto">
          <a:xfrm>
            <a:off x="1220788" y="5559425"/>
            <a:ext cx="152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r>
              <a:rPr lang="en-US" altLang="zh-CN"/>
              <a:t> </a:t>
            </a:r>
            <a:r>
              <a:rPr lang="zh-CN" altLang="en-US"/>
              <a:t>输出频率</a:t>
            </a:r>
            <a:r>
              <a:rPr lang="zh-CN" altLang="en-US" sz="2000"/>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9311"/>
                                        </p:tgtEl>
                                        <p:attrNameLst>
                                          <p:attrName>style.visibility</p:attrName>
                                        </p:attrNameLst>
                                      </p:cBhvr>
                                      <p:to>
                                        <p:strVal val="visible"/>
                                      </p:to>
                                    </p:set>
                                    <p:animEffect transition="in" filter="blinds(horizontal)">
                                      <p:cBhvr>
                                        <p:cTn id="7" dur="500"/>
                                        <p:tgtEl>
                                          <p:spTgt spid="949311"/>
                                        </p:tgtEl>
                                      </p:cBhvr>
                                    </p:animEffect>
                                  </p:childTnLst>
                                </p:cTn>
                              </p:par>
                              <p:par>
                                <p:cTn id="8" presetID="3" presetClass="entr" presetSubtype="10" fill="hold" nodeType="withEffect">
                                  <p:stCondLst>
                                    <p:cond delay="0"/>
                                  </p:stCondLst>
                                  <p:childTnLst>
                                    <p:set>
                                      <p:cBhvr>
                                        <p:cTn id="9" dur="1" fill="hold">
                                          <p:stCondLst>
                                            <p:cond delay="0"/>
                                          </p:stCondLst>
                                        </p:cTn>
                                        <p:tgtEl>
                                          <p:spTgt spid="949310"/>
                                        </p:tgtEl>
                                        <p:attrNameLst>
                                          <p:attrName>style.visibility</p:attrName>
                                        </p:attrNameLst>
                                      </p:cBhvr>
                                      <p:to>
                                        <p:strVal val="visible"/>
                                      </p:to>
                                    </p:set>
                                    <p:animEffect transition="in" filter="blinds(horizontal)">
                                      <p:cBhvr>
                                        <p:cTn id="10" dur="500"/>
                                        <p:tgtEl>
                                          <p:spTgt spid="949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3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a:extLst>
              <a:ext uri="{FF2B5EF4-FFF2-40B4-BE49-F238E27FC236}">
                <a16:creationId xmlns:a16="http://schemas.microsoft.com/office/drawing/2014/main" id="{88BAC9C7-9E8B-3FAA-8155-9B95E93F0A47}"/>
              </a:ext>
            </a:extLst>
          </p:cNvPr>
          <p:cNvSpPr>
            <a:spLocks noGrp="1"/>
          </p:cNvSpPr>
          <p:nvPr>
            <p:ph idx="1"/>
          </p:nvPr>
        </p:nvSpPr>
        <p:spPr bwMode="auto">
          <a:xfrm>
            <a:off x="755650" y="5445125"/>
            <a:ext cx="8229600" cy="681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US" altLang="zh-CN" b="1">
                <a:solidFill>
                  <a:srgbClr val="FF0000"/>
                </a:solidFill>
              </a:rPr>
              <a:t>DDS</a:t>
            </a:r>
            <a:r>
              <a:rPr lang="zh-CN" altLang="en-US" b="1">
                <a:solidFill>
                  <a:srgbClr val="FF0000"/>
                </a:solidFill>
              </a:rPr>
              <a:t>专用芯片</a:t>
            </a:r>
            <a:r>
              <a:rPr lang="en-US" altLang="zh-CN" b="1">
                <a:solidFill>
                  <a:srgbClr val="FF0000"/>
                </a:solidFill>
              </a:rPr>
              <a:t>AD9854 </a:t>
            </a:r>
            <a:endParaRPr lang="zh-CN" altLang="en-US" b="1">
              <a:solidFill>
                <a:srgbClr val="FF0000"/>
              </a:solidFill>
            </a:endParaRPr>
          </a:p>
        </p:txBody>
      </p:sp>
      <p:pic>
        <p:nvPicPr>
          <p:cNvPr id="25603" name="Picture 2">
            <a:extLst>
              <a:ext uri="{FF2B5EF4-FFF2-40B4-BE49-F238E27FC236}">
                <a16:creationId xmlns:a16="http://schemas.microsoft.com/office/drawing/2014/main" id="{0220AF4C-B2DE-5BF6-D7AF-298405BCA0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88" y="908050"/>
            <a:ext cx="8275637" cy="447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4" name="椭圆 3">
            <a:extLst>
              <a:ext uri="{FF2B5EF4-FFF2-40B4-BE49-F238E27FC236}">
                <a16:creationId xmlns:a16="http://schemas.microsoft.com/office/drawing/2014/main" id="{18C776A8-C136-6AD6-DA02-D50D1E4C9920}"/>
              </a:ext>
            </a:extLst>
          </p:cNvPr>
          <p:cNvSpPr>
            <a:spLocks noChangeArrowheads="1"/>
          </p:cNvSpPr>
          <p:nvPr/>
        </p:nvSpPr>
        <p:spPr bwMode="auto">
          <a:xfrm>
            <a:off x="7019925" y="2997200"/>
            <a:ext cx="1549400" cy="1008063"/>
          </a:xfrm>
          <a:prstGeom prst="ellipse">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a:extLst>
              <a:ext uri="{FF2B5EF4-FFF2-40B4-BE49-F238E27FC236}">
                <a16:creationId xmlns:a16="http://schemas.microsoft.com/office/drawing/2014/main" id="{A17CCFAD-2D5D-B3C6-2FE9-89CE2483323B}"/>
              </a:ext>
            </a:extLst>
          </p:cNvPr>
          <p:cNvSpPr>
            <a:spLocks noGrp="1"/>
          </p:cNvSpPr>
          <p:nvPr>
            <p:ph idx="1"/>
          </p:nvPr>
        </p:nvSpPr>
        <p:spPr bwMode="auto">
          <a:xfrm>
            <a:off x="6156325" y="1600200"/>
            <a:ext cx="2879725"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solidFill>
                  <a:srgbClr val="0000FF"/>
                </a:solidFill>
                <a:latin typeface="华文楷体" panose="02010600040101010101" pitchFamily="2" charset="-122"/>
                <a:ea typeface="华文楷体" panose="02010600040101010101" pitchFamily="2" charset="-122"/>
              </a:rPr>
              <a:t>基于</a:t>
            </a:r>
            <a:r>
              <a:rPr lang="en-US" altLang="zh-CN">
                <a:solidFill>
                  <a:srgbClr val="0000FF"/>
                </a:solidFill>
                <a:latin typeface="华文楷体" panose="02010600040101010101" pitchFamily="2" charset="-122"/>
                <a:ea typeface="华文楷体" panose="02010600040101010101" pitchFamily="2" charset="-122"/>
              </a:rPr>
              <a:t>AD9854</a:t>
            </a:r>
            <a:r>
              <a:rPr lang="zh-CN" altLang="en-US">
                <a:solidFill>
                  <a:srgbClr val="0000FF"/>
                </a:solidFill>
                <a:latin typeface="华文楷体" panose="02010600040101010101" pitchFamily="2" charset="-122"/>
                <a:ea typeface="华文楷体" panose="02010600040101010101" pitchFamily="2" charset="-122"/>
              </a:rPr>
              <a:t>的</a:t>
            </a:r>
            <a:r>
              <a:rPr lang="en-US" altLang="zh-CN">
                <a:solidFill>
                  <a:srgbClr val="0000FF"/>
                </a:solidFill>
                <a:latin typeface="华文楷体" panose="02010600040101010101" pitchFamily="2" charset="-122"/>
                <a:ea typeface="华文楷体" panose="02010600040101010101" pitchFamily="2" charset="-122"/>
              </a:rPr>
              <a:t>DDS</a:t>
            </a:r>
            <a:r>
              <a:rPr lang="zh-CN" altLang="en-US">
                <a:solidFill>
                  <a:srgbClr val="0000FF"/>
                </a:solidFill>
                <a:latin typeface="华文楷体" panose="02010600040101010101" pitchFamily="2" charset="-122"/>
                <a:ea typeface="华文楷体" panose="02010600040101010101" pitchFamily="2" charset="-122"/>
              </a:rPr>
              <a:t>信号源模块</a:t>
            </a:r>
            <a:endParaRPr lang="en-US" altLang="zh-CN">
              <a:solidFill>
                <a:srgbClr val="0000FF"/>
              </a:solidFill>
              <a:latin typeface="华文楷体" panose="02010600040101010101" pitchFamily="2" charset="-122"/>
              <a:ea typeface="华文楷体" panose="02010600040101010101" pitchFamily="2" charset="-122"/>
            </a:endParaRPr>
          </a:p>
          <a:p>
            <a:r>
              <a:rPr lang="zh-CN" altLang="en-US">
                <a:solidFill>
                  <a:srgbClr val="0000FF"/>
                </a:solidFill>
                <a:latin typeface="华文楷体" panose="02010600040101010101" pitchFamily="2" charset="-122"/>
                <a:ea typeface="华文楷体" panose="02010600040101010101" pitchFamily="2" charset="-122"/>
              </a:rPr>
              <a:t>频率范围：</a:t>
            </a:r>
            <a:r>
              <a:rPr lang="en-US" altLang="zh-CN">
                <a:solidFill>
                  <a:srgbClr val="0000FF"/>
                </a:solidFill>
                <a:latin typeface="华文楷体" panose="02010600040101010101" pitchFamily="2" charset="-122"/>
                <a:ea typeface="华文楷体" panose="02010600040101010101" pitchFamily="2" charset="-122"/>
              </a:rPr>
              <a:t>DC~120MHz</a:t>
            </a:r>
            <a:endParaRPr lang="zh-CN" altLang="en-US">
              <a:solidFill>
                <a:srgbClr val="0000FF"/>
              </a:solidFill>
              <a:latin typeface="华文楷体" panose="02010600040101010101" pitchFamily="2" charset="-122"/>
              <a:ea typeface="华文楷体" panose="02010600040101010101" pitchFamily="2" charset="-122"/>
            </a:endParaRPr>
          </a:p>
        </p:txBody>
      </p:sp>
      <p:sp>
        <p:nvSpPr>
          <p:cNvPr id="26627" name="Rectangle 6">
            <a:extLst>
              <a:ext uri="{FF2B5EF4-FFF2-40B4-BE49-F238E27FC236}">
                <a16:creationId xmlns:a16="http://schemas.microsoft.com/office/drawing/2014/main" id="{2F4D86E5-551E-F154-078B-2033A34BA09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eaLnBrk="1" hangingPunct="1"/>
            <a:endParaRPr lang="zh-CN" altLang="en-US"/>
          </a:p>
        </p:txBody>
      </p:sp>
      <p:graphicFrame>
        <p:nvGraphicFramePr>
          <p:cNvPr id="26628" name="对象 2">
            <a:extLst>
              <a:ext uri="{FF2B5EF4-FFF2-40B4-BE49-F238E27FC236}">
                <a16:creationId xmlns:a16="http://schemas.microsoft.com/office/drawing/2014/main" id="{70F493FC-70ED-A4AE-8C01-52093A9D20C3}"/>
              </a:ext>
            </a:extLst>
          </p:cNvPr>
          <p:cNvGraphicFramePr>
            <a:graphicFrameLocks noChangeAspect="1"/>
          </p:cNvGraphicFramePr>
          <p:nvPr/>
        </p:nvGraphicFramePr>
        <p:xfrm>
          <a:off x="468313" y="765175"/>
          <a:ext cx="5688012" cy="5791200"/>
        </p:xfrm>
        <a:graphic>
          <a:graphicData uri="http://schemas.openxmlformats.org/presentationml/2006/ole">
            <mc:AlternateContent xmlns:mc="http://schemas.openxmlformats.org/markup-compatibility/2006">
              <mc:Choice xmlns:v="urn:schemas-microsoft-com:vml" Requires="v">
                <p:oleObj r:id="rId2" imgW="30117932" imgH="30632310" progId="Visio.Drawing.15">
                  <p:embed/>
                </p:oleObj>
              </mc:Choice>
              <mc:Fallback>
                <p:oleObj r:id="rId2" imgW="30117932" imgH="30632310" progId="Visio.Drawing.15">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765175"/>
                        <a:ext cx="5688012"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F6C8621-A741-A29A-1360-F88F5DA664D8}"/>
              </a:ext>
            </a:extLst>
          </p:cNvPr>
          <p:cNvSpPr txBox="1">
            <a:spLocks noChangeArrowheads="1"/>
          </p:cNvSpPr>
          <p:nvPr/>
        </p:nvSpPr>
        <p:spPr bwMode="auto">
          <a:xfrm>
            <a:off x="738188" y="5546725"/>
            <a:ext cx="8229600"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eaLnBrk="1" hangingPunct="1"/>
            <a:r>
              <a:rPr lang="en-US" altLang="zh-CN" sz="3200">
                <a:solidFill>
                  <a:schemeClr val="tx2"/>
                </a:solidFill>
                <a:latin typeface="Tahoma" panose="020B0604030504040204" pitchFamily="34" charset="0"/>
                <a:ea typeface="宋体" panose="02010600030101010101" pitchFamily="2" charset="-122"/>
              </a:rPr>
              <a:t>DDS</a:t>
            </a:r>
            <a:r>
              <a:rPr lang="zh-CN" altLang="en-US" sz="3200">
                <a:solidFill>
                  <a:schemeClr val="tx2"/>
                </a:solidFill>
                <a:latin typeface="Tahoma" panose="020B0604030504040204" pitchFamily="34" charset="0"/>
                <a:ea typeface="宋体" panose="02010600030101010101" pitchFamily="2" charset="-122"/>
              </a:rPr>
              <a:t>信号源模块产生的</a:t>
            </a:r>
            <a:r>
              <a:rPr lang="en-US" altLang="zh-CN" sz="3200">
                <a:solidFill>
                  <a:schemeClr val="tx2"/>
                </a:solidFill>
                <a:latin typeface="Tahoma" panose="020B0604030504040204" pitchFamily="34" charset="0"/>
                <a:ea typeface="宋体" panose="02010600030101010101" pitchFamily="2" charset="-122"/>
              </a:rPr>
              <a:t>90°</a:t>
            </a:r>
            <a:r>
              <a:rPr lang="zh-CN" altLang="en-US" sz="3200">
                <a:solidFill>
                  <a:schemeClr val="tx2"/>
                </a:solidFill>
                <a:latin typeface="Tahoma" panose="020B0604030504040204" pitchFamily="34" charset="0"/>
                <a:ea typeface="宋体" panose="02010600030101010101" pitchFamily="2" charset="-122"/>
              </a:rPr>
              <a:t>相差波形</a:t>
            </a:r>
          </a:p>
        </p:txBody>
      </p:sp>
      <p:pic>
        <p:nvPicPr>
          <p:cNvPr id="27651" name="Picture 4" descr="G:\O_F\PJT_SAVE\教学相关\时域测试技术综合实验\2018实验课_PG1000A_ppt\第一概述\tmp\DSOBMP05.BMP">
            <a:extLst>
              <a:ext uri="{FF2B5EF4-FFF2-40B4-BE49-F238E27FC236}">
                <a16:creationId xmlns:a16="http://schemas.microsoft.com/office/drawing/2014/main" id="{CA4AFD20-275D-DFEE-F983-712E56669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88" y="922338"/>
            <a:ext cx="7618412"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A2307B3-949E-269D-CE32-00F1C9F1D995}"/>
              </a:ext>
            </a:extLst>
          </p:cNvPr>
          <p:cNvSpPr txBox="1">
            <a:spLocks noChangeArrowheads="1"/>
          </p:cNvSpPr>
          <p:nvPr/>
        </p:nvSpPr>
        <p:spPr bwMode="auto">
          <a:xfrm>
            <a:off x="887413" y="5522913"/>
            <a:ext cx="8229600"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rgbClr val="990033"/>
                </a:solidFill>
                <a:latin typeface="Times New Roman" panose="02020603050405020304" pitchFamily="18" charset="0"/>
                <a:ea typeface="黑体" panose="02010609060101010101" pitchFamily="49" charset="-122"/>
              </a:defRPr>
            </a:lvl1pPr>
            <a:lvl2pPr marL="742950" indent="-285750">
              <a:defRPr kumimoji="1" sz="2400">
                <a:solidFill>
                  <a:srgbClr val="990033"/>
                </a:solidFill>
                <a:latin typeface="Times New Roman" panose="02020603050405020304" pitchFamily="18" charset="0"/>
                <a:ea typeface="黑体" panose="02010609060101010101" pitchFamily="49" charset="-122"/>
              </a:defRPr>
            </a:lvl2pPr>
            <a:lvl3pPr marL="1143000" indent="-228600">
              <a:defRPr kumimoji="1" sz="2400">
                <a:solidFill>
                  <a:srgbClr val="990033"/>
                </a:solidFill>
                <a:latin typeface="Times New Roman" panose="02020603050405020304" pitchFamily="18" charset="0"/>
                <a:ea typeface="黑体" panose="02010609060101010101" pitchFamily="49" charset="-122"/>
              </a:defRPr>
            </a:lvl3pPr>
            <a:lvl4pPr marL="1600200" indent="-228600">
              <a:defRPr kumimoji="1" sz="2400">
                <a:solidFill>
                  <a:srgbClr val="990033"/>
                </a:solidFill>
                <a:latin typeface="Times New Roman" panose="02020603050405020304" pitchFamily="18" charset="0"/>
                <a:ea typeface="黑体" panose="02010609060101010101" pitchFamily="49" charset="-122"/>
              </a:defRPr>
            </a:lvl4pPr>
            <a:lvl5pPr marL="2057400" indent="-228600">
              <a:defRPr kumimoji="1" sz="2400">
                <a:solidFill>
                  <a:srgbClr val="990033"/>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rgbClr val="990033"/>
                </a:solidFill>
                <a:latin typeface="Times New Roman" panose="02020603050405020304" pitchFamily="18" charset="0"/>
                <a:ea typeface="黑体" panose="02010609060101010101" pitchFamily="49" charset="-122"/>
              </a:defRPr>
            </a:lvl9pPr>
          </a:lstStyle>
          <a:p>
            <a:pPr algn="ctr" eaLnBrk="1" hangingPunct="1"/>
            <a:r>
              <a:rPr lang="en-US" altLang="zh-CN" sz="3200">
                <a:solidFill>
                  <a:schemeClr val="tx2"/>
                </a:solidFill>
                <a:latin typeface="Tahoma" panose="020B0604030504040204" pitchFamily="34" charset="0"/>
                <a:ea typeface="宋体" panose="02010600030101010101" pitchFamily="2" charset="-122"/>
              </a:rPr>
              <a:t>XY</a:t>
            </a:r>
            <a:r>
              <a:rPr lang="zh-CN" altLang="en-US" sz="3200">
                <a:solidFill>
                  <a:schemeClr val="tx2"/>
                </a:solidFill>
                <a:latin typeface="Tahoma" panose="020B0604030504040204" pitchFamily="34" charset="0"/>
                <a:ea typeface="宋体" panose="02010600030101010101" pitchFamily="2" charset="-122"/>
              </a:rPr>
              <a:t>模式下显示的</a:t>
            </a:r>
            <a:r>
              <a:rPr lang="en-US" altLang="zh-CN" sz="3200">
                <a:solidFill>
                  <a:schemeClr val="tx2"/>
                </a:solidFill>
                <a:latin typeface="Tahoma" panose="020B0604030504040204" pitchFamily="34" charset="0"/>
                <a:ea typeface="宋体" panose="02010600030101010101" pitchFamily="2" charset="-122"/>
              </a:rPr>
              <a:t>90°</a:t>
            </a:r>
            <a:r>
              <a:rPr lang="zh-CN" altLang="en-US" sz="3200">
                <a:solidFill>
                  <a:schemeClr val="tx2"/>
                </a:solidFill>
                <a:latin typeface="Tahoma" panose="020B0604030504040204" pitchFamily="34" charset="0"/>
                <a:ea typeface="宋体" panose="02010600030101010101" pitchFamily="2" charset="-122"/>
              </a:rPr>
              <a:t>相差波形</a:t>
            </a:r>
          </a:p>
        </p:txBody>
      </p:sp>
      <p:pic>
        <p:nvPicPr>
          <p:cNvPr id="28675" name="Picture 2" descr="G:\O_F\PJT_SAVE\教学相关\时域测试技术综合实验\2018实验课_PG1000A_ppt\第一概述\tmp\DSOBMP07.BMP">
            <a:extLst>
              <a:ext uri="{FF2B5EF4-FFF2-40B4-BE49-F238E27FC236}">
                <a16:creationId xmlns:a16="http://schemas.microsoft.com/office/drawing/2014/main" id="{6214F101-2A0E-7777-3DB6-774DDAA05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88" y="765175"/>
            <a:ext cx="7618412"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2">
            <a:extLst>
              <a:ext uri="{FF2B5EF4-FFF2-40B4-BE49-F238E27FC236}">
                <a16:creationId xmlns:a16="http://schemas.microsoft.com/office/drawing/2014/main" id="{49A70522-4BAB-C10C-942F-EB61203312B4}"/>
              </a:ext>
            </a:extLst>
          </p:cNvPr>
          <p:cNvSpPr>
            <a:spLocks noGrp="1"/>
          </p:cNvSpPr>
          <p:nvPr>
            <p:ph idx="1"/>
          </p:nvPr>
        </p:nvSpPr>
        <p:spPr bwMode="auto">
          <a:xfrm>
            <a:off x="457200" y="5553075"/>
            <a:ext cx="8229600" cy="573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a:solidFill>
                  <a:srgbClr val="FF0000"/>
                </a:solidFill>
              </a:rPr>
              <a:t>随机等效采样获得的</a:t>
            </a:r>
            <a:r>
              <a:rPr lang="en-US" altLang="zh-CN">
                <a:solidFill>
                  <a:srgbClr val="FF0000"/>
                </a:solidFill>
              </a:rPr>
              <a:t>1GHz</a:t>
            </a:r>
            <a:r>
              <a:rPr lang="zh-CN" altLang="en-US">
                <a:solidFill>
                  <a:srgbClr val="FF0000"/>
                </a:solidFill>
              </a:rPr>
              <a:t>波形</a:t>
            </a:r>
          </a:p>
        </p:txBody>
      </p:sp>
      <p:pic>
        <p:nvPicPr>
          <p:cNvPr id="29699" name="Picture 2" descr="G:\O_F\PJT_SAVE\教学相关\时域测试技术综合实验\2018实验课_PG1000A_ppt\第一概述\tmp\DSOBMP09.BMP">
            <a:extLst>
              <a:ext uri="{FF2B5EF4-FFF2-40B4-BE49-F238E27FC236}">
                <a16:creationId xmlns:a16="http://schemas.microsoft.com/office/drawing/2014/main" id="{08F88881-D863-0946-8B35-095D26A537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81075"/>
            <a:ext cx="761841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a:extLst>
              <a:ext uri="{FF2B5EF4-FFF2-40B4-BE49-F238E27FC236}">
                <a16:creationId xmlns:a16="http://schemas.microsoft.com/office/drawing/2014/main" id="{4238DC2C-4720-7FFE-1627-946C493744A0}"/>
              </a:ext>
            </a:extLst>
          </p:cNvPr>
          <p:cNvSpPr>
            <a:spLocks noGrp="1"/>
          </p:cNvSpPr>
          <p:nvPr>
            <p:ph idx="1"/>
          </p:nvPr>
        </p:nvSpPr>
        <p:spPr bwMode="auto">
          <a:xfrm>
            <a:off x="457200" y="5373688"/>
            <a:ext cx="8229600" cy="752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b="1">
                <a:solidFill>
                  <a:srgbClr val="FF0000"/>
                </a:solidFill>
              </a:rPr>
              <a:t>脉冲参数的测量</a:t>
            </a:r>
          </a:p>
        </p:txBody>
      </p:sp>
      <p:pic>
        <p:nvPicPr>
          <p:cNvPr id="30723" name="Picture 3" descr="G:\O_F\PJT_SAVE\教学相关\时域测试技术综合实验\2018实验课_PG1000A_ppt\第一概述\tmp\DSOBMP10.BMP">
            <a:extLst>
              <a:ext uri="{FF2B5EF4-FFF2-40B4-BE49-F238E27FC236}">
                <a16:creationId xmlns:a16="http://schemas.microsoft.com/office/drawing/2014/main" id="{2B5E94EC-99E4-809E-8BE6-362A89ED1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692150"/>
            <a:ext cx="761841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a:extLst>
              <a:ext uri="{FF2B5EF4-FFF2-40B4-BE49-F238E27FC236}">
                <a16:creationId xmlns:a16="http://schemas.microsoft.com/office/drawing/2014/main" id="{9777EBED-5605-E19D-DEF1-0E4B184DEB2D}"/>
              </a:ext>
            </a:extLst>
          </p:cNvPr>
          <p:cNvSpPr>
            <a:spLocks noGrp="1"/>
          </p:cNvSpPr>
          <p:nvPr>
            <p:ph idx="1"/>
          </p:nvPr>
        </p:nvSpPr>
        <p:spPr bwMode="auto">
          <a:xfrm>
            <a:off x="457200" y="5553075"/>
            <a:ext cx="8229600" cy="573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a:solidFill>
                  <a:srgbClr val="FF0000"/>
                </a:solidFill>
              </a:rPr>
              <a:t>示波器的数字滤波功能</a:t>
            </a:r>
          </a:p>
        </p:txBody>
      </p:sp>
      <p:pic>
        <p:nvPicPr>
          <p:cNvPr id="31747" name="Picture 2" descr="G:\O_F\PJT_SAVE\教学相关\时域测试技术综合实验\2018实验课_PG1000A_ppt\第一概述\tmp\DSOBMP03.BMP">
            <a:extLst>
              <a:ext uri="{FF2B5EF4-FFF2-40B4-BE49-F238E27FC236}">
                <a16:creationId xmlns:a16="http://schemas.microsoft.com/office/drawing/2014/main" id="{6B9F145D-74D8-2153-AA96-705BDA7766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476250"/>
            <a:ext cx="761841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a:extLst>
              <a:ext uri="{FF2B5EF4-FFF2-40B4-BE49-F238E27FC236}">
                <a16:creationId xmlns:a16="http://schemas.microsoft.com/office/drawing/2014/main" id="{0466D53B-06AB-F3E7-A139-81670142261F}"/>
              </a:ext>
            </a:extLst>
          </p:cNvPr>
          <p:cNvSpPr>
            <a:spLocks noGrp="1"/>
          </p:cNvSpPr>
          <p:nvPr>
            <p:ph idx="1"/>
          </p:nvPr>
        </p:nvSpPr>
        <p:spPr bwMode="auto">
          <a:xfrm>
            <a:off x="457200" y="5553075"/>
            <a:ext cx="8229600" cy="573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a:solidFill>
                  <a:srgbClr val="FF0000"/>
                </a:solidFill>
              </a:rPr>
              <a:t>示波器的数字滤波功能</a:t>
            </a:r>
          </a:p>
        </p:txBody>
      </p:sp>
      <p:pic>
        <p:nvPicPr>
          <p:cNvPr id="32771" name="Picture 2" descr="G:\O_F\PJT_SAVE\教学相关\时域测试技术综合实验\2018实验课_PG1000A_ppt\第一概述\tmp\DSOBMP02.BMP">
            <a:extLst>
              <a:ext uri="{FF2B5EF4-FFF2-40B4-BE49-F238E27FC236}">
                <a16:creationId xmlns:a16="http://schemas.microsoft.com/office/drawing/2014/main" id="{274F352B-9796-A105-C53E-DFE5D6B1C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981075"/>
            <a:ext cx="761841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Sumi Painting">
  <a:themeElements>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fontScheme name="Sumi Painting">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rgbClr val="990033"/>
            </a:solidFill>
            <a:effectLst/>
            <a:latin typeface="Times New Roman" pitchFamily="18" charset="0"/>
            <a:ea typeface="黑体"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rgbClr val="990033"/>
            </a:solidFill>
            <a:effectLst/>
            <a:latin typeface="Times New Roman" pitchFamily="18" charset="0"/>
            <a:ea typeface="黑体" pitchFamily="49" charset="-122"/>
          </a:defRPr>
        </a:defPPr>
      </a:lstStyle>
    </a:lnDef>
  </a:objectDefaults>
  <a:extraClrSchemeLst>
    <a:extraClrScheme>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2">
        <a:dk1>
          <a:srgbClr val="545472"/>
        </a:dk1>
        <a:lt1>
          <a:srgbClr val="FFFFFF"/>
        </a:lt1>
        <a:dk2>
          <a:srgbClr val="892D5B"/>
        </a:dk2>
        <a:lt2>
          <a:srgbClr val="68A7BE"/>
        </a:lt2>
        <a:accent1>
          <a:srgbClr val="CAACCC"/>
        </a:accent1>
        <a:accent2>
          <a:srgbClr val="A7CCD9"/>
        </a:accent2>
        <a:accent3>
          <a:srgbClr val="FFFFFF"/>
        </a:accent3>
        <a:accent4>
          <a:srgbClr val="464660"/>
        </a:accent4>
        <a:accent5>
          <a:srgbClr val="E1D2E2"/>
        </a:accent5>
        <a:accent6>
          <a:srgbClr val="97B9C4"/>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3">
        <a:dk1>
          <a:srgbClr val="000000"/>
        </a:dk1>
        <a:lt1>
          <a:srgbClr val="FFFFFF"/>
        </a:lt1>
        <a:dk2>
          <a:srgbClr val="000000"/>
        </a:dk2>
        <a:lt2>
          <a:srgbClr val="333333"/>
        </a:lt2>
        <a:accent1>
          <a:srgbClr val="B2B2B2"/>
        </a:accent1>
        <a:accent2>
          <a:srgbClr val="DDDDDD"/>
        </a:accent2>
        <a:accent3>
          <a:srgbClr val="FFFFFF"/>
        </a:accent3>
        <a:accent4>
          <a:srgbClr val="000000"/>
        </a:accent4>
        <a:accent5>
          <a:srgbClr val="D5D5D5"/>
        </a:accent5>
        <a:accent6>
          <a:srgbClr val="C8C8C8"/>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Sumi Painting 4">
        <a:dk1>
          <a:srgbClr val="545472"/>
        </a:dk1>
        <a:lt1>
          <a:srgbClr val="FFFFFF"/>
        </a:lt1>
        <a:dk2>
          <a:srgbClr val="892D5B"/>
        </a:dk2>
        <a:lt2>
          <a:srgbClr val="AC3872"/>
        </a:lt2>
        <a:accent1>
          <a:srgbClr val="660066"/>
        </a:accent1>
        <a:accent2>
          <a:srgbClr val="E2A6C4"/>
        </a:accent2>
        <a:accent3>
          <a:srgbClr val="FFFFFF"/>
        </a:accent3>
        <a:accent4>
          <a:srgbClr val="464660"/>
        </a:accent4>
        <a:accent5>
          <a:srgbClr val="B8AAB8"/>
        </a:accent5>
        <a:accent6>
          <a:srgbClr val="CD96B1"/>
        </a:accent6>
        <a:hlink>
          <a:srgbClr val="8585FF"/>
        </a:hlink>
        <a:folHlink>
          <a:srgbClr val="563EE8"/>
        </a:folHlink>
      </a:clrScheme>
      <a:clrMap bg1="lt1" tx1="dk1" bg2="lt2" tx2="dk2" accent1="accent1" accent2="accent2" accent3="accent3" accent4="accent4" accent5="accent5" accent6="accent6" hlink="hlink" folHlink="folHlink"/>
    </a:extraClrScheme>
    <a:extraClrScheme>
      <a:clrScheme name="Sumi Painting 5">
        <a:dk1>
          <a:srgbClr val="545472"/>
        </a:dk1>
        <a:lt1>
          <a:srgbClr val="FFFFFF"/>
        </a:lt1>
        <a:dk2>
          <a:srgbClr val="892D5B"/>
        </a:dk2>
        <a:lt2>
          <a:srgbClr val="515BA7"/>
        </a:lt2>
        <a:accent1>
          <a:srgbClr val="8BD8E7"/>
        </a:accent1>
        <a:accent2>
          <a:srgbClr val="A5AAD3"/>
        </a:accent2>
        <a:accent3>
          <a:srgbClr val="FFFFFF"/>
        </a:accent3>
        <a:accent4>
          <a:srgbClr val="464660"/>
        </a:accent4>
        <a:accent5>
          <a:srgbClr val="C4E9F1"/>
        </a:accent5>
        <a:accent6>
          <a:srgbClr val="959ABF"/>
        </a:accent6>
        <a:hlink>
          <a:srgbClr val="B78AFA"/>
        </a:hlink>
        <a:folHlink>
          <a:srgbClr val="A0A5D0"/>
        </a:folHlink>
      </a:clrScheme>
      <a:clrMap bg1="lt1" tx1="dk1" bg2="lt2" tx2="dk2" accent1="accent1" accent2="accent2" accent3="accent3" accent4="accent4" accent5="accent5" accent6="accent6" hlink="hlink" folHlink="folHlink"/>
    </a:extraClrScheme>
    <a:extraClrScheme>
      <a:clrScheme name="Sumi Painting 6">
        <a:dk1>
          <a:srgbClr val="545472"/>
        </a:dk1>
        <a:lt1>
          <a:srgbClr val="FFFFFF"/>
        </a:lt1>
        <a:dk2>
          <a:srgbClr val="37467F"/>
        </a:dk2>
        <a:lt2>
          <a:srgbClr val="547A3C"/>
        </a:lt2>
        <a:accent1>
          <a:srgbClr val="8BD8E7"/>
        </a:accent1>
        <a:accent2>
          <a:srgbClr val="B7D3A5"/>
        </a:accent2>
        <a:accent3>
          <a:srgbClr val="FFFFFF"/>
        </a:accent3>
        <a:accent4>
          <a:srgbClr val="464660"/>
        </a:accent4>
        <a:accent5>
          <a:srgbClr val="C4E9F1"/>
        </a:accent5>
        <a:accent6>
          <a:srgbClr val="A6BF95"/>
        </a:accent6>
        <a:hlink>
          <a:srgbClr val="619147"/>
        </a:hlink>
        <a:folHlink>
          <a:srgbClr val="94BE7C"/>
        </a:folHlink>
      </a:clrScheme>
      <a:clrMap bg1="lt1" tx1="dk1" bg2="lt2" tx2="dk2" accent1="accent1" accent2="accent2" accent3="accent3" accent4="accent4" accent5="accent5" accent6="accent6" hlink="hlink" folHlink="folHlink"/>
    </a:extraClrScheme>
    <a:extraClrScheme>
      <a:clrScheme name="Sumi Painting 7">
        <a:dk1>
          <a:srgbClr val="545472"/>
        </a:dk1>
        <a:lt1>
          <a:srgbClr val="FFFFFF"/>
        </a:lt1>
        <a:dk2>
          <a:srgbClr val="655851"/>
        </a:dk2>
        <a:lt2>
          <a:srgbClr val="B49234"/>
        </a:lt2>
        <a:accent1>
          <a:srgbClr val="F8C684"/>
        </a:accent1>
        <a:accent2>
          <a:srgbClr val="E1CE97"/>
        </a:accent2>
        <a:accent3>
          <a:srgbClr val="FFFFFF"/>
        </a:accent3>
        <a:accent4>
          <a:srgbClr val="464660"/>
        </a:accent4>
        <a:accent5>
          <a:srgbClr val="FBDFC2"/>
        </a:accent5>
        <a:accent6>
          <a:srgbClr val="CCBA88"/>
        </a:accent6>
        <a:hlink>
          <a:srgbClr val="7C6148"/>
        </a:hlink>
        <a:folHlink>
          <a:srgbClr val="8E856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Designs\Sumi Painting.pot</Template>
  <TotalTime>533700</TotalTime>
  <Words>813</Words>
  <Application>Microsoft Office PowerPoint</Application>
  <PresentationFormat>全屏显示(4:3)</PresentationFormat>
  <Paragraphs>98</Paragraphs>
  <Slides>24</Slides>
  <Notes>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5</vt:i4>
      </vt:variant>
      <vt:variant>
        <vt:lpstr>幻灯片标题</vt:lpstr>
      </vt:variant>
      <vt:variant>
        <vt:i4>24</vt:i4>
      </vt:variant>
    </vt:vector>
  </HeadingPairs>
  <TitlesOfParts>
    <vt:vector size="38" baseType="lpstr">
      <vt:lpstr>Times New Roman</vt:lpstr>
      <vt:lpstr>黑体</vt:lpstr>
      <vt:lpstr>Arial</vt:lpstr>
      <vt:lpstr>Tahoma</vt:lpstr>
      <vt:lpstr>宋体</vt:lpstr>
      <vt:lpstr>楷体_GB2312</vt:lpstr>
      <vt:lpstr>华文楷体</vt:lpstr>
      <vt:lpstr>Wingdings</vt:lpstr>
      <vt:lpstr>Sumi Painting</vt:lpstr>
      <vt:lpstr>BMP 图象</vt:lpstr>
      <vt:lpstr>Microsoft Visio Drawing</vt:lpstr>
      <vt:lpstr>Microsoft Office Visio 绘图</vt:lpstr>
      <vt:lpstr>Visio.Drawing.15</vt:lpstr>
      <vt:lpstr>MathType 6.0 Equation</vt:lpstr>
      <vt:lpstr>PowerPoint 演示文稿</vt:lpstr>
      <vt:lpstr>什么是时域测试</vt:lpstr>
      <vt:lpstr>时域测试系统的基本组成</vt:lpstr>
      <vt:lpstr>数据采集系统的基本组成</vt:lpstr>
      <vt:lpstr>典型数据采集系统的硬件组成框图</vt:lpstr>
      <vt:lpstr>实验平台的实物照片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五、 实验原理与说明      DDS基本原理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UESTC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袁渊</dc:creator>
  <cp:lastModifiedBy>超然 刘</cp:lastModifiedBy>
  <cp:revision>315</cp:revision>
  <dcterms:created xsi:type="dcterms:W3CDTF">2004-02-26T08:40:40Z</dcterms:created>
  <dcterms:modified xsi:type="dcterms:W3CDTF">2026-06-17T07:03:50Z</dcterms:modified>
</cp:coreProperties>
</file>
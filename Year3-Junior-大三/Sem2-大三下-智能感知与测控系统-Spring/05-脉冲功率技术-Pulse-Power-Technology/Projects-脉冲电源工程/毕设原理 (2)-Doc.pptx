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4" r:id="rId9"/>
    <p:sldId id="265" r:id="rId10"/>
    <p:sldId id="266" r:id="rId11"/>
    <p:sldId id="262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8B5CB-F5C4-4D3D-A5D0-DAE08DC4E08F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CFB82-B091-45D0-B697-A1D55A405C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520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U2,U3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输入电压滤波，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Q5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沟道功率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MOSFET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处于截止状态，反向隔离和过压保护，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U5,U6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二极管是为了实现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全波整流，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Q6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是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IGBT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器件，栅极（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Gate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），集电极（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Collector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），发射极（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Emitter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）</a:t>
            </a:r>
            <a:endParaRPr lang="zh-CN" altLang="en-US" dirty="0">
              <a:highlight>
                <a:srgbClr val="00FFFF"/>
              </a:highligh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CFB82-B091-45D0-B697-A1D55A405C4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605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通过隔离变压器实现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电气隔离传输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，同时还原出原信号，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C1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耦合电容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，隔离直流分量，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阻抗匹配电阻，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R3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三极管基极限流电阻，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R4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上拉电阻，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CFB82-B091-45D0-B697-A1D55A405C4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470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CFB82-B091-45D0-B697-A1D55A405C4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14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4B1EF-61E4-5D57-2B2A-C03D53E20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A8C3BC-EA72-C879-F62F-E804C7047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F8080F-8689-185C-0F42-C298D49AE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6265A9-EB61-9B4E-C87D-950C0BD9E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03C5C6-7FA1-F541-3558-F8DDED468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218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BCDB8-612A-EB14-8712-D7904C74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2C0BED-885B-DB51-292E-C63508AE4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142ED1-B20A-EFEA-47B3-F1B50B729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BC1631-C7B7-A20D-C0F6-2BC430B80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4F99B2-70F3-CBA0-6DAA-AA50DCDD6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99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4CCAA-A704-B185-D4F9-05C74EAA1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425378-DF1C-49D5-8A7F-C3F442B18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E0AFEE-491B-0DB2-84FA-6CBC201C2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F554D1-DA18-E9F1-F349-EA0DD5878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E89C9B-31DB-2DD1-E6D6-E7849334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388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753956-40A6-B984-7AD1-39BDF8837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327328-AC3E-8711-1152-42089F026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6ED338-8924-43E9-8472-B3D3DEA4B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FE97EB-7AF3-2373-A9F9-6E2C73C3D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5437D0-F38C-D5AC-A5A8-3E740860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5C8DBC-3D99-39AD-267B-5DB1EC89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95C78B-A304-9A29-19EB-9F08C445F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B616F3-D517-3C58-24CA-ED7561DAD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F8F8BD-E218-E3F2-E88C-C0DDC6A3A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C7A0CB-6D7F-7744-A774-DDBF5BF9C7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238299-FF4D-AE8E-1B91-A14DD35769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D0F9C16-B3A1-5EEC-C690-0CB5AB9C1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C9CBE0B-26FB-5CFD-B8E9-211E01B8E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2F06BDA-4E55-C24A-DA85-83278EBED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878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9F8792-4381-B3C9-E5C5-CE866DB22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2508D2-675D-7B98-713B-EAB418135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F5C479-77EB-19A8-6BA4-CC06AD71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E17CCF-3F1A-EBFA-1168-DAAA30DC6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53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58C49D-6C57-EDDD-38E5-137336CE3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9DD753-57BC-02B8-E7AE-A5554DBC2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B581C5-C9BF-1F2D-27E9-57529DD54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902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0983D8-C285-C175-EF4F-9B71E21E0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DA270E-AF4C-D9E6-E697-2FC38E145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8309BC-CF85-05C1-8090-3ECD62687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AE93AA-F780-F018-5C9D-4C8852D1C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97B25D-3AA6-0237-82F3-4E0DE3646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D21EA7-68AC-35F9-0BC0-075B95729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539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9EB76-3BCE-6CA3-4DD3-4D5A386A9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83A618-7957-4152-6768-E68A74017F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BB0486-7F27-F5E8-98D9-DFDC2DF2A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34C34E-046A-F328-63ED-E56228292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F831A8-18BD-646F-3074-12A9A6C1E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685715-0835-4D01-5741-9CF36CC09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856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59BB4B-D826-B8EF-E820-0BAA0028A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1A160D-D80A-161F-E64A-4A20C6D50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75EF53-93C0-3D29-2A98-8830C31BD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CA8D49-ED3E-010F-83EC-EA9C63210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C1589B-3C7A-7529-B47C-7B1A1F083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808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EFA2909-CB3A-141D-DC7A-D650DEDEAC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96407B-82A1-6458-B804-F3F53232B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541474-1EA3-9875-59CA-449B32DBD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DE52FC-4809-C6E0-3109-2CC60EDAE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D129A6-C4FB-C487-4434-83ABCC563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38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7B30DC3-FDB6-0670-0497-2E184B80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BBA127-4099-E0BB-DFC1-A52B4AEFC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30DD8D-93A5-2D71-F036-E7B7E49358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4C3EE4-B3DE-4DD8-A503-74BD87764AD3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2AE928-E432-3742-12D9-A54B15CE40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5921B3-04D0-2427-A523-088B250C6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326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AD86D4C7-FABB-5B0A-4C55-737DA7796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2327" y="3602038"/>
            <a:ext cx="9365673" cy="1655762"/>
          </a:xfrm>
        </p:spPr>
        <p:txBody>
          <a:bodyPr/>
          <a:lstStyle/>
          <a:p>
            <a:pPr algn="l"/>
            <a:r>
              <a:rPr lang="zh-CN" altLang="en-US" dirty="0"/>
              <a:t>防反接保护（</a:t>
            </a:r>
            <a:r>
              <a:rPr lang="en-US" altLang="zh-CN" dirty="0"/>
              <a:t>U3</a:t>
            </a:r>
            <a:r>
              <a:rPr lang="zh-CN" altLang="en-US" dirty="0"/>
              <a:t>，</a:t>
            </a:r>
            <a:r>
              <a:rPr lang="en-US" altLang="zh-CN" dirty="0"/>
              <a:t>MOS </a:t>
            </a:r>
            <a:r>
              <a:rPr lang="zh-CN" altLang="en-US" dirty="0"/>
              <a:t>管）</a:t>
            </a:r>
            <a:endParaRPr lang="en-US" altLang="zh-CN" dirty="0"/>
          </a:p>
          <a:p>
            <a:pPr algn="l"/>
            <a:r>
              <a:rPr lang="zh-CN" altLang="en-US" dirty="0"/>
              <a:t> 过压 保护（</a:t>
            </a:r>
            <a:r>
              <a:rPr lang="en-US" altLang="zh-CN" dirty="0"/>
              <a:t>D5</a:t>
            </a:r>
            <a:r>
              <a:rPr lang="zh-CN" altLang="en-US" dirty="0"/>
              <a:t>）</a:t>
            </a:r>
          </a:p>
          <a:p>
            <a:pPr algn="l"/>
            <a:r>
              <a:rPr lang="zh-CN" altLang="en-US" dirty="0"/>
              <a:t>分压稳压电路</a:t>
            </a:r>
          </a:p>
          <a:p>
            <a:pPr algn="l"/>
            <a:endParaRPr lang="zh-CN" altLang="en-US" dirty="0"/>
          </a:p>
        </p:txBody>
      </p:sp>
      <p:pic>
        <p:nvPicPr>
          <p:cNvPr id="5" name="图片 4" descr="图示, 示意图&#10;&#10;AI 生成的内容可能不正确。">
            <a:extLst>
              <a:ext uri="{FF2B5EF4-FFF2-40B4-BE49-F238E27FC236}">
                <a16:creationId xmlns:a16="http://schemas.microsoft.com/office/drawing/2014/main" id="{32119D63-62D7-B7C1-90F4-118A6A882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94" y="55115"/>
            <a:ext cx="3308022" cy="328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408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80ECEC8E-0074-2C94-9860-67225B30EC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340261"/>
            <a:ext cx="10515600" cy="2700321"/>
          </a:xfrm>
          <a:prstGeom prst="rect">
            <a:avLst/>
          </a:prstGeom>
        </p:spPr>
      </p:pic>
      <p:pic>
        <p:nvPicPr>
          <p:cNvPr id="11" name="图片 10" descr="图示&#10;&#10;AI 生成的内容可能不正确。">
            <a:extLst>
              <a:ext uri="{FF2B5EF4-FFF2-40B4-BE49-F238E27FC236}">
                <a16:creationId xmlns:a16="http://schemas.microsoft.com/office/drawing/2014/main" id="{E1E39E4A-2AB1-2895-BD37-66B6378A1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48" y="66206"/>
            <a:ext cx="10907647" cy="336279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5FB6809-AEE1-3610-D106-2A2433721059}"/>
              </a:ext>
            </a:extLst>
          </p:cNvPr>
          <p:cNvSpPr txBox="1"/>
          <p:nvPr/>
        </p:nvSpPr>
        <p:spPr>
          <a:xfrm>
            <a:off x="6925" y="3429000"/>
            <a:ext cx="10637733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0" dirty="0">
                <a:solidFill>
                  <a:srgbClr val="000000"/>
                </a:solidFill>
                <a:effectLst/>
                <a:latin typeface="Inter"/>
              </a:rPr>
              <a:t> 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DC-DC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降压电源电路</a:t>
            </a:r>
            <a:endParaRPr lang="en-US" altLang="zh-CN" b="1" i="0" dirty="0">
              <a:solidFill>
                <a:srgbClr val="000000"/>
              </a:solidFill>
              <a:effectLst/>
              <a:latin typeface="Inter"/>
            </a:endParaRPr>
          </a:p>
          <a:p>
            <a:r>
              <a:rPr lang="en-US" altLang="zh-CN" dirty="0"/>
              <a:t> </a:t>
            </a:r>
            <a:r>
              <a:rPr lang="en-US" altLang="zh-CN" sz="1200" dirty="0"/>
              <a:t>C13</a:t>
            </a:r>
            <a:r>
              <a:rPr lang="zh-CN" altLang="en-US" sz="1200" dirty="0"/>
              <a:t>、</a:t>
            </a:r>
            <a:r>
              <a:rPr lang="en-US" altLang="zh-CN" sz="1200" dirty="0"/>
              <a:t>C14 </a:t>
            </a:r>
            <a:r>
              <a:rPr lang="zh-CN" altLang="en-US" sz="1200" dirty="0"/>
              <a:t>是</a:t>
            </a:r>
            <a:r>
              <a:rPr lang="en-US" altLang="zh-CN" sz="1200" dirty="0"/>
              <a:t>10μF </a:t>
            </a:r>
            <a:r>
              <a:rPr lang="zh-CN" altLang="en-US" sz="1200" dirty="0"/>
              <a:t>的输入滤波电容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  输出电压指示电路（分压）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en-US" altLang="zh-CN" sz="1200" dirty="0"/>
              <a:t>  C2</a:t>
            </a:r>
            <a:r>
              <a:rPr lang="zh-CN" altLang="en-US" sz="1200" dirty="0"/>
              <a:t>（</a:t>
            </a:r>
            <a:r>
              <a:rPr lang="en-US" altLang="zh-CN" sz="1200" dirty="0"/>
              <a:t>100nF</a:t>
            </a:r>
            <a:r>
              <a:rPr lang="zh-CN" altLang="en-US" sz="1200" dirty="0"/>
              <a:t>）是自举电容，与芯片内部电路配合，</a:t>
            </a:r>
            <a:endParaRPr lang="en-US" altLang="zh-CN" sz="1200" dirty="0"/>
          </a:p>
          <a:p>
            <a:r>
              <a:rPr lang="zh-CN" altLang="en-US" sz="1200" dirty="0"/>
              <a:t>  为高侧开关管提供驱动电压保证开关管能稳定导通 </a:t>
            </a:r>
            <a:r>
              <a:rPr lang="en-US" altLang="zh-CN" sz="1200" dirty="0"/>
              <a:t>/ </a:t>
            </a:r>
            <a:r>
              <a:rPr lang="zh-CN" altLang="en-US" sz="1200" dirty="0"/>
              <a:t>截止。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en-US" altLang="zh-CN" sz="1200" dirty="0"/>
              <a:t>  C20</a:t>
            </a:r>
            <a:r>
              <a:rPr lang="zh-CN" altLang="en-US" sz="1200" dirty="0"/>
              <a:t>（</a:t>
            </a:r>
            <a:r>
              <a:rPr lang="en-US" altLang="zh-CN" sz="1200" dirty="0"/>
              <a:t>470pF</a:t>
            </a:r>
            <a:r>
              <a:rPr lang="zh-CN" altLang="en-US" sz="1200" dirty="0"/>
              <a:t>）是</a:t>
            </a:r>
            <a:r>
              <a:rPr lang="zh-CN" altLang="en-US" sz="1200" b="1" dirty="0"/>
              <a:t>电压采样补偿电容</a:t>
            </a:r>
            <a:r>
              <a:rPr lang="zh-CN" altLang="en-US" sz="1200" dirty="0"/>
              <a:t>，用于稳定反馈环路</a:t>
            </a:r>
            <a:endParaRPr lang="en-US" altLang="zh-CN" sz="1200" dirty="0"/>
          </a:p>
          <a:p>
            <a:r>
              <a:rPr lang="zh-CN" altLang="en-US" sz="1200" dirty="0"/>
              <a:t>  避免输出电压出现振荡</a:t>
            </a:r>
            <a:endParaRPr lang="en-US" altLang="zh-CN" sz="1200" dirty="0"/>
          </a:p>
          <a:p>
            <a:endParaRPr lang="zh-CN" altLang="en-US" sz="1200" b="1" dirty="0"/>
          </a:p>
          <a:p>
            <a:r>
              <a:rPr lang="en-US" altLang="zh-CN" sz="1200" dirty="0"/>
              <a:t> C15~C18 </a:t>
            </a:r>
            <a:r>
              <a:rPr lang="zh-CN" altLang="en-US" sz="1200" dirty="0"/>
              <a:t>是</a:t>
            </a:r>
            <a:r>
              <a:rPr lang="zh-CN" altLang="en-US" sz="1200" b="1" dirty="0"/>
              <a:t>输出滤波电容</a:t>
            </a:r>
            <a:r>
              <a:rPr lang="zh-CN" altLang="en-US" sz="1200" dirty="0"/>
              <a:t>滤除电感输出的高频纹波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endParaRPr lang="zh-CN" altLang="en-US" dirty="0"/>
          </a:p>
        </p:txBody>
      </p:sp>
      <p:pic>
        <p:nvPicPr>
          <p:cNvPr id="19" name="图片 18" descr="文本&#10;&#10;AI 生成的内容可能不正确。">
            <a:extLst>
              <a:ext uri="{FF2B5EF4-FFF2-40B4-BE49-F238E27FC236}">
                <a16:creationId xmlns:a16="http://schemas.microsoft.com/office/drawing/2014/main" id="{016F20E1-D43F-F9CC-84B0-387BB6A55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9926" y="2781894"/>
            <a:ext cx="7840169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110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8071CDA8-8F78-535E-389D-143125FE6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999"/>
            <a:ext cx="7352145" cy="641465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93F36B9-41E7-A356-E499-DE05867D9A87}"/>
              </a:ext>
            </a:extLst>
          </p:cNvPr>
          <p:cNvSpPr txBox="1"/>
          <p:nvPr/>
        </p:nvSpPr>
        <p:spPr>
          <a:xfrm>
            <a:off x="7056581" y="591127"/>
            <a:ext cx="4858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BOOT:</a:t>
            </a:r>
            <a:r>
              <a:rPr lang="zh-CN" altLang="en-US" dirty="0"/>
              <a:t>高侧场效应晶体管栅极驱动器的自举电容。将一个 </a:t>
            </a:r>
            <a:r>
              <a:rPr lang="en-US" altLang="zh-CN" dirty="0"/>
              <a:t>0.01 </a:t>
            </a:r>
            <a:r>
              <a:rPr lang="zh-CN" altLang="en-US" dirty="0"/>
              <a:t>微法的低等效串联电阻电容从自举引脚连接至开关节点引脚。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16539C-ED18-0608-B070-9A09AA1801D4}"/>
              </a:ext>
            </a:extLst>
          </p:cNvPr>
          <p:cNvSpPr txBox="1"/>
          <p:nvPr/>
        </p:nvSpPr>
        <p:spPr>
          <a:xfrm>
            <a:off x="7056580" y="1699491"/>
            <a:ext cx="4267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PH:</a:t>
            </a:r>
            <a:r>
              <a:rPr lang="zh-CN" altLang="en-US" dirty="0"/>
              <a:t>高侧功率场效应晶体管的源极。连接至外部电感与二极管。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839B8E-547D-E500-59C2-6C7B0CF5056B}"/>
              </a:ext>
            </a:extLst>
          </p:cNvPr>
          <p:cNvSpPr txBox="1"/>
          <p:nvPr/>
        </p:nvSpPr>
        <p:spPr>
          <a:xfrm>
            <a:off x="7075052" y="2530856"/>
            <a:ext cx="4027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VSENSE</a:t>
            </a:r>
            <a:r>
              <a:rPr lang="zh-CN" altLang="en-US" dirty="0"/>
              <a:t>：稳压器的反馈电压。连接至输出分压电路。</a:t>
            </a:r>
          </a:p>
        </p:txBody>
      </p:sp>
    </p:spTree>
    <p:extLst>
      <p:ext uri="{BB962C8B-B14F-4D97-AF65-F5344CB8AC3E}">
        <p14:creationId xmlns:p14="http://schemas.microsoft.com/office/powerpoint/2010/main" val="3056448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内容占位符 9" descr="文本&#10;&#10;AI 生成的内容可能不正确。">
            <a:extLst>
              <a:ext uri="{FF2B5EF4-FFF2-40B4-BE49-F238E27FC236}">
                <a16:creationId xmlns:a16="http://schemas.microsoft.com/office/drawing/2014/main" id="{1D3FEF39-6AAE-BA56-E348-BD94F142C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7740" y="2832894"/>
            <a:ext cx="7320361" cy="3791527"/>
          </a:xfrm>
          <a:prstGeom prst="rect">
            <a:avLst/>
          </a:prstGeom>
        </p:spPr>
      </p:pic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69901101-0B7D-F470-A6FD-73B260C35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90099" cy="283289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185E4C5-EF43-2F6D-B804-FE0AE3C2D059}"/>
              </a:ext>
            </a:extLst>
          </p:cNvPr>
          <p:cNvSpPr txBox="1"/>
          <p:nvPr/>
        </p:nvSpPr>
        <p:spPr>
          <a:xfrm>
            <a:off x="166254" y="3352487"/>
            <a:ext cx="6096000" cy="1365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900"/>
              </a:spcBef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输出电压反馈电路</a:t>
            </a:r>
            <a:endParaRPr lang="en-US" altLang="zh-CN" b="1" i="0" dirty="0">
              <a:solidFill>
                <a:srgbClr val="000000"/>
              </a:solidFill>
              <a:effectLst/>
              <a:latin typeface="Inter"/>
            </a:endParaRPr>
          </a:p>
          <a:p>
            <a:pPr>
              <a:lnSpc>
                <a:spcPts val="1800"/>
              </a:lnSpc>
              <a:spcBef>
                <a:spcPts val="900"/>
              </a:spcBef>
            </a:pPr>
            <a:r>
              <a:rPr lang="zh-CN" altLang="en-US" sz="1400" dirty="0"/>
              <a:t>芯片会根据</a:t>
            </a:r>
            <a:r>
              <a:rPr lang="en-US" altLang="zh-CN" sz="1400" dirty="0"/>
              <a:t>FB</a:t>
            </a:r>
            <a:r>
              <a:rPr lang="zh-CN" altLang="en-US" sz="1400" dirty="0"/>
              <a:t>引脚的电压，自动调整内部开关管的</a:t>
            </a:r>
            <a:endParaRPr lang="en-US" altLang="zh-CN" sz="1400" dirty="0"/>
          </a:p>
          <a:p>
            <a:pPr>
              <a:lnSpc>
                <a:spcPts val="1800"/>
              </a:lnSpc>
              <a:spcBef>
                <a:spcPts val="900"/>
              </a:spcBef>
            </a:pPr>
            <a:r>
              <a:rPr lang="zh-CN" altLang="en-US" sz="1400" dirty="0"/>
              <a:t>通断时间，保证输出电压稳定在 </a:t>
            </a:r>
            <a:r>
              <a:rPr lang="en-US" altLang="zh-CN" sz="1400" dirty="0"/>
              <a:t>10V</a:t>
            </a:r>
            <a:endParaRPr lang="en-US" altLang="zh-CN" sz="1400" b="1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lnSpc>
                <a:spcPts val="1800"/>
              </a:lnSpc>
              <a:spcBef>
                <a:spcPts val="900"/>
              </a:spcBef>
              <a:buNone/>
            </a:pPr>
            <a:endParaRPr lang="zh-CN" altLang="en-US" b="1" i="0" dirty="0">
              <a:solidFill>
                <a:srgbClr val="000000"/>
              </a:solidFill>
              <a:effectLst/>
              <a:latin typeface="Inter"/>
            </a:endParaRPr>
          </a:p>
        </p:txBody>
      </p:sp>
      <p:pic>
        <p:nvPicPr>
          <p:cNvPr id="14" name="图片 13" descr="图示&#10;&#10;AI 生成的内容可能不正确。">
            <a:extLst>
              <a:ext uri="{FF2B5EF4-FFF2-40B4-BE49-F238E27FC236}">
                <a16:creationId xmlns:a16="http://schemas.microsoft.com/office/drawing/2014/main" id="{22807A8E-8D0A-9227-8281-72BCE2938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21" y="4648199"/>
            <a:ext cx="3000794" cy="740295"/>
          </a:xfrm>
          <a:prstGeom prst="rect">
            <a:avLst/>
          </a:prstGeom>
        </p:spPr>
      </p:pic>
      <p:pic>
        <p:nvPicPr>
          <p:cNvPr id="16" name="图片 15" descr="文本&#10;&#10;AI 生成的内容可能不正确。">
            <a:extLst>
              <a:ext uri="{FF2B5EF4-FFF2-40B4-BE49-F238E27FC236}">
                <a16:creationId xmlns:a16="http://schemas.microsoft.com/office/drawing/2014/main" id="{FE81186F-2F87-E523-B067-4E08D51B3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221" y="5562557"/>
            <a:ext cx="3153215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70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&#10;&#10;AI 生成的内容可能不正确。">
            <a:extLst>
              <a:ext uri="{FF2B5EF4-FFF2-40B4-BE49-F238E27FC236}">
                <a16:creationId xmlns:a16="http://schemas.microsoft.com/office/drawing/2014/main" id="{C6FADD8D-EBF9-2CF3-93BE-6BB408EAD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385"/>
            <a:ext cx="5828145" cy="360081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2A8AF1D-6078-065C-63F6-56D7DB1DF67C}"/>
              </a:ext>
            </a:extLst>
          </p:cNvPr>
          <p:cNvSpPr txBox="1"/>
          <p:nvPr/>
        </p:nvSpPr>
        <p:spPr>
          <a:xfrm>
            <a:off x="138545" y="3878350"/>
            <a:ext cx="4248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SW:</a:t>
            </a:r>
            <a:r>
              <a:rPr lang="zh-CN" altLang="en-US" dirty="0"/>
              <a:t>转换器的开关引脚。该引脚与内部功率场效应晶体管的漏极相连。</a:t>
            </a:r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CC103E51-68BE-FA0B-9793-2117C7D23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309" y="0"/>
            <a:ext cx="6844145" cy="483616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BDA3AC0-0B28-5B6D-FCE3-0901412C984A}"/>
              </a:ext>
            </a:extLst>
          </p:cNvPr>
          <p:cNvSpPr txBox="1"/>
          <p:nvPr/>
        </p:nvSpPr>
        <p:spPr>
          <a:xfrm>
            <a:off x="138545" y="4524681"/>
            <a:ext cx="3435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FB:</a:t>
            </a:r>
            <a:r>
              <a:rPr lang="zh-CN" altLang="en-US" dirty="0"/>
              <a:t>可调输出电压的电压反馈端</a:t>
            </a:r>
          </a:p>
        </p:txBody>
      </p:sp>
    </p:spTree>
    <p:extLst>
      <p:ext uri="{BB962C8B-B14F-4D97-AF65-F5344CB8AC3E}">
        <p14:creationId xmlns:p14="http://schemas.microsoft.com/office/powerpoint/2010/main" val="3059171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示, 示意图&#10;&#10;AI 生成的内容可能不正确。">
            <a:extLst>
              <a:ext uri="{FF2B5EF4-FFF2-40B4-BE49-F238E27FC236}">
                <a16:creationId xmlns:a16="http://schemas.microsoft.com/office/drawing/2014/main" id="{F2E416EF-AB5F-3E29-D156-C573D709D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9060"/>
            <a:ext cx="12192000" cy="5759879"/>
          </a:xfrm>
          <a:prstGeom prst="rect">
            <a:avLst/>
          </a:prstGeom>
        </p:spPr>
      </p:pic>
      <p:pic>
        <p:nvPicPr>
          <p:cNvPr id="10" name="图片 9" descr="图示, 示意图&#10;&#10;AI 生成的内容可能不正确。">
            <a:extLst>
              <a:ext uri="{FF2B5EF4-FFF2-40B4-BE49-F238E27FC236}">
                <a16:creationId xmlns:a16="http://schemas.microsoft.com/office/drawing/2014/main" id="{019BD490-CDB2-3820-4560-4E82D80B1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161" y="2091628"/>
            <a:ext cx="2524477" cy="169568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1A45BDB-C8E8-3E23-E1B3-599293AFF15D}"/>
              </a:ext>
            </a:extLst>
          </p:cNvPr>
          <p:cNvSpPr txBox="1"/>
          <p:nvPr/>
        </p:nvSpPr>
        <p:spPr>
          <a:xfrm>
            <a:off x="0" y="4359564"/>
            <a:ext cx="67517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输入滤波与保护（</a:t>
            </a:r>
            <a:r>
              <a:rPr lang="en-US" altLang="zh-CN" dirty="0"/>
              <a:t>U2</a:t>
            </a:r>
            <a:r>
              <a:rPr lang="zh-CN" altLang="en-US" dirty="0"/>
              <a:t>、</a:t>
            </a:r>
            <a:r>
              <a:rPr lang="en-US" altLang="zh-CN" dirty="0"/>
              <a:t>U3</a:t>
            </a:r>
            <a:r>
              <a:rPr lang="zh-CN" altLang="en-US" dirty="0"/>
              <a:t>、</a:t>
            </a:r>
            <a:r>
              <a:rPr lang="en-US" altLang="zh-CN" dirty="0"/>
              <a:t>D1</a:t>
            </a:r>
            <a:r>
              <a:rPr lang="zh-CN" altLang="en-US" dirty="0"/>
              <a:t>、</a:t>
            </a:r>
            <a:r>
              <a:rPr lang="en-US" altLang="zh-CN" dirty="0"/>
              <a:t>D2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隔离式 </a:t>
            </a:r>
            <a:r>
              <a:rPr lang="en-US" altLang="zh-CN" dirty="0"/>
              <a:t>DC-DC </a:t>
            </a:r>
            <a:r>
              <a:rPr lang="zh-CN" altLang="en-US" dirty="0"/>
              <a:t>转换（</a:t>
            </a:r>
            <a:r>
              <a:rPr lang="en-US" altLang="zh-CN" dirty="0"/>
              <a:t>U6</a:t>
            </a:r>
            <a:r>
              <a:rPr lang="zh-CN" altLang="en-US" dirty="0"/>
              <a:t>、</a:t>
            </a:r>
            <a:r>
              <a:rPr lang="en-US" altLang="zh-CN" dirty="0"/>
              <a:t>U4 </a:t>
            </a:r>
            <a:r>
              <a:rPr lang="zh-CN" altLang="en-US" dirty="0"/>
              <a:t>变压器）</a:t>
            </a:r>
          </a:p>
          <a:p>
            <a:r>
              <a:rPr lang="zh-CN" altLang="en-US" dirty="0"/>
              <a:t>输出整流与充电（</a:t>
            </a:r>
            <a:r>
              <a:rPr lang="en-US" altLang="zh-CN" dirty="0"/>
              <a:t>Q5</a:t>
            </a:r>
            <a:r>
              <a:rPr lang="zh-CN" altLang="en-US" dirty="0"/>
              <a:t>、超级电容）</a:t>
            </a:r>
            <a:endParaRPr lang="en-US" altLang="zh-CN" dirty="0"/>
          </a:p>
          <a:p>
            <a:r>
              <a:rPr lang="en-US" altLang="zh-CN" dirty="0"/>
              <a:t>C1/C2</a:t>
            </a:r>
            <a:r>
              <a:rPr lang="zh-CN" altLang="en-US" dirty="0"/>
              <a:t>：接直流高压输入</a:t>
            </a:r>
          </a:p>
          <a:p>
            <a:r>
              <a:rPr lang="en-US" altLang="zh-CN" dirty="0"/>
              <a:t>E1C3/E2C4</a:t>
            </a:r>
            <a:r>
              <a:rPr lang="zh-CN" altLang="en-US" dirty="0"/>
              <a:t>：全桥的两个输出端（最终接除颤电极，输出双相波）；</a:t>
            </a:r>
          </a:p>
          <a:p>
            <a:r>
              <a:rPr lang="en-US" altLang="zh-CN" dirty="0"/>
              <a:t>G1~G4</a:t>
            </a:r>
            <a:r>
              <a:rPr lang="zh-CN" altLang="en-US" dirty="0"/>
              <a:t>：</a:t>
            </a:r>
            <a:r>
              <a:rPr lang="en-US" altLang="zh-CN" dirty="0"/>
              <a:t>4 </a:t>
            </a:r>
            <a:r>
              <a:rPr lang="zh-CN" altLang="en-US" dirty="0"/>
              <a:t>个 </a:t>
            </a:r>
            <a:r>
              <a:rPr lang="en-US" altLang="zh-CN" dirty="0"/>
              <a:t>MOSFET </a:t>
            </a:r>
            <a:r>
              <a:rPr lang="zh-CN" altLang="en-US" dirty="0"/>
              <a:t>的栅极（接前级驱动信号，控制 </a:t>
            </a:r>
            <a:r>
              <a:rPr lang="en-US" altLang="zh-CN" dirty="0"/>
              <a:t>MOSFET </a:t>
            </a:r>
            <a:r>
              <a:rPr lang="zh-CN" altLang="en-US" dirty="0"/>
              <a:t>的导通 </a:t>
            </a:r>
            <a:r>
              <a:rPr lang="en-US" altLang="zh-CN" dirty="0"/>
              <a:t>/ </a:t>
            </a:r>
            <a:r>
              <a:rPr lang="zh-CN" altLang="en-US" dirty="0"/>
              <a:t>关断）</a:t>
            </a:r>
            <a:r>
              <a:rPr lang="en-US" altLang="zh-CN" dirty="0"/>
              <a:t>G1,G4  ,G2,G3</a:t>
            </a:r>
          </a:p>
          <a:p>
            <a:r>
              <a:rPr lang="en-US" altLang="zh-CN" dirty="0"/>
              <a:t>NET15 </a:t>
            </a:r>
            <a:r>
              <a:rPr lang="zh-CN" altLang="en-US" dirty="0"/>
              <a:t>是</a:t>
            </a:r>
            <a:r>
              <a:rPr lang="en-US" altLang="zh-CN" dirty="0"/>
              <a:t>R4 </a:t>
            </a:r>
            <a:r>
              <a:rPr lang="zh-CN" altLang="en-US" dirty="0"/>
              <a:t>采样电压的输出端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0863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AB1844AD-9C63-B1F6-B02E-A89D3A8A3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29" y="0"/>
            <a:ext cx="11231542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341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表格&#10;&#10;AI 生成的内容可能不正确。">
            <a:extLst>
              <a:ext uri="{FF2B5EF4-FFF2-40B4-BE49-F238E27FC236}">
                <a16:creationId xmlns:a16="http://schemas.microsoft.com/office/drawing/2014/main" id="{84AAC8D0-34BF-8922-DAEE-7B56DC9C4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502" y="568578"/>
            <a:ext cx="4737460" cy="2123689"/>
          </a:xfrm>
          <a:prstGeom prst="rect">
            <a:avLst/>
          </a:prstGeom>
        </p:spPr>
      </p:pic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6DE8117A-160C-3BFB-A71F-A9DD755F7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17" y="333483"/>
            <a:ext cx="7773485" cy="300079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289504E-4759-6735-D675-F8C4E6496C65}"/>
              </a:ext>
            </a:extLst>
          </p:cNvPr>
          <p:cNvSpPr txBox="1"/>
          <p:nvPr/>
        </p:nvSpPr>
        <p:spPr>
          <a:xfrm>
            <a:off x="532013" y="3754846"/>
            <a:ext cx="880595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PWM </a:t>
            </a:r>
            <a:r>
              <a:rPr lang="zh-CN" altLang="en-US" sz="1400" b="1" dirty="0"/>
              <a:t>信号的过流保护控制电路，核心作用是：当充电电流超过 </a:t>
            </a:r>
            <a:r>
              <a:rPr lang="en-US" altLang="zh-CN" sz="1400" b="1" dirty="0"/>
              <a:t>18.3A </a:t>
            </a:r>
            <a:r>
              <a:rPr lang="zh-CN" altLang="en-US" sz="1400" b="1" dirty="0"/>
              <a:t>时，自动切断 </a:t>
            </a:r>
            <a:r>
              <a:rPr lang="en-US" altLang="zh-CN" sz="1400" b="1" dirty="0"/>
              <a:t>PWM </a:t>
            </a:r>
            <a:r>
              <a:rPr lang="zh-CN" altLang="en-US" sz="1400" b="1" dirty="0"/>
              <a:t>信号输出</a:t>
            </a:r>
            <a:endParaRPr lang="en-US" altLang="zh-CN" sz="1400" b="1" dirty="0"/>
          </a:p>
          <a:p>
            <a:endParaRPr lang="en-US" altLang="zh-CN" sz="1400" b="1" dirty="0"/>
          </a:p>
          <a:p>
            <a:pPr marL="228600" indent="-228600">
              <a:buAutoNum type="arabicPlain"/>
            </a:pPr>
            <a:r>
              <a:rPr lang="en-US" altLang="zh-CN" sz="1400" dirty="0"/>
              <a:t>PWM </a:t>
            </a:r>
            <a:r>
              <a:rPr lang="zh-CN" altLang="en-US" sz="1400" dirty="0"/>
              <a:t>驱动模块（</a:t>
            </a:r>
            <a:r>
              <a:rPr lang="en-US" altLang="zh-CN" sz="1400" dirty="0"/>
              <a:t>U122</a:t>
            </a:r>
            <a:r>
              <a:rPr lang="zh-CN" altLang="en-US" sz="1400" dirty="0"/>
              <a:t>：</a:t>
            </a:r>
            <a:r>
              <a:rPr lang="en-US" altLang="zh-CN" sz="1400" dirty="0"/>
              <a:t>UCC27511</a:t>
            </a:r>
            <a:r>
              <a:rPr lang="zh-CN" altLang="en-US" sz="1400" dirty="0"/>
              <a:t>）放大输入的 </a:t>
            </a:r>
            <a:r>
              <a:rPr lang="en-US" altLang="zh-CN" sz="1400" dirty="0"/>
              <a:t>PWM </a:t>
            </a:r>
            <a:r>
              <a:rPr lang="zh-CN" altLang="en-US" sz="1400" dirty="0"/>
              <a:t>信号</a:t>
            </a:r>
            <a:endParaRPr lang="en-US" altLang="zh-CN" sz="1400" dirty="0"/>
          </a:p>
          <a:p>
            <a:pPr marL="228600" indent="-228600">
              <a:buAutoNum type="arabicPlain"/>
            </a:pPr>
            <a:endParaRPr lang="en-US" altLang="zh-CN" sz="1400" dirty="0"/>
          </a:p>
          <a:p>
            <a:pPr marL="228600" indent="-228600">
              <a:buFontTx/>
              <a:buAutoNum type="arabicPlain"/>
            </a:pPr>
            <a:r>
              <a:rPr lang="zh-CN" altLang="en-US" sz="1400" dirty="0"/>
              <a:t>电流采样与比较模块（</a:t>
            </a:r>
            <a:r>
              <a:rPr lang="en-US" altLang="zh-CN" sz="1400" dirty="0"/>
              <a:t>U315</a:t>
            </a:r>
            <a:r>
              <a:rPr lang="zh-CN" altLang="en-US" sz="1400" dirty="0"/>
              <a:t>：</a:t>
            </a:r>
            <a:r>
              <a:rPr lang="en-US" altLang="zh-CN" sz="1400" dirty="0"/>
              <a:t>TS3021CT </a:t>
            </a:r>
            <a:r>
              <a:rPr lang="zh-CN" altLang="en-US" sz="1400" dirty="0"/>
              <a:t>运放）</a:t>
            </a:r>
            <a:endParaRPr lang="en-US" altLang="zh-CN" sz="1400" dirty="0"/>
          </a:p>
          <a:p>
            <a:r>
              <a:rPr lang="zh-CN" altLang="en-US" sz="1400" b="1" dirty="0"/>
              <a:t>      比较逻辑</a:t>
            </a:r>
            <a:r>
              <a:rPr lang="zh-CN" altLang="en-US" sz="1400" dirty="0"/>
              <a:t>：电流≤</a:t>
            </a:r>
            <a:r>
              <a:rPr lang="en-US" altLang="zh-CN" sz="1400" dirty="0"/>
              <a:t>18.3A</a:t>
            </a:r>
            <a:r>
              <a:rPr lang="zh-CN" altLang="en-US" sz="1400" dirty="0"/>
              <a:t>：</a:t>
            </a:r>
            <a:r>
              <a:rPr lang="en-US" altLang="zh-CN" sz="1400" dirty="0"/>
              <a:t>ET6</a:t>
            </a:r>
            <a:r>
              <a:rPr lang="zh-CN" altLang="en-US" sz="1400" dirty="0"/>
              <a:t>分压 </a:t>
            </a:r>
            <a:r>
              <a:rPr lang="en-US" altLang="zh-CN" sz="1400" dirty="0"/>
              <a:t>&lt; 0.55V</a:t>
            </a:r>
            <a:r>
              <a:rPr lang="zh-CN" altLang="en-US" sz="1400" dirty="0"/>
              <a:t>，运放输出</a:t>
            </a:r>
            <a:r>
              <a:rPr lang="zh-CN" altLang="en-US" sz="1400" b="1" dirty="0"/>
              <a:t>低电平</a:t>
            </a:r>
            <a:r>
              <a:rPr lang="zh-CN" altLang="en-US" sz="1400" dirty="0"/>
              <a:t>；</a:t>
            </a:r>
          </a:p>
          <a:p>
            <a:r>
              <a:rPr lang="zh-CN" altLang="en-US" sz="1400" dirty="0"/>
              <a:t>                       电流＞</a:t>
            </a:r>
            <a:r>
              <a:rPr lang="en-US" altLang="zh-CN" sz="1400" dirty="0"/>
              <a:t>18.3A</a:t>
            </a:r>
            <a:r>
              <a:rPr lang="zh-CN" altLang="en-US" sz="1400" dirty="0"/>
              <a:t>：</a:t>
            </a:r>
            <a:r>
              <a:rPr lang="en-US" altLang="zh-CN" sz="1400" dirty="0"/>
              <a:t>ET6</a:t>
            </a:r>
            <a:r>
              <a:rPr lang="zh-CN" altLang="en-US" sz="1400" dirty="0"/>
              <a:t>分压 </a:t>
            </a:r>
            <a:r>
              <a:rPr lang="en-US" altLang="zh-CN" sz="1400" dirty="0"/>
              <a:t>&gt; 0.55V</a:t>
            </a:r>
            <a:r>
              <a:rPr lang="zh-CN" altLang="en-US" sz="1400" dirty="0"/>
              <a:t>，运放输出</a:t>
            </a:r>
            <a:r>
              <a:rPr lang="zh-CN" altLang="en-US" sz="1400" b="1" dirty="0"/>
              <a:t>高电平</a:t>
            </a:r>
            <a:r>
              <a:rPr lang="zh-CN" altLang="en-US" sz="1400" dirty="0"/>
              <a:t>，触发保护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3</a:t>
            </a:r>
            <a:r>
              <a:rPr lang="zh-CN" altLang="en-US" sz="1400" dirty="0"/>
              <a:t>锁存模块（</a:t>
            </a:r>
            <a:r>
              <a:rPr lang="en-US" altLang="zh-CN" sz="1400" dirty="0"/>
              <a:t>U316</a:t>
            </a:r>
            <a:r>
              <a:rPr lang="zh-CN" altLang="en-US" sz="1400" dirty="0"/>
              <a:t>：</a:t>
            </a:r>
            <a:r>
              <a:rPr lang="en-US" altLang="zh-CN" sz="1400" dirty="0"/>
              <a:t>D </a:t>
            </a:r>
            <a:r>
              <a:rPr lang="zh-CN" altLang="en-US" sz="1400" dirty="0"/>
              <a:t>触发器）      作用：锁定过流状态，持续切断 </a:t>
            </a:r>
            <a:r>
              <a:rPr lang="en-US" altLang="zh-CN" sz="1400" dirty="0"/>
              <a:t>PWM</a:t>
            </a:r>
          </a:p>
          <a:p>
            <a:endParaRPr lang="en-US" altLang="zh-CN" sz="1400" dirty="0"/>
          </a:p>
          <a:p>
            <a:r>
              <a:rPr lang="en-US" altLang="zh-CN" sz="1400" dirty="0"/>
              <a:t>4 PWM </a:t>
            </a:r>
            <a:r>
              <a:rPr lang="zh-CN" altLang="en-US" sz="1400" dirty="0"/>
              <a:t>开关模块（</a:t>
            </a:r>
            <a:r>
              <a:rPr lang="en-US" altLang="zh-CN" sz="1400" dirty="0"/>
              <a:t>U110</a:t>
            </a:r>
            <a:r>
              <a:rPr lang="zh-CN" altLang="en-US" sz="1400" dirty="0"/>
              <a:t>：模拟开关）作用：根据锁存信号切断 </a:t>
            </a:r>
            <a:r>
              <a:rPr lang="en-US" altLang="zh-CN" sz="1400" dirty="0"/>
              <a:t>/ </a:t>
            </a:r>
            <a:r>
              <a:rPr lang="zh-CN" altLang="en-US" sz="1400" dirty="0"/>
              <a:t>恢复 </a:t>
            </a:r>
            <a:r>
              <a:rPr lang="en-US" altLang="zh-CN" sz="1400" dirty="0"/>
              <a:t>PWM</a:t>
            </a:r>
            <a:r>
              <a:rPr lang="zh-CN" altLang="en-US" sz="1400" dirty="0"/>
              <a:t>。</a:t>
            </a:r>
          </a:p>
          <a:p>
            <a:endParaRPr lang="zh-CN" altLang="en-US" sz="1400" dirty="0"/>
          </a:p>
          <a:p>
            <a:pPr marL="228600" indent="-228600">
              <a:buFontTx/>
              <a:buAutoNum type="arabicPlain"/>
            </a:pPr>
            <a:endParaRPr lang="zh-CN" altLang="en-US" b="1" dirty="0"/>
          </a:p>
          <a:p>
            <a:pPr marL="228600" indent="-228600">
              <a:buAutoNum type="arabicPlain"/>
            </a:pPr>
            <a:endParaRPr lang="en-US" altLang="zh-CN" sz="1200" dirty="0"/>
          </a:p>
          <a:p>
            <a:endParaRPr lang="en-US" altLang="zh-CN" sz="1200" dirty="0"/>
          </a:p>
          <a:p>
            <a:endParaRPr lang="zh-CN" altLang="en-US" sz="1200" dirty="0"/>
          </a:p>
          <a:p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04988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示, 示意图&#10;&#10;AI 生成的内容可能不正确。">
            <a:extLst>
              <a:ext uri="{FF2B5EF4-FFF2-40B4-BE49-F238E27FC236}">
                <a16:creationId xmlns:a16="http://schemas.microsoft.com/office/drawing/2014/main" id="{72F62DFB-F666-F621-E860-F64C3F630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9041"/>
            <a:ext cx="7116168" cy="593490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19402540-1A13-8F25-D0CE-C6415C35E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8774" y="-69041"/>
            <a:ext cx="4412757" cy="28189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21CC063-A29F-D3D4-25C0-45382AEB2AE1}"/>
              </a:ext>
            </a:extLst>
          </p:cNvPr>
          <p:cNvSpPr txBox="1"/>
          <p:nvPr/>
        </p:nvSpPr>
        <p:spPr>
          <a:xfrm>
            <a:off x="7116168" y="2942051"/>
            <a:ext cx="48726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逻辑控制模块</a:t>
            </a:r>
            <a:r>
              <a:rPr lang="zh-CN" altLang="en-US" dirty="0"/>
              <a:t>：选择是否让 </a:t>
            </a:r>
            <a:r>
              <a:rPr lang="en-US" altLang="zh-CN" dirty="0"/>
              <a:t>PWM </a:t>
            </a:r>
            <a:r>
              <a:rPr lang="zh-CN" altLang="en-US" dirty="0"/>
              <a:t>信号通过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栅极驱动模块</a:t>
            </a:r>
            <a:r>
              <a:rPr lang="zh-CN" altLang="en-US" dirty="0"/>
              <a:t>：驱动器会将小电流的 </a:t>
            </a:r>
            <a:r>
              <a:rPr lang="en-US" altLang="zh-CN" dirty="0"/>
              <a:t>PWM </a:t>
            </a:r>
            <a:r>
              <a:rPr lang="zh-CN" altLang="en-US" dirty="0"/>
              <a:t>信号，放大为大电流的驱动信号</a:t>
            </a:r>
          </a:p>
          <a:p>
            <a:endParaRPr lang="zh-CN" altLang="en-US" b="1" dirty="0"/>
          </a:p>
          <a:p>
            <a:endParaRPr lang="zh-CN" altLang="en-US" dirty="0"/>
          </a:p>
        </p:txBody>
      </p:sp>
      <p:pic>
        <p:nvPicPr>
          <p:cNvPr id="7" name="图片 6" descr="手机屏幕截图&#10;&#10;AI 生成的内容可能不正确。">
            <a:extLst>
              <a:ext uri="{FF2B5EF4-FFF2-40B4-BE49-F238E27FC236}">
                <a16:creationId xmlns:a16="http://schemas.microsoft.com/office/drawing/2014/main" id="{651FDD66-A9D2-E408-768E-66451B988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4844" y="4207167"/>
            <a:ext cx="5953956" cy="245779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41C63F7-0077-23AE-95D6-3B011E1ECF8B}"/>
              </a:ext>
            </a:extLst>
          </p:cNvPr>
          <p:cNvSpPr txBox="1"/>
          <p:nvPr/>
        </p:nvSpPr>
        <p:spPr>
          <a:xfrm>
            <a:off x="0" y="5606473"/>
            <a:ext cx="60348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200" dirty="0"/>
          </a:p>
          <a:p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748816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F452EB-7669-3F6D-2F15-426EBE706C1A}"/>
              </a:ext>
            </a:extLst>
          </p:cNvPr>
          <p:cNvSpPr txBox="1"/>
          <p:nvPr/>
        </p:nvSpPr>
        <p:spPr>
          <a:xfrm>
            <a:off x="0" y="73891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NET9</a:t>
            </a:r>
            <a:r>
              <a:rPr lang="zh-CN" altLang="en-US" dirty="0"/>
              <a:t>：</a:t>
            </a:r>
            <a:r>
              <a:rPr lang="en-US" altLang="zh-CN" dirty="0"/>
              <a:t>PWM </a:t>
            </a:r>
            <a:r>
              <a:rPr lang="zh-CN" altLang="en-US" dirty="0"/>
              <a:t>主控制信号，</a:t>
            </a:r>
            <a:endParaRPr lang="en-US" altLang="zh-CN" dirty="0"/>
          </a:p>
          <a:p>
            <a:r>
              <a:rPr lang="en-US" altLang="zh-CN" dirty="0"/>
              <a:t>NET5~NET8</a:t>
            </a:r>
            <a:r>
              <a:rPr lang="zh-CN" altLang="en-US" dirty="0"/>
              <a:t>：逻辑使能 </a:t>
            </a:r>
            <a:r>
              <a:rPr lang="en-US" altLang="zh-CN" dirty="0"/>
              <a:t>/ </a:t>
            </a:r>
            <a:r>
              <a:rPr lang="zh-CN" altLang="en-US" dirty="0"/>
              <a:t>选择信号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AA3EEB-B710-6A0A-B6AA-D00AC9FF8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8113" y="0"/>
            <a:ext cx="4413887" cy="281659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B6EEE5E-9465-0821-3A09-912796A8B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199" y="2706254"/>
            <a:ext cx="5464799" cy="38007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DA4CCD4-6BC2-DE71-E12B-C7646007B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5" y="2706254"/>
            <a:ext cx="5902036" cy="374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773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670DBE0A-F1D3-ED10-119A-4E46853D4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71" y="0"/>
            <a:ext cx="7192379" cy="2410161"/>
          </a:xfrm>
          <a:prstGeom prst="rect">
            <a:avLst/>
          </a:prstGeom>
        </p:spPr>
      </p:pic>
      <p:pic>
        <p:nvPicPr>
          <p:cNvPr id="10" name="图片 9" descr="图示, 示意图&#10;&#10;AI 生成的内容可能不正确。">
            <a:extLst>
              <a:ext uri="{FF2B5EF4-FFF2-40B4-BE49-F238E27FC236}">
                <a16:creationId xmlns:a16="http://schemas.microsoft.com/office/drawing/2014/main" id="{777B1F1B-B1AA-9AD8-BB16-CDDBBCDFC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49" y="3429000"/>
            <a:ext cx="6000773" cy="273790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07AAD7E-0FFB-B615-93C5-319482E65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821" y="3743383"/>
            <a:ext cx="3926656" cy="210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83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7581A94D-C6CB-4671-4FE9-70E9C9618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972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210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</TotalTime>
  <Words>604</Words>
  <Application>Microsoft Office PowerPoint</Application>
  <PresentationFormat>宽屏</PresentationFormat>
  <Paragraphs>55</Paragraphs>
  <Slides>12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Inter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E-YU</dc:creator>
  <cp:lastModifiedBy>E-YU</cp:lastModifiedBy>
  <cp:revision>6</cp:revision>
  <dcterms:created xsi:type="dcterms:W3CDTF">2025-12-10T12:25:15Z</dcterms:created>
  <dcterms:modified xsi:type="dcterms:W3CDTF">2026-01-10T02:28:12Z</dcterms:modified>
</cp:coreProperties>
</file>
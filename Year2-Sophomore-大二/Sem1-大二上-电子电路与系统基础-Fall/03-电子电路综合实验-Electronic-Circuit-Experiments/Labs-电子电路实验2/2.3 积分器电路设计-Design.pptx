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</p:sldMasterIdLst>
  <p:notesMasterIdLst>
    <p:notesMasterId r:id="rId26"/>
  </p:notesMasterIdLst>
  <p:handoutMasterIdLst>
    <p:handoutMasterId r:id="rId27"/>
  </p:handoutMasterIdLst>
  <p:sldIdLst>
    <p:sldId id="317" r:id="rId16"/>
    <p:sldId id="318" r:id="rId17"/>
    <p:sldId id="319" r:id="rId18"/>
    <p:sldId id="354" r:id="rId19"/>
    <p:sldId id="342" r:id="rId20"/>
    <p:sldId id="355" r:id="rId21"/>
    <p:sldId id="353" r:id="rId22"/>
    <p:sldId id="329" r:id="rId23"/>
    <p:sldId id="330" r:id="rId24"/>
    <p:sldId id="331" r:id="rId25"/>
  </p:sldIdLst>
  <p:sldSz cx="6858000" cy="51435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03" autoAdjust="0"/>
    <p:restoredTop sz="93449" autoAdjust="0"/>
  </p:normalViewPr>
  <p:slideViewPr>
    <p:cSldViewPr>
      <p:cViewPr varScale="1">
        <p:scale>
          <a:sx n="121" d="100"/>
          <a:sy n="121" d="100"/>
        </p:scale>
        <p:origin x="1412" y="76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21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883B67AE-6777-4CCB-BA12-4C28CDEF475D}" type="datetimeFigureOut">
              <a:rPr lang="zh-CN" altLang="en-US"/>
              <a:pPr>
                <a:defRPr/>
              </a:pPr>
              <a:t>2024/10/20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540E90-C8FC-4078-89A6-E22944E6CF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303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4" name="Rectangle 63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等线" pitchFamily="2" charset="-122"/>
                <a:sym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49215" name="Rectangle 639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等线" pitchFamily="2" charset="-122"/>
                <a:sym typeface="Arial" charset="0"/>
              </a:defRPr>
            </a:lvl1pPr>
          </a:lstStyle>
          <a:p>
            <a:pPr>
              <a:defRPr/>
            </a:pPr>
            <a:fld id="{0411A523-F7CA-463F-B68A-847FBAD008D1}" type="datetime1">
              <a:rPr lang="zh-CN" altLang="en-US"/>
              <a:pPr>
                <a:defRPr/>
              </a:pPr>
              <a:t>2024/10/20</a:t>
            </a:fld>
            <a:endParaRPr lang="zh-CN" altLang="en-US"/>
          </a:p>
        </p:txBody>
      </p:sp>
      <p:sp>
        <p:nvSpPr>
          <p:cNvPr id="16388" name="Rectangle 640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9217" name="Rectangle 64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编辑母版文本样式</a:t>
            </a:r>
            <a:endParaRPr lang="en-US" altLang="en-US" noProof="0"/>
          </a:p>
          <a:p>
            <a:pPr lvl="0"/>
            <a:r>
              <a:rPr lang="zh-CN" altLang="en-US" noProof="0"/>
              <a:t>第二级</a:t>
            </a:r>
            <a:endParaRPr lang="en-US" altLang="en-US" noProof="0"/>
          </a:p>
          <a:p>
            <a:pPr lvl="0"/>
            <a:r>
              <a:rPr lang="zh-CN" altLang="en-US" noProof="0"/>
              <a:t>第三级</a:t>
            </a:r>
            <a:endParaRPr lang="en-US" altLang="en-US" noProof="0"/>
          </a:p>
          <a:p>
            <a:pPr lvl="0"/>
            <a:r>
              <a:rPr lang="zh-CN" altLang="en-US" noProof="0"/>
              <a:t>第四级</a:t>
            </a:r>
            <a:endParaRPr lang="en-US" altLang="en-US" noProof="0"/>
          </a:p>
          <a:p>
            <a:pPr lvl="0"/>
            <a:r>
              <a:rPr lang="zh-CN" altLang="en-US" noProof="0"/>
              <a:t>第五级</a:t>
            </a:r>
            <a:endParaRPr lang="en-US" altLang="en-US" noProof="0"/>
          </a:p>
        </p:txBody>
      </p:sp>
      <p:sp>
        <p:nvSpPr>
          <p:cNvPr id="1049218" name="Rectangle 64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等线" pitchFamily="2" charset="-122"/>
                <a:sym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49219" name="Rectangle 64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5EC50BC3-C1C8-450E-8F54-C2741606F8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86971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411A523-F7CA-463F-B68A-847FBAD008D1}" type="datetime1">
              <a:rPr lang="zh-CN" altLang="en-US" smtClean="0"/>
              <a:pPr>
                <a:defRPr/>
              </a:pPr>
              <a:t>2024/10/20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C50BC3-C1C8-450E-8F54-C2741606F85F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18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8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04CD1D8-8F50-4C7D-9224-4507218D30AA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  <a:sym typeface="Arial" panose="020B0604020202020204" pitchFamily="34" charset="0"/>
              </a:rPr>
              <a:pPr>
                <a:spcBef>
                  <a:spcPct val="0"/>
                </a:spcBef>
              </a:p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458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9FDFF7-F86D-47AA-AC9F-B4D67538646C}" type="slidenum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pPr>
                <a:spcBef>
                  <a:spcPct val="0"/>
                </a:spcBef>
              </a:pPr>
              <a:t>5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662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F177D0-3E02-43CA-8E0C-9B9253ED4929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  <a:sym typeface="Arial" panose="020B0604020202020204" pitchFamily="34" charset="0"/>
              </a:rPr>
              <a:pPr>
                <a:spcBef>
                  <a:spcPct val="0"/>
                </a:spcBef>
              </a:p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662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E428E4F-5736-4EDB-A84B-EA9C4C68ACF0}" type="slidenum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pPr>
                <a:spcBef>
                  <a:spcPct val="0"/>
                </a:spcBef>
              </a:pPr>
              <a:t>6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6581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67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4AF662-FB2E-4464-836B-B130B57545CF}" type="datetime1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  <a:sym typeface="Arial" panose="020B0604020202020204" pitchFamily="34" charset="0"/>
              </a:rPr>
              <a:pPr>
                <a:spcBef>
                  <a:spcPct val="0"/>
                </a:spcBef>
              </a:pPr>
              <a:t>2024/10/20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2867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286969-E4D3-4073-97D4-8DCE01E2E7F7}" type="slidenum">
              <a:rPr lang="zh-CN" altLang="en-US" smtClean="0">
                <a:solidFill>
                  <a:srgbClr val="000000"/>
                </a:solidFill>
                <a:ea typeface="等线" panose="02010600030101010101" pitchFamily="2" charset="-122"/>
              </a:rPr>
              <a:pPr>
                <a:spcBef>
                  <a:spcPct val="0"/>
                </a:spcBef>
              </a:pPr>
              <a:t>7</a:t>
            </a:fld>
            <a:endParaRPr lang="zh-CN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6B8E4-780E-48A0-A408-562DD4C4EDF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1849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E1A18-F767-4E04-9B55-A2389E9A619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49511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2925B-5E07-4478-9267-B07B80960A6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1201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FADA3-14F9-418D-830E-39C31931EDA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3720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197A1-0FF5-4EEB-A4F5-034120C8DF0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2776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F53E5-DA27-46CB-9BF3-21FAAB299B1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068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3D08E-376E-4011-A477-AD33A29D26F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0613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2E03C-8672-4835-AC14-BEB275726FE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6344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DB28B-1293-480D-B667-88344AC7240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3394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3102B-B5CE-43B8-9BA2-A0BA75C1AB8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2176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8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38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C88E6-9F79-42AA-8DBB-08B23C5605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38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75862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373D8-BBE1-4FD5-87E5-09B5EC24FF8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7424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5985" y="1047750"/>
            <a:ext cx="6172200" cy="3714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A7A70-62E0-4ABB-87E5-756166F87E8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78090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D435D-6414-4899-B833-46BBF2ED968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68779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B6C7B-76F8-4C54-92C8-4C8FF92DC7F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70811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EE3CF-29BB-415B-B4AB-8D6F4898FBB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67982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F78BB-6D1C-4B54-96E4-CC836D3B93D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2391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C0AEC-2601-42BB-9B8F-44156224008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825553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C2A0E2-55B9-43A3-8625-B22D8949D33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668013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DF068-20F6-4AA8-9A1B-E909F4B638D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1478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5985" y="1047750"/>
            <a:ext cx="6172200" cy="37147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A2CE8-0D57-458B-A8BD-C53D6DCCCE6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4823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9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67F75-BFC6-4205-9B22-EBC3B371424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0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23847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CD56B-71AA-45AC-B4EC-EC75C07D43C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0351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40EAE-60DE-4B0E-80A7-C6078FB0E0E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71952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11FC8-5127-4077-BF8C-41130FAB1D5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15058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ED39A-1456-4D40-8B9D-87018A861EF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36867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92F2A9-F21C-4066-A530-01090B88DC0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37658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F08BC-030B-4C08-B01D-2334BBB068C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959774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1C4BC-7B79-4C38-9E91-1B976AEF2FD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48879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84E87-A7D6-45D8-A419-35D820604BC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12504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5304E-ED34-4F7E-A642-F5E1E5BC5E7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45714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B8318-9EB9-4762-8F94-B197255C019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048579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781E0-0375-4DBA-AEAC-7CF05AFC3F9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379785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86963-3087-4837-A8ED-EA2E156E0CE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373171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8E203-4F94-40E1-BCFE-76D467E7930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01687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61907-8453-431B-BAC5-291A03B55DB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7268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42670-300A-4DF3-B066-F38CFBBAABE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978027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E7572-463B-4EE6-9B80-F727D2EEC13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490081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06C07-7AAD-45D8-9EB8-20E85541F44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8717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15A6E-FFA9-48CA-B306-70D03404FA8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905376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79688-B51D-4231-A42E-42028C7B8B2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170427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7327D-7A43-4014-8332-49B7C8DCAB7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148685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20CCD-1F51-4189-8FFD-5CE8F13D8DD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72069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7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7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111DE-C70C-4F56-B27A-D3286047FB6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57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543741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FC05F-48FF-4A38-A228-E7F575D00BB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785494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C80F8-28EC-4F6C-8EA9-6B496F2CB22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36038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A0F80-4268-4897-8BD4-6B10AA4213B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895106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687F1-89F9-4112-B144-9BDBCEC38AD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357156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DD95C-0652-4E7A-86A4-4057530A4AF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785206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5C4F8-7C6D-47D2-BD98-45135D93728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32217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6AE72-4DDF-4E4B-86C6-3B6B3E96362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390800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AFB76-C1E7-4209-9774-6734BEC2887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237538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04ECF-89D7-4F58-807F-37854EA32C0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673786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AC8E2-FC57-4A9F-BF10-59B89320586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7050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0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87EA9-28DA-4068-8B20-6B298D89406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61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590852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EA149-8A08-434A-B916-72613B18262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677147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5F4C4-74EE-44F6-9D42-0E57DB20ABD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633306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F6061-A1B5-4A89-A39F-A40B29C4939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311455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1B947A-B5A0-437E-B611-0705626382B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418511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6436F-0B2D-4EDA-B2BF-EB31F295EBC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882809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30642-44A7-427A-B2A4-9A1006517CE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152909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4F197-C0FF-4C5A-8A1E-50C66560F5A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17415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BC76B-76B6-4283-AF61-CC107E75B5B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8130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AF6C4-EF1C-4FF5-9D0D-FE032C3A12C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186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29604-A726-4F6A-AEA0-F1B4ECA5370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01621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9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9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1E7BE-4F3F-4786-9A9D-F5271858F89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9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994867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53498-013B-429B-8CAA-E1C11CC7291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63689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4AAEB-A693-4007-94FD-8C8276EFFD5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422881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DED9C-683D-49CC-A7D5-4EF5DD2E5EE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0186459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A481B-999C-4E56-B65D-08F8ABBC04C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115836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4C21FA-5C4C-444A-AE5B-9A5BB31593C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63082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33305-89C8-4727-8383-A9060A54B62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0918140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CC2E9-1DF7-48F6-97FB-702A786C09F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606898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580B9D-5F0C-4483-A99F-2E3C4996EA8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179579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0163B-346A-4CFA-B48E-DB54A866989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274669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4065A-39BA-49C1-9255-578D24E191C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31602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1CF88-EBC1-44BF-9CFD-A35475CCB78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3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94747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BE1E89-59AA-4D5A-B4C2-630024D070F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617646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03493-7C22-41E8-BAA8-F6F5D4752E8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733042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9BC97-2D3D-4CDD-A55F-9B5FDAB90A4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033358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AA451-67C8-4B9D-A933-87C95260D7F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638901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67127-9791-4765-B1ED-683560172D4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0864795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DE38E-C7BD-47B2-B7ED-A92CE8DC9FE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5368088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21A4D-69E8-40F5-BFAE-F32404E7663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6853591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B8B99-B31B-44B2-8967-6D23766E4C2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6853851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1B1BB-EF76-4846-BF4F-75A984AD131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2957774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5C683-C4DE-4FBB-BDEB-7E4ACF76424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182707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7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D637E-B553-4203-97C9-EC821535672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133988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34772-8B2D-4094-9009-0200288D0C2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417084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80150-E651-4BA9-91C3-27E87E71023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1786791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8C12E-F2D6-4E4D-B325-D5BB8A7FC4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9694054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C7150-81B4-4524-BB94-503BA2DB106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8078346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79EED-B360-41F6-B46E-D6180185FDB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5542327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8E3B7-9378-4CA8-AC1D-F0DE0EA97AF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7778259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A0400-DD3D-45FE-B4B8-FE42ABD0AD5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2940338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42562-49B7-40C5-8735-506E852F40D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9761272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E3A85-DE28-45A8-8149-1AB5D6BD592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552649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C61AA-247D-4888-B818-46A182D63E7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2051234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76D9F-6491-468E-8A67-6B2331CED3E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4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30274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0E143-739C-4221-9E11-CF02A43F3D9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363056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1AB4E-7A80-4E99-8415-12324AB0D8C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2939226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54519-F4D1-43BF-9A46-7E93CC55664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8143988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EB40C-EA27-4627-8771-471573F4AB2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449178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B2805-C69A-40B5-A254-C79F18B71D4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9904732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9F73E-69DB-4D7C-BAB6-B29DECD7584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732511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59377-FF5A-4117-879A-CFB99CEB1CD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3361457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02CB4-1EF9-4189-BFD4-10EEA605B34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3266002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D925E-F80D-412A-81B8-163EB7669D3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2893733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08448-6642-4F36-A14C-9C7486CBAD9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403857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5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ACB20-97A7-433F-AA0C-CB11F26B085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5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0639192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F6B6EE-EEB0-4AF6-9419-DD6E80562C7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997625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5DE0E7-C649-4EC4-900B-505BF2CA112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9677409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FC3A1-B8B5-424F-8AEC-06DC4978C71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142292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DD530-4382-4976-88A4-3EB4335E1A9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069724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84D154-591B-4F87-9FC8-BC6415A3D87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3681353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80A56-6C21-47BC-A022-515257F464F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6972720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C44E8-2706-42E0-82D9-2C2B84A5C22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4403007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4E164-9A8D-4E62-96B2-A739DA061FA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9371832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97ADA-F2BD-4431-A698-2F7C8695680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4359105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23D74-34E3-43C5-A87E-CBB4AA7634D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419824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BAD42-9AA4-4CB2-A1A8-E8D7A087D3B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2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8642862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13CB0-A38A-44BC-A2C7-23B3904E143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450047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3642C-5E4F-4051-B0B9-C01E448482B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293167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27337-3D4F-422D-AD07-24999279C79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3683731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3ABF9-8F14-4408-9648-69B6F39DF97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374701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E3C7A-1D09-48F6-9AF8-538D87CF1FD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2837456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A58F7-1EE4-44C1-8173-83B8E554106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496542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85380-220B-4CE1-B02A-66167CFC03F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2935614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A3191-B7CB-455A-9D08-31E0AFD5ED1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282134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DC1D8-EEA2-4F3E-A2FA-2C7D289EC86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9072471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05B1C-01C1-421D-BB9F-E5488582DF4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5752317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2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2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0E29FB-9634-4990-8FBC-80321D734F3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32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7316421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DEBA2-5502-4AF5-9274-928B24BC42F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2153409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BAADB-4ACB-4EC2-A047-F936D0BC8AF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0877038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90CDC-337D-42C9-9672-AFFCC84CC30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5647552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0079D-8F9C-4426-8AD7-51C3F87DFEB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239166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EA43A-6652-42E5-924F-CDAB4BE0407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728792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EC6A8-7C14-40E1-B182-0E8A752A5FE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168104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B20C-DB3D-4D53-9E81-7E67960A8CD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6561507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08045-0BFF-4A0F-B0F4-02235C9205B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920232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BF798-D739-4402-8EEA-E3202728E8A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6615113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C48C5-014A-4176-B669-2A2D230219C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419362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8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29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06774-9FBD-4B3C-88B4-DC2E90B94E4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92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9893508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3979E-AB07-408B-90D6-7C117AD238F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023898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92D73-1C61-4BAD-A2D7-A79EB800ACE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2839734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58303-0294-4F60-8C46-E33C895ADFE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5972506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D691C-BD3B-42A2-9A6E-A06F013A328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6263655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ABCB8-4ADD-4203-A9A5-8CCA3C16C9C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7938153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D9959-93B4-46E8-A205-E7C0B40E56A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584775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4768F-5278-4C7B-A549-1819DFE5B51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519943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BBD25-40E5-44E5-8205-9102F39859B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871020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0CE623-7BAF-4533-B66F-4F64F027B15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5096811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73EA8-4E5A-4E68-B6E8-D25AA1B163F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503435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8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92F10-C81B-45F3-A876-0A332079452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8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6296098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8614"/>
            <a:ext cx="58293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4E26F-5275-4A7F-A64A-065A6EFCC62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1863373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F28C4-7F2B-4816-A4D8-51D274DF992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1573649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5"/>
            <a:ext cx="5829300" cy="10223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79639"/>
            <a:ext cx="5829300" cy="112553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FFEC2-4B1F-494C-B933-308516A8099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689085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914400"/>
            <a:ext cx="3028950" cy="3714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ED6B2-093C-41C7-925E-19A66937DE4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332423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6375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0938"/>
            <a:ext cx="303014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951"/>
            <a:ext cx="303014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1150938"/>
            <a:ext cx="3031331" cy="481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1631951"/>
            <a:ext cx="3031331" cy="2962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01773-8347-4B91-B605-DAB63F8CAA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10696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29043-0268-4FCB-A3D6-6C58D975504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6254281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256A8-0DA9-40B4-A46E-69909D9B102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4024027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204789"/>
            <a:ext cx="2256235" cy="87153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076325"/>
            <a:ext cx="2256235" cy="35179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DC0D3-BBB2-4248-BD2E-4EB939059A9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8205484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4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60375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900"/>
            <a:ext cx="4114800" cy="60325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62871-2BBB-4F36-832C-2A33E24536E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335908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AECEF-7B8B-4F56-B51A-173772F3E5F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901714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171450"/>
            <a:ext cx="1543050" cy="4457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71450"/>
            <a:ext cx="4514850" cy="4457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98FE8-4528-46C2-82EF-C524809693D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184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oleObject" Target="../embeddings/oleObject4.bin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oleObject" Target="../embeddings/oleObject7.bin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oleObject" Target="../embeddings/oleObject8.bin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oleObject" Target="../embeddings/oleObject9.bin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oleObject" Target="../embeddings/oleObject10.bin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oleObject" Target="../embeddings/oleObject11.bin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oleObject" Target="../embeddings/oleObject12.bin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oleObject" Target="../embeddings/oleObject14.bin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oleObject" Target="../embeddings/oleObject15.bin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377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Freeform 1378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8" name="Object 207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1379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1380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Rectangle 138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34" name="Rectangle 138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35" name="Rectangle 138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914040F1-E088-446F-A87B-C759C42DEFB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034" name="Rectangle 1384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37" name="Rectangle 138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1386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7" name="Picture 207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3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9"/>
          <p:cNvGraphicFramePr>
            <a:graphicFrameLocks noChangeAspect="1"/>
          </p:cNvGraphicFramePr>
          <p:nvPr/>
        </p:nvGraphicFramePr>
        <p:xfrm>
          <a:off x="-2381" y="-9525"/>
          <a:ext cx="3312319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3415873" imgH="4546032" progId="Photoshop.Image.6">
                  <p:embed/>
                </p:oleObj>
              </mc:Choice>
              <mc:Fallback>
                <p:oleObj name="Image" r:id="rId13" imgW="3415873" imgH="4546032" progId="Photoshop.Image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381" y="-9525"/>
                        <a:ext cx="3312319" cy="440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Freeform 90"/>
          <p:cNvSpPr>
            <a:spLocks noChangeArrowheads="1"/>
          </p:cNvSpPr>
          <p:nvPr/>
        </p:nvSpPr>
        <p:spPr bwMode="auto">
          <a:xfrm>
            <a:off x="1679973" y="-11113"/>
            <a:ext cx="5187553" cy="5154613"/>
          </a:xfrm>
          <a:custGeom>
            <a:avLst/>
            <a:gdLst>
              <a:gd name="T0" fmla="*/ 2147483646 w 4357"/>
              <a:gd name="T1" fmla="*/ 0 h 4330"/>
              <a:gd name="T2" fmla="*/ 2147483646 w 4357"/>
              <a:gd name="T3" fmla="*/ 2147483646 h 4330"/>
              <a:gd name="T4" fmla="*/ 2147483646 w 4357"/>
              <a:gd name="T5" fmla="*/ 2147483646 h 4330"/>
              <a:gd name="T6" fmla="*/ 2147483646 w 4357"/>
              <a:gd name="T7" fmla="*/ 2147483646 h 4330"/>
              <a:gd name="T8" fmla="*/ 2147483646 w 4357"/>
              <a:gd name="T9" fmla="*/ 2147483646 h 4330"/>
              <a:gd name="T10" fmla="*/ 2147483646 w 4357"/>
              <a:gd name="T11" fmla="*/ 2147483646 h 4330"/>
              <a:gd name="T12" fmla="*/ 0 w 4357"/>
              <a:gd name="T13" fmla="*/ 2147483646 h 4330"/>
              <a:gd name="T14" fmla="*/ 2147483646 w 4357"/>
              <a:gd name="T15" fmla="*/ 2147483646 h 4330"/>
              <a:gd name="T16" fmla="*/ 2147483646 w 4357"/>
              <a:gd name="T17" fmla="*/ 2147483646 h 4330"/>
              <a:gd name="T18" fmla="*/ 2147483646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</a:path>
            </a:pathLst>
          </a:custGeom>
          <a:gradFill rotWithShape="1">
            <a:gsLst>
              <a:gs pos="0">
                <a:srgbClr val="5AB7EA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" name="Freeform 92"/>
          <p:cNvSpPr>
            <a:spLocks noChangeArrowheads="1"/>
          </p:cNvSpPr>
          <p:nvPr/>
        </p:nvSpPr>
        <p:spPr bwMode="auto">
          <a:xfrm>
            <a:off x="-5954" y="3346451"/>
            <a:ext cx="3092054" cy="1776413"/>
          </a:xfrm>
          <a:custGeom>
            <a:avLst/>
            <a:gdLst>
              <a:gd name="T0" fmla="*/ 0 w 2597"/>
              <a:gd name="T1" fmla="*/ 2147483646 h 1492"/>
              <a:gd name="T2" fmla="*/ 2147483646 w 2597"/>
              <a:gd name="T3" fmla="*/ 2147483646 h 1492"/>
              <a:gd name="T4" fmla="*/ 2147483646 w 2597"/>
              <a:gd name="T5" fmla="*/ 0 h 1492"/>
              <a:gd name="T6" fmla="*/ 2147483646 w 2597"/>
              <a:gd name="T7" fmla="*/ 2147483646 h 1492"/>
              <a:gd name="T8" fmla="*/ 2147483646 w 2597"/>
              <a:gd name="T9" fmla="*/ 2147483646 h 1492"/>
              <a:gd name="T10" fmla="*/ 2147483646 w 2597"/>
              <a:gd name="T11" fmla="*/ 2147483646 h 1492"/>
              <a:gd name="T12" fmla="*/ 0 w 2597"/>
              <a:gd name="T13" fmla="*/ 2147483646 h 1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</a:path>
            </a:pathLst>
          </a:custGeom>
          <a:gradFill rotWithShape="1">
            <a:gsLst>
              <a:gs pos="0">
                <a:srgbClr val="363636"/>
              </a:gs>
              <a:gs pos="100000">
                <a:srgbClr val="DDDDDD"/>
              </a:gs>
              <a:gs pos="100000">
                <a:srgbClr val="DDDDDD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Freeform 93"/>
          <p:cNvSpPr>
            <a:spLocks noChangeArrowheads="1"/>
          </p:cNvSpPr>
          <p:nvPr/>
        </p:nvSpPr>
        <p:spPr bwMode="auto">
          <a:xfrm>
            <a:off x="-9525" y="3113088"/>
            <a:ext cx="3114675" cy="2030412"/>
          </a:xfrm>
          <a:custGeom>
            <a:avLst/>
            <a:gdLst>
              <a:gd name="T0" fmla="*/ 0 w 2576"/>
              <a:gd name="T1" fmla="*/ 2147483646 h 1688"/>
              <a:gd name="T2" fmla="*/ 0 w 2576"/>
              <a:gd name="T3" fmla="*/ 2147483646 h 1688"/>
              <a:gd name="T4" fmla="*/ 2147483646 w 2576"/>
              <a:gd name="T5" fmla="*/ 0 h 1688"/>
              <a:gd name="T6" fmla="*/ 2147483646 w 2576"/>
              <a:gd name="T7" fmla="*/ 2147483646 h 1688"/>
              <a:gd name="T8" fmla="*/ 2147483646 w 2576"/>
              <a:gd name="T9" fmla="*/ 2147483646 h 1688"/>
              <a:gd name="T10" fmla="*/ 0 w 2576"/>
              <a:gd name="T11" fmla="*/ 2147483646 h 16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155650"/>
              </a:gs>
              <a:gs pos="100000">
                <a:srgbClr val="15565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Rectangle 94"/>
          <p:cNvSpPr>
            <a:spLocks noChangeArrowheads="1"/>
          </p:cNvSpPr>
          <p:nvPr/>
        </p:nvSpPr>
        <p:spPr bwMode="auto">
          <a:xfrm>
            <a:off x="3213498" y="2951163"/>
            <a:ext cx="3644503" cy="323850"/>
          </a:xfrm>
          <a:prstGeom prst="rect">
            <a:avLst/>
          </a:prstGeom>
          <a:solidFill>
            <a:srgbClr val="5AB7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" name="Line 95"/>
          <p:cNvSpPr>
            <a:spLocks noChangeShapeType="1"/>
          </p:cNvSpPr>
          <p:nvPr/>
        </p:nvSpPr>
        <p:spPr bwMode="auto">
          <a:xfrm>
            <a:off x="3223023" y="2952750"/>
            <a:ext cx="36445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" name="Line 96"/>
          <p:cNvSpPr>
            <a:spLocks noChangeShapeType="1"/>
          </p:cNvSpPr>
          <p:nvPr/>
        </p:nvSpPr>
        <p:spPr bwMode="auto">
          <a:xfrm>
            <a:off x="3213498" y="3275013"/>
            <a:ext cx="36445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7" name="Picture 10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241" y="4624389"/>
            <a:ext cx="452438" cy="454025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19" y="4678363"/>
            <a:ext cx="1614488" cy="392112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8674" name="Rectangle 9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675" name="Rectangle 9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A83E8FDA-D501-4D3A-9330-303EC263605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2061" name="Rectangle 100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677" name="Rectangle 10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63" name="Freeform 91"/>
          <p:cNvSpPr>
            <a:spLocks noChangeArrowheads="1"/>
          </p:cNvSpPr>
          <p:nvPr/>
        </p:nvSpPr>
        <p:spPr bwMode="auto">
          <a:xfrm>
            <a:off x="689372" y="1"/>
            <a:ext cx="2847975" cy="5153025"/>
          </a:xfrm>
          <a:custGeom>
            <a:avLst/>
            <a:gdLst>
              <a:gd name="T0" fmla="*/ 2147483646 w 2408"/>
              <a:gd name="T1" fmla="*/ 0 h 4334"/>
              <a:gd name="T2" fmla="*/ 2147483646 w 2408"/>
              <a:gd name="T3" fmla="*/ 2147483646 h 4334"/>
              <a:gd name="T4" fmla="*/ 0 w 2408"/>
              <a:gd name="T5" fmla="*/ 2147483646 h 4334"/>
              <a:gd name="T6" fmla="*/ 2147483646 w 2408"/>
              <a:gd name="T7" fmla="*/ 2147483646 h 4334"/>
              <a:gd name="T8" fmla="*/ 2147483646 w 2408"/>
              <a:gd name="T9" fmla="*/ 2147483646 h 4334"/>
              <a:gd name="T10" fmla="*/ 2147483646 w 2408"/>
              <a:gd name="T11" fmla="*/ 2147483646 h 4334"/>
              <a:gd name="T12" fmla="*/ 2147483646 w 2408"/>
              <a:gd name="T13" fmla="*/ 0 h 43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</a:path>
            </a:pathLst>
          </a:custGeom>
          <a:gradFill rotWithShape="1">
            <a:gsLst>
              <a:gs pos="0">
                <a:srgbClr val="E9F3C8"/>
              </a:gs>
              <a:gs pos="100000">
                <a:srgbClr val="AED337"/>
              </a:gs>
              <a:gs pos="100000">
                <a:srgbClr val="AED33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0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Freeform 1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6" name="Object 0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Freeform 2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8" name="Freeform 3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9" name="Freeform 4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80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641" y="4754563"/>
            <a:ext cx="112990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5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69C87E37-4397-4384-A358-DBBF2E9B6D5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308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8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56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" name="Freeform 56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00" name="Object 3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Freeform 57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Freeform 57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3" name="Freeform 57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4" name="Rectangle 57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150" name="Rectangle 57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151" name="Rectangle 57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6C3DD1BC-EF56-4985-9915-3EC54B35823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107" name="Rectangle 57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153" name="Rectangle 57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4109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4784725"/>
            <a:ext cx="1129904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reeform 60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" name="Freeform 60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4" name="Object 35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Freeform 60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Freeform 60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Freeform 60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8" name="Rectangle 60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185" name="Rectangle 6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186" name="Rectangle 6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2D6DF20D-00C7-46F6-86BF-97B3C2710B9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131" name="Rectangle 61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188" name="Rectangle 6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5133" name="Picture 1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4770438"/>
            <a:ext cx="1129904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38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Freeform 38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48" name="Object 27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Freeform 39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Freeform 39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Freeform 39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2" name="Rectangle 39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70" name="Rectangle 39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71" name="Rectangle 39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4A2F68AC-ADB9-4F87-8A56-02ED76087BE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155" name="Rectangle 39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73" name="Rectangle 39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reeform 42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" name="Freeform 42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172" name="Object 2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Freeform 42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Freeform 42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5" name="Freeform 42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6" name="Rectangle 4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005" name="Rectangle 4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006" name="Rectangle 4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9ADD9EDA-59C4-411E-B6A0-A242F5F55AB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179" name="Rectangle 43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008" name="Rectangle 4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reeform 65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" name="Freeform 66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Freeform 67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Freeform 68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Freeform 69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Rectangle 7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647" name="Rectangle 7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648" name="Rectangle 7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F5A590F0-81C0-4FBF-851F-DFC6F07D92F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8203" name="Rectangle 73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650" name="Rectangle 7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48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" name="Freeform 48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20" name="Object 31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reeform 48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Freeform 48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Freeform 48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Rectangle 48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9065" name="Rectangle 48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9066" name="Rectangle 49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D85F4AFC-801D-4A43-8FF1-34E8C50CD59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227" name="Rectangle 49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9068" name="Rectangle 49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24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3" name="Freeform 24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4" name="Object 19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Freeform 25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Freeform 25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7" name="Freeform 25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Rectangle 2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830" name="Rectangle 25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831" name="Rectangle 2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046E7CED-A842-457A-AD96-F57C1AB1922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0251" name="Rectangle 25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833" name="Rectangle 25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1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7" name="Freeform 21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268" name="Object 17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Freeform 21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0" name="Freeform 21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1" name="Freeform 21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Rectangle 2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795" name="Rectangle 2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796" name="Rectangle 2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302E7A43-0E1B-485B-B06C-E9B7196BC08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1275" name="Rectangle 22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798" name="Rectangle 2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reeform 31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" name="Freeform 31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2" name="Object 23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Freeform 32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" name="Freeform 32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" name="Freeform 32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" name="Rectangle 3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900" name="Rectangle 3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901" name="Rectangle 3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252678A4-D4B3-4119-816D-3DDF026F48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2299" name="Rectangle 32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903" name="Rectangle 3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reeform 283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" name="Freeform 284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316" name="Object 21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Freeform 285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8" name="Freeform 286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9" name="Freeform 287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0" name="Rectangle 28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865" name="Rectangle 28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866" name="Rectangle 29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0F6C14F0-5F8B-4217-9DD0-17F6AA58189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3323" name="Rectangle 29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868" name="Rectangle 29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178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9" name="Freeform 179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40" name="Object 15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Freeform 180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Freeform 181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Freeform 182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4" name="Picture 1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3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Rectangle 1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760" name="Rectangle 18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761" name="Rectangle 18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743467E9-1891-4F6F-8E76-8952DCF972D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4348" name="Rectangle 186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763" name="Rectangle 18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reeform 12"/>
          <p:cNvSpPr>
            <a:spLocks noChangeArrowheads="1"/>
          </p:cNvSpPr>
          <p:nvPr/>
        </p:nvSpPr>
        <p:spPr bwMode="auto">
          <a:xfrm>
            <a:off x="-1191" y="4810126"/>
            <a:ext cx="3153966" cy="333375"/>
          </a:xfrm>
          <a:custGeom>
            <a:avLst/>
            <a:gdLst>
              <a:gd name="T0" fmla="*/ 2147483646 w 2649"/>
              <a:gd name="T1" fmla="*/ 2147483646 h 280"/>
              <a:gd name="T2" fmla="*/ 2147483646 w 2649"/>
              <a:gd name="T3" fmla="*/ 2147483646 h 280"/>
              <a:gd name="T4" fmla="*/ 2147483646 w 2649"/>
              <a:gd name="T5" fmla="*/ 0 h 280"/>
              <a:gd name="T6" fmla="*/ 0 w 2649"/>
              <a:gd name="T7" fmla="*/ 2147483646 h 280"/>
              <a:gd name="T8" fmla="*/ 2147483646 w 2649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3" name="Freeform 13"/>
          <p:cNvSpPr>
            <a:spLocks noChangeArrowheads="1"/>
          </p:cNvSpPr>
          <p:nvPr/>
        </p:nvSpPr>
        <p:spPr bwMode="auto">
          <a:xfrm>
            <a:off x="3699273" y="4752976"/>
            <a:ext cx="3158728" cy="390525"/>
          </a:xfrm>
          <a:custGeom>
            <a:avLst/>
            <a:gdLst>
              <a:gd name="T0" fmla="*/ 0 w 2653"/>
              <a:gd name="T1" fmla="*/ 2147483646 h 328"/>
              <a:gd name="T2" fmla="*/ 2147483646 w 2653"/>
              <a:gd name="T3" fmla="*/ 2147483646 h 328"/>
              <a:gd name="T4" fmla="*/ 2147483646 w 2653"/>
              <a:gd name="T5" fmla="*/ 0 h 328"/>
              <a:gd name="T6" fmla="*/ 2147483646 w 2653"/>
              <a:gd name="T7" fmla="*/ 2147483646 h 328"/>
              <a:gd name="T8" fmla="*/ 0 w 2653"/>
              <a:gd name="T9" fmla="*/ 2147483646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</a:path>
            </a:pathLst>
          </a:custGeom>
          <a:gradFill rotWithShape="1">
            <a:gsLst>
              <a:gs pos="0">
                <a:srgbClr val="2EBAAD"/>
              </a:gs>
              <a:gs pos="100000">
                <a:srgbClr val="5AB7EA"/>
              </a:gs>
              <a:gs pos="100000">
                <a:srgbClr val="5AB7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364" name="Object 2"/>
          <p:cNvGraphicFramePr>
            <a:graphicFrameLocks noChangeAspect="1"/>
          </p:cNvGraphicFramePr>
          <p:nvPr/>
        </p:nvGraphicFramePr>
        <p:xfrm>
          <a:off x="0" y="0"/>
          <a:ext cx="685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101587" imgH="406063" progId="Photoshop.Image.6">
                  <p:embed/>
                </p:oleObj>
              </mc:Choice>
              <mc:Fallback>
                <p:oleObj name="Image" r:id="rId13" imgW="4101587" imgH="406063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85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Freeform 14"/>
          <p:cNvSpPr>
            <a:spLocks noChangeArrowheads="1"/>
          </p:cNvSpPr>
          <p:nvPr/>
        </p:nvSpPr>
        <p:spPr bwMode="auto">
          <a:xfrm flipH="1">
            <a:off x="1" y="595314"/>
            <a:ext cx="2726531" cy="333375"/>
          </a:xfrm>
          <a:custGeom>
            <a:avLst/>
            <a:gdLst>
              <a:gd name="T0" fmla="*/ 0 w 2096"/>
              <a:gd name="T1" fmla="*/ 2147483646 h 280"/>
              <a:gd name="T2" fmla="*/ 2147483646 w 2096"/>
              <a:gd name="T3" fmla="*/ 2147483646 h 280"/>
              <a:gd name="T4" fmla="*/ 2147483646 w 2096"/>
              <a:gd name="T5" fmla="*/ 2147483646 h 280"/>
              <a:gd name="T6" fmla="*/ 2147483646 w 2096"/>
              <a:gd name="T7" fmla="*/ 0 h 280"/>
              <a:gd name="T8" fmla="*/ 0 w 2096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Freeform 15"/>
          <p:cNvSpPr>
            <a:spLocks noChangeArrowheads="1"/>
          </p:cNvSpPr>
          <p:nvPr/>
        </p:nvSpPr>
        <p:spPr bwMode="auto">
          <a:xfrm>
            <a:off x="0" y="0"/>
            <a:ext cx="6858000" cy="609600"/>
          </a:xfrm>
          <a:custGeom>
            <a:avLst/>
            <a:gdLst>
              <a:gd name="T0" fmla="*/ 0 w 5760"/>
              <a:gd name="T1" fmla="*/ 2147483646 h 512"/>
              <a:gd name="T2" fmla="*/ 2147483646 w 5760"/>
              <a:gd name="T3" fmla="*/ 2147483646 h 512"/>
              <a:gd name="T4" fmla="*/ 2147483646 w 5760"/>
              <a:gd name="T5" fmla="*/ 0 h 512"/>
              <a:gd name="T6" fmla="*/ 2147483646 w 5760"/>
              <a:gd name="T7" fmla="*/ 2147483646 h 512"/>
              <a:gd name="T8" fmla="*/ 0 w 5760"/>
              <a:gd name="T9" fmla="*/ 2147483646 h 512"/>
              <a:gd name="T10" fmla="*/ 0 w 5760"/>
              <a:gd name="T11" fmla="*/ 2147483646 h 5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</a:path>
            </a:pathLst>
          </a:custGeom>
          <a:gradFill rotWithShape="1">
            <a:gsLst>
              <a:gs pos="0">
                <a:srgbClr val="143DA2"/>
              </a:gs>
              <a:gs pos="50000">
                <a:srgbClr val="091C4B"/>
              </a:gs>
              <a:gs pos="100000">
                <a:srgbClr val="143DA2"/>
              </a:gs>
              <a:gs pos="100000">
                <a:srgbClr val="143DA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Freeform 16"/>
          <p:cNvSpPr>
            <a:spLocks noChangeArrowheads="1"/>
          </p:cNvSpPr>
          <p:nvPr/>
        </p:nvSpPr>
        <p:spPr bwMode="auto">
          <a:xfrm>
            <a:off x="3733800" y="600076"/>
            <a:ext cx="3124200" cy="333375"/>
          </a:xfrm>
          <a:custGeom>
            <a:avLst/>
            <a:gdLst>
              <a:gd name="T0" fmla="*/ 0 w 2624"/>
              <a:gd name="T1" fmla="*/ 2147483646 h 280"/>
              <a:gd name="T2" fmla="*/ 2147483646 w 2624"/>
              <a:gd name="T3" fmla="*/ 2147483646 h 280"/>
              <a:gd name="T4" fmla="*/ 2147483646 w 2624"/>
              <a:gd name="T5" fmla="*/ 2147483646 h 280"/>
              <a:gd name="T6" fmla="*/ 2147483646 w 2624"/>
              <a:gd name="T7" fmla="*/ 0 h 280"/>
              <a:gd name="T8" fmla="*/ 0 w 262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8" name="Picture 3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873" y="4948238"/>
            <a:ext cx="944165" cy="165100"/>
          </a:xfrm>
          <a:prstGeom prst="rect">
            <a:avLst/>
          </a:prstGeom>
          <a:noFill/>
          <a:ln>
            <a:noFill/>
          </a:ln>
          <a:effectLst>
            <a:outerShdw dist="38099" dir="2700128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14400"/>
            <a:ext cx="617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9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14950" y="4972050"/>
            <a:ext cx="14859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Arial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4859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86100" y="5029200"/>
            <a:ext cx="62865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 b="1" i="1">
                <a:solidFill>
                  <a:srgbClr val="692AA2"/>
                </a:solidFill>
              </a:defRPr>
            </a:lvl1pPr>
          </a:lstStyle>
          <a:p>
            <a:pPr>
              <a:defRPr/>
            </a:pPr>
            <a:fld id="{BB17BE4B-88B9-4427-9049-0E4F6F722DF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5372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97" name="Rectangle 2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750" y="4914901"/>
            <a:ext cx="1257300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 b="1" i="1">
                <a:solidFill>
                  <a:srgbClr val="FFFFFF"/>
                </a:solidFill>
                <a:latin typeface="Verdana" pitchFamily="34" charset="0"/>
                <a:ea typeface="+mn-ea"/>
                <a:sym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alibri Light" panose="020F0302020204030204" pitchFamily="34" charset="0"/>
          <a:ea typeface="宋体" charset="-122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Clr>
          <a:srgbClr val="AED337"/>
        </a:buClr>
        <a:buFont typeface="Wingdings" panose="05000000000000000000" pitchFamily="2" charset="2"/>
        <a:buChar char="v"/>
        <a:defRPr sz="2100" b="1">
          <a:solidFill>
            <a:srgbClr val="143DA2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Clr>
          <a:srgbClr val="EB592B"/>
        </a:buClr>
        <a:buFont typeface="Wingdings" panose="05000000000000000000" pitchFamily="2" charset="2"/>
        <a:buChar char="§"/>
        <a:defRPr sz="1800">
          <a:solidFill>
            <a:srgbClr val="000000"/>
          </a:solidFill>
          <a:latin typeface="Arial" charset="0"/>
          <a:ea typeface="+mn-ea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•"/>
        <a:defRPr sz="1650">
          <a:solidFill>
            <a:srgbClr val="000000"/>
          </a:solidFill>
          <a:latin typeface="Arial" charset="0"/>
          <a:ea typeface="+mn-ea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–"/>
        <a:defRPr sz="1500">
          <a:solidFill>
            <a:srgbClr val="000000"/>
          </a:solidFill>
          <a:latin typeface="Arial" charset="0"/>
          <a:ea typeface="+mn-ea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5pPr>
      <a:lvl6pPr marL="18859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6pPr>
      <a:lvl7pPr marL="22288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7pPr>
      <a:lvl8pPr marL="25717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8pPr>
      <a:lvl9pPr marL="2914650" indent="-171450" algn="l" rtl="0" fontAlgn="base" latinLnBrk="1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»"/>
        <a:defRPr sz="1500">
          <a:solidFill>
            <a:srgbClr val="000000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356992" y="2931790"/>
            <a:ext cx="3186113" cy="25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 eaLnBrk="1" latinLnBrk="0" hangingPunct="1"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18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积分器电路设计</a:t>
            </a:r>
            <a:endParaRPr lang="zh-CN" altLang="zh-CN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内    容</a:t>
            </a:r>
            <a:endParaRPr lang="zh-CN" altLang="zh-CN"/>
          </a:p>
        </p:txBody>
      </p:sp>
      <p:grpSp>
        <p:nvGrpSpPr>
          <p:cNvPr id="19459" name="Group -480"/>
          <p:cNvGrpSpPr>
            <a:grpSpLocks/>
          </p:cNvGrpSpPr>
          <p:nvPr/>
        </p:nvGrpSpPr>
        <p:grpSpPr bwMode="auto">
          <a:xfrm>
            <a:off x="1485900" y="1395416"/>
            <a:ext cx="5890022" cy="425947"/>
            <a:chOff x="1248" y="1199"/>
            <a:chExt cx="4947" cy="477"/>
          </a:xfrm>
        </p:grpSpPr>
        <p:grpSp>
          <p:nvGrpSpPr>
            <p:cNvPr id="19492" name="Group -478"/>
            <p:cNvGrpSpPr>
              <a:grpSpLocks/>
            </p:cNvGrpSpPr>
            <p:nvPr/>
          </p:nvGrpSpPr>
          <p:grpSpPr bwMode="auto">
            <a:xfrm>
              <a:off x="1248" y="1200"/>
              <a:ext cx="480" cy="419"/>
              <a:chOff x="1110" y="2656"/>
              <a:chExt cx="1549" cy="1351"/>
            </a:xfrm>
          </p:grpSpPr>
          <p:sp>
            <p:nvSpPr>
              <p:cNvPr id="19496" name="AutoShape 146"/>
              <p:cNvSpPr>
                <a:spLocks noChangeArrowheads="1"/>
              </p:cNvSpPr>
              <p:nvPr/>
            </p:nvSpPr>
            <p:spPr bwMode="auto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7" name="AutoShape 148"/>
              <p:cNvSpPr>
                <a:spLocks/>
              </p:cNvSpPr>
              <p:nvPr/>
            </p:nvSpPr>
            <p:spPr bwMode="auto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8" name="AutoShape 150"/>
              <p:cNvSpPr>
                <a:spLocks/>
              </p:cNvSpPr>
              <p:nvPr/>
            </p:nvSpPr>
            <p:spPr bwMode="auto">
              <a:xfrm>
                <a:off x="1200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091C4B"/>
                  </a:gs>
                  <a:gs pos="100000">
                    <a:srgbClr val="143DA2"/>
                  </a:gs>
                  <a:gs pos="100000">
                    <a:srgbClr val="143DA2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93" name="Line 152"/>
            <p:cNvSpPr>
              <a:spLocks noChangeShapeType="1"/>
            </p:cNvSpPr>
            <p:nvPr/>
          </p:nvSpPr>
          <p:spPr bwMode="auto">
            <a:xfrm>
              <a:off x="1632" y="1584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Rectangle 154"/>
            <p:cNvSpPr>
              <a:spLocks noChangeArrowheads="1"/>
            </p:cNvSpPr>
            <p:nvPr/>
          </p:nvSpPr>
          <p:spPr bwMode="auto">
            <a:xfrm>
              <a:off x="2269" y="1199"/>
              <a:ext cx="392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实验目的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5" name="Rectangle 156"/>
            <p:cNvSpPr>
              <a:spLocks noChangeArrowheads="1"/>
            </p:cNvSpPr>
            <p:nvPr/>
          </p:nvSpPr>
          <p:spPr bwMode="auto">
            <a:xfrm>
              <a:off x="1351" y="1262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1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0" name="Group -476"/>
          <p:cNvGrpSpPr>
            <a:grpSpLocks/>
          </p:cNvGrpSpPr>
          <p:nvPr/>
        </p:nvGrpSpPr>
        <p:grpSpPr bwMode="auto">
          <a:xfrm>
            <a:off x="1485900" y="1903810"/>
            <a:ext cx="5874544" cy="428625"/>
            <a:chOff x="1248" y="1769"/>
            <a:chExt cx="4934" cy="480"/>
          </a:xfrm>
        </p:grpSpPr>
        <p:grpSp>
          <p:nvGrpSpPr>
            <p:cNvPr id="19485" name="Group -474"/>
            <p:cNvGrpSpPr>
              <a:grpSpLocks/>
            </p:cNvGrpSpPr>
            <p:nvPr/>
          </p:nvGrpSpPr>
          <p:grpSpPr bwMode="auto">
            <a:xfrm>
              <a:off x="1248" y="1834"/>
              <a:ext cx="480" cy="415"/>
              <a:chOff x="3174" y="2845"/>
              <a:chExt cx="1549" cy="1338"/>
            </a:xfrm>
          </p:grpSpPr>
          <p:sp>
            <p:nvSpPr>
              <p:cNvPr id="19489" name="AutoShape 158"/>
              <p:cNvSpPr>
                <a:spLocks noChangeArrowheads="1"/>
              </p:cNvSpPr>
              <p:nvPr/>
            </p:nvSpPr>
            <p:spPr bwMode="auto">
              <a:xfrm>
                <a:off x="3187" y="284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0" name="AutoShape 160"/>
              <p:cNvSpPr>
                <a:spLocks/>
              </p:cNvSpPr>
              <p:nvPr/>
            </p:nvSpPr>
            <p:spPr bwMode="auto">
              <a:xfrm>
                <a:off x="3174" y="2855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91" name="AutoShape 162"/>
              <p:cNvSpPr>
                <a:spLocks/>
              </p:cNvSpPr>
              <p:nvPr/>
            </p:nvSpPr>
            <p:spPr bwMode="auto">
              <a:xfrm>
                <a:off x="3264" y="2906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86" name="Line 164"/>
            <p:cNvSpPr>
              <a:spLocks noChangeShapeType="1"/>
            </p:cNvSpPr>
            <p:nvPr/>
          </p:nvSpPr>
          <p:spPr bwMode="auto">
            <a:xfrm>
              <a:off x="1632" y="2160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Rectangle 166"/>
            <p:cNvSpPr>
              <a:spLocks noChangeArrowheads="1"/>
            </p:cNvSpPr>
            <p:nvPr/>
          </p:nvSpPr>
          <p:spPr bwMode="auto">
            <a:xfrm>
              <a:off x="2256" y="1769"/>
              <a:ext cx="392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实验原理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8" name="Rectangle 168"/>
            <p:cNvSpPr>
              <a:spLocks noChangeArrowheads="1"/>
            </p:cNvSpPr>
            <p:nvPr/>
          </p:nvSpPr>
          <p:spPr bwMode="auto">
            <a:xfrm>
              <a:off x="1351" y="1830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2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1" name="Group -472"/>
          <p:cNvGrpSpPr>
            <a:grpSpLocks/>
          </p:cNvGrpSpPr>
          <p:nvPr/>
        </p:nvGrpSpPr>
        <p:grpSpPr bwMode="auto">
          <a:xfrm>
            <a:off x="1485900" y="2470547"/>
            <a:ext cx="5601892" cy="444699"/>
            <a:chOff x="1248" y="2892"/>
            <a:chExt cx="4705" cy="498"/>
          </a:xfrm>
        </p:grpSpPr>
        <p:grpSp>
          <p:nvGrpSpPr>
            <p:cNvPr id="19478" name="Group -470"/>
            <p:cNvGrpSpPr>
              <a:grpSpLocks/>
            </p:cNvGrpSpPr>
            <p:nvPr/>
          </p:nvGrpSpPr>
          <p:grpSpPr bwMode="auto">
            <a:xfrm>
              <a:off x="1248" y="2914"/>
              <a:ext cx="480" cy="419"/>
              <a:chOff x="3174" y="2656"/>
              <a:chExt cx="1549" cy="1351"/>
            </a:xfrm>
          </p:grpSpPr>
          <p:sp>
            <p:nvSpPr>
              <p:cNvPr id="19482" name="AutoShape 170"/>
              <p:cNvSpPr>
                <a:spLocks noChangeArrowheads="1"/>
              </p:cNvSpPr>
              <p:nvPr/>
            </p:nvSpPr>
            <p:spPr bwMode="auto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83" name="AutoShape 172"/>
              <p:cNvSpPr>
                <a:spLocks/>
              </p:cNvSpPr>
              <p:nvPr/>
            </p:nvSpPr>
            <p:spPr bwMode="auto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84" name="AutoShape 174"/>
              <p:cNvSpPr>
                <a:spLocks/>
              </p:cNvSpPr>
              <p:nvPr/>
            </p:nvSpPr>
            <p:spPr bwMode="auto">
              <a:xfrm>
                <a:off x="3264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79" name="Line 176"/>
            <p:cNvSpPr>
              <a:spLocks noChangeShapeType="1"/>
            </p:cNvSpPr>
            <p:nvPr/>
          </p:nvSpPr>
          <p:spPr bwMode="auto">
            <a:xfrm>
              <a:off x="1632" y="3298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Rectangle 178"/>
            <p:cNvSpPr>
              <a:spLocks noChangeArrowheads="1"/>
            </p:cNvSpPr>
            <p:nvPr/>
          </p:nvSpPr>
          <p:spPr bwMode="auto">
            <a:xfrm>
              <a:off x="2256" y="2892"/>
              <a:ext cx="3697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设计任务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1" name="Rectangle 180"/>
            <p:cNvSpPr>
              <a:spLocks noChangeArrowheads="1"/>
            </p:cNvSpPr>
            <p:nvPr/>
          </p:nvSpPr>
          <p:spPr bwMode="auto">
            <a:xfrm>
              <a:off x="1351" y="2976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2" name="Group -468"/>
          <p:cNvGrpSpPr>
            <a:grpSpLocks/>
          </p:cNvGrpSpPr>
          <p:nvPr/>
        </p:nvGrpSpPr>
        <p:grpSpPr bwMode="auto">
          <a:xfrm>
            <a:off x="1500188" y="3554023"/>
            <a:ext cx="4057650" cy="426841"/>
            <a:chOff x="1248" y="2336"/>
            <a:chExt cx="3408" cy="478"/>
          </a:xfrm>
        </p:grpSpPr>
        <p:grpSp>
          <p:nvGrpSpPr>
            <p:cNvPr id="19471" name="Group -466"/>
            <p:cNvGrpSpPr>
              <a:grpSpLocks/>
            </p:cNvGrpSpPr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19475" name="AutoShape 182"/>
              <p:cNvSpPr>
                <a:spLocks noChangeArrowheads="1"/>
              </p:cNvSpPr>
              <p:nvPr/>
            </p:nvSpPr>
            <p:spPr bwMode="auto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6" name="AutoShape 184"/>
              <p:cNvSpPr>
                <a:spLocks/>
              </p:cNvSpPr>
              <p:nvPr/>
            </p:nvSpPr>
            <p:spPr bwMode="auto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7" name="AutoShape 186"/>
              <p:cNvSpPr>
                <a:spLocks/>
              </p:cNvSpPr>
              <p:nvPr/>
            </p:nvSpPr>
            <p:spPr bwMode="auto">
              <a:xfrm>
                <a:off x="1200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091C4B"/>
                  </a:gs>
                  <a:gs pos="100000">
                    <a:srgbClr val="143DA2"/>
                  </a:gs>
                  <a:gs pos="100000">
                    <a:srgbClr val="143DA2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72" name="Line 188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Rectangle 190"/>
            <p:cNvSpPr>
              <a:spLocks noChangeArrowheads="1"/>
            </p:cNvSpPr>
            <p:nvPr/>
          </p:nvSpPr>
          <p:spPr bwMode="auto">
            <a:xfrm>
              <a:off x="2242" y="2336"/>
              <a:ext cx="1065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注意事项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74" name="Rectangle 192"/>
            <p:cNvSpPr>
              <a:spLocks noChangeArrowheads="1"/>
            </p:cNvSpPr>
            <p:nvPr/>
          </p:nvSpPr>
          <p:spPr bwMode="auto">
            <a:xfrm>
              <a:off x="1351" y="2400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5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63" name="Group -472"/>
          <p:cNvGrpSpPr>
            <a:grpSpLocks/>
          </p:cNvGrpSpPr>
          <p:nvPr/>
        </p:nvGrpSpPr>
        <p:grpSpPr bwMode="auto">
          <a:xfrm>
            <a:off x="1485900" y="2978943"/>
            <a:ext cx="5601892" cy="444699"/>
            <a:chOff x="1248" y="2892"/>
            <a:chExt cx="4705" cy="498"/>
          </a:xfrm>
        </p:grpSpPr>
        <p:grpSp>
          <p:nvGrpSpPr>
            <p:cNvPr id="19464" name="Group -470"/>
            <p:cNvGrpSpPr>
              <a:grpSpLocks/>
            </p:cNvGrpSpPr>
            <p:nvPr/>
          </p:nvGrpSpPr>
          <p:grpSpPr bwMode="auto">
            <a:xfrm>
              <a:off x="1248" y="2914"/>
              <a:ext cx="480" cy="419"/>
              <a:chOff x="3174" y="2656"/>
              <a:chExt cx="1549" cy="1351"/>
            </a:xfrm>
          </p:grpSpPr>
          <p:sp>
            <p:nvSpPr>
              <p:cNvPr id="19468" name="AutoShape 170"/>
              <p:cNvSpPr>
                <a:spLocks noChangeArrowheads="1"/>
              </p:cNvSpPr>
              <p:nvPr/>
            </p:nvSpPr>
            <p:spPr bwMode="auto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69" name="AutoShape 172"/>
              <p:cNvSpPr>
                <a:spLocks/>
              </p:cNvSpPr>
              <p:nvPr/>
            </p:nvSpPr>
            <p:spPr bwMode="auto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  <a:gs pos="100000">
                    <a:srgbClr val="E6E6E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470" name="AutoShape 174"/>
              <p:cNvSpPr>
                <a:spLocks/>
              </p:cNvSpPr>
              <p:nvPr/>
            </p:nvSpPr>
            <p:spPr bwMode="auto">
              <a:xfrm>
                <a:off x="3264" y="2737"/>
                <a:ext cx="1349" cy="1167"/>
              </a:xfrm>
              <a:prstGeom prst="hexagon">
                <a:avLst>
                  <a:gd name="adj" fmla="val 28883"/>
                  <a:gd name="vf" fmla="val 115470"/>
                </a:avLst>
              </a:prstGeom>
              <a:gradFill rotWithShape="1">
                <a:gsLst>
                  <a:gs pos="0">
                    <a:srgbClr val="155650"/>
                  </a:gs>
                  <a:gs pos="100000">
                    <a:srgbClr val="2EBAAD"/>
                  </a:gs>
                  <a:gs pos="100000">
                    <a:srgbClr val="2EBAAD"/>
                  </a:gs>
                </a:gsLst>
                <a:lin ang="2700000" scaled="1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35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465" name="Line 176"/>
            <p:cNvSpPr>
              <a:spLocks noChangeShapeType="1"/>
            </p:cNvSpPr>
            <p:nvPr/>
          </p:nvSpPr>
          <p:spPr bwMode="auto">
            <a:xfrm>
              <a:off x="1632" y="3298"/>
              <a:ext cx="3024" cy="0"/>
            </a:xfrm>
            <a:prstGeom prst="line">
              <a:avLst/>
            </a:prstGeom>
            <a:noFill/>
            <a:ln w="25400">
              <a:solidFill>
                <a:srgbClr val="5AB7EA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Rectangle 178"/>
            <p:cNvSpPr>
              <a:spLocks noChangeArrowheads="1"/>
            </p:cNvSpPr>
            <p:nvPr/>
          </p:nvSpPr>
          <p:spPr bwMode="auto">
            <a:xfrm>
              <a:off x="2256" y="2892"/>
              <a:ext cx="3697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实验内容</a:t>
              </a:r>
              <a:r>
                <a:rPr lang="en-US" altLang="en-US" sz="21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  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67" name="Rectangle 180"/>
            <p:cNvSpPr>
              <a:spLocks noChangeArrowheads="1"/>
            </p:cNvSpPr>
            <p:nvPr/>
          </p:nvSpPr>
          <p:spPr bwMode="auto">
            <a:xfrm>
              <a:off x="1351" y="2976"/>
              <a:ext cx="263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4</a:t>
              </a:r>
              <a:endParaRPr lang="en-US" altLang="en-US" sz="135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9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实验目的</a:t>
            </a:r>
            <a:endParaRPr lang="zh-CN" altLang="zh-CN"/>
          </a:p>
        </p:txBody>
      </p:sp>
      <p:sp>
        <p:nvSpPr>
          <p:cNvPr id="20483" name="Rectangle 196"/>
          <p:cNvSpPr>
            <a:spLocks noGrp="1" noChangeArrowheads="1"/>
          </p:cNvSpPr>
          <p:nvPr>
            <p:ph idx="4294967295"/>
          </p:nvPr>
        </p:nvSpPr>
        <p:spPr>
          <a:xfrm>
            <a:off x="442913" y="1221581"/>
            <a:ext cx="6172200" cy="2786063"/>
          </a:xfrm>
        </p:spPr>
        <p:txBody>
          <a:bodyPr/>
          <a:lstStyle/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1.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 了解集成运算放大器的非线性应用；</a:t>
            </a:r>
            <a:endParaRPr lang="zh-CN" altLang="zh-CN" dirty="0"/>
          </a:p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2.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理解积分器的工作原理；</a:t>
            </a:r>
            <a:endParaRPr lang="zh-CN" altLang="zh-CN" dirty="0"/>
          </a:p>
          <a:p>
            <a:pPr eaLnBrk="1" latinLnBrk="0" hangingPunct="1">
              <a:lnSpc>
                <a:spcPct val="13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3.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掌握积分器电路设计与测试方法</a:t>
            </a:r>
            <a:endParaRPr lang="zh-CN" altLang="zh-CN" dirty="0"/>
          </a:p>
          <a:p>
            <a:pPr eaLnBrk="1" hangingPunct="1"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776569A-C447-446D-AE40-30A2F8B499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A225DA-2D0C-4BC5-A92A-64FE47205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77" y="678218"/>
            <a:ext cx="2404781" cy="17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49504EFA-812E-452F-AF2E-54570B90C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871" y="987574"/>
            <a:ext cx="1782366" cy="1964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7F00043-A727-4091-AFF6-971DA831BAE5}"/>
              </a:ext>
            </a:extLst>
          </p:cNvPr>
          <p:cNvCxnSpPr/>
          <p:nvPr/>
        </p:nvCxnSpPr>
        <p:spPr bwMode="auto">
          <a:xfrm>
            <a:off x="3429246" y="1115615"/>
            <a:ext cx="0" cy="2912269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1">
            <a:extLst>
              <a:ext uri="{FF2B5EF4-FFF2-40B4-BE49-F238E27FC236}">
                <a16:creationId xmlns:a16="http://schemas.microsoft.com/office/drawing/2014/main" id="{32BA6FF5-AE6C-41F4-9E22-9174A6D93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837" y="3062833"/>
            <a:ext cx="31726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r>
              <a:rPr lang="zh-CN" altLang="zh-CN" dirty="0"/>
              <a:t>当输入在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dirty="0"/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dirty="0"/>
              <a:t>间是常量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dirty="0"/>
              <a:t>时</a:t>
            </a:r>
            <a:r>
              <a:rPr lang="zh-CN" altLang="en-US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8">
                <a:extLst>
                  <a:ext uri="{FF2B5EF4-FFF2-40B4-BE49-F238E27FC236}">
                    <a16:creationId xmlns:a16="http://schemas.microsoft.com/office/drawing/2014/main" id="{7BD49DB7-426D-4922-9FF5-7ECFF24CA8C8}"/>
                  </a:ext>
                </a:extLst>
              </p:cNvPr>
              <p:cNvSpPr txBox="1"/>
              <p:nvPr/>
            </p:nvSpPr>
            <p:spPr>
              <a:xfrm>
                <a:off x="1959285" y="2467058"/>
                <a:ext cx="1308371" cy="618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b="1" i="1" baseline="-250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𝑪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𝒅𝒖</m:t>
                          </m:r>
                          <m:r>
                            <a:rPr lang="en-US" altLang="zh-CN" b="1" i="1" baseline="-250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18">
                <a:extLst>
                  <a:ext uri="{FF2B5EF4-FFF2-40B4-BE49-F238E27FC236}">
                    <a16:creationId xmlns:a16="http://schemas.microsoft.com/office/drawing/2014/main" id="{7BD49DB7-426D-4922-9FF5-7ECFF24C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85" y="2467058"/>
                <a:ext cx="1308371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C0BCEE2-EA60-4540-8743-3B5A3DF046E3}"/>
                  </a:ext>
                </a:extLst>
              </p:cNvPr>
              <p:cNvSpPr/>
              <p:nvPr/>
            </p:nvSpPr>
            <p:spPr>
              <a:xfrm>
                <a:off x="380710" y="3163170"/>
                <a:ext cx="2663218" cy="8188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𝐎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𝑹𝑪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𝑰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C0BCEE2-EA60-4540-8743-3B5A3DF046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0" y="3163170"/>
                <a:ext cx="2663218" cy="818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6B89593-1A69-4511-9679-D2931EC985B8}"/>
                  </a:ext>
                </a:extLst>
              </p:cNvPr>
              <p:cNvSpPr/>
              <p:nvPr/>
            </p:nvSpPr>
            <p:spPr>
              <a:xfrm>
                <a:off x="764704" y="3799436"/>
                <a:ext cx="4284173" cy="710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𝑹𝑪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  <m:r>
                            <a:rPr lang="en-US" altLang="zh-CN" b="1" i="1" baseline="-250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  <m:r>
                            <a:rPr lang="en-US" altLang="zh-CN" b="1" i="1" baseline="-250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𝑰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𝒅𝒕</m:t>
                          </m:r>
                        </m:e>
                      </m:nary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𝐨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6B89593-1A69-4511-9679-D2931EC98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04" y="3799436"/>
                <a:ext cx="4284173" cy="7103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6">
                <a:extLst>
                  <a:ext uri="{FF2B5EF4-FFF2-40B4-BE49-F238E27FC236}">
                    <a16:creationId xmlns:a16="http://schemas.microsoft.com/office/drawing/2014/main" id="{ED0A916B-206E-4D3D-B3AC-BF135D6E30CC}"/>
                  </a:ext>
                </a:extLst>
              </p:cNvPr>
              <p:cNvSpPr txBox="1"/>
              <p:nvPr/>
            </p:nvSpPr>
            <p:spPr>
              <a:xfrm>
                <a:off x="380710" y="2491841"/>
                <a:ext cx="1474891" cy="568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  <m:sub>
                          <m:r>
                            <a:rPr lang="en-US" altLang="zh-CN" b="1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𝐂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  <m:sub>
                          <m:r>
                            <a:rPr lang="en-US" altLang="zh-CN" b="1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𝐑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𝐈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26">
                <a:extLst>
                  <a:ext uri="{FF2B5EF4-FFF2-40B4-BE49-F238E27FC236}">
                    <a16:creationId xmlns:a16="http://schemas.microsoft.com/office/drawing/2014/main" id="{ED0A916B-206E-4D3D-B3AC-BF135D6E3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0" y="2491841"/>
                <a:ext cx="1474891" cy="5688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700FF8B-9417-4FC4-8DB2-59D909DFAF90}"/>
                  </a:ext>
                </a:extLst>
              </p:cNvPr>
              <p:cNvSpPr/>
              <p:nvPr/>
            </p:nvSpPr>
            <p:spPr>
              <a:xfrm>
                <a:off x="3612658" y="3542893"/>
                <a:ext cx="3195618" cy="5706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𝐎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𝑰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𝑹𝑪</m:t>
                          </m:r>
                        </m:den>
                      </m:f>
                      <m:d>
                        <m:d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𝐨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700FF8B-9417-4FC4-8DB2-59D909DFAF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658" y="3542893"/>
                <a:ext cx="3195618" cy="5706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94">
            <a:extLst>
              <a:ext uri="{FF2B5EF4-FFF2-40B4-BE49-F238E27FC236}">
                <a16:creationId xmlns:a16="http://schemas.microsoft.com/office/drawing/2014/main" id="{9DE3947F-EA5C-4DCC-A33C-48CCB5EEE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71450"/>
            <a:ext cx="53721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Calibri Light" panose="020F0302020204030204" pitchFamily="34" charset="0"/>
                <a:ea typeface="宋体" charset="-122"/>
              </a:defRPr>
            </a:lvl5pPr>
            <a:lvl6pPr marL="342900" algn="ctr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charset="0"/>
                <a:ea typeface="宋体" charset="-122"/>
              </a:defRPr>
            </a:lvl6pPr>
            <a:lvl7pPr marL="685800" algn="ctr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charset="0"/>
                <a:ea typeface="宋体" charset="-122"/>
              </a:defRPr>
            </a:lvl7pPr>
            <a:lvl8pPr marL="1028700" algn="ctr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charset="0"/>
                <a:ea typeface="宋体" charset="-122"/>
              </a:defRPr>
            </a:lvl8pPr>
            <a:lvl9pPr marL="1371600" algn="ctr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charset="0"/>
                <a:ea typeface="宋体" charset="-122"/>
              </a:defRPr>
            </a:lvl9pPr>
          </a:lstStyle>
          <a:p>
            <a:pPr eaLnBrk="1" latinLnBrk="0" hangingPunct="1"/>
            <a:r>
              <a:rPr lang="zh-CN" altLang="en-US" kern="0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实验原理</a:t>
            </a:r>
            <a:endParaRPr lang="zh-CN" altLang="zh-CN" kern="0" dirty="0"/>
          </a:p>
        </p:txBody>
      </p:sp>
    </p:spTree>
    <p:extLst>
      <p:ext uri="{BB962C8B-B14F-4D97-AF65-F5344CB8AC3E}">
        <p14:creationId xmlns:p14="http://schemas.microsoft.com/office/powerpoint/2010/main" val="94772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0"/>
          <p:cNvSpPr>
            <a:spLocks noChangeArrowheads="1"/>
          </p:cNvSpPr>
          <p:nvPr/>
        </p:nvSpPr>
        <p:spPr bwMode="auto">
          <a:xfrm>
            <a:off x="603647" y="14882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实验原理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Text Box 14"/>
          <p:cNvSpPr txBox="1">
            <a:spLocks noChangeArrowheads="1"/>
          </p:cNvSpPr>
          <p:nvPr/>
        </p:nvSpPr>
        <p:spPr bwMode="auto">
          <a:xfrm>
            <a:off x="1014757" y="4181970"/>
            <a:ext cx="324088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lnSpc>
                <a:spcPts val="1800"/>
              </a:lnSpc>
              <a:spcBef>
                <a:spcPct val="50000"/>
              </a:spcBef>
              <a:buClrTx/>
              <a:buNone/>
            </a:pPr>
            <a:r>
              <a:rPr kumimoji="1" lang="zh-CN" altLang="en-US" sz="1500" dirty="0">
                <a:solidFill>
                  <a:schemeClr val="tx2"/>
                </a:solidFill>
                <a:latin typeface="宋体" panose="02010600030101010101" pitchFamily="2" charset="-122"/>
              </a:rPr>
              <a:t>积分器用于波形变换</a:t>
            </a:r>
          </a:p>
        </p:txBody>
      </p:sp>
      <p:grpSp>
        <p:nvGrpSpPr>
          <p:cNvPr id="23556" name="Group 32"/>
          <p:cNvGrpSpPr>
            <a:grpSpLocks/>
          </p:cNvGrpSpPr>
          <p:nvPr/>
        </p:nvGrpSpPr>
        <p:grpSpPr bwMode="auto">
          <a:xfrm>
            <a:off x="557213" y="771550"/>
            <a:ext cx="3235126" cy="3162300"/>
            <a:chOff x="3432" y="338"/>
            <a:chExt cx="2877" cy="2143"/>
          </a:xfrm>
        </p:grpSpPr>
        <p:sp>
          <p:nvSpPr>
            <p:cNvPr id="130" name="Line 33"/>
            <p:cNvSpPr>
              <a:spLocks noChangeShapeType="1"/>
            </p:cNvSpPr>
            <p:nvPr/>
          </p:nvSpPr>
          <p:spPr bwMode="auto">
            <a:xfrm>
              <a:off x="3617" y="967"/>
              <a:ext cx="2495" cy="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31" name="Line 34"/>
            <p:cNvSpPr>
              <a:spLocks noChangeShapeType="1"/>
            </p:cNvSpPr>
            <p:nvPr/>
          </p:nvSpPr>
          <p:spPr bwMode="auto">
            <a:xfrm flipV="1">
              <a:off x="3617" y="2014"/>
              <a:ext cx="2542" cy="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32" name="Line 35"/>
            <p:cNvSpPr>
              <a:spLocks noChangeShapeType="1"/>
            </p:cNvSpPr>
            <p:nvPr/>
          </p:nvSpPr>
          <p:spPr bwMode="auto">
            <a:xfrm flipV="1">
              <a:off x="3617" y="1494"/>
              <a:ext cx="0" cy="98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33" name="Line 36"/>
            <p:cNvSpPr>
              <a:spLocks noChangeShapeType="1"/>
            </p:cNvSpPr>
            <p:nvPr/>
          </p:nvSpPr>
          <p:spPr bwMode="auto">
            <a:xfrm flipV="1">
              <a:off x="3617" y="441"/>
              <a:ext cx="0" cy="98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6056" y="855"/>
              <a:ext cx="211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5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6098" y="1904"/>
              <a:ext cx="211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5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3625" y="1377"/>
              <a:ext cx="348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5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3633" y="338"/>
              <a:ext cx="304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5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3596" name="Text Box 41"/>
            <p:cNvSpPr txBox="1">
              <a:spLocks noChangeArrowheads="1"/>
            </p:cNvSpPr>
            <p:nvPr/>
          </p:nvSpPr>
          <p:spPr bwMode="auto">
            <a:xfrm>
              <a:off x="3450" y="1929"/>
              <a:ext cx="285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7" name="Text Box 42"/>
            <p:cNvSpPr txBox="1">
              <a:spLocks noChangeArrowheads="1"/>
            </p:cNvSpPr>
            <p:nvPr/>
          </p:nvSpPr>
          <p:spPr bwMode="auto">
            <a:xfrm>
              <a:off x="3432" y="855"/>
              <a:ext cx="285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7" name="Group 6"/>
          <p:cNvGrpSpPr>
            <a:grpSpLocks/>
          </p:cNvGrpSpPr>
          <p:nvPr/>
        </p:nvGrpSpPr>
        <p:grpSpPr bwMode="auto">
          <a:xfrm>
            <a:off x="1208922" y="1678976"/>
            <a:ext cx="607400" cy="2217565"/>
            <a:chOff x="4028" y="945"/>
            <a:chExt cx="471" cy="1503"/>
          </a:xfrm>
        </p:grpSpPr>
        <p:sp>
          <p:nvSpPr>
            <p:cNvPr id="23585" name="Line 7"/>
            <p:cNvSpPr>
              <a:spLocks noChangeShapeType="1"/>
            </p:cNvSpPr>
            <p:nvPr/>
          </p:nvSpPr>
          <p:spPr bwMode="auto">
            <a:xfrm>
              <a:off x="4075" y="945"/>
              <a:ext cx="0" cy="15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Text Box 8"/>
            <p:cNvSpPr txBox="1">
              <a:spLocks noChangeArrowheads="1"/>
            </p:cNvSpPr>
            <p:nvPr/>
          </p:nvSpPr>
          <p:spPr bwMode="auto">
            <a:xfrm>
              <a:off x="4080" y="992"/>
              <a:ext cx="419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5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T/2</a:t>
              </a:r>
              <a:endParaRPr kumimoji="1" lang="en-US" altLang="zh-CN" sz="15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7" name="Text Box 9"/>
            <p:cNvSpPr txBox="1">
              <a:spLocks noChangeArrowheads="1"/>
            </p:cNvSpPr>
            <p:nvPr/>
          </p:nvSpPr>
          <p:spPr bwMode="auto">
            <a:xfrm>
              <a:off x="4028" y="2028"/>
              <a:ext cx="375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5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T/2</a:t>
              </a:r>
              <a:endParaRPr kumimoji="1" lang="en-US" altLang="zh-CN" sz="15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8" name="Group 10"/>
          <p:cNvGrpSpPr>
            <a:grpSpLocks/>
          </p:cNvGrpSpPr>
          <p:nvPr/>
        </p:nvGrpSpPr>
        <p:grpSpPr bwMode="auto">
          <a:xfrm>
            <a:off x="1791624" y="1696040"/>
            <a:ext cx="485320" cy="2042423"/>
            <a:chOff x="4524" y="965"/>
            <a:chExt cx="433" cy="1384"/>
          </a:xfrm>
        </p:grpSpPr>
        <p:sp>
          <p:nvSpPr>
            <p:cNvPr id="23582" name="Line 11"/>
            <p:cNvSpPr>
              <a:spLocks noChangeShapeType="1"/>
            </p:cNvSpPr>
            <p:nvPr/>
          </p:nvSpPr>
          <p:spPr bwMode="auto">
            <a:xfrm flipH="1">
              <a:off x="4524" y="965"/>
              <a:ext cx="9" cy="1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Text Box 12"/>
            <p:cNvSpPr txBox="1">
              <a:spLocks noChangeArrowheads="1"/>
            </p:cNvSpPr>
            <p:nvPr/>
          </p:nvSpPr>
          <p:spPr bwMode="auto">
            <a:xfrm>
              <a:off x="4572" y="982"/>
              <a:ext cx="28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5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endParaRPr kumimoji="1" lang="en-US" altLang="zh-CN" sz="15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4" name="Text Box 13"/>
            <p:cNvSpPr txBox="1">
              <a:spLocks noChangeArrowheads="1"/>
            </p:cNvSpPr>
            <p:nvPr/>
          </p:nvSpPr>
          <p:spPr bwMode="auto">
            <a:xfrm>
              <a:off x="4672" y="2039"/>
              <a:ext cx="285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rgbClr val="AED337"/>
                </a:buClr>
                <a:buFont typeface="Wingdings" panose="05000000000000000000" pitchFamily="2" charset="2"/>
                <a:buChar char="v"/>
                <a:defRPr sz="2800" b="1">
                  <a:solidFill>
                    <a:srgbClr val="143DA2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EB592B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•"/>
                <a:defRPr sz="2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5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endParaRPr kumimoji="1"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559" name="Line 14"/>
          <p:cNvSpPr>
            <a:spLocks noChangeShapeType="1"/>
          </p:cNvSpPr>
          <p:nvPr/>
        </p:nvSpPr>
        <p:spPr bwMode="auto">
          <a:xfrm>
            <a:off x="1791891" y="1226369"/>
            <a:ext cx="0" cy="8953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Line 15"/>
          <p:cNvSpPr>
            <a:spLocks noChangeShapeType="1"/>
          </p:cNvSpPr>
          <p:nvPr/>
        </p:nvSpPr>
        <p:spPr bwMode="auto">
          <a:xfrm>
            <a:off x="770335" y="2115766"/>
            <a:ext cx="51435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1" name="Line 16"/>
          <p:cNvSpPr>
            <a:spLocks noChangeShapeType="1"/>
          </p:cNvSpPr>
          <p:nvPr/>
        </p:nvSpPr>
        <p:spPr bwMode="auto">
          <a:xfrm>
            <a:off x="1279923" y="1238275"/>
            <a:ext cx="51554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6" name="Line 17"/>
          <p:cNvSpPr>
            <a:spLocks noChangeShapeType="1"/>
          </p:cNvSpPr>
          <p:nvPr/>
        </p:nvSpPr>
        <p:spPr bwMode="auto">
          <a:xfrm>
            <a:off x="2307431" y="2646785"/>
            <a:ext cx="824653" cy="1390730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9707" name="Line 18"/>
          <p:cNvSpPr>
            <a:spLocks noChangeShapeType="1"/>
          </p:cNvSpPr>
          <p:nvPr/>
        </p:nvSpPr>
        <p:spPr bwMode="auto">
          <a:xfrm flipH="1">
            <a:off x="765241" y="2632497"/>
            <a:ext cx="507536" cy="1113229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3564" name="Text Box 19"/>
          <p:cNvSpPr txBox="1">
            <a:spLocks noChangeArrowheads="1"/>
          </p:cNvSpPr>
          <p:nvPr/>
        </p:nvSpPr>
        <p:spPr bwMode="auto">
          <a:xfrm>
            <a:off x="416719" y="1016819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50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22" name="Line 21"/>
          <p:cNvSpPr>
            <a:spLocks noChangeShapeType="1"/>
          </p:cNvSpPr>
          <p:nvPr/>
        </p:nvSpPr>
        <p:spPr bwMode="auto">
          <a:xfrm>
            <a:off x="760810" y="1247800"/>
            <a:ext cx="557213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3566" name="Text Box 22"/>
          <p:cNvSpPr txBox="1">
            <a:spLocks noChangeArrowheads="1"/>
          </p:cNvSpPr>
          <p:nvPr/>
        </p:nvSpPr>
        <p:spPr bwMode="auto">
          <a:xfrm>
            <a:off x="333375" y="1908598"/>
            <a:ext cx="51328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5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500" i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567" name="Line 24"/>
          <p:cNvSpPr>
            <a:spLocks noChangeShapeType="1"/>
          </p:cNvSpPr>
          <p:nvPr/>
        </p:nvSpPr>
        <p:spPr bwMode="auto">
          <a:xfrm>
            <a:off x="2306241" y="1239466"/>
            <a:ext cx="0" cy="883444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Line 25"/>
          <p:cNvSpPr>
            <a:spLocks noChangeShapeType="1"/>
          </p:cNvSpPr>
          <p:nvPr/>
        </p:nvSpPr>
        <p:spPr bwMode="auto">
          <a:xfrm>
            <a:off x="1790700" y="2111004"/>
            <a:ext cx="51435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26"/>
          <p:cNvSpPr>
            <a:spLocks noChangeShapeType="1"/>
          </p:cNvSpPr>
          <p:nvPr/>
        </p:nvSpPr>
        <p:spPr bwMode="auto">
          <a:xfrm>
            <a:off x="2311004" y="2115766"/>
            <a:ext cx="0" cy="164187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Line 27"/>
          <p:cNvSpPr>
            <a:spLocks noChangeShapeType="1"/>
          </p:cNvSpPr>
          <p:nvPr/>
        </p:nvSpPr>
        <p:spPr bwMode="auto">
          <a:xfrm>
            <a:off x="2301478" y="1238275"/>
            <a:ext cx="1168489" cy="8049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Line 28"/>
          <p:cNvSpPr>
            <a:spLocks noChangeShapeType="1"/>
          </p:cNvSpPr>
          <p:nvPr/>
        </p:nvSpPr>
        <p:spPr bwMode="auto">
          <a:xfrm>
            <a:off x="1279921" y="2638450"/>
            <a:ext cx="514945" cy="1111737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9716" name="Line 29"/>
          <p:cNvSpPr>
            <a:spLocks noChangeShapeType="1"/>
          </p:cNvSpPr>
          <p:nvPr/>
        </p:nvSpPr>
        <p:spPr bwMode="auto">
          <a:xfrm flipV="1">
            <a:off x="1810345" y="2632497"/>
            <a:ext cx="489943" cy="1113227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9717" name="Line 44"/>
          <p:cNvSpPr>
            <a:spLocks noChangeShapeType="1"/>
          </p:cNvSpPr>
          <p:nvPr/>
        </p:nvSpPr>
        <p:spPr bwMode="auto">
          <a:xfrm flipV="1">
            <a:off x="775097" y="3751685"/>
            <a:ext cx="2514600" cy="595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Line 46"/>
          <p:cNvSpPr>
            <a:spLocks noChangeShapeType="1"/>
          </p:cNvSpPr>
          <p:nvPr/>
        </p:nvSpPr>
        <p:spPr bwMode="auto">
          <a:xfrm>
            <a:off x="1268016" y="1238276"/>
            <a:ext cx="0" cy="889397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5" name="Line 48"/>
          <p:cNvSpPr>
            <a:spLocks noChangeShapeType="1"/>
          </p:cNvSpPr>
          <p:nvPr/>
        </p:nvSpPr>
        <p:spPr bwMode="auto">
          <a:xfrm>
            <a:off x="760810" y="2634878"/>
            <a:ext cx="1534715" cy="357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1" name="Line 29"/>
          <p:cNvSpPr>
            <a:spLocks noChangeShapeType="1"/>
          </p:cNvSpPr>
          <p:nvPr/>
        </p:nvSpPr>
        <p:spPr bwMode="auto">
          <a:xfrm flipV="1">
            <a:off x="3132084" y="4035277"/>
            <a:ext cx="285750" cy="0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9" name="Text Box 14"/>
          <p:cNvSpPr txBox="1">
            <a:spLocks noChangeArrowheads="1"/>
          </p:cNvSpPr>
          <p:nvPr/>
        </p:nvSpPr>
        <p:spPr bwMode="auto">
          <a:xfrm>
            <a:off x="3969697" y="931095"/>
            <a:ext cx="140374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50000"/>
              </a:spcBef>
              <a:defRPr/>
            </a:pPr>
            <a:r>
              <a:rPr kumimoji="1" lang="zh-CN" altLang="en-US" sz="1500" b="1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问题：</a:t>
            </a:r>
            <a:endParaRPr kumimoji="1" lang="en-US" altLang="zh-CN" sz="1500" b="1" dirty="0">
              <a:solidFill>
                <a:schemeClr val="accent1">
                  <a:lumMod val="75000"/>
                </a:schemeClr>
              </a:solidFill>
              <a:latin typeface="宋体" pitchFamily="2" charset="-122"/>
            </a:endParaRPr>
          </a:p>
          <a:p>
            <a:pPr marL="123825" indent="-123825">
              <a:lnSpc>
                <a:spcPts val="18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kumimoji="1" lang="zh-CN" altLang="en-US" sz="1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非理想运放</a:t>
            </a:r>
            <a:endParaRPr kumimoji="1" lang="en-US" altLang="zh-CN" sz="1500" b="1" dirty="0">
              <a:solidFill>
                <a:schemeClr val="tx2">
                  <a:lumMod val="60000"/>
                  <a:lumOff val="40000"/>
                </a:schemeClr>
              </a:solidFill>
              <a:latin typeface="宋体" pitchFamily="2" charset="-122"/>
            </a:endParaRPr>
          </a:p>
          <a:p>
            <a:pPr marL="123825" indent="-123825">
              <a:lnSpc>
                <a:spcPts val="18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kumimoji="1" lang="zh-CN" altLang="en-US" sz="1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非理想电容</a:t>
            </a:r>
            <a:endParaRPr kumimoji="1" lang="en-US" altLang="zh-CN" sz="1500" b="1" dirty="0">
              <a:solidFill>
                <a:schemeClr val="tx2">
                  <a:lumMod val="60000"/>
                  <a:lumOff val="40000"/>
                </a:schemeClr>
              </a:solidFill>
              <a:latin typeface="宋体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 bwMode="auto">
          <a:xfrm>
            <a:off x="3926681" y="1016819"/>
            <a:ext cx="0" cy="3040856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14"/>
          <p:cNvSpPr txBox="1">
            <a:spLocks noChangeArrowheads="1"/>
          </p:cNvSpPr>
          <p:nvPr/>
        </p:nvSpPr>
        <p:spPr bwMode="auto">
          <a:xfrm>
            <a:off x="5271657" y="928713"/>
            <a:ext cx="147399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50000"/>
              </a:spcBef>
              <a:defRPr/>
            </a:pPr>
            <a:r>
              <a:rPr kumimoji="1" lang="zh-CN" altLang="en-US" sz="1500" b="1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措施：</a:t>
            </a:r>
            <a:endParaRPr kumimoji="1" lang="en-US" altLang="zh-CN" sz="1500" b="1" dirty="0">
              <a:solidFill>
                <a:schemeClr val="accent1">
                  <a:lumMod val="75000"/>
                </a:schemeClr>
              </a:solidFill>
              <a:latin typeface="宋体" pitchFamily="2" charset="-122"/>
            </a:endParaRPr>
          </a:p>
          <a:p>
            <a:pPr marL="134541" indent="-134541">
              <a:lnSpc>
                <a:spcPts val="18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kumimoji="1" lang="zh-CN" altLang="en-US" sz="1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选运放、加</a:t>
            </a:r>
            <a:r>
              <a:rPr kumimoji="1" lang="en-US" altLang="zh-CN" sz="15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R</a:t>
            </a:r>
            <a:r>
              <a:rPr kumimoji="1" lang="en-US" altLang="zh-CN" sz="15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f</a:t>
            </a:r>
            <a:endParaRPr kumimoji="1" lang="en-US" altLang="zh-CN" sz="1500" b="1" baseline="-25000" dirty="0">
              <a:solidFill>
                <a:schemeClr val="tx2">
                  <a:lumMod val="60000"/>
                  <a:lumOff val="40000"/>
                </a:schemeClr>
              </a:solidFill>
              <a:latin typeface="宋体" pitchFamily="2" charset="-122"/>
            </a:endParaRPr>
          </a:p>
          <a:p>
            <a:pPr marL="130969" indent="-123825">
              <a:lnSpc>
                <a:spcPts val="18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kumimoji="1" lang="zh-CN" altLang="en-US" sz="1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</a:rPr>
              <a:t>选电容</a:t>
            </a:r>
            <a:endParaRPr kumimoji="1" lang="en-US" altLang="zh-CN" sz="1500" b="1" dirty="0">
              <a:solidFill>
                <a:schemeClr val="tx2">
                  <a:lumMod val="60000"/>
                  <a:lumOff val="40000"/>
                </a:schemeClr>
              </a:solidFill>
              <a:latin typeface="宋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624" y="2016984"/>
            <a:ext cx="2337704" cy="191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81" name="Text Box 22"/>
          <p:cNvSpPr txBox="1">
            <a:spLocks noChangeArrowheads="1"/>
          </p:cNvSpPr>
          <p:nvPr/>
        </p:nvSpPr>
        <p:spPr bwMode="auto">
          <a:xfrm>
            <a:off x="261412" y="3539855"/>
            <a:ext cx="51328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15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00"/>
          <p:cNvSpPr>
            <a:spLocks noChangeArrowheads="1"/>
          </p:cNvSpPr>
          <p:nvPr/>
        </p:nvSpPr>
        <p:spPr bwMode="auto">
          <a:xfrm>
            <a:off x="584376" y="65803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设计任务</a:t>
            </a:r>
            <a:endParaRPr lang="en-US" altLang="en-US" sz="135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784" name="Line 18"/>
          <p:cNvSpPr>
            <a:spLocks noChangeShapeType="1"/>
          </p:cNvSpPr>
          <p:nvPr/>
        </p:nvSpPr>
        <p:spPr bwMode="auto">
          <a:xfrm flipH="1">
            <a:off x="1227907" y="1167588"/>
            <a:ext cx="515476" cy="684081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5613" name="Text Box 19"/>
          <p:cNvSpPr txBox="1">
            <a:spLocks noChangeArrowheads="1"/>
          </p:cNvSpPr>
          <p:nvPr/>
        </p:nvSpPr>
        <p:spPr bwMode="auto">
          <a:xfrm>
            <a:off x="785021" y="785408"/>
            <a:ext cx="455574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050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105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SAT</a:t>
            </a:r>
          </a:p>
        </p:txBody>
      </p:sp>
      <p:sp>
        <p:nvSpPr>
          <p:cNvPr id="37" name="Line 21"/>
          <p:cNvSpPr>
            <a:spLocks noChangeShapeType="1"/>
          </p:cNvSpPr>
          <p:nvPr/>
        </p:nvSpPr>
        <p:spPr bwMode="auto">
          <a:xfrm>
            <a:off x="1237433" y="917634"/>
            <a:ext cx="514350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3" name="Line 18"/>
          <p:cNvSpPr>
            <a:spLocks noChangeShapeType="1"/>
          </p:cNvSpPr>
          <p:nvPr/>
        </p:nvSpPr>
        <p:spPr bwMode="auto">
          <a:xfrm flipH="1">
            <a:off x="1251508" y="917634"/>
            <a:ext cx="255005" cy="898407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cxnSp>
        <p:nvCxnSpPr>
          <p:cNvPr id="54" name="直接连接符 53"/>
          <p:cNvCxnSpPr/>
          <p:nvPr/>
        </p:nvCxnSpPr>
        <p:spPr bwMode="auto">
          <a:xfrm>
            <a:off x="1494607" y="916443"/>
            <a:ext cx="260747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904057" y="577746"/>
            <a:ext cx="1748469" cy="1608535"/>
            <a:chOff x="4084638" y="501822"/>
            <a:chExt cx="2331293" cy="2144713"/>
          </a:xfrm>
        </p:grpSpPr>
        <p:grpSp>
          <p:nvGrpSpPr>
            <p:cNvPr id="12" name="组合 11"/>
            <p:cNvGrpSpPr/>
            <p:nvPr/>
          </p:nvGrpSpPr>
          <p:grpSpPr>
            <a:xfrm>
              <a:off x="4084638" y="501822"/>
              <a:ext cx="2331293" cy="2144713"/>
              <a:chOff x="4084638" y="483518"/>
              <a:chExt cx="2331293" cy="2144713"/>
            </a:xfrm>
          </p:grpSpPr>
          <p:sp>
            <p:nvSpPr>
              <p:cNvPr id="13" name="Line 33"/>
              <p:cNvSpPr>
                <a:spLocks noChangeShapeType="1"/>
              </p:cNvSpPr>
              <p:nvPr/>
            </p:nvSpPr>
            <p:spPr bwMode="auto">
              <a:xfrm>
                <a:off x="4527550" y="1721768"/>
                <a:ext cx="1724025" cy="635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6" name="Line 36"/>
              <p:cNvSpPr>
                <a:spLocks noChangeShapeType="1"/>
              </p:cNvSpPr>
              <p:nvPr/>
            </p:nvSpPr>
            <p:spPr bwMode="auto">
              <a:xfrm flipV="1">
                <a:off x="4527550" y="686718"/>
                <a:ext cx="0" cy="1941513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5606" name="Text Box 37"/>
              <p:cNvSpPr txBox="1">
                <a:spLocks noChangeArrowheads="1"/>
              </p:cNvSpPr>
              <p:nvPr/>
            </p:nvSpPr>
            <p:spPr bwMode="auto">
              <a:xfrm>
                <a:off x="6099176" y="1350293"/>
                <a:ext cx="31675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1500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5607" name="Text Box 40"/>
              <p:cNvSpPr txBox="1">
                <a:spLocks noChangeArrowheads="1"/>
              </p:cNvSpPr>
              <p:nvPr/>
            </p:nvSpPr>
            <p:spPr bwMode="auto">
              <a:xfrm>
                <a:off x="4494213" y="483518"/>
                <a:ext cx="52193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15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1500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sz="15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08" name="Text Box 42"/>
              <p:cNvSpPr txBox="1">
                <a:spLocks noChangeArrowheads="1"/>
              </p:cNvSpPr>
              <p:nvPr/>
            </p:nvSpPr>
            <p:spPr bwMode="auto">
              <a:xfrm>
                <a:off x="4249738" y="1501106"/>
                <a:ext cx="42703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15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sz="15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09" name="Text Box 8"/>
              <p:cNvSpPr txBox="1">
                <a:spLocks noChangeArrowheads="1"/>
              </p:cNvSpPr>
              <p:nvPr/>
            </p:nvSpPr>
            <p:spPr bwMode="auto">
              <a:xfrm>
                <a:off x="5149850" y="1643980"/>
                <a:ext cx="61912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15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T/2</a:t>
                </a:r>
                <a:endParaRPr kumimoji="1" lang="en-US" altLang="zh-CN" sz="15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0" name="Line 15"/>
              <p:cNvSpPr>
                <a:spLocks noChangeShapeType="1"/>
              </p:cNvSpPr>
              <p:nvPr/>
            </p:nvSpPr>
            <p:spPr bwMode="auto">
              <a:xfrm>
                <a:off x="4545013" y="2158331"/>
                <a:ext cx="685800" cy="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1" name="Line 16"/>
              <p:cNvSpPr>
                <a:spLocks noChangeShapeType="1"/>
              </p:cNvSpPr>
              <p:nvPr/>
            </p:nvSpPr>
            <p:spPr bwMode="auto">
              <a:xfrm>
                <a:off x="5214938" y="1261393"/>
                <a:ext cx="687387" cy="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5" name="Text Box 22"/>
              <p:cNvSpPr txBox="1">
                <a:spLocks noChangeArrowheads="1"/>
              </p:cNvSpPr>
              <p:nvPr/>
            </p:nvSpPr>
            <p:spPr bwMode="auto">
              <a:xfrm>
                <a:off x="4084638" y="2005931"/>
                <a:ext cx="551862" cy="3385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105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kumimoji="1" lang="en-US" altLang="zh-CN" sz="1050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1050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5616" name="Line 46"/>
              <p:cNvSpPr>
                <a:spLocks noChangeShapeType="1"/>
              </p:cNvSpPr>
              <p:nvPr/>
            </p:nvSpPr>
            <p:spPr bwMode="auto">
              <a:xfrm>
                <a:off x="5219700" y="1261393"/>
                <a:ext cx="0" cy="896938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60000"/>
                    <a:lumOff val="40000"/>
                  </a:schemeClr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9" name="Text Box 8"/>
              <p:cNvSpPr txBox="1">
                <a:spLocks noChangeArrowheads="1"/>
              </p:cNvSpPr>
              <p:nvPr/>
            </p:nvSpPr>
            <p:spPr bwMode="auto">
              <a:xfrm>
                <a:off x="5757863" y="1643980"/>
                <a:ext cx="3460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rgbClr val="AED337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rgbClr val="143DA2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EB592B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Wingdings" panose="05000000000000000000" pitchFamily="2" charset="2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atinLnBrk="0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15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</a:t>
                </a:r>
                <a:endParaRPr kumimoji="1" lang="en-US" altLang="zh-CN" sz="15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20" name="Line 26"/>
            <p:cNvSpPr>
              <a:spLocks noChangeShapeType="1"/>
            </p:cNvSpPr>
            <p:nvPr/>
          </p:nvSpPr>
          <p:spPr bwMode="auto">
            <a:xfrm>
              <a:off x="5907088" y="1261393"/>
              <a:ext cx="0" cy="460375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62" name="直接连接符 61"/>
          <p:cNvCxnSpPr/>
          <p:nvPr/>
        </p:nvCxnSpPr>
        <p:spPr bwMode="auto">
          <a:xfrm>
            <a:off x="3426919" y="1167588"/>
            <a:ext cx="0" cy="2912269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Box 14"/>
          <p:cNvSpPr txBox="1">
            <a:spLocks noChangeArrowheads="1"/>
          </p:cNvSpPr>
          <p:nvPr/>
        </p:nvSpPr>
        <p:spPr bwMode="auto">
          <a:xfrm>
            <a:off x="3670596" y="1774254"/>
            <a:ext cx="2638089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50000"/>
              </a:spcBef>
              <a:defRPr/>
            </a:pPr>
            <a:r>
              <a:rPr kumimoji="1" lang="en-US" altLang="zh-C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的取值：</a:t>
            </a:r>
            <a:endParaRPr kumimoji="1"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ts val="18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输入电阻的要求</a:t>
            </a:r>
            <a:endParaRPr kumimoji="1"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ts val="18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电容值大小和材质</a:t>
            </a:r>
            <a:endParaRPr kumimoji="1"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24" name="Line 26"/>
          <p:cNvSpPr>
            <a:spLocks noChangeShapeType="1"/>
          </p:cNvSpPr>
          <p:nvPr/>
        </p:nvSpPr>
        <p:spPr bwMode="auto">
          <a:xfrm>
            <a:off x="1755354" y="916443"/>
            <a:ext cx="0" cy="292894"/>
          </a:xfrm>
          <a:prstGeom prst="line">
            <a:avLst/>
          </a:prstGeom>
          <a:noFill/>
          <a:ln w="19050">
            <a:solidFill>
              <a:srgbClr val="7030A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12050" y="3025814"/>
                <a:ext cx="2581283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𝐎</m:t>
                          </m:r>
                        </m:sub>
                      </m:sSub>
                      <m:d>
                        <m:d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den>
                      </m:f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50" y="3025814"/>
                <a:ext cx="2581283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82526" y="3733038"/>
                <a:ext cx="2597314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∵</m:t>
                          </m:r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𝐎</m:t>
                          </m:r>
                        </m:sub>
                      </m:sSub>
                      <m:d>
                        <m:d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𝐀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𝐒𝐀𝐓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26" y="3733038"/>
                <a:ext cx="2597314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668409" y="844468"/>
                <a:ext cx="2044021" cy="6613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∴</m:t>
                          </m:r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𝐒𝐀𝐓</m:t>
                              </m:r>
                            </m:sub>
                          </m:sSub>
                        </m:den>
                      </m:f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𝒇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09" y="844468"/>
                <a:ext cx="2044021" cy="661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149" y="2282882"/>
                <a:ext cx="3377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latin typeface="Times New Roman" pitchFamily="18" charset="0"/>
                    <a:cs typeface="Times New Roman" pitchFamily="18" charset="0"/>
                  </a:rPr>
                  <a:t>设方波的周期为</a:t>
                </a:r>
                <a:r>
                  <a:rPr lang="en-US" altLang="zh-CN" b="1" i="1" dirty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zh-CN" altLang="en-US" b="1" dirty="0">
                    <a:latin typeface="Times New Roman" pitchFamily="18" charset="0"/>
                    <a:cs typeface="Times New Roman" pitchFamily="18" charset="0"/>
                  </a:rPr>
                  <a:t>，幅值为</a:t>
                </a:r>
                <a:r>
                  <a:rPr lang="en-US" altLang="zh-CN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b="1" baseline="-25000" dirty="0" err="1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zh-CN" altLang="en-US" b="1" dirty="0">
                    <a:latin typeface="Times New Roman" pitchFamily="18" charset="0"/>
                    <a:cs typeface="Times New Roman" pitchFamily="18" charset="0"/>
                  </a:rPr>
                  <a:t>，设</a:t>
                </a:r>
                <a:r>
                  <a:rPr lang="en-US" altLang="zh-CN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b="1" baseline="-25000" dirty="0" err="1">
                    <a:latin typeface="Times New Roman" pitchFamily="18" charset="0"/>
                    <a:cs typeface="Times New Roman" pitchFamily="18" charset="0"/>
                  </a:rPr>
                  <a:t>O</a:t>
                </a:r>
                <a:r>
                  <a:rPr lang="en-US" altLang="zh-CN" b="1" dirty="0">
                    <a:latin typeface="Times New Roman" pitchFamily="18" charset="0"/>
                    <a:cs typeface="Times New Roman" pitchFamily="18" charset="0"/>
                  </a:rPr>
                  <a:t>(0)=</a:t>
                </a:r>
                <a:r>
                  <a:rPr lang="en-US" altLang="zh-CN" b="1" dirty="0">
                    <a:solidFill>
                      <a:schemeClr val="tx2">
                        <a:lumMod val="50000"/>
                      </a:schemeClr>
                    </a:solidFill>
                  </a:rPr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/>
                          </a:rPr>
                          <m:t>𝐀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Times New Roman" pitchFamily="18" charset="0"/>
                    <a:cs typeface="Times New Roman" pitchFamily="18" charset="0"/>
                  </a:rPr>
                  <a:t>，并令</a:t>
                </a:r>
                <a:r>
                  <a:rPr lang="en-US" altLang="zh-CN" b="1" i="1" dirty="0">
                    <a:latin typeface="Symbol" pitchFamily="18" charset="2"/>
                    <a:cs typeface="Times New Roman" pitchFamily="18" charset="0"/>
                  </a:rPr>
                  <a:t>t </a:t>
                </a:r>
                <a:r>
                  <a:rPr lang="en-US" altLang="zh-CN" b="1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altLang="zh-CN" b="1" i="1" dirty="0">
                    <a:latin typeface="Times New Roman" pitchFamily="18" charset="0"/>
                    <a:cs typeface="Times New Roman" pitchFamily="18" charset="0"/>
                  </a:rPr>
                  <a:t>RC</a:t>
                </a:r>
                <a:endParaRPr lang="zh-CN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9" y="2282882"/>
                <a:ext cx="3377633" cy="646331"/>
              </a:xfrm>
              <a:prstGeom prst="rect">
                <a:avLst/>
              </a:prstGeom>
              <a:blipFill>
                <a:blip r:embed="rId6"/>
                <a:stretch>
                  <a:fillRect l="-1444" t="-6542" r="-542" b="-14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918741" y="3596235"/>
                <a:ext cx="2037730" cy="6613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CN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𝒇𝑪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741" y="3596235"/>
                <a:ext cx="2037730" cy="6613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3720432" y="2903738"/>
            <a:ext cx="2786132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ct val="50000"/>
              </a:spcBef>
              <a:defRPr/>
            </a:pPr>
            <a:r>
              <a:rPr kumimoji="1" lang="en-US" altLang="zh-CN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b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的取值：</a:t>
            </a:r>
            <a:endParaRPr kumimoji="1"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ts val="18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远大于电容</a:t>
            </a:r>
            <a:r>
              <a:rPr kumimoji="1"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的容抗</a:t>
            </a:r>
            <a:endParaRPr kumimoji="1"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5260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 animBg="1"/>
      <p:bldP spid="25613" grpId="0"/>
      <p:bldP spid="37" grpId="0" animBg="1"/>
      <p:bldP spid="53" grpId="0" animBg="1"/>
      <p:bldP spid="63" grpId="0"/>
      <p:bldP spid="25624" grpId="0" animBg="1"/>
      <p:bldP spid="2" grpId="0"/>
      <p:bldP spid="4" grpId="0"/>
      <p:bldP spid="5" grpId="0"/>
      <p:bldP spid="10" grpId="0"/>
      <p:bldP spid="1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00"/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实验内容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3314700" y="979489"/>
            <a:ext cx="3074194" cy="22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charset="0"/>
                <a:ea typeface="宋体" pitchFamily="2" charset="-122"/>
                <a:sym typeface="Arial" charset="0"/>
              </a:defRPr>
            </a:lvl9pPr>
          </a:lstStyle>
          <a:p>
            <a:pPr marL="207169" indent="-207169">
              <a:lnSpc>
                <a:spcPct val="150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用示波器观测波形变换结果，并在同一坐标上定量记录输入输出电压波形。</a:t>
            </a:r>
            <a:endParaRPr kumimoji="1"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169" indent="-207169">
              <a:lnSpc>
                <a:spcPct val="150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断开电阻</a:t>
            </a:r>
            <a:r>
              <a:rPr kumimoji="1"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，观察输出波形变化</a:t>
            </a:r>
            <a:endParaRPr kumimoji="1"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65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7" y="979489"/>
            <a:ext cx="3074194" cy="2512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3" name="文本框 1"/>
          <p:cNvSpPr txBox="1">
            <a:spLocks noChangeArrowheads="1"/>
          </p:cNvSpPr>
          <p:nvPr/>
        </p:nvSpPr>
        <p:spPr bwMode="auto">
          <a:xfrm>
            <a:off x="548680" y="2235893"/>
            <a:ext cx="6300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4" name="文本框 1"/>
          <p:cNvSpPr txBox="1">
            <a:spLocks noChangeArrowheads="1"/>
          </p:cNvSpPr>
          <p:nvPr/>
        </p:nvSpPr>
        <p:spPr bwMode="auto">
          <a:xfrm>
            <a:off x="2060848" y="887572"/>
            <a:ext cx="53935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100K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5" name="文本框 1"/>
          <p:cNvSpPr txBox="1">
            <a:spLocks noChangeArrowheads="1"/>
          </p:cNvSpPr>
          <p:nvPr/>
        </p:nvSpPr>
        <p:spPr bwMode="auto">
          <a:xfrm>
            <a:off x="1947208" y="1736945"/>
            <a:ext cx="6794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1"/>
          <p:cNvSpPr txBox="1">
            <a:spLocks noChangeArrowheads="1"/>
          </p:cNvSpPr>
          <p:nvPr/>
        </p:nvSpPr>
        <p:spPr bwMode="auto">
          <a:xfrm>
            <a:off x="1652474" y="2258976"/>
            <a:ext cx="485775" cy="230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OP07</a:t>
            </a:r>
            <a:endParaRPr lang="zh-CN" altLang="en-US" sz="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18">
            <a:extLst>
              <a:ext uri="{FF2B5EF4-FFF2-40B4-BE49-F238E27FC236}">
                <a16:creationId xmlns:a16="http://schemas.microsoft.com/office/drawing/2014/main" id="{E2DFF8C1-54B0-43BD-B2E5-3C3CE89E1BF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60413" y="2860303"/>
            <a:ext cx="323850" cy="107156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ClrTx/>
              <a:buSzTx/>
              <a:buNone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00A24E6A-EE6B-4D49-9D53-29F69D531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12" y="2836842"/>
            <a:ext cx="6300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68"/>
          <p:cNvSpPr>
            <a:spLocks noChangeArrowheads="1"/>
          </p:cNvSpPr>
          <p:nvPr/>
        </p:nvSpPr>
        <p:spPr bwMode="auto">
          <a:xfrm>
            <a:off x="1" y="492897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zh-CN" altLang="en-US" sz="1350" b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9699" name="Rectangle 270"/>
          <p:cNvSpPr>
            <a:spLocks noChangeArrowheads="1"/>
          </p:cNvSpPr>
          <p:nvPr/>
        </p:nvSpPr>
        <p:spPr bwMode="auto">
          <a:xfrm>
            <a:off x="628650" y="681038"/>
            <a:ext cx="5372100" cy="31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思考题</a:t>
            </a:r>
            <a:endParaRPr lang="en-US" altLang="en-US" sz="135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49872" name="Rectangle 272"/>
          <p:cNvSpPr>
            <a:spLocks noChangeArrowheads="1"/>
          </p:cNvSpPr>
          <p:nvPr/>
        </p:nvSpPr>
        <p:spPr bwMode="auto">
          <a:xfrm>
            <a:off x="317898" y="1122760"/>
            <a:ext cx="5993606" cy="11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85763" indent="-385763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19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  <a:sym typeface="Arial" charset="0"/>
              </a:rPr>
              <a:t>实现方波到三角波变换的积分器电路中，如果输入方波频率很低，则电路将实现什么功能？</a:t>
            </a:r>
            <a:endParaRPr lang="en-US" altLang="zh-CN" sz="195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charset="-122"/>
              <a:sym typeface="Arial" charset="0"/>
            </a:endParaRPr>
          </a:p>
          <a:p>
            <a:pPr marL="385763" indent="-385763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19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  <a:sym typeface="Arial" charset="0"/>
              </a:rPr>
              <a:t>实际积分器与理想积分器有何不同？</a:t>
            </a:r>
            <a:endParaRPr lang="en-US" altLang="en-US" sz="1950" dirty="0">
              <a:latin typeface="Arial" charset="0"/>
              <a:ea typeface="+mn-ea"/>
              <a:sym typeface="Arial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7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latinLnBrk="0" hangingPunct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注意事项</a:t>
            </a:r>
            <a:endParaRPr lang="zh-CN" altLang="zh-CN"/>
          </a:p>
        </p:txBody>
      </p:sp>
      <p:sp>
        <p:nvSpPr>
          <p:cNvPr id="1049876" name="Rectangle 276"/>
          <p:cNvSpPr>
            <a:spLocks noGrp="1" noChangeArrowheads="1"/>
          </p:cNvSpPr>
          <p:nvPr>
            <p:ph idx="4294967295"/>
          </p:nvPr>
        </p:nvSpPr>
        <p:spPr>
          <a:xfrm>
            <a:off x="351235" y="1221581"/>
            <a:ext cx="6425803" cy="2786063"/>
          </a:xfrm>
        </p:spPr>
        <p:txBody>
          <a:bodyPr/>
          <a:lstStyle/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1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、如果积分器输入方波中存在有较小的直流分量，那么积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	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分器的反馈电阻不能太大，以免输出达到饱和而失真；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预习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下次实验：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3.1 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复合信号发生器；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defTabSz="601266" eaLnBrk="1" hangingPunct="1">
              <a:lnSpc>
                <a:spcPct val="150000"/>
              </a:lnSpc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3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、实验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2.1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～</a:t>
            </a: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2.3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合写</a:t>
            </a:r>
            <a:r>
              <a: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一份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实验报告：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  <a:p>
            <a:pPr marL="0" indent="0" algn="ctr" defTabSz="601266" eaLnBrk="1" hangingPunct="1">
              <a:lnSpc>
                <a:spcPct val="150000"/>
              </a:lnSpc>
              <a:buNone/>
              <a:defRPr/>
            </a:pPr>
            <a:r>
              <a:rPr lang="zh-CN" altLang="en-US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文氏桥</a:t>
            </a:r>
            <a:r>
              <a:rPr lang="en-US" altLang="zh-CN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RC</a:t>
            </a:r>
            <a:r>
              <a:rPr lang="zh-CN" altLang="en-US" sz="1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Arial" charset="0"/>
              </a:rPr>
              <a:t>正弦波产生电路、电压比较器及积分器电路设计</a:t>
            </a:r>
            <a:endParaRPr lang="en-US" altLang="zh-CN" sz="15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Arial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78" name="WordArt 278"/>
          <p:cNvSpPr>
            <a:spLocks noChangeShapeType="1" noTextEdit="1"/>
          </p:cNvSpPr>
          <p:nvPr/>
        </p:nvSpPr>
        <p:spPr bwMode="auto">
          <a:xfrm>
            <a:off x="3600450" y="2443162"/>
            <a:ext cx="3143250" cy="30003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2700" b="1" kern="10"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143DA2"/>
                    </a:gs>
                    <a:gs pos="100000">
                      <a:srgbClr val="AED337"/>
                    </a:gs>
                    <a:gs pos="100000">
                      <a:srgbClr val="AED337"/>
                    </a:gs>
                  </a:gsLst>
                  <a:lin ang="0" scaled="1"/>
                </a:gradFill>
                <a:effectLst>
                  <a:outerShdw dist="53879" dir="2700045" algn="ctr" rotWithShape="0">
                    <a:srgbClr val="000000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2700" b="1" kern="10">
              <a:ln w="19050">
                <a:solidFill>
                  <a:srgbClr val="FFFF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143DA2"/>
                  </a:gs>
                  <a:gs pos="100000">
                    <a:srgbClr val="AED337"/>
                  </a:gs>
                  <a:gs pos="100000">
                    <a:srgbClr val="AED337"/>
                  </a:gs>
                </a:gsLst>
                <a:lin ang="0" scaled="1"/>
              </a:gradFill>
              <a:effectLst>
                <a:outerShdw dist="53879" dir="2700045" algn="ctr" rotWithShape="0">
                  <a:srgbClr val="000000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30723" name="Rectangle 280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4797152" y="2931790"/>
            <a:ext cx="1188244" cy="32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latinLnBrk="0" hangingPunct="1">
              <a:buNone/>
            </a:pPr>
            <a:r>
              <a:rPr lang="zh-CN" altLang="zh-CN" b="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UESTC</a:t>
            </a:r>
            <a:endParaRPr lang="zh-CN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9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4_默认设计模板">
  <a:themeElements>
    <a:clrScheme name="默认设计模板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sym typeface="Arial" charset="0"/>
          </a:defRPr>
        </a:defPPr>
      </a:lstStyle>
    </a:lnDef>
  </a:objectDefaults>
  <a:extraClrSchemeLst>
    <a:extraClrScheme>
      <a:clrScheme name="默认设计模板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12606</TotalTime>
  <Words>380</Words>
  <Application>Microsoft Office PowerPoint</Application>
  <DocSecurity>0</DocSecurity>
  <PresentationFormat>自定义</PresentationFormat>
  <Paragraphs>88</Paragraphs>
  <Slides>10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7" baseType="lpstr">
      <vt:lpstr>等线</vt:lpstr>
      <vt:lpstr>黑体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Verdana</vt:lpstr>
      <vt:lpstr>Wingdings</vt:lpstr>
      <vt:lpstr>默认设计模板</vt:lpstr>
      <vt:lpstr>1_默认设计模板</vt:lpstr>
      <vt:lpstr>2_默认设计模板</vt:lpstr>
      <vt:lpstr>3_默认设计模板</vt:lpstr>
      <vt:lpstr>4_默认设计模板</vt:lpstr>
      <vt:lpstr>5_默认设计模板</vt:lpstr>
      <vt:lpstr>6_默认设计模板</vt:lpstr>
      <vt:lpstr>7_默认设计模板</vt:lpstr>
      <vt:lpstr>8_默认设计模板</vt:lpstr>
      <vt:lpstr>9_默认设计模板</vt:lpstr>
      <vt:lpstr>10_默认设计模板</vt:lpstr>
      <vt:lpstr>11_默认设计模板</vt:lpstr>
      <vt:lpstr>12_默认设计模板</vt:lpstr>
      <vt:lpstr>13_默认设计模板</vt:lpstr>
      <vt:lpstr>14_默认设计模板</vt:lpstr>
      <vt:lpstr>Image</vt:lpstr>
      <vt:lpstr>PowerPoint 演示文稿</vt:lpstr>
      <vt:lpstr>内    容</vt:lpstr>
      <vt:lpstr>实验目的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注意事项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电子科技大学</dc:title>
  <dc:creator>dell</dc:creator>
  <cp:lastModifiedBy>超然 刘</cp:lastModifiedBy>
  <cp:revision>309</cp:revision>
  <dcterms:created xsi:type="dcterms:W3CDTF">2013-03-14T09:15:38Z</dcterms:created>
  <dcterms:modified xsi:type="dcterms:W3CDTF">2024-10-20T07:57:41Z</dcterms:modified>
</cp:coreProperties>
</file>
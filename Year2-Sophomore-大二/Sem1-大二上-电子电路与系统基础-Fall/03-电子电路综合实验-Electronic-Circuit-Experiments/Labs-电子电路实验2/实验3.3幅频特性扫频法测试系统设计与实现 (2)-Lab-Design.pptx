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97" r:id="rId3"/>
    <p:sldId id="308" r:id="rId4"/>
    <p:sldId id="312" r:id="rId5"/>
    <p:sldId id="330" r:id="rId6"/>
    <p:sldId id="329" r:id="rId7"/>
    <p:sldId id="314" r:id="rId8"/>
    <p:sldId id="315" r:id="rId9"/>
    <p:sldId id="316" r:id="rId10"/>
    <p:sldId id="285" r:id="rId11"/>
    <p:sldId id="286" r:id="rId12"/>
    <p:sldId id="282" r:id="rId13"/>
    <p:sldId id="293" r:id="rId14"/>
    <p:sldId id="321" r:id="rId15"/>
    <p:sldId id="327" r:id="rId16"/>
    <p:sldId id="322" r:id="rId17"/>
    <p:sldId id="332" r:id="rId18"/>
    <p:sldId id="333" r:id="rId19"/>
    <p:sldId id="320" r:id="rId20"/>
    <p:sldId id="318" r:id="rId21"/>
    <p:sldId id="325" r:id="rId22"/>
    <p:sldId id="317" r:id="rId23"/>
    <p:sldId id="326" r:id="rId24"/>
    <p:sldId id="334" r:id="rId25"/>
    <p:sldId id="339" r:id="rId26"/>
    <p:sldId id="336" r:id="rId27"/>
    <p:sldId id="288" r:id="rId28"/>
    <p:sldId id="290" r:id="rId29"/>
    <p:sldId id="292" r:id="rId30"/>
    <p:sldId id="340" r:id="rId31"/>
    <p:sldId id="295" r:id="rId32"/>
    <p:sldId id="294" r:id="rId33"/>
    <p:sldId id="289" r:id="rId34"/>
    <p:sldId id="276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692AA2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9" autoAdjust="0"/>
    <p:restoredTop sz="94830" autoAdjust="0"/>
  </p:normalViewPr>
  <p:slideViewPr>
    <p:cSldViewPr>
      <p:cViewPr>
        <p:scale>
          <a:sx n="81" d="100"/>
          <a:sy n="81" d="100"/>
        </p:scale>
        <p:origin x="672" y="48"/>
      </p:cViewPr>
      <p:guideLst>
        <p:guide orient="horz" pos="315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10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79CD355-CC34-481F-A29E-7EFCD53AF1FA}" type="datetimeFigureOut">
              <a:rPr lang="zh-CN" altLang="en-US"/>
              <a:pPr>
                <a:defRPr/>
              </a:pPr>
              <a:t>2023/12/21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6B4D374-D4DA-4DAB-B295-C07961D01D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618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B4D374-D4DA-4DAB-B295-C07961D01D25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3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B4D374-D4DA-4DAB-B295-C07961D01D25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913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4D374-D4DA-4DAB-B295-C07961D01D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86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B4D374-D4DA-4DAB-B295-C07961D01D25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26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4D374-D4DA-4DAB-B295-C07961D01D25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24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0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3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5"/>
          <p:cNvGraphicFramePr>
            <a:graphicFrameLocks noChangeAspect="1"/>
          </p:cNvGraphicFramePr>
          <p:nvPr userDrawn="1"/>
        </p:nvGraphicFramePr>
        <p:xfrm>
          <a:off x="1" y="0"/>
          <a:ext cx="4416425" cy="5877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415873" imgH="4546032" progId="Photoshop.Image.6">
                  <p:embed/>
                </p:oleObj>
              </mc:Choice>
              <mc:Fallback>
                <p:oleObj name="Image" r:id="rId2" imgW="3415873" imgH="4546032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1" y="0"/>
                        <a:ext cx="4416425" cy="5877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68"/>
          <p:cNvSpPr>
            <a:spLocks/>
          </p:cNvSpPr>
          <p:nvPr userDrawn="1"/>
        </p:nvSpPr>
        <p:spPr bwMode="ltGray">
          <a:xfrm>
            <a:off x="2239963" y="-14817"/>
            <a:ext cx="6916737" cy="6872817"/>
          </a:xfrm>
          <a:custGeom>
            <a:avLst/>
            <a:gdLst>
              <a:gd name="T0" fmla="*/ 2147483647 w 4357"/>
              <a:gd name="T1" fmla="*/ 0 h 4330"/>
              <a:gd name="T2" fmla="*/ 2147483647 w 4357"/>
              <a:gd name="T3" fmla="*/ 2147483647 h 4330"/>
              <a:gd name="T4" fmla="*/ 2147483647 w 4357"/>
              <a:gd name="T5" fmla="*/ 2147483647 h 4330"/>
              <a:gd name="T6" fmla="*/ 2147483647 w 4357"/>
              <a:gd name="T7" fmla="*/ 2147483647 h 4330"/>
              <a:gd name="T8" fmla="*/ 2147483647 w 4357"/>
              <a:gd name="T9" fmla="*/ 2147483647 h 4330"/>
              <a:gd name="T10" fmla="*/ 2147483647 w 4357"/>
              <a:gd name="T11" fmla="*/ 2147483647 h 4330"/>
              <a:gd name="T12" fmla="*/ 0 w 4357"/>
              <a:gd name="T13" fmla="*/ 2147483647 h 4330"/>
              <a:gd name="T14" fmla="*/ 2147483647 w 4357"/>
              <a:gd name="T15" fmla="*/ 2147483647 h 4330"/>
              <a:gd name="T16" fmla="*/ 2147483647 w 4357"/>
              <a:gd name="T17" fmla="*/ 2147483647 h 4330"/>
              <a:gd name="T18" fmla="*/ 2147483647 w 4357"/>
              <a:gd name="T19" fmla="*/ 0 h 43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357" h="4330">
                <a:moveTo>
                  <a:pt x="189" y="0"/>
                </a:moveTo>
                <a:lnTo>
                  <a:pt x="561" y="181"/>
                </a:lnTo>
                <a:lnTo>
                  <a:pt x="943" y="489"/>
                </a:lnTo>
                <a:lnTo>
                  <a:pt x="1221" y="955"/>
                </a:lnTo>
                <a:lnTo>
                  <a:pt x="1413" y="1618"/>
                </a:lnTo>
                <a:lnTo>
                  <a:pt x="1290" y="2648"/>
                </a:lnTo>
                <a:lnTo>
                  <a:pt x="0" y="4330"/>
                </a:lnTo>
                <a:lnTo>
                  <a:pt x="4349" y="4330"/>
                </a:lnTo>
                <a:lnTo>
                  <a:pt x="4357" y="3"/>
                </a:lnTo>
                <a:lnTo>
                  <a:pt x="189" y="0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tx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6"/>
          <p:cNvSpPr>
            <a:spLocks/>
          </p:cNvSpPr>
          <p:nvPr userDrawn="1"/>
        </p:nvSpPr>
        <p:spPr bwMode="ltGray">
          <a:xfrm>
            <a:off x="0" y="4483101"/>
            <a:ext cx="4122738" cy="2368551"/>
          </a:xfrm>
          <a:custGeom>
            <a:avLst/>
            <a:gdLst>
              <a:gd name="T0" fmla="*/ 0 w 2597"/>
              <a:gd name="T1" fmla="*/ 489 h 1492"/>
              <a:gd name="T2" fmla="*/ 1328 w 2597"/>
              <a:gd name="T3" fmla="*/ 840 h 1492"/>
              <a:gd name="T4" fmla="*/ 2488 w 2597"/>
              <a:gd name="T5" fmla="*/ 0 h 1492"/>
              <a:gd name="T6" fmla="*/ 1712 w 2597"/>
              <a:gd name="T7" fmla="*/ 1124 h 1492"/>
              <a:gd name="T8" fmla="*/ 636 w 2597"/>
              <a:gd name="T9" fmla="*/ 1492 h 1492"/>
              <a:gd name="T10" fmla="*/ 1 w 2597"/>
              <a:gd name="T11" fmla="*/ 1492 h 1492"/>
              <a:gd name="T12" fmla="*/ 0 w 2597"/>
              <a:gd name="T13" fmla="*/ 48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97" h="1492">
                <a:moveTo>
                  <a:pt x="0" y="489"/>
                </a:moveTo>
                <a:cubicBezTo>
                  <a:pt x="247" y="671"/>
                  <a:pt x="632" y="920"/>
                  <a:pt x="1328" y="840"/>
                </a:cubicBezTo>
                <a:cubicBezTo>
                  <a:pt x="2024" y="760"/>
                  <a:pt x="2360" y="131"/>
                  <a:pt x="2488" y="0"/>
                </a:cubicBezTo>
                <a:cubicBezTo>
                  <a:pt x="2597" y="53"/>
                  <a:pt x="1792" y="1068"/>
                  <a:pt x="1712" y="1124"/>
                </a:cubicBezTo>
                <a:cubicBezTo>
                  <a:pt x="1632" y="1180"/>
                  <a:pt x="921" y="1431"/>
                  <a:pt x="636" y="1492"/>
                </a:cubicBezTo>
                <a:lnTo>
                  <a:pt x="1" y="1492"/>
                </a:lnTo>
                <a:lnTo>
                  <a:pt x="0" y="489"/>
                </a:ln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shade val="24314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7" name="Freeform 67"/>
          <p:cNvSpPr>
            <a:spLocks/>
          </p:cNvSpPr>
          <p:nvPr userDrawn="1"/>
        </p:nvSpPr>
        <p:spPr bwMode="gray">
          <a:xfrm>
            <a:off x="-12700" y="4150784"/>
            <a:ext cx="4152900" cy="2707216"/>
          </a:xfrm>
          <a:custGeom>
            <a:avLst/>
            <a:gdLst>
              <a:gd name="T0" fmla="*/ 0 w 2576"/>
              <a:gd name="T1" fmla="*/ 1688 h 1688"/>
              <a:gd name="T2" fmla="*/ 0 w 2576"/>
              <a:gd name="T3" fmla="*/ 1112 h 1688"/>
              <a:gd name="T4" fmla="*/ 2576 w 2576"/>
              <a:gd name="T5" fmla="*/ 0 h 1688"/>
              <a:gd name="T6" fmla="*/ 2135 w 2576"/>
              <a:gd name="T7" fmla="*/ 826 h 1688"/>
              <a:gd name="T8" fmla="*/ 635 w 2576"/>
              <a:gd name="T9" fmla="*/ 1688 h 1688"/>
              <a:gd name="T10" fmla="*/ 0 w 2576"/>
              <a:gd name="T11" fmla="*/ 1688 h 1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76" h="1688">
                <a:moveTo>
                  <a:pt x="0" y="1688"/>
                </a:moveTo>
                <a:lnTo>
                  <a:pt x="0" y="1112"/>
                </a:lnTo>
                <a:cubicBezTo>
                  <a:pt x="1960" y="1464"/>
                  <a:pt x="2419" y="304"/>
                  <a:pt x="2576" y="0"/>
                </a:cubicBezTo>
                <a:lnTo>
                  <a:pt x="2135" y="826"/>
                </a:lnTo>
                <a:cubicBezTo>
                  <a:pt x="1618" y="1315"/>
                  <a:pt x="1286" y="1456"/>
                  <a:pt x="635" y="1688"/>
                </a:cubicBezTo>
                <a:lnTo>
                  <a:pt x="0" y="168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8" name="Rectangle 69"/>
          <p:cNvSpPr>
            <a:spLocks noChangeArrowheads="1"/>
          </p:cNvSpPr>
          <p:nvPr userDrawn="1"/>
        </p:nvSpPr>
        <p:spPr bwMode="gray">
          <a:xfrm>
            <a:off x="4283968" y="3932171"/>
            <a:ext cx="4875212" cy="73124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itchFamily="2" charset="-122"/>
            </a:endParaRPr>
          </a:p>
        </p:txBody>
      </p:sp>
      <p:sp>
        <p:nvSpPr>
          <p:cNvPr id="9" name="Line 75"/>
          <p:cNvSpPr>
            <a:spLocks noChangeShapeType="1"/>
          </p:cNvSpPr>
          <p:nvPr userDrawn="1"/>
        </p:nvSpPr>
        <p:spPr bwMode="white">
          <a:xfrm>
            <a:off x="4297364" y="3913187"/>
            <a:ext cx="485933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70"/>
          <p:cNvSpPr>
            <a:spLocks noChangeShapeType="1"/>
          </p:cNvSpPr>
          <p:nvPr userDrawn="1"/>
        </p:nvSpPr>
        <p:spPr bwMode="white">
          <a:xfrm>
            <a:off x="4284664" y="4677139"/>
            <a:ext cx="485933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28184" y="6266557"/>
            <a:ext cx="498054" cy="5046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83846" y="6266557"/>
            <a:ext cx="2152650" cy="5228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reeform 71"/>
          <p:cNvSpPr>
            <a:spLocks/>
          </p:cNvSpPr>
          <p:nvPr userDrawn="1"/>
        </p:nvSpPr>
        <p:spPr bwMode="gray">
          <a:xfrm>
            <a:off x="920750" y="4101"/>
            <a:ext cx="3822700" cy="6881284"/>
          </a:xfrm>
          <a:custGeom>
            <a:avLst/>
            <a:gdLst>
              <a:gd name="T0" fmla="*/ 858 w 2408"/>
              <a:gd name="T1" fmla="*/ 0 h 4334"/>
              <a:gd name="T2" fmla="*/ 1984 w 2408"/>
              <a:gd name="T3" fmla="*/ 2582 h 4334"/>
              <a:gd name="T4" fmla="*/ 0 w 2408"/>
              <a:gd name="T5" fmla="*/ 4326 h 4334"/>
              <a:gd name="T6" fmla="*/ 1208 w 2408"/>
              <a:gd name="T7" fmla="*/ 4334 h 4334"/>
              <a:gd name="T8" fmla="*/ 2272 w 2408"/>
              <a:gd name="T9" fmla="*/ 2566 h 4334"/>
              <a:gd name="T10" fmla="*/ 998 w 2408"/>
              <a:gd name="T11" fmla="*/ 2 h 4334"/>
              <a:gd name="T12" fmla="*/ 858 w 2408"/>
              <a:gd name="T13" fmla="*/ 0 h 4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08" h="4334">
                <a:moveTo>
                  <a:pt x="858" y="0"/>
                </a:moveTo>
                <a:cubicBezTo>
                  <a:pt x="2020" y="270"/>
                  <a:pt x="2408" y="1630"/>
                  <a:pt x="1984" y="2582"/>
                </a:cubicBezTo>
                <a:cubicBezTo>
                  <a:pt x="1560" y="3534"/>
                  <a:pt x="880" y="3975"/>
                  <a:pt x="0" y="4326"/>
                </a:cubicBezTo>
                <a:lnTo>
                  <a:pt x="1208" y="4334"/>
                </a:lnTo>
                <a:cubicBezTo>
                  <a:pt x="1520" y="4078"/>
                  <a:pt x="2144" y="3342"/>
                  <a:pt x="2272" y="2566"/>
                </a:cubicBezTo>
                <a:cubicBezTo>
                  <a:pt x="2400" y="1790"/>
                  <a:pt x="2278" y="418"/>
                  <a:pt x="998" y="2"/>
                </a:cubicBezTo>
                <a:lnTo>
                  <a:pt x="858" y="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gamma/>
                  <a:tint val="27451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24400" y="740701"/>
            <a:ext cx="4114800" cy="3069299"/>
          </a:xfrm>
        </p:spPr>
        <p:txBody>
          <a:bodyPr/>
          <a:lstStyle>
            <a:lvl1pPr algn="l">
              <a:defRPr sz="4000" b="0" i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587974" y="3913187"/>
            <a:ext cx="4267200" cy="75022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4" name="Rectangle 7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63784"/>
            <a:ext cx="2133600" cy="158749"/>
          </a:xfrm>
        </p:spPr>
        <p:txBody>
          <a:bodyPr/>
          <a:lstStyle>
            <a:lvl1pPr algn="l">
              <a:defRPr sz="1400" b="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7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51085"/>
            <a:ext cx="2895600" cy="171449"/>
          </a:xfrm>
        </p:spPr>
        <p:txBody>
          <a:bodyPr/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7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536267"/>
            <a:ext cx="2133600" cy="186267"/>
          </a:xfrm>
        </p:spPr>
        <p:txBody>
          <a:bodyPr/>
          <a:lstStyle>
            <a:lvl1pPr algn="r">
              <a:defRPr sz="140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2FD69796-C653-4CAA-ABB0-3CC9989C8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020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30" y="6363564"/>
            <a:ext cx="1620180" cy="50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E9137-E8A8-45DE-AFA3-86166ED81C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576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292E6-A4C7-471C-AEB7-23E2B2609D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850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30" y="6336885"/>
            <a:ext cx="1620180" cy="51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7D805-F75B-4902-A94D-21A20A1DCE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999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9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2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3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315" y="6357447"/>
            <a:ext cx="1703154" cy="53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76674-7BCF-4CEA-B359-8E6DBDAF8F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8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5868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5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8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9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29" y="6339048"/>
            <a:ext cx="1588837" cy="500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831E6-0EF1-4407-99B6-168BDC42DF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0758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4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7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8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8F566-EC0D-4ED7-B86E-3A4AFED934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9763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ACE3A3-5BE3-4A0E-B426-312E7B69E4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2383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EC138-B105-48C9-B653-458FF6526E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114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41B1-3CCE-4458-9CAA-7C32A00BE8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3796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08D8B-B3D6-4FD6-965C-B83E12ADEE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71948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8601"/>
            <a:ext cx="71628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925DB-8355-4D0A-897C-1D70323E33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6026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27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5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4101587" imgH="406063" progId="Photoshop.Image.6">
                  <p:embed/>
                </p:oleObj>
              </mc:Choice>
              <mc:Fallback>
                <p:oleObj name="Image" r:id="rId14" imgW="4101587" imgH="406063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95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81711" y="6534345"/>
            <a:ext cx="1981200" cy="2603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14800" y="6635749"/>
            <a:ext cx="838200" cy="2222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692AA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fld id="{00537DD7-F901-41E9-9EDC-57190724AF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38200" y="228601"/>
            <a:ext cx="7162800" cy="56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53201"/>
            <a:ext cx="1676400" cy="2180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4" name="图片 1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591" y="6363564"/>
            <a:ext cx="1620180" cy="50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隶书" pitchFamily="49" charset="-122"/>
          <a:ea typeface="隶书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2"/>
          </a:solidFill>
          <a:latin typeface="隶书" pitchFamily="49" charset="-122"/>
          <a:ea typeface="隶书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 b="1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761909" y="3834045"/>
            <a:ext cx="5382091" cy="1020257"/>
          </a:xfrm>
        </p:spPr>
        <p:txBody>
          <a:bodyPr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实验</a:t>
            </a:r>
            <a:r>
              <a:rPr lang="en-US" altLang="zh-CN" sz="2400" dirty="0">
                <a:solidFill>
                  <a:schemeClr val="bg1"/>
                </a:solidFill>
              </a:rPr>
              <a:t>3.3</a:t>
            </a:r>
            <a:r>
              <a:rPr lang="zh-CN" altLang="zh-CN" sz="2400" dirty="0">
                <a:solidFill>
                  <a:schemeClr val="bg1"/>
                </a:solidFill>
              </a:rPr>
              <a:t>幅频特性的扫频法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algn="ctr"/>
            <a:r>
              <a:rPr lang="zh-CN" altLang="zh-CN" sz="2400" dirty="0">
                <a:solidFill>
                  <a:schemeClr val="bg1"/>
                </a:solidFill>
              </a:rPr>
              <a:t>测试系统设计及实现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ChangeArrowheads="1"/>
          </p:cNvSpPr>
          <p:nvPr/>
        </p:nvSpPr>
        <p:spPr bwMode="auto">
          <a:xfrm>
            <a:off x="1514476" y="50800"/>
            <a:ext cx="5915025" cy="85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solidFill>
                  <a:schemeClr val="bg1"/>
                </a:solidFill>
                <a:latin typeface="隶书" pitchFamily="49" charset="-122"/>
              </a:rPr>
              <a:t>实验目的</a:t>
            </a:r>
          </a:p>
        </p:txBody>
      </p:sp>
      <p:sp>
        <p:nvSpPr>
          <p:cNvPr id="32771" name="Rectangle 9"/>
          <p:cNvSpPr>
            <a:spLocks noChangeArrowheads="1"/>
          </p:cNvSpPr>
          <p:nvPr/>
        </p:nvSpPr>
        <p:spPr bwMode="auto">
          <a:xfrm>
            <a:off x="611188" y="1412776"/>
            <a:ext cx="8316912" cy="4586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zh-CN" sz="3200" dirty="0"/>
              <a:t>（</a:t>
            </a:r>
            <a:r>
              <a:rPr lang="en-US" altLang="zh-CN" sz="3200" dirty="0"/>
              <a:t>1</a:t>
            </a:r>
            <a:r>
              <a:rPr lang="zh-CN" altLang="zh-CN" sz="3200" dirty="0"/>
              <a:t>）学习理解并</a:t>
            </a:r>
            <a:r>
              <a:rPr lang="zh-CN" altLang="en-US" sz="3200" dirty="0"/>
              <a:t>掌握</a:t>
            </a:r>
            <a:r>
              <a:rPr lang="zh-CN" altLang="zh-CN" sz="3200" dirty="0"/>
              <a:t>幅频特性扫频测试系统的构成原理。</a:t>
            </a:r>
          </a:p>
          <a:p>
            <a:r>
              <a:rPr lang="zh-CN" altLang="zh-CN" sz="3200" dirty="0"/>
              <a:t>（</a:t>
            </a:r>
            <a:r>
              <a:rPr lang="en-US" altLang="zh-CN" sz="3200" dirty="0"/>
              <a:t>2</a:t>
            </a:r>
            <a:r>
              <a:rPr lang="zh-CN" altLang="zh-CN" sz="3200" dirty="0"/>
              <a:t>）</a:t>
            </a:r>
            <a:r>
              <a:rPr lang="zh-CN" altLang="en-US" sz="3200" dirty="0"/>
              <a:t>利</a:t>
            </a:r>
            <a:r>
              <a:rPr lang="zh-CN" altLang="zh-CN" sz="3200" dirty="0"/>
              <a:t>用</a:t>
            </a:r>
            <a:r>
              <a:rPr lang="zh-CN" altLang="en-US" sz="3200" dirty="0"/>
              <a:t>本</a:t>
            </a:r>
            <a:r>
              <a:rPr lang="zh-CN" altLang="zh-CN" sz="3200" dirty="0"/>
              <a:t>实验室现有</a:t>
            </a:r>
            <a:r>
              <a:rPr lang="zh-CN" altLang="en-US" sz="3200" dirty="0"/>
              <a:t>条件，</a:t>
            </a:r>
            <a:r>
              <a:rPr lang="zh-CN" altLang="zh-CN" sz="3200" dirty="0"/>
              <a:t>设计并构建幅频特性扫频测试系统的各个模块，</a:t>
            </a:r>
            <a:r>
              <a:rPr lang="zh-CN" altLang="en-US" sz="3200" dirty="0"/>
              <a:t>使用仪器及简单功能电路实现该</a:t>
            </a:r>
            <a:r>
              <a:rPr lang="zh-CN" altLang="zh-CN" sz="3200" dirty="0"/>
              <a:t>测试系统</a:t>
            </a:r>
            <a:r>
              <a:rPr lang="zh-CN" altLang="en-US" sz="3200" dirty="0"/>
              <a:t>，可以测试相应频段内电路的幅频特性</a:t>
            </a:r>
            <a:r>
              <a:rPr lang="zh-CN" altLang="zh-CN" sz="3200" dirty="0"/>
              <a:t>。</a:t>
            </a:r>
          </a:p>
          <a:p>
            <a:r>
              <a:rPr lang="zh-CN" altLang="zh-CN" sz="3200" dirty="0"/>
              <a:t>（</a:t>
            </a:r>
            <a:r>
              <a:rPr lang="en-US" altLang="zh-CN" sz="3200" dirty="0"/>
              <a:t>3</a:t>
            </a:r>
            <a:r>
              <a:rPr lang="zh-CN" altLang="zh-CN" sz="3200" dirty="0"/>
              <a:t>）深入学习示波器、函数发生器的其他使用方法。</a:t>
            </a:r>
            <a:endParaRPr lang="zh-CN" altLang="en-US" sz="3200" b="1" dirty="0">
              <a:latin typeface="隶书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  <a:r>
              <a:rPr lang="en-US" altLang="zh-CN" dirty="0"/>
              <a:t>——</a:t>
            </a:r>
            <a:r>
              <a:rPr lang="zh-CN" altLang="en-US" dirty="0"/>
              <a:t>知识回顾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32723"/>
            <a:ext cx="8229600" cy="4953000"/>
          </a:xfrm>
        </p:spPr>
        <p:txBody>
          <a:bodyPr/>
          <a:lstStyle/>
          <a:p>
            <a:r>
              <a:rPr lang="zh-CN" altLang="en-US" sz="3200" dirty="0"/>
              <a:t>常规的幅频特性测试方法：</a:t>
            </a:r>
            <a:endParaRPr lang="en-US" altLang="zh-CN" sz="3200" dirty="0"/>
          </a:p>
          <a:p>
            <a:pPr lvl="1"/>
            <a:r>
              <a:rPr lang="zh-CN" altLang="en-US" sz="2800" dirty="0"/>
              <a:t>点测法：保持输入激励电压不变，选取一定数量的频率点，测试网络输出端的响应电压，手工逐点描绘出</a:t>
            </a:r>
            <a:r>
              <a:rPr lang="en-US" altLang="zh-CN" sz="2800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aseline="-25000" dirty="0" err="1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sz="2800" dirty="0"/>
              <a:t>关系曲线，可充分代表幅频特性曲线。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zh-CN" altLang="en-US" sz="2800" dirty="0"/>
              <a:t>扫频测试法：用专用仪器进行测试，可以直接在仪器的显示屏上看到被测网络的幅频特性曲线。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005" y="3158970"/>
            <a:ext cx="4104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测试方法简单易于掌握，结果比较粗略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995" y="5455504"/>
            <a:ext cx="4104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测试结果直观，方法比较简单易于掌握，仪器价格昂贵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9" name="TextBox 8"/>
          <p:cNvSpPr txBox="1"/>
          <p:nvPr/>
        </p:nvSpPr>
        <p:spPr>
          <a:xfrm>
            <a:off x="296525" y="818710"/>
            <a:ext cx="522058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幅频特性体现了电压与频率的函数关系，能否直接显示出来呢？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3333CC"/>
                </a:solidFill>
              </a:rPr>
              <a:t>问题：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sz="2800" dirty="0"/>
              <a:t>频率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800" dirty="0"/>
              <a:t>没法直接作为控制信号送显示电路；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3333CC"/>
                </a:solidFill>
              </a:rPr>
              <a:t>解决办法：</a:t>
            </a:r>
            <a:r>
              <a:rPr lang="zh-CN" altLang="en-US" sz="2800" dirty="0"/>
              <a:t>将频率的变化与一个变化的电压关联起来，二者保持变化趋势相同，即需要一个频率能自动的从低到高变化的频率源，并且受到一个自动变化的电压控制</a:t>
            </a:r>
            <a:endParaRPr lang="en-US" altLang="zh-CN" sz="2800" dirty="0"/>
          </a:p>
          <a:p>
            <a:r>
              <a:rPr lang="zh-CN" altLang="en-US" sz="2800" dirty="0"/>
              <a:t>例如，电压每变化</a:t>
            </a:r>
            <a:r>
              <a:rPr lang="en-US" altLang="zh-CN" sz="2800" dirty="0"/>
              <a:t>+</a:t>
            </a:r>
            <a:r>
              <a:rPr lang="el-GR" altLang="zh-CN" sz="2800" dirty="0">
                <a:latin typeface="Times New Roman" pitchFamily="18" charset="0"/>
                <a:ea typeface="宋体"/>
                <a:cs typeface="Times New Roman" pitchFamily="18" charset="0"/>
              </a:rPr>
              <a:t>Δ</a:t>
            </a:r>
            <a:r>
              <a:rPr lang="en-US" altLang="zh-CN" sz="2800" i="1" dirty="0">
                <a:latin typeface="Times New Roman" pitchFamily="18" charset="0"/>
                <a:ea typeface="宋体"/>
                <a:cs typeface="Times New Roman" pitchFamily="18" charset="0"/>
              </a:rPr>
              <a:t>v</a:t>
            </a:r>
            <a:r>
              <a:rPr lang="zh-CN" altLang="en-US" sz="2800" dirty="0">
                <a:ea typeface="宋体"/>
              </a:rPr>
              <a:t>，</a:t>
            </a:r>
            <a:r>
              <a:rPr lang="zh-CN" altLang="en-US" sz="2800" dirty="0"/>
              <a:t>代表着频率增加</a:t>
            </a:r>
            <a:r>
              <a:rPr lang="el-GR" altLang="zh-CN" sz="2800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7165" y="4194085"/>
            <a:ext cx="229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LPF</a:t>
            </a:r>
            <a:r>
              <a:rPr lang="zh-CN" altLang="en-US" dirty="0"/>
              <a:t>幅频特性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5517105" y="1358770"/>
            <a:ext cx="3555395" cy="2875385"/>
            <a:chOff x="5157065" y="2843935"/>
            <a:chExt cx="3555395" cy="2875385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5292080" y="5409220"/>
              <a:ext cx="27903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5472100" y="3023956"/>
              <a:ext cx="0" cy="256528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72100" y="2843935"/>
              <a:ext cx="6300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b="1" baseline="-25000" dirty="0" err="1"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27395" y="5229200"/>
              <a:ext cx="5850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zh-CN" altLang="en-US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5472100" y="3499555"/>
              <a:ext cx="2294656" cy="1862667"/>
            </a:xfrm>
            <a:custGeom>
              <a:avLst/>
              <a:gdLst>
                <a:gd name="connsiteX0" fmla="*/ 0 w 3014134"/>
                <a:gd name="connsiteY0" fmla="*/ 22578 h 1862667"/>
                <a:gd name="connsiteX1" fmla="*/ 993422 w 3014134"/>
                <a:gd name="connsiteY1" fmla="*/ 33867 h 1862667"/>
                <a:gd name="connsiteX2" fmla="*/ 1501422 w 3014134"/>
                <a:gd name="connsiteY2" fmla="*/ 225778 h 1862667"/>
                <a:gd name="connsiteX3" fmla="*/ 2043289 w 3014134"/>
                <a:gd name="connsiteY3" fmla="*/ 1049867 h 1862667"/>
                <a:gd name="connsiteX4" fmla="*/ 2348089 w 3014134"/>
                <a:gd name="connsiteY4" fmla="*/ 1557867 h 1862667"/>
                <a:gd name="connsiteX5" fmla="*/ 3014134 w 3014134"/>
                <a:gd name="connsiteY5" fmla="*/ 1862667 h 186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14134" h="1862667">
                  <a:moveTo>
                    <a:pt x="0" y="22578"/>
                  </a:moveTo>
                  <a:cubicBezTo>
                    <a:pt x="371592" y="11289"/>
                    <a:pt x="743185" y="0"/>
                    <a:pt x="993422" y="33867"/>
                  </a:cubicBezTo>
                  <a:cubicBezTo>
                    <a:pt x="1243659" y="67734"/>
                    <a:pt x="1326444" y="56445"/>
                    <a:pt x="1501422" y="225778"/>
                  </a:cubicBezTo>
                  <a:cubicBezTo>
                    <a:pt x="1676400" y="395111"/>
                    <a:pt x="1902178" y="827852"/>
                    <a:pt x="2043289" y="1049867"/>
                  </a:cubicBezTo>
                  <a:cubicBezTo>
                    <a:pt x="2184400" y="1271882"/>
                    <a:pt x="2186282" y="1422400"/>
                    <a:pt x="2348089" y="1557867"/>
                  </a:cubicBezTo>
                  <a:cubicBezTo>
                    <a:pt x="2509896" y="1693334"/>
                    <a:pt x="2762015" y="1778000"/>
                    <a:pt x="3014134" y="1862667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472100" y="504918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472100" y="468914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472100" y="432910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472100" y="396906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472100" y="360902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472100" y="324898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157065" y="5319210"/>
              <a:ext cx="3150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 flipV="1">
              <a:off x="5832139" y="530842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 flipV="1">
              <a:off x="619217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 flipV="1">
              <a:off x="655221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 flipV="1">
              <a:off x="691225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 flipV="1">
              <a:off x="727229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 flipV="1">
              <a:off x="763233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接箭头连接符 44"/>
          <p:cNvCxnSpPr/>
          <p:nvPr/>
        </p:nvCxnSpPr>
        <p:spPr>
          <a:xfrm>
            <a:off x="6057165" y="3744035"/>
            <a:ext cx="1575174" cy="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22149" y="3338990"/>
            <a:ext cx="630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000" dirty="0"/>
              <a:t>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7265" y="3338990"/>
            <a:ext cx="630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高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1474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幅频特性的显示原理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可以用两个电压信号来控制显示电路，在二维坐标平面上表现出二者的函数关系</a:t>
            </a:r>
            <a:r>
              <a:rPr lang="en-US" altLang="zh-CN" dirty="0"/>
              <a:t>——</a:t>
            </a:r>
            <a:r>
              <a:rPr lang="zh-CN" altLang="en-US" dirty="0"/>
              <a:t>幅频特性曲线</a:t>
            </a:r>
            <a:endParaRPr lang="en-US" altLang="zh-CN" dirty="0"/>
          </a:p>
          <a:p>
            <a:pPr lvl="1"/>
            <a:r>
              <a:rPr lang="zh-CN" altLang="en-US" dirty="0"/>
              <a:t>纵轴的控制电压来自被测试电路，是随输入信号频率变化的输出电压</a:t>
            </a:r>
            <a:r>
              <a:rPr lang="en-US" altLang="zh-CN" dirty="0" err="1"/>
              <a:t>U</a:t>
            </a:r>
            <a:r>
              <a:rPr lang="en-US" altLang="zh-CN" baseline="-25000" dirty="0" err="1"/>
              <a:t>o</a:t>
            </a:r>
            <a:endParaRPr lang="en-US" altLang="zh-CN" baseline="-25000" dirty="0"/>
          </a:p>
          <a:p>
            <a:pPr lvl="1"/>
            <a:r>
              <a:rPr lang="zh-CN" altLang="en-US" dirty="0"/>
              <a:t>横轴的控制电压则来自与输入信号频率产生关联的一个电压信号</a:t>
            </a:r>
            <a:r>
              <a:rPr lang="en-US" altLang="zh-CN" dirty="0"/>
              <a:t>——</a:t>
            </a:r>
            <a:r>
              <a:rPr lang="zh-CN" altLang="en-US" dirty="0"/>
              <a:t>最简单的信号就是线性变化的电压</a:t>
            </a:r>
            <a:endParaRPr lang="en-US" altLang="zh-CN" dirty="0"/>
          </a:p>
          <a:p>
            <a:r>
              <a:rPr lang="zh-CN" altLang="en-US" dirty="0"/>
              <a:t>同时，为了持续性显示，幅频特性曲线应当保持周期性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2186735" y="5229200"/>
            <a:ext cx="5625625" cy="12601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示波器的</a:t>
            </a:r>
            <a:r>
              <a:rPr lang="en-US" altLang="zh-CN" dirty="0"/>
              <a:t>X-Y</a:t>
            </a:r>
            <a:r>
              <a:rPr lang="zh-CN" altLang="en-US" dirty="0"/>
              <a:t>方式就具有显示两路信号函数关系的功能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707015" y="2858279"/>
            <a:ext cx="3613655" cy="1438092"/>
            <a:chOff x="4731274" y="2629765"/>
            <a:chExt cx="3613655" cy="1438092"/>
          </a:xfrm>
        </p:grpSpPr>
        <p:sp>
          <p:nvSpPr>
            <p:cNvPr id="5" name="椭圆 4"/>
            <p:cNvSpPr/>
            <p:nvPr/>
          </p:nvSpPr>
          <p:spPr>
            <a:xfrm>
              <a:off x="6544729" y="2629765"/>
              <a:ext cx="1800200" cy="495055"/>
            </a:xfrm>
            <a:prstGeom prst="ellipse">
              <a:avLst/>
            </a:prstGeom>
            <a:noFill/>
            <a:ln w="19050">
              <a:solidFill>
                <a:srgbClr val="DC861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4731274" y="3572802"/>
              <a:ext cx="1800200" cy="495055"/>
            </a:xfrm>
            <a:prstGeom prst="ellipse">
              <a:avLst/>
            </a:prstGeom>
            <a:noFill/>
            <a:ln w="19050">
              <a:solidFill>
                <a:srgbClr val="DC861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6057165" y="3124820"/>
              <a:ext cx="900100" cy="447982"/>
            </a:xfrm>
            <a:prstGeom prst="straightConnector1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441464" y="3143290"/>
              <a:ext cx="14609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</a:rPr>
                <a:t>关联点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654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X-Y</a:t>
            </a:r>
            <a:r>
              <a:rPr lang="zh-CN" altLang="en-US" dirty="0"/>
              <a:t>方式显示原理</a:t>
            </a:r>
          </a:p>
        </p:txBody>
      </p:sp>
      <p:sp>
        <p:nvSpPr>
          <p:cNvPr id="50" name="内容占位符 49"/>
          <p:cNvSpPr>
            <a:spLocks noGrp="1"/>
          </p:cNvSpPr>
          <p:nvPr>
            <p:ph sz="half" idx="1"/>
          </p:nvPr>
        </p:nvSpPr>
        <p:spPr>
          <a:xfrm>
            <a:off x="244765" y="974259"/>
            <a:ext cx="4327235" cy="5515081"/>
          </a:xfrm>
        </p:spPr>
        <p:txBody>
          <a:bodyPr/>
          <a:lstStyle/>
          <a:p>
            <a:pPr marL="225425" indent="-538163"/>
            <a:r>
              <a:rPr lang="zh-CN" altLang="en-US" b="1" dirty="0"/>
              <a:t>例如</a:t>
            </a:r>
            <a:endParaRPr lang="en-US" altLang="zh-CN" b="1" dirty="0"/>
          </a:p>
          <a:p>
            <a:pPr marL="452438" lvl="1" indent="-365125"/>
            <a:r>
              <a:rPr lang="en-US" altLang="zh-CN" b="1" dirty="0"/>
              <a:t>U</a:t>
            </a:r>
            <a:r>
              <a:rPr lang="en-US" altLang="zh-CN" b="1" baseline="-25000" dirty="0"/>
              <a:t>ch2</a:t>
            </a:r>
            <a:r>
              <a:rPr lang="zh-CN" altLang="en-US" b="1" dirty="0"/>
              <a:t>是待显示的</a:t>
            </a:r>
            <a:r>
              <a:rPr lang="en-US" altLang="zh-CN" b="1" dirty="0"/>
              <a:t>U-f</a:t>
            </a:r>
            <a:r>
              <a:rPr lang="zh-CN" altLang="en-US" b="1" dirty="0"/>
              <a:t>曲线</a:t>
            </a:r>
            <a:endParaRPr lang="en-US" altLang="zh-CN" b="1" dirty="0"/>
          </a:p>
          <a:p>
            <a:pPr marL="452438" lvl="1" indent="-365125"/>
            <a:r>
              <a:rPr lang="en-US" altLang="zh-CN" b="1" dirty="0"/>
              <a:t>u</a:t>
            </a:r>
            <a:r>
              <a:rPr lang="en-US" altLang="zh-CN" b="1" baseline="-25000" dirty="0"/>
              <a:t>ch1</a:t>
            </a:r>
            <a:r>
              <a:rPr lang="zh-CN" altLang="en-US" b="1" dirty="0"/>
              <a:t>是线性变化的电压</a:t>
            </a:r>
            <a:endParaRPr lang="en-US" altLang="zh-CN" b="1" dirty="0"/>
          </a:p>
          <a:p>
            <a:pPr marL="452438" lvl="1" indent="-365125"/>
            <a:r>
              <a:rPr lang="zh-CN" altLang="en-US" b="1" dirty="0"/>
              <a:t>通过设计让线性变化的电压（时间长度</a:t>
            </a:r>
            <a:r>
              <a:rPr lang="en-US" altLang="zh-CN" b="1" dirty="0"/>
              <a:t>T</a:t>
            </a:r>
            <a:r>
              <a:rPr lang="zh-CN" altLang="en-US" b="1" dirty="0"/>
              <a:t>）去控制一个频率源，保证频率的变化与其幅度的变化呈单调关系</a:t>
            </a:r>
            <a:endParaRPr lang="en-US" altLang="zh-CN" b="1" dirty="0"/>
          </a:p>
          <a:p>
            <a:pPr marL="452438" lvl="1" indent="-365125"/>
            <a:r>
              <a:rPr lang="zh-CN" altLang="en-US" b="1" dirty="0"/>
              <a:t>在相同时间</a:t>
            </a:r>
            <a:r>
              <a:rPr lang="en-US" altLang="zh-CN" b="1" dirty="0"/>
              <a:t>T</a:t>
            </a:r>
            <a:r>
              <a:rPr lang="zh-CN" altLang="en-US" b="1" dirty="0"/>
              <a:t>内，用这个频率变化的信号去激励被测的滤波器，可以得到</a:t>
            </a:r>
            <a:r>
              <a:rPr lang="en-US" altLang="zh-CN" b="1" dirty="0"/>
              <a:t>U-f</a:t>
            </a:r>
            <a:r>
              <a:rPr lang="zh-CN" altLang="en-US" b="1" dirty="0"/>
              <a:t>曲线，也即Ｕ</a:t>
            </a:r>
            <a:r>
              <a:rPr lang="en-US" altLang="zh-CN" b="1" baseline="-25000" dirty="0"/>
              <a:t>o</a:t>
            </a:r>
            <a:r>
              <a:rPr lang="zh-CN" altLang="en-US" b="1" dirty="0"/>
              <a:t>与Ｔ的关系也固定了</a:t>
            </a:r>
            <a:endParaRPr lang="en-US" altLang="zh-CN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4" name="Rectangle 29"/>
          <p:cNvSpPr>
            <a:spLocks noChangeArrowheads="1"/>
          </p:cNvSpPr>
          <p:nvPr/>
        </p:nvSpPr>
        <p:spPr bwMode="auto">
          <a:xfrm>
            <a:off x="152400" y="-27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6594574" y="1294692"/>
            <a:ext cx="1368152" cy="16321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5010398" y="2518085"/>
            <a:ext cx="151216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5154414" y="1281255"/>
            <a:ext cx="0" cy="14142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866382" y="2443067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 dirty="0"/>
              <a:t>O</a:t>
            </a:r>
            <a:endParaRPr lang="zh-CN" altLang="en-US" sz="1800" i="1" dirty="0"/>
          </a:p>
        </p:txBody>
      </p:sp>
      <p:cxnSp>
        <p:nvCxnSpPr>
          <p:cNvPr id="36" name="直接连接符 35"/>
          <p:cNvCxnSpPr/>
          <p:nvPr/>
        </p:nvCxnSpPr>
        <p:spPr>
          <a:xfrm>
            <a:off x="6275038" y="2371463"/>
            <a:ext cx="0" cy="14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02586" y="668694"/>
            <a:ext cx="1170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示波器</a:t>
            </a:r>
          </a:p>
        </p:txBody>
      </p:sp>
      <p:grpSp>
        <p:nvGrpSpPr>
          <p:cNvPr id="6" name="组合 5"/>
          <p:cNvGrpSpPr/>
          <p:nvPr/>
        </p:nvGrpSpPr>
        <p:grpSpPr>
          <a:xfrm rot="5400000">
            <a:off x="6108214" y="3367024"/>
            <a:ext cx="2208245" cy="1249983"/>
            <a:chOff x="4485447" y="3085073"/>
            <a:chExt cx="1656184" cy="1249983"/>
          </a:xfrm>
        </p:grpSpPr>
        <p:cxnSp>
          <p:nvCxnSpPr>
            <p:cNvPr id="40" name="直接箭头连接符 39"/>
            <p:cNvCxnSpPr/>
            <p:nvPr/>
          </p:nvCxnSpPr>
          <p:spPr>
            <a:xfrm>
              <a:off x="4629463" y="4012696"/>
              <a:ext cx="151216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V="1">
              <a:off x="4773479" y="3085073"/>
              <a:ext cx="0" cy="106067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4485447" y="395643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dirty="0"/>
                <a:t>O</a:t>
              </a:r>
              <a:endParaRPr lang="zh-CN" altLang="en-US" sz="1800" i="1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736586" y="3965724"/>
              <a:ext cx="31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dirty="0"/>
                <a:t>T</a:t>
              </a:r>
              <a:endParaRPr lang="zh-CN" altLang="en-US" sz="1800" i="1" dirty="0"/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5894103" y="3902729"/>
              <a:ext cx="0" cy="10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3" idx="0"/>
            </p:cNvCxnSpPr>
            <p:nvPr/>
          </p:nvCxnSpPr>
          <p:spPr>
            <a:xfrm rot="16200000">
              <a:off x="5542319" y="3613937"/>
              <a:ext cx="703572" cy="1"/>
            </a:xfrm>
            <a:prstGeom prst="line">
              <a:avLst/>
            </a:prstGeom>
            <a:ln w="19050">
              <a:solidFill>
                <a:srgbClr val="692A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16200000" flipH="1" flipV="1">
              <a:off x="4951094" y="3069685"/>
              <a:ext cx="750543" cy="1135477"/>
            </a:xfrm>
            <a:prstGeom prst="line">
              <a:avLst/>
            </a:prstGeom>
            <a:ln w="19050">
              <a:solidFill>
                <a:srgbClr val="692A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5169150" y="974259"/>
            <a:ext cx="82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u</a:t>
            </a:r>
            <a:r>
              <a:rPr lang="en-US" altLang="zh-CN" sz="2000" baseline="-25000" dirty="0"/>
              <a:t>ch2</a:t>
            </a:r>
            <a:endParaRPr lang="zh-CN" altLang="en-US" sz="2000" baseline="-25000" dirty="0"/>
          </a:p>
        </p:txBody>
      </p:sp>
      <p:sp>
        <p:nvSpPr>
          <p:cNvPr id="53" name="TextBox 52"/>
          <p:cNvSpPr txBox="1"/>
          <p:nvPr/>
        </p:nvSpPr>
        <p:spPr>
          <a:xfrm rot="5400000">
            <a:off x="7288680" y="3600724"/>
            <a:ext cx="1097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u</a:t>
            </a:r>
            <a:r>
              <a:rPr lang="en-US" altLang="zh-CN" sz="2000" baseline="-25000" dirty="0"/>
              <a:t>ch1</a:t>
            </a:r>
            <a:endParaRPr lang="zh-CN" altLang="en-US" sz="2000" baseline="-25000" dirty="0"/>
          </a:p>
        </p:txBody>
      </p:sp>
      <p:grpSp>
        <p:nvGrpSpPr>
          <p:cNvPr id="7" name="组合 27"/>
          <p:cNvGrpSpPr/>
          <p:nvPr/>
        </p:nvGrpSpPr>
        <p:grpSpPr>
          <a:xfrm>
            <a:off x="4938588" y="2765428"/>
            <a:ext cx="1861997" cy="1448256"/>
            <a:chOff x="4725348" y="2435950"/>
            <a:chExt cx="1861997" cy="1086192"/>
          </a:xfrm>
        </p:grpSpPr>
        <p:sp>
          <p:nvSpPr>
            <p:cNvPr id="5" name="TextBox 4"/>
            <p:cNvSpPr txBox="1"/>
            <p:nvPr/>
          </p:nvSpPr>
          <p:spPr>
            <a:xfrm>
              <a:off x="4725348" y="2898894"/>
              <a:ext cx="1305278" cy="62324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二者同频同相</a:t>
              </a: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5580637" y="2435950"/>
              <a:ext cx="0" cy="484601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6021161" y="3336049"/>
              <a:ext cx="566184" cy="1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5730479" y="5049181"/>
            <a:ext cx="3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幅度的变化与频率的变化成比例，因而用于表示为频率坐标</a:t>
            </a:r>
          </a:p>
        </p:txBody>
      </p:sp>
      <p:sp>
        <p:nvSpPr>
          <p:cNvPr id="66" name="任意多边形 65"/>
          <p:cNvSpPr/>
          <p:nvPr/>
        </p:nvSpPr>
        <p:spPr>
          <a:xfrm>
            <a:off x="5154414" y="1727996"/>
            <a:ext cx="1107786" cy="715071"/>
          </a:xfrm>
          <a:custGeom>
            <a:avLst/>
            <a:gdLst>
              <a:gd name="connsiteX0" fmla="*/ 0 w 1511300"/>
              <a:gd name="connsiteY0" fmla="*/ 0 h 482600"/>
              <a:gd name="connsiteX1" fmla="*/ 292100 w 1511300"/>
              <a:gd name="connsiteY1" fmla="*/ 25400 h 482600"/>
              <a:gd name="connsiteX2" fmla="*/ 914400 w 1511300"/>
              <a:gd name="connsiteY2" fmla="*/ 152400 h 482600"/>
              <a:gd name="connsiteX3" fmla="*/ 1511300 w 1511300"/>
              <a:gd name="connsiteY3" fmla="*/ 4826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1300" h="482600">
                <a:moveTo>
                  <a:pt x="0" y="0"/>
                </a:moveTo>
                <a:cubicBezTo>
                  <a:pt x="69850" y="0"/>
                  <a:pt x="139700" y="0"/>
                  <a:pt x="292100" y="25400"/>
                </a:cubicBezTo>
                <a:cubicBezTo>
                  <a:pt x="444500" y="50800"/>
                  <a:pt x="711200" y="76200"/>
                  <a:pt x="914400" y="152400"/>
                </a:cubicBezTo>
                <a:cubicBezTo>
                  <a:pt x="1117600" y="228600"/>
                  <a:pt x="1314450" y="355600"/>
                  <a:pt x="1511300" y="482600"/>
                </a:cubicBezTo>
              </a:path>
            </a:pathLst>
          </a:custGeom>
          <a:noFill/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>
            <a:stCxn id="66" idx="0"/>
          </p:cNvCxnSpPr>
          <p:nvPr/>
        </p:nvCxnSpPr>
        <p:spPr>
          <a:xfrm>
            <a:off x="5154415" y="1727996"/>
            <a:ext cx="175725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94" idx="4"/>
          </p:cNvCxnSpPr>
          <p:nvPr/>
        </p:nvCxnSpPr>
        <p:spPr>
          <a:xfrm>
            <a:off x="5560047" y="1808820"/>
            <a:ext cx="1482469" cy="9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endCxn id="95" idx="7"/>
          </p:cNvCxnSpPr>
          <p:nvPr/>
        </p:nvCxnSpPr>
        <p:spPr>
          <a:xfrm>
            <a:off x="5830077" y="1931196"/>
            <a:ext cx="138100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989812" y="2096153"/>
            <a:ext cx="136563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6124315" y="2257072"/>
            <a:ext cx="135254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98" idx="7"/>
          </p:cNvCxnSpPr>
          <p:nvPr/>
        </p:nvCxnSpPr>
        <p:spPr>
          <a:xfrm>
            <a:off x="6280127" y="2408887"/>
            <a:ext cx="138815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 flipV="1">
            <a:off x="6898250" y="1727996"/>
            <a:ext cx="0" cy="15439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7050650" y="1808820"/>
            <a:ext cx="0" cy="166631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V="1">
            <a:off x="7203050" y="1931197"/>
            <a:ext cx="0" cy="186958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7355450" y="2110784"/>
            <a:ext cx="0" cy="20382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V="1">
            <a:off x="7507850" y="2288873"/>
            <a:ext cx="0" cy="21602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V="1">
            <a:off x="7660250" y="2408888"/>
            <a:ext cx="0" cy="23572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椭圆 80"/>
          <p:cNvSpPr/>
          <p:nvPr/>
        </p:nvSpPr>
        <p:spPr>
          <a:xfrm>
            <a:off x="6867256" y="1688807"/>
            <a:ext cx="45719" cy="6095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7019656" y="1748814"/>
            <a:ext cx="45719" cy="6095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7172055" y="1928834"/>
            <a:ext cx="45719" cy="6095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7317306" y="2048847"/>
            <a:ext cx="45719" cy="6095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7487801" y="2215113"/>
            <a:ext cx="45719" cy="7376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/>
          <p:cNvSpPr/>
          <p:nvPr/>
        </p:nvSpPr>
        <p:spPr>
          <a:xfrm>
            <a:off x="7629256" y="2407935"/>
            <a:ext cx="45719" cy="6095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 87"/>
          <p:cNvSpPr/>
          <p:nvPr/>
        </p:nvSpPr>
        <p:spPr>
          <a:xfrm>
            <a:off x="6896101" y="1714501"/>
            <a:ext cx="790575" cy="749300"/>
          </a:xfrm>
          <a:custGeom>
            <a:avLst/>
            <a:gdLst>
              <a:gd name="connsiteX0" fmla="*/ 0 w 790575"/>
              <a:gd name="connsiteY0" fmla="*/ 0 h 561975"/>
              <a:gd name="connsiteX1" fmla="*/ 152400 w 790575"/>
              <a:gd name="connsiteY1" fmla="*/ 47625 h 561975"/>
              <a:gd name="connsiteX2" fmla="*/ 295275 w 790575"/>
              <a:gd name="connsiteY2" fmla="*/ 190500 h 561975"/>
              <a:gd name="connsiteX3" fmla="*/ 466725 w 790575"/>
              <a:gd name="connsiteY3" fmla="*/ 295275 h 561975"/>
              <a:gd name="connsiteX4" fmla="*/ 609600 w 790575"/>
              <a:gd name="connsiteY4" fmla="*/ 428625 h 561975"/>
              <a:gd name="connsiteX5" fmla="*/ 790575 w 790575"/>
              <a:gd name="connsiteY5" fmla="*/ 561975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0575" h="561975">
                <a:moveTo>
                  <a:pt x="0" y="0"/>
                </a:moveTo>
                <a:cubicBezTo>
                  <a:pt x="51594" y="7937"/>
                  <a:pt x="103188" y="15875"/>
                  <a:pt x="152400" y="47625"/>
                </a:cubicBezTo>
                <a:cubicBezTo>
                  <a:pt x="201613" y="79375"/>
                  <a:pt x="242888" y="149225"/>
                  <a:pt x="295275" y="190500"/>
                </a:cubicBezTo>
                <a:cubicBezTo>
                  <a:pt x="347662" y="231775"/>
                  <a:pt x="414338" y="255588"/>
                  <a:pt x="466725" y="295275"/>
                </a:cubicBezTo>
                <a:cubicBezTo>
                  <a:pt x="519113" y="334963"/>
                  <a:pt x="555625" y="384175"/>
                  <a:pt x="609600" y="428625"/>
                </a:cubicBezTo>
                <a:cubicBezTo>
                  <a:pt x="663575" y="473075"/>
                  <a:pt x="727075" y="517525"/>
                  <a:pt x="790575" y="5619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102170" y="2438890"/>
            <a:ext cx="292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itchFamily="18" charset="0"/>
                <a:cs typeface="Times New Roman" pitchFamily="18" charset="0"/>
              </a:rPr>
              <a:t>T</a:t>
            </a:r>
            <a:endParaRPr lang="zh-CN" altLang="en-US" sz="20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0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81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显示模式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Freeform 2"/>
          <p:cNvSpPr>
            <a:spLocks/>
          </p:cNvSpPr>
          <p:nvPr/>
        </p:nvSpPr>
        <p:spPr bwMode="auto">
          <a:xfrm>
            <a:off x="2204737" y="1436973"/>
            <a:ext cx="1120624" cy="915960"/>
          </a:xfrm>
          <a:custGeom>
            <a:avLst/>
            <a:gdLst>
              <a:gd name="T0" fmla="*/ 0 w 2560"/>
              <a:gd name="T1" fmla="*/ 54 h 649"/>
              <a:gd name="T2" fmla="*/ 975 w 2560"/>
              <a:gd name="T3" fmla="*/ 99 h 649"/>
              <a:gd name="T4" fmla="*/ 2560 w 2560"/>
              <a:gd name="T5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60" h="649">
                <a:moveTo>
                  <a:pt x="0" y="54"/>
                </a:moveTo>
                <a:cubicBezTo>
                  <a:pt x="274" y="27"/>
                  <a:pt x="548" y="0"/>
                  <a:pt x="975" y="99"/>
                </a:cubicBezTo>
                <a:cubicBezTo>
                  <a:pt x="1402" y="198"/>
                  <a:pt x="1981" y="423"/>
                  <a:pt x="2560" y="649"/>
                </a:cubicBezTo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2060722" y="2350311"/>
            <a:ext cx="275987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2204737" y="1116103"/>
            <a:ext cx="0" cy="141422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16705" y="227791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 dirty="0"/>
              <a:t>O</a:t>
            </a:r>
            <a:endParaRPr lang="zh-CN" altLang="en-US" sz="18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3137431" y="2377043"/>
            <a:ext cx="31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 dirty="0"/>
              <a:t>T</a:t>
            </a:r>
            <a:endParaRPr lang="zh-CN" altLang="en-US" sz="1800" i="1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3325361" y="2206311"/>
            <a:ext cx="0" cy="14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5637868" y="3085887"/>
            <a:ext cx="12729" cy="35234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rot="5400000" flipV="1">
            <a:off x="6047883" y="2747573"/>
            <a:ext cx="0" cy="10606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5400000">
            <a:off x="5330173" y="2901221"/>
            <a:ext cx="38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 dirty="0"/>
              <a:t>O</a:t>
            </a:r>
            <a:endParaRPr lang="zh-CN" altLang="en-US" sz="1800" i="1" dirty="0"/>
          </a:p>
        </p:txBody>
      </p:sp>
      <p:sp>
        <p:nvSpPr>
          <p:cNvPr id="15" name="TextBox 14"/>
          <p:cNvSpPr txBox="1"/>
          <p:nvPr/>
        </p:nvSpPr>
        <p:spPr>
          <a:xfrm rot="5400000">
            <a:off x="5302879" y="4587407"/>
            <a:ext cx="42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i="1" dirty="0"/>
              <a:t>T</a:t>
            </a:r>
            <a:endParaRPr lang="zh-CN" altLang="en-US" sz="1800" i="1" dirty="0"/>
          </a:p>
        </p:txBody>
      </p:sp>
      <p:cxnSp>
        <p:nvCxnSpPr>
          <p:cNvPr id="16" name="直接连接符 15"/>
          <p:cNvCxnSpPr/>
          <p:nvPr/>
        </p:nvCxnSpPr>
        <p:spPr>
          <a:xfrm rot="5400000">
            <a:off x="5706563" y="4718073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5" idx="0"/>
          </p:cNvCxnSpPr>
          <p:nvPr/>
        </p:nvCxnSpPr>
        <p:spPr>
          <a:xfrm rot="5400000" flipH="1" flipV="1">
            <a:off x="6011620" y="4458023"/>
            <a:ext cx="1" cy="628103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rot="5400000" flipH="1">
            <a:off x="5242035" y="3688437"/>
            <a:ext cx="1494165" cy="673108"/>
          </a:xfrm>
          <a:prstGeom prst="line">
            <a:avLst/>
          </a:prstGeom>
          <a:ln w="19050">
            <a:solidFill>
              <a:srgbClr val="692A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5364088" y="1187068"/>
            <a:ext cx="1368152" cy="16321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4808290" y="1148747"/>
            <a:ext cx="450050" cy="22706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681889" y="728700"/>
            <a:ext cx="67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CH2</a:t>
            </a:r>
            <a:endParaRPr lang="zh-CN" altLang="en-US" sz="1800" dirty="0"/>
          </a:p>
        </p:txBody>
      </p:sp>
      <p:sp>
        <p:nvSpPr>
          <p:cNvPr id="24" name="上箭头 23"/>
          <p:cNvSpPr/>
          <p:nvPr/>
        </p:nvSpPr>
        <p:spPr>
          <a:xfrm>
            <a:off x="6513539" y="2819249"/>
            <a:ext cx="173696" cy="345416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6642231" y="2771617"/>
            <a:ext cx="67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CH1</a:t>
            </a:r>
            <a:endParaRPr lang="zh-CN" altLang="en-US" sz="1800" dirty="0"/>
          </a:p>
        </p:txBody>
      </p:sp>
      <p:sp>
        <p:nvSpPr>
          <p:cNvPr id="27" name="TextBox 26"/>
          <p:cNvSpPr txBox="1"/>
          <p:nvPr/>
        </p:nvSpPr>
        <p:spPr>
          <a:xfrm>
            <a:off x="2816805" y="3264061"/>
            <a:ext cx="1350150" cy="12003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二者同频且相位相同。</a:t>
            </a:r>
          </a:p>
        </p:txBody>
      </p:sp>
      <p:sp>
        <p:nvSpPr>
          <p:cNvPr id="28" name="任意多边形 27"/>
          <p:cNvSpPr/>
          <p:nvPr/>
        </p:nvSpPr>
        <p:spPr>
          <a:xfrm>
            <a:off x="3714775" y="2459050"/>
            <a:ext cx="552450" cy="774700"/>
          </a:xfrm>
          <a:custGeom>
            <a:avLst/>
            <a:gdLst>
              <a:gd name="connsiteX0" fmla="*/ 0 w 552450"/>
              <a:gd name="connsiteY0" fmla="*/ 581025 h 581025"/>
              <a:gd name="connsiteX1" fmla="*/ 295275 w 552450"/>
              <a:gd name="connsiteY1" fmla="*/ 219075 h 581025"/>
              <a:gd name="connsiteX2" fmla="*/ 552450 w 552450"/>
              <a:gd name="connsiteY2" fmla="*/ 0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581025">
                <a:moveTo>
                  <a:pt x="0" y="581025"/>
                </a:moveTo>
                <a:cubicBezTo>
                  <a:pt x="101600" y="448468"/>
                  <a:pt x="203200" y="315912"/>
                  <a:pt x="295275" y="219075"/>
                </a:cubicBezTo>
                <a:cubicBezTo>
                  <a:pt x="387350" y="122237"/>
                  <a:pt x="469900" y="61118"/>
                  <a:pt x="552450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4181501" y="4122750"/>
            <a:ext cx="1343025" cy="181353"/>
          </a:xfrm>
          <a:custGeom>
            <a:avLst/>
            <a:gdLst>
              <a:gd name="connsiteX0" fmla="*/ 0 w 1343025"/>
              <a:gd name="connsiteY0" fmla="*/ 0 h 136015"/>
              <a:gd name="connsiteX1" fmla="*/ 752475 w 1343025"/>
              <a:gd name="connsiteY1" fmla="*/ 133350 h 136015"/>
              <a:gd name="connsiteX2" fmla="*/ 1343025 w 1343025"/>
              <a:gd name="connsiteY2" fmla="*/ 76200 h 136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3025" h="136015">
                <a:moveTo>
                  <a:pt x="0" y="0"/>
                </a:moveTo>
                <a:cubicBezTo>
                  <a:pt x="264319" y="60325"/>
                  <a:pt x="528638" y="120650"/>
                  <a:pt x="752475" y="133350"/>
                </a:cubicBezTo>
                <a:cubicBezTo>
                  <a:pt x="976312" y="146050"/>
                  <a:pt x="1159668" y="111125"/>
                  <a:pt x="1343025" y="762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2204738" y="1436974"/>
            <a:ext cx="3445859" cy="2419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5650596" y="1461169"/>
            <a:ext cx="0" cy="180289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5607115" y="1401163"/>
            <a:ext cx="61504" cy="769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 flipV="1">
            <a:off x="5787135" y="1461171"/>
            <a:ext cx="0" cy="453757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5922150" y="1612004"/>
            <a:ext cx="0" cy="408671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6057165" y="1842211"/>
            <a:ext cx="0" cy="355647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 flipV="1">
            <a:off x="6192181" y="2061238"/>
            <a:ext cx="14253" cy="29208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6325672" y="2362615"/>
            <a:ext cx="0" cy="244346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166955" y="1461169"/>
            <a:ext cx="1726668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6" idx="1"/>
          </p:cNvCxnSpPr>
          <p:nvPr/>
        </p:nvCxnSpPr>
        <p:spPr>
          <a:xfrm>
            <a:off x="2631538" y="1576696"/>
            <a:ext cx="3290613" cy="3530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72" idx="2"/>
          </p:cNvCxnSpPr>
          <p:nvPr/>
        </p:nvCxnSpPr>
        <p:spPr>
          <a:xfrm flipV="1">
            <a:off x="2897814" y="1822858"/>
            <a:ext cx="3142852" cy="3255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122840" y="2061236"/>
            <a:ext cx="3071586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637868" y="3561403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5652121" y="3861436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5652121" y="4161469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652121" y="4461503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652121" y="4761536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rot="5400000">
            <a:off x="2401769" y="2315273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rot="5400000">
            <a:off x="2626794" y="2315273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rot="5400000">
            <a:off x="2851819" y="2315273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rot="5400000">
            <a:off x="3076844" y="2315273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2447763" y="1478111"/>
            <a:ext cx="0" cy="7282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5721113" y="3561403"/>
            <a:ext cx="3945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>
            <a:off x="5770636" y="1401163"/>
            <a:ext cx="61504" cy="769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/>
        </p:nvCxnSpPr>
        <p:spPr>
          <a:xfrm flipV="1">
            <a:off x="2672789" y="1581183"/>
            <a:ext cx="0" cy="7282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5721113" y="3861436"/>
            <a:ext cx="17251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/>
          <p:cNvSpPr/>
          <p:nvPr/>
        </p:nvSpPr>
        <p:spPr>
          <a:xfrm>
            <a:off x="5905651" y="1581183"/>
            <a:ext cx="61504" cy="769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连接符 66"/>
          <p:cNvCxnSpPr/>
          <p:nvPr/>
        </p:nvCxnSpPr>
        <p:spPr>
          <a:xfrm flipH="1" flipV="1">
            <a:off x="2897814" y="1823216"/>
            <a:ext cx="1" cy="42616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5742130" y="4161469"/>
            <a:ext cx="306034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/>
          <p:cNvSpPr/>
          <p:nvPr/>
        </p:nvSpPr>
        <p:spPr>
          <a:xfrm>
            <a:off x="6040666" y="1784383"/>
            <a:ext cx="61504" cy="769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/>
          <p:cNvCxnSpPr/>
          <p:nvPr/>
        </p:nvCxnSpPr>
        <p:spPr>
          <a:xfrm flipH="1" flipV="1">
            <a:off x="3122838" y="2036297"/>
            <a:ext cx="2" cy="211073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742130" y="4461503"/>
            <a:ext cx="45005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/>
          <p:cNvSpPr/>
          <p:nvPr/>
        </p:nvSpPr>
        <p:spPr>
          <a:xfrm>
            <a:off x="6175681" y="2044295"/>
            <a:ext cx="61504" cy="769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连接符 80"/>
          <p:cNvCxnSpPr>
            <a:stCxn id="79" idx="2"/>
          </p:cNvCxnSpPr>
          <p:nvPr/>
        </p:nvCxnSpPr>
        <p:spPr>
          <a:xfrm>
            <a:off x="3325362" y="2362615"/>
            <a:ext cx="3000311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椭圆 82"/>
          <p:cNvSpPr/>
          <p:nvPr/>
        </p:nvSpPr>
        <p:spPr>
          <a:xfrm>
            <a:off x="6310696" y="2344329"/>
            <a:ext cx="61504" cy="769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/>
          <p:cNvCxnSpPr/>
          <p:nvPr/>
        </p:nvCxnSpPr>
        <p:spPr>
          <a:xfrm>
            <a:off x="4436985" y="2171244"/>
            <a:ext cx="0" cy="14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rot="5400000">
            <a:off x="3513393" y="2280207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rot="5400000">
            <a:off x="3738418" y="2280207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rot="5400000">
            <a:off x="3963443" y="2280207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5400000">
            <a:off x="4188468" y="2280207"/>
            <a:ext cx="919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H="1" flipV="1">
            <a:off x="4436983" y="1461169"/>
            <a:ext cx="2" cy="78849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reeform 2"/>
          <p:cNvSpPr>
            <a:spLocks/>
          </p:cNvSpPr>
          <p:nvPr/>
        </p:nvSpPr>
        <p:spPr bwMode="auto">
          <a:xfrm flipH="1">
            <a:off x="3325362" y="1446655"/>
            <a:ext cx="1111621" cy="915960"/>
          </a:xfrm>
          <a:custGeom>
            <a:avLst/>
            <a:gdLst>
              <a:gd name="T0" fmla="*/ 0 w 2560"/>
              <a:gd name="T1" fmla="*/ 54 h 649"/>
              <a:gd name="T2" fmla="*/ 975 w 2560"/>
              <a:gd name="T3" fmla="*/ 99 h 649"/>
              <a:gd name="T4" fmla="*/ 2560 w 2560"/>
              <a:gd name="T5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60" h="649">
                <a:moveTo>
                  <a:pt x="0" y="54"/>
                </a:moveTo>
                <a:cubicBezTo>
                  <a:pt x="274" y="27"/>
                  <a:pt x="548" y="0"/>
                  <a:pt x="975" y="99"/>
                </a:cubicBezTo>
                <a:cubicBezTo>
                  <a:pt x="1402" y="198"/>
                  <a:pt x="1981" y="423"/>
                  <a:pt x="2560" y="649"/>
                </a:cubicBezTo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84" name="直接连接符 83"/>
          <p:cNvCxnSpPr/>
          <p:nvPr/>
        </p:nvCxnSpPr>
        <p:spPr>
          <a:xfrm rot="5400000">
            <a:off x="5720816" y="6255320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5652121" y="5098649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5652121" y="5398683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5652121" y="5698716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5652121" y="5998749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5652121" y="6298783"/>
            <a:ext cx="689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5735366" y="5098649"/>
            <a:ext cx="3945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V="1">
            <a:off x="5637867" y="4772078"/>
            <a:ext cx="672830" cy="1526705"/>
          </a:xfrm>
          <a:prstGeom prst="line">
            <a:avLst/>
          </a:prstGeom>
          <a:ln w="19050">
            <a:solidFill>
              <a:srgbClr val="692A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任意多边形 100"/>
          <p:cNvSpPr/>
          <p:nvPr/>
        </p:nvSpPr>
        <p:spPr>
          <a:xfrm>
            <a:off x="6096000" y="1282700"/>
            <a:ext cx="514350" cy="736600"/>
          </a:xfrm>
          <a:custGeom>
            <a:avLst/>
            <a:gdLst>
              <a:gd name="connsiteX0" fmla="*/ 514350 w 514350"/>
              <a:gd name="connsiteY0" fmla="*/ 552450 h 552450"/>
              <a:gd name="connsiteX1" fmla="*/ 238125 w 514350"/>
              <a:gd name="connsiteY1" fmla="*/ 133350 h 552450"/>
              <a:gd name="connsiteX2" fmla="*/ 0 w 51435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" h="552450">
                <a:moveTo>
                  <a:pt x="514350" y="552450"/>
                </a:moveTo>
                <a:cubicBezTo>
                  <a:pt x="419100" y="388937"/>
                  <a:pt x="323850" y="225425"/>
                  <a:pt x="238125" y="133350"/>
                </a:cubicBezTo>
                <a:cubicBezTo>
                  <a:pt x="152400" y="41275"/>
                  <a:pt x="76200" y="20637"/>
                  <a:pt x="0" y="0"/>
                </a:cubicBezTo>
              </a:path>
            </a:pathLst>
          </a:custGeom>
          <a:noFill/>
          <a:ln>
            <a:solidFill>
              <a:srgbClr val="3333CC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 101"/>
          <p:cNvSpPr/>
          <p:nvPr/>
        </p:nvSpPr>
        <p:spPr>
          <a:xfrm>
            <a:off x="5781676" y="1305329"/>
            <a:ext cx="619125" cy="764771"/>
          </a:xfrm>
          <a:custGeom>
            <a:avLst/>
            <a:gdLst>
              <a:gd name="connsiteX0" fmla="*/ 0 w 619125"/>
              <a:gd name="connsiteY0" fmla="*/ 2078 h 573578"/>
              <a:gd name="connsiteX1" fmla="*/ 247650 w 619125"/>
              <a:gd name="connsiteY1" fmla="*/ 87803 h 573578"/>
              <a:gd name="connsiteX2" fmla="*/ 619125 w 619125"/>
              <a:gd name="connsiteY2" fmla="*/ 573578 h 57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9125" h="573578">
                <a:moveTo>
                  <a:pt x="0" y="2078"/>
                </a:moveTo>
                <a:cubicBezTo>
                  <a:pt x="72231" y="-2685"/>
                  <a:pt x="144463" y="-7447"/>
                  <a:pt x="247650" y="87803"/>
                </a:cubicBezTo>
                <a:cubicBezTo>
                  <a:pt x="350837" y="183053"/>
                  <a:pt x="484981" y="378315"/>
                  <a:pt x="619125" y="573578"/>
                </a:cubicBezTo>
              </a:path>
            </a:pathLst>
          </a:custGeom>
          <a:noFill/>
          <a:ln>
            <a:solidFill>
              <a:srgbClr val="3333CC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67F6CF-6DF9-4D09-A774-DD7677CF56C1}"/>
              </a:ext>
            </a:extLst>
          </p:cNvPr>
          <p:cNvSpPr/>
          <p:nvPr/>
        </p:nvSpPr>
        <p:spPr>
          <a:xfrm>
            <a:off x="351633" y="2908628"/>
            <a:ext cx="19885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为了持续性显示，幅频特性曲线应当保持周期性，</a:t>
            </a:r>
            <a:r>
              <a:rPr lang="en-US" altLang="zh-CN" dirty="0"/>
              <a:t>X</a:t>
            </a:r>
            <a:r>
              <a:rPr lang="zh-CN" altLang="en-US" dirty="0"/>
              <a:t>轴采用周期性三角波信号</a:t>
            </a:r>
          </a:p>
        </p:txBody>
      </p:sp>
    </p:spTree>
    <p:extLst>
      <p:ext uri="{BB962C8B-B14F-4D97-AF65-F5344CB8AC3E}">
        <p14:creationId xmlns:p14="http://schemas.microsoft.com/office/powerpoint/2010/main" val="117730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压控信号源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6535" y="773705"/>
            <a:ext cx="8425756" cy="1609925"/>
          </a:xfrm>
        </p:spPr>
        <p:txBody>
          <a:bodyPr/>
          <a:lstStyle/>
          <a:p>
            <a:r>
              <a:rPr lang="zh-CN" altLang="en-US" dirty="0"/>
              <a:t>压控信号源是电压控制正弦振荡电路（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VCO</a:t>
            </a:r>
            <a:r>
              <a:rPr lang="zh-CN" altLang="en-US" dirty="0"/>
              <a:t>），其输出信号频率值的大小与输入信号电平的高低成比例。</a:t>
            </a:r>
            <a:endParaRPr lang="en-US" altLang="zh-CN" dirty="0"/>
          </a:p>
        </p:txBody>
      </p:sp>
      <p:sp>
        <p:nvSpPr>
          <p:cNvPr id="6" name="Rectangle 49"/>
          <p:cNvSpPr>
            <a:spLocks noChangeArrowheads="1"/>
          </p:cNvSpPr>
          <p:nvPr/>
        </p:nvSpPr>
        <p:spPr bwMode="auto">
          <a:xfrm>
            <a:off x="152400" y="-276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6FB83E-5132-4E1C-8F78-0235BD57D26D}"/>
              </a:ext>
            </a:extLst>
          </p:cNvPr>
          <p:cNvGrpSpPr/>
          <p:nvPr/>
        </p:nvGrpSpPr>
        <p:grpSpPr>
          <a:xfrm>
            <a:off x="2489025" y="1808820"/>
            <a:ext cx="3543702" cy="900100"/>
            <a:chOff x="5460910" y="861560"/>
            <a:chExt cx="3543702" cy="675075"/>
          </a:xfrm>
        </p:grpSpPr>
        <p:sp>
          <p:nvSpPr>
            <p:cNvPr id="8" name="圆角矩形 87">
              <a:extLst>
                <a:ext uri="{FF2B5EF4-FFF2-40B4-BE49-F238E27FC236}">
                  <a16:creationId xmlns:a16="http://schemas.microsoft.com/office/drawing/2014/main" id="{42A93406-F5C8-4F1B-880F-32D109863D1E}"/>
                </a:ext>
              </a:extLst>
            </p:cNvPr>
            <p:cNvSpPr/>
            <p:nvPr/>
          </p:nvSpPr>
          <p:spPr>
            <a:xfrm>
              <a:off x="6196714" y="861560"/>
              <a:ext cx="1842219" cy="67507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1">
                      <a:lumMod val="50000"/>
                    </a:schemeClr>
                  </a:solidFill>
                </a:rPr>
                <a:t>压控振荡器</a:t>
              </a: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54E74A93-4770-478C-BE3D-457F47EF0A0B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5732896" y="1199097"/>
              <a:ext cx="463818" cy="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A0227D24-51C1-4602-84A4-2DEC0982CC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8933" y="1199097"/>
              <a:ext cx="487445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40">
              <a:extLst>
                <a:ext uri="{FF2B5EF4-FFF2-40B4-BE49-F238E27FC236}">
                  <a16:creationId xmlns:a16="http://schemas.microsoft.com/office/drawing/2014/main" id="{FFD7B18F-638F-4CB2-9C4D-0DCBCB882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0910" y="996575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1" u="none" strike="noStrike" cap="none" normalizeH="0" baseline="0" dirty="0" err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b="1" i="0" u="none" strike="noStrike" cap="none" normalizeH="0" baseline="-30000" dirty="0" err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kumimoji="0" lang="en-US" altLang="zh-CN" sz="4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id="{2B61F034-7A03-424B-B5A5-CE9B687F5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8583" y="1052360"/>
              <a:ext cx="456029" cy="412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1" u="none" strike="noStrike" cap="none" normalizeH="0" baseline="0" dirty="0" err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b="1" i="0" u="none" strike="noStrike" cap="none" normalizeH="0" baseline="-30000" dirty="0" err="1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4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ED89F59-8DCE-48C9-AC77-213905DAF0DC}"/>
              </a:ext>
            </a:extLst>
          </p:cNvPr>
          <p:cNvGrpSpPr/>
          <p:nvPr/>
        </p:nvGrpSpPr>
        <p:grpSpPr>
          <a:xfrm>
            <a:off x="648173" y="2648225"/>
            <a:ext cx="3923827" cy="3780420"/>
            <a:chOff x="648173" y="2648225"/>
            <a:chExt cx="3923827" cy="3780420"/>
          </a:xfrm>
        </p:grpSpPr>
        <p:sp>
          <p:nvSpPr>
            <p:cNvPr id="13" name="AutoShape 47">
              <a:extLst>
                <a:ext uri="{FF2B5EF4-FFF2-40B4-BE49-F238E27FC236}">
                  <a16:creationId xmlns:a16="http://schemas.microsoft.com/office/drawing/2014/main" id="{1A5FFB59-39A8-46C4-9732-8225AA5E3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840" y="4205699"/>
              <a:ext cx="3638112" cy="8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AutoShape 45">
              <a:extLst>
                <a:ext uri="{FF2B5EF4-FFF2-40B4-BE49-F238E27FC236}">
                  <a16:creationId xmlns:a16="http://schemas.microsoft.com/office/drawing/2014/main" id="{A2D9BE8C-211F-4A8E-B9D0-822B864B45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6269" y="3214900"/>
              <a:ext cx="1494424" cy="99079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AutoShape 43">
              <a:extLst>
                <a:ext uri="{FF2B5EF4-FFF2-40B4-BE49-F238E27FC236}">
                  <a16:creationId xmlns:a16="http://schemas.microsoft.com/office/drawing/2014/main" id="{628D11A6-368D-401B-B010-3108104D6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7197" y="3218978"/>
              <a:ext cx="1516304" cy="98756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Text Box 41">
              <a:extLst>
                <a:ext uri="{FF2B5EF4-FFF2-40B4-BE49-F238E27FC236}">
                  <a16:creationId xmlns:a16="http://schemas.microsoft.com/office/drawing/2014/main" id="{1EA6A061-B2BB-4C1D-9932-0E9ECA998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5809" y="3977053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" name="Text Box 40">
              <a:extLst>
                <a:ext uri="{FF2B5EF4-FFF2-40B4-BE49-F238E27FC236}">
                  <a16:creationId xmlns:a16="http://schemas.microsoft.com/office/drawing/2014/main" id="{4EB2E795-3636-476F-8995-181409A5A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301" y="2648225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" name="Text Box 39">
              <a:extLst>
                <a:ext uri="{FF2B5EF4-FFF2-40B4-BE49-F238E27FC236}">
                  <a16:creationId xmlns:a16="http://schemas.microsoft.com/office/drawing/2014/main" id="{B3C8B11D-DB18-4C39-9C1D-9AD9AAAE7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173" y="406597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等线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" name="AutoShape 38">
              <a:extLst>
                <a:ext uri="{FF2B5EF4-FFF2-40B4-BE49-F238E27FC236}">
                  <a16:creationId xmlns:a16="http://schemas.microsoft.com/office/drawing/2014/main" id="{180F50CF-8861-4FD5-9E76-09E4C3FD5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460" y="5463251"/>
              <a:ext cx="3590493" cy="8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AutoShape 37">
              <a:extLst>
                <a:ext uri="{FF2B5EF4-FFF2-40B4-BE49-F238E27FC236}">
                  <a16:creationId xmlns:a16="http://schemas.microsoft.com/office/drawing/2014/main" id="{23618117-829C-4E0C-85C4-6B95BB4BA6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6270" y="4586776"/>
              <a:ext cx="635" cy="18418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Text Box 34">
              <a:extLst>
                <a:ext uri="{FF2B5EF4-FFF2-40B4-BE49-F238E27FC236}">
                  <a16:creationId xmlns:a16="http://schemas.microsoft.com/office/drawing/2014/main" id="{70E5EA46-B355-47E1-B4B9-02982BF5B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332" y="526001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2" name="Text Box 33">
              <a:extLst>
                <a:ext uri="{FF2B5EF4-FFF2-40B4-BE49-F238E27FC236}">
                  <a16:creationId xmlns:a16="http://schemas.microsoft.com/office/drawing/2014/main" id="{6290635F-1032-4830-86A5-8720BCBA0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697" y="531082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等线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686DB8E9-BCA9-465F-9B5D-2DC1B522E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470" y="410069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B7556A4E-5AF4-4C11-B2AE-DB253E526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2223" y="592014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8D4D16B2-AD55-4E5A-808C-1E89E0C38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640" y="4090529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2T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6" name="Text Box 3">
              <a:extLst>
                <a:ext uri="{FF2B5EF4-FFF2-40B4-BE49-F238E27FC236}">
                  <a16:creationId xmlns:a16="http://schemas.microsoft.com/office/drawing/2014/main" id="{FAFDC498-5111-4A83-A320-64B1E0825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225" y="538008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2T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7" name="Text Box 2">
              <a:extLst>
                <a:ext uri="{FF2B5EF4-FFF2-40B4-BE49-F238E27FC236}">
                  <a16:creationId xmlns:a16="http://schemas.microsoft.com/office/drawing/2014/main" id="{A47006F4-F633-4C6C-80A3-90CDBF3D0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318" y="4388418"/>
              <a:ext cx="456029" cy="318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298B006-3007-4579-9C07-091D4ECF7240}"/>
                </a:ext>
              </a:extLst>
            </p:cNvPr>
            <p:cNvGrpSpPr/>
            <p:nvPr/>
          </p:nvGrpSpPr>
          <p:grpSpPr>
            <a:xfrm>
              <a:off x="2391944" y="4911864"/>
              <a:ext cx="1510701" cy="1088557"/>
              <a:chOff x="2760375" y="2626280"/>
              <a:chExt cx="1510701" cy="816418"/>
            </a:xfrm>
          </p:grpSpPr>
          <p:grpSp>
            <p:nvGrpSpPr>
              <p:cNvPr id="29" name="Group 2">
                <a:extLst>
                  <a:ext uri="{FF2B5EF4-FFF2-40B4-BE49-F238E27FC236}">
                    <a16:creationId xmlns:a16="http://schemas.microsoft.com/office/drawing/2014/main" id="{C520C7B9-1B69-455E-8DF2-D6D4343528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989199" y="2632608"/>
                <a:ext cx="281877" cy="810090"/>
                <a:chOff x="2340" y="1596"/>
                <a:chExt cx="1735" cy="1519"/>
              </a:xfrm>
            </p:grpSpPr>
            <p:sp>
              <p:nvSpPr>
                <p:cNvPr id="84" name="Freeform 3">
                  <a:extLst>
                    <a:ext uri="{FF2B5EF4-FFF2-40B4-BE49-F238E27FC236}">
                      <a16:creationId xmlns:a16="http://schemas.microsoft.com/office/drawing/2014/main" id="{9158B5FA-CDBB-480D-99A0-FF4212C23D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4">
                  <a:extLst>
                    <a:ext uri="{FF2B5EF4-FFF2-40B4-BE49-F238E27FC236}">
                      <a16:creationId xmlns:a16="http://schemas.microsoft.com/office/drawing/2014/main" id="{77D94282-8557-4B4C-99C6-837CD710E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5">
                  <a:extLst>
                    <a:ext uri="{FF2B5EF4-FFF2-40B4-BE49-F238E27FC236}">
                      <a16:creationId xmlns:a16="http://schemas.microsoft.com/office/drawing/2014/main" id="{6416E583-21CD-484E-B1CD-0104FFFCFF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6">
                  <a:extLst>
                    <a:ext uri="{FF2B5EF4-FFF2-40B4-BE49-F238E27FC236}">
                      <a16:creationId xmlns:a16="http://schemas.microsoft.com/office/drawing/2014/main" id="{003E221F-E60E-4C4A-BD72-CCB8A325E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8" name="Freeform 7">
                  <a:extLst>
                    <a:ext uri="{FF2B5EF4-FFF2-40B4-BE49-F238E27FC236}">
                      <a16:creationId xmlns:a16="http://schemas.microsoft.com/office/drawing/2014/main" id="{EB86C0FF-1637-4A21-85A3-D13956A1A7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2">
                <a:extLst>
                  <a:ext uri="{FF2B5EF4-FFF2-40B4-BE49-F238E27FC236}">
                    <a16:creationId xmlns:a16="http://schemas.microsoft.com/office/drawing/2014/main" id="{B32109F8-6532-4794-ADFE-52C160D15C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742450" y="2632608"/>
                <a:ext cx="246750" cy="810090"/>
                <a:chOff x="2340" y="1596"/>
                <a:chExt cx="1735" cy="1519"/>
              </a:xfrm>
            </p:grpSpPr>
            <p:sp>
              <p:nvSpPr>
                <p:cNvPr id="79" name="Freeform 3">
                  <a:extLst>
                    <a:ext uri="{FF2B5EF4-FFF2-40B4-BE49-F238E27FC236}">
                      <a16:creationId xmlns:a16="http://schemas.microsoft.com/office/drawing/2014/main" id="{5D1E6FA9-B004-47D7-90D7-46B33E203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4">
                  <a:extLst>
                    <a:ext uri="{FF2B5EF4-FFF2-40B4-BE49-F238E27FC236}">
                      <a16:creationId xmlns:a16="http://schemas.microsoft.com/office/drawing/2014/main" id="{B217F7D4-C8D8-4F72-A528-F43D7FD9E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5">
                  <a:extLst>
                    <a:ext uri="{FF2B5EF4-FFF2-40B4-BE49-F238E27FC236}">
                      <a16:creationId xmlns:a16="http://schemas.microsoft.com/office/drawing/2014/main" id="{30334F65-BE26-4B63-8749-AFA45B9BEC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6">
                  <a:extLst>
                    <a:ext uri="{FF2B5EF4-FFF2-40B4-BE49-F238E27FC236}">
                      <a16:creationId xmlns:a16="http://schemas.microsoft.com/office/drawing/2014/main" id="{946D1A90-6241-4E54-B85F-5710547311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7">
                  <a:extLst>
                    <a:ext uri="{FF2B5EF4-FFF2-40B4-BE49-F238E27FC236}">
                      <a16:creationId xmlns:a16="http://schemas.microsoft.com/office/drawing/2014/main" id="{F548B9C5-B600-42A3-A61E-1904F24A9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2">
                <a:extLst>
                  <a:ext uri="{FF2B5EF4-FFF2-40B4-BE49-F238E27FC236}">
                    <a16:creationId xmlns:a16="http://schemas.microsoft.com/office/drawing/2014/main" id="{AD586065-6B32-44B9-98B9-A2D29EA640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536315" y="2632608"/>
                <a:ext cx="211684" cy="810090"/>
                <a:chOff x="2340" y="1596"/>
                <a:chExt cx="1735" cy="1519"/>
              </a:xfrm>
            </p:grpSpPr>
            <p:sp>
              <p:nvSpPr>
                <p:cNvPr id="74" name="Freeform 3">
                  <a:extLst>
                    <a:ext uri="{FF2B5EF4-FFF2-40B4-BE49-F238E27FC236}">
                      <a16:creationId xmlns:a16="http://schemas.microsoft.com/office/drawing/2014/main" id="{9631C581-5720-489B-A9BF-27B0E61AA6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Freeform 4">
                  <a:extLst>
                    <a:ext uri="{FF2B5EF4-FFF2-40B4-BE49-F238E27FC236}">
                      <a16:creationId xmlns:a16="http://schemas.microsoft.com/office/drawing/2014/main" id="{38D3A88D-76A0-4C6D-B51C-E6CFF98DD9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5">
                  <a:extLst>
                    <a:ext uri="{FF2B5EF4-FFF2-40B4-BE49-F238E27FC236}">
                      <a16:creationId xmlns:a16="http://schemas.microsoft.com/office/drawing/2014/main" id="{CE19AFC5-1FD5-4489-A258-D230C1FAD3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Freeform 6">
                  <a:extLst>
                    <a:ext uri="{FF2B5EF4-FFF2-40B4-BE49-F238E27FC236}">
                      <a16:creationId xmlns:a16="http://schemas.microsoft.com/office/drawing/2014/main" id="{32C3222B-D441-4867-8088-F21A4A5C59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7">
                  <a:extLst>
                    <a:ext uri="{FF2B5EF4-FFF2-40B4-BE49-F238E27FC236}">
                      <a16:creationId xmlns:a16="http://schemas.microsoft.com/office/drawing/2014/main" id="{49BA29EB-8AAB-4B41-9C1F-4D179486EC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Group 2">
                <a:extLst>
                  <a:ext uri="{FF2B5EF4-FFF2-40B4-BE49-F238E27FC236}">
                    <a16:creationId xmlns:a16="http://schemas.microsoft.com/office/drawing/2014/main" id="{DD1C0EA1-DC42-446B-B1D1-54E592F219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349086" y="2632608"/>
                <a:ext cx="180450" cy="810090"/>
                <a:chOff x="2340" y="1596"/>
                <a:chExt cx="1735" cy="1519"/>
              </a:xfrm>
            </p:grpSpPr>
            <p:sp>
              <p:nvSpPr>
                <p:cNvPr id="69" name="Freeform 3">
                  <a:extLst>
                    <a:ext uri="{FF2B5EF4-FFF2-40B4-BE49-F238E27FC236}">
                      <a16:creationId xmlns:a16="http://schemas.microsoft.com/office/drawing/2014/main" id="{8828D06A-67C9-412E-9A08-649A3CD1A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Freeform 4">
                  <a:extLst>
                    <a:ext uri="{FF2B5EF4-FFF2-40B4-BE49-F238E27FC236}">
                      <a16:creationId xmlns:a16="http://schemas.microsoft.com/office/drawing/2014/main" id="{3EED6045-CB9A-4499-B2BA-E86EB146B4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5">
                  <a:extLst>
                    <a:ext uri="{FF2B5EF4-FFF2-40B4-BE49-F238E27FC236}">
                      <a16:creationId xmlns:a16="http://schemas.microsoft.com/office/drawing/2014/main" id="{A4B1B465-B96A-4C3C-AB1B-62EED972F2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6">
                  <a:extLst>
                    <a:ext uri="{FF2B5EF4-FFF2-40B4-BE49-F238E27FC236}">
                      <a16:creationId xmlns:a16="http://schemas.microsoft.com/office/drawing/2014/main" id="{FCAACF3E-9214-4AC6-A24A-C97244C13F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7">
                  <a:extLst>
                    <a:ext uri="{FF2B5EF4-FFF2-40B4-BE49-F238E27FC236}">
                      <a16:creationId xmlns:a16="http://schemas.microsoft.com/office/drawing/2014/main" id="{8F46EFB9-48CE-432B-9DF7-C41B25D331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Group 2">
                <a:extLst>
                  <a:ext uri="{FF2B5EF4-FFF2-40B4-BE49-F238E27FC236}">
                    <a16:creationId xmlns:a16="http://schemas.microsoft.com/office/drawing/2014/main" id="{0B417B8A-FB94-4D58-985B-FD22FB6CCC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199720" y="2632608"/>
                <a:ext cx="153824" cy="810090"/>
                <a:chOff x="2340" y="1596"/>
                <a:chExt cx="1735" cy="1519"/>
              </a:xfrm>
            </p:grpSpPr>
            <p:sp>
              <p:nvSpPr>
                <p:cNvPr id="64" name="Freeform 3">
                  <a:extLst>
                    <a:ext uri="{FF2B5EF4-FFF2-40B4-BE49-F238E27FC236}">
                      <a16:creationId xmlns:a16="http://schemas.microsoft.com/office/drawing/2014/main" id="{8D982DB1-44DD-4353-9971-20B27E64B5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4">
                  <a:extLst>
                    <a:ext uri="{FF2B5EF4-FFF2-40B4-BE49-F238E27FC236}">
                      <a16:creationId xmlns:a16="http://schemas.microsoft.com/office/drawing/2014/main" id="{C7351C64-C47D-47D8-9541-A19C9E81B0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5">
                  <a:extLst>
                    <a:ext uri="{FF2B5EF4-FFF2-40B4-BE49-F238E27FC236}">
                      <a16:creationId xmlns:a16="http://schemas.microsoft.com/office/drawing/2014/main" id="{71289F1F-05C2-41BE-991F-BDA6C742B7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6">
                  <a:extLst>
                    <a:ext uri="{FF2B5EF4-FFF2-40B4-BE49-F238E27FC236}">
                      <a16:creationId xmlns:a16="http://schemas.microsoft.com/office/drawing/2014/main" id="{2C07E24D-083F-4267-ADFB-F148DF8554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7">
                  <a:extLst>
                    <a:ext uri="{FF2B5EF4-FFF2-40B4-BE49-F238E27FC236}">
                      <a16:creationId xmlns:a16="http://schemas.microsoft.com/office/drawing/2014/main" id="{4F569446-FB54-4295-99A1-DCFB3A5F96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Group 2">
                <a:extLst>
                  <a:ext uri="{FF2B5EF4-FFF2-40B4-BE49-F238E27FC236}">
                    <a16:creationId xmlns:a16="http://schemas.microsoft.com/office/drawing/2014/main" id="{63F57F03-571F-4AE5-880E-5DD6DC23E6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073902" y="2632608"/>
                <a:ext cx="131128" cy="810090"/>
                <a:chOff x="2340" y="1596"/>
                <a:chExt cx="1735" cy="1519"/>
              </a:xfrm>
            </p:grpSpPr>
            <p:sp>
              <p:nvSpPr>
                <p:cNvPr id="59" name="Freeform 3">
                  <a:extLst>
                    <a:ext uri="{FF2B5EF4-FFF2-40B4-BE49-F238E27FC236}">
                      <a16:creationId xmlns:a16="http://schemas.microsoft.com/office/drawing/2014/main" id="{A31C6DB8-304E-4EA8-BB49-A71C2D8D2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4">
                  <a:extLst>
                    <a:ext uri="{FF2B5EF4-FFF2-40B4-BE49-F238E27FC236}">
                      <a16:creationId xmlns:a16="http://schemas.microsoft.com/office/drawing/2014/main" id="{94497DF6-B5A4-4C9C-9797-63AAD3C1DA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5">
                  <a:extLst>
                    <a:ext uri="{FF2B5EF4-FFF2-40B4-BE49-F238E27FC236}">
                      <a16:creationId xmlns:a16="http://schemas.microsoft.com/office/drawing/2014/main" id="{29C15666-6661-4E8F-AC49-75743F317F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6">
                  <a:extLst>
                    <a:ext uri="{FF2B5EF4-FFF2-40B4-BE49-F238E27FC236}">
                      <a16:creationId xmlns:a16="http://schemas.microsoft.com/office/drawing/2014/main" id="{02FEDE78-D940-4E3B-AFB6-B9DB7313C4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7">
                  <a:extLst>
                    <a:ext uri="{FF2B5EF4-FFF2-40B4-BE49-F238E27FC236}">
                      <a16:creationId xmlns:a16="http://schemas.microsoft.com/office/drawing/2014/main" id="{E14FA729-D7A8-4089-9799-5CC75D2C50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Group 2">
                <a:extLst>
                  <a:ext uri="{FF2B5EF4-FFF2-40B4-BE49-F238E27FC236}">
                    <a16:creationId xmlns:a16="http://schemas.microsoft.com/office/drawing/2014/main" id="{94188986-E4EE-4700-B4B4-403B539C82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967622" y="2632608"/>
                <a:ext cx="111779" cy="810090"/>
                <a:chOff x="2340" y="1596"/>
                <a:chExt cx="1735" cy="1519"/>
              </a:xfrm>
            </p:grpSpPr>
            <p:sp>
              <p:nvSpPr>
                <p:cNvPr id="54" name="Freeform 3">
                  <a:extLst>
                    <a:ext uri="{FF2B5EF4-FFF2-40B4-BE49-F238E27FC236}">
                      <a16:creationId xmlns:a16="http://schemas.microsoft.com/office/drawing/2014/main" id="{422A6E57-9945-4450-A94D-E494834642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4">
                  <a:extLst>
                    <a:ext uri="{FF2B5EF4-FFF2-40B4-BE49-F238E27FC236}">
                      <a16:creationId xmlns:a16="http://schemas.microsoft.com/office/drawing/2014/main" id="{163A0EA6-2C33-433B-9A6B-F05B64FCE5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5">
                  <a:extLst>
                    <a:ext uri="{FF2B5EF4-FFF2-40B4-BE49-F238E27FC236}">
                      <a16:creationId xmlns:a16="http://schemas.microsoft.com/office/drawing/2014/main" id="{13286941-65E3-4249-8E7D-6A9573D000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6">
                  <a:extLst>
                    <a:ext uri="{FF2B5EF4-FFF2-40B4-BE49-F238E27FC236}">
                      <a16:creationId xmlns:a16="http://schemas.microsoft.com/office/drawing/2014/main" id="{B8B7FF9F-FBE1-46FC-ADE0-9260C0D40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7">
                  <a:extLst>
                    <a:ext uri="{FF2B5EF4-FFF2-40B4-BE49-F238E27FC236}">
                      <a16:creationId xmlns:a16="http://schemas.microsoft.com/office/drawing/2014/main" id="{DF0746EE-FA6B-4F06-B3A8-F25499F080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Group 2">
                <a:extLst>
                  <a:ext uri="{FF2B5EF4-FFF2-40B4-BE49-F238E27FC236}">
                    <a16:creationId xmlns:a16="http://schemas.microsoft.com/office/drawing/2014/main" id="{4FB56D77-7736-41D6-B27C-C458C73198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879041" y="2632608"/>
                <a:ext cx="92935" cy="810090"/>
                <a:chOff x="2340" y="1596"/>
                <a:chExt cx="1735" cy="1519"/>
              </a:xfrm>
            </p:grpSpPr>
            <p:sp>
              <p:nvSpPr>
                <p:cNvPr id="49" name="Freeform 3">
                  <a:extLst>
                    <a:ext uri="{FF2B5EF4-FFF2-40B4-BE49-F238E27FC236}">
                      <a16:creationId xmlns:a16="http://schemas.microsoft.com/office/drawing/2014/main" id="{D39AD50F-9BF7-4600-94D1-C72A79598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4">
                  <a:extLst>
                    <a:ext uri="{FF2B5EF4-FFF2-40B4-BE49-F238E27FC236}">
                      <a16:creationId xmlns:a16="http://schemas.microsoft.com/office/drawing/2014/main" id="{F230A078-6161-4E31-9316-F8C2176D68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5">
                  <a:extLst>
                    <a:ext uri="{FF2B5EF4-FFF2-40B4-BE49-F238E27FC236}">
                      <a16:creationId xmlns:a16="http://schemas.microsoft.com/office/drawing/2014/main" id="{A927CFE9-E5F9-4069-A951-5296D77622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6">
                  <a:extLst>
                    <a:ext uri="{FF2B5EF4-FFF2-40B4-BE49-F238E27FC236}">
                      <a16:creationId xmlns:a16="http://schemas.microsoft.com/office/drawing/2014/main" id="{93F7A48D-444C-480E-96EE-E1AB4B735C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7">
                  <a:extLst>
                    <a:ext uri="{FF2B5EF4-FFF2-40B4-BE49-F238E27FC236}">
                      <a16:creationId xmlns:a16="http://schemas.microsoft.com/office/drawing/2014/main" id="{6F2229D6-D8F1-4B1C-A751-3EAF96E8B1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Group 2">
                <a:extLst>
                  <a:ext uri="{FF2B5EF4-FFF2-40B4-BE49-F238E27FC236}">
                    <a16:creationId xmlns:a16="http://schemas.microsoft.com/office/drawing/2014/main" id="{54F1B235-FE07-43BC-BBE3-49C44B8429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815709" y="2626280"/>
                <a:ext cx="63331" cy="810090"/>
                <a:chOff x="2340" y="1596"/>
                <a:chExt cx="1735" cy="1519"/>
              </a:xfrm>
            </p:grpSpPr>
            <p:sp>
              <p:nvSpPr>
                <p:cNvPr id="44" name="Freeform 3">
                  <a:extLst>
                    <a:ext uri="{FF2B5EF4-FFF2-40B4-BE49-F238E27FC236}">
                      <a16:creationId xmlns:a16="http://schemas.microsoft.com/office/drawing/2014/main" id="{8E92E090-BA3A-4089-978F-E964E54CF3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Freeform 4">
                  <a:extLst>
                    <a:ext uri="{FF2B5EF4-FFF2-40B4-BE49-F238E27FC236}">
                      <a16:creationId xmlns:a16="http://schemas.microsoft.com/office/drawing/2014/main" id="{828B736D-E607-4514-9300-30110DC1E2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5">
                  <a:extLst>
                    <a:ext uri="{FF2B5EF4-FFF2-40B4-BE49-F238E27FC236}">
                      <a16:creationId xmlns:a16="http://schemas.microsoft.com/office/drawing/2014/main" id="{7F81E1CE-48A3-4A00-9D18-F796BE27DC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Freeform 6">
                  <a:extLst>
                    <a:ext uri="{FF2B5EF4-FFF2-40B4-BE49-F238E27FC236}">
                      <a16:creationId xmlns:a16="http://schemas.microsoft.com/office/drawing/2014/main" id="{E28B9D6A-CD3F-49C4-8465-AD4FF5CAF8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7">
                  <a:extLst>
                    <a:ext uri="{FF2B5EF4-FFF2-40B4-BE49-F238E27FC236}">
                      <a16:creationId xmlns:a16="http://schemas.microsoft.com/office/drawing/2014/main" id="{C9D0D5FD-89FF-4923-A617-A6B479A8A1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Group 2">
                <a:extLst>
                  <a:ext uri="{FF2B5EF4-FFF2-40B4-BE49-F238E27FC236}">
                    <a16:creationId xmlns:a16="http://schemas.microsoft.com/office/drawing/2014/main" id="{343B7E3A-413E-494F-BDA5-9AB9D64080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760375" y="2632608"/>
                <a:ext cx="48984" cy="810090"/>
                <a:chOff x="2340" y="1596"/>
                <a:chExt cx="1735" cy="1519"/>
              </a:xfrm>
            </p:grpSpPr>
            <p:sp>
              <p:nvSpPr>
                <p:cNvPr id="39" name="Freeform 3">
                  <a:extLst>
                    <a:ext uri="{FF2B5EF4-FFF2-40B4-BE49-F238E27FC236}">
                      <a16:creationId xmlns:a16="http://schemas.microsoft.com/office/drawing/2014/main" id="{6BF04475-41B3-490C-B5A2-36541D2C5D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4">
                  <a:extLst>
                    <a:ext uri="{FF2B5EF4-FFF2-40B4-BE49-F238E27FC236}">
                      <a16:creationId xmlns:a16="http://schemas.microsoft.com/office/drawing/2014/main" id="{99635D51-5889-436B-970C-938EB7E0C4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5">
                  <a:extLst>
                    <a:ext uri="{FF2B5EF4-FFF2-40B4-BE49-F238E27FC236}">
                      <a16:creationId xmlns:a16="http://schemas.microsoft.com/office/drawing/2014/main" id="{AAF7B8F2-D266-48F4-B9B8-25AE6541C6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6">
                  <a:extLst>
                    <a:ext uri="{FF2B5EF4-FFF2-40B4-BE49-F238E27FC236}">
                      <a16:creationId xmlns:a16="http://schemas.microsoft.com/office/drawing/2014/main" id="{1AC047EB-51C9-4C40-B7CB-78181A415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7">
                  <a:extLst>
                    <a:ext uri="{FF2B5EF4-FFF2-40B4-BE49-F238E27FC236}">
                      <a16:creationId xmlns:a16="http://schemas.microsoft.com/office/drawing/2014/main" id="{2BB492FD-8755-467D-A848-DF239BCE9C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5612D013-31E5-4B40-84C1-44AC8B3C323B}"/>
                </a:ext>
              </a:extLst>
            </p:cNvPr>
            <p:cNvCxnSpPr/>
            <p:nvPr/>
          </p:nvCxnSpPr>
          <p:spPr>
            <a:xfrm flipV="1">
              <a:off x="900772" y="2849066"/>
              <a:ext cx="9524" cy="16360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BD6A03BF-E670-4552-8C0E-26AD60200533}"/>
                </a:ext>
              </a:extLst>
            </p:cNvPr>
            <p:cNvCxnSpPr/>
            <p:nvPr/>
          </p:nvCxnSpPr>
          <p:spPr>
            <a:xfrm flipH="1" flipV="1">
              <a:off x="2375133" y="3248293"/>
              <a:ext cx="5561" cy="222131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E328AE2A-8A84-407C-932D-80E0FD4061DD}"/>
                </a:ext>
              </a:extLst>
            </p:cNvPr>
            <p:cNvCxnSpPr/>
            <p:nvPr/>
          </p:nvCxnSpPr>
          <p:spPr>
            <a:xfrm flipV="1">
              <a:off x="3902646" y="3218978"/>
              <a:ext cx="1" cy="225062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C963E196-D8F2-4F2D-8C60-E1929AB449A1}"/>
                </a:ext>
              </a:extLst>
            </p:cNvPr>
            <p:cNvGrpSpPr/>
            <p:nvPr/>
          </p:nvGrpSpPr>
          <p:grpSpPr>
            <a:xfrm>
              <a:off x="910297" y="4905825"/>
              <a:ext cx="1485165" cy="1102773"/>
              <a:chOff x="5337085" y="3364850"/>
              <a:chExt cx="1485165" cy="827080"/>
            </a:xfrm>
          </p:grpSpPr>
          <p:grpSp>
            <p:nvGrpSpPr>
              <p:cNvPr id="93" name="Group 2">
                <a:extLst>
                  <a:ext uri="{FF2B5EF4-FFF2-40B4-BE49-F238E27FC236}">
                    <a16:creationId xmlns:a16="http://schemas.microsoft.com/office/drawing/2014/main" id="{DDDB6D08-17EC-49F4-9155-BAC927BFAC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7085" y="3364850"/>
                <a:ext cx="263675" cy="810090"/>
                <a:chOff x="2340" y="1596"/>
                <a:chExt cx="1735" cy="1519"/>
              </a:xfrm>
            </p:grpSpPr>
            <p:sp>
              <p:nvSpPr>
                <p:cNvPr id="148" name="Freeform 3">
                  <a:extLst>
                    <a:ext uri="{FF2B5EF4-FFF2-40B4-BE49-F238E27FC236}">
                      <a16:creationId xmlns:a16="http://schemas.microsoft.com/office/drawing/2014/main" id="{DFCAF802-AB4A-4C37-B34D-396E4D394F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9" name="Freeform 4">
                  <a:extLst>
                    <a:ext uri="{FF2B5EF4-FFF2-40B4-BE49-F238E27FC236}">
                      <a16:creationId xmlns:a16="http://schemas.microsoft.com/office/drawing/2014/main" id="{B445128D-6883-4D4F-A9AE-BB9456812A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0" name="Freeform 5">
                  <a:extLst>
                    <a:ext uri="{FF2B5EF4-FFF2-40B4-BE49-F238E27FC236}">
                      <a16:creationId xmlns:a16="http://schemas.microsoft.com/office/drawing/2014/main" id="{DEE0F99D-441C-44B8-ADB4-960BA5A9D1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1" name="Freeform 6">
                  <a:extLst>
                    <a:ext uri="{FF2B5EF4-FFF2-40B4-BE49-F238E27FC236}">
                      <a16:creationId xmlns:a16="http://schemas.microsoft.com/office/drawing/2014/main" id="{50CF1415-BBA9-4B5A-8430-569BF1B33B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" name="Freeform 7">
                  <a:extLst>
                    <a:ext uri="{FF2B5EF4-FFF2-40B4-BE49-F238E27FC236}">
                      <a16:creationId xmlns:a16="http://schemas.microsoft.com/office/drawing/2014/main" id="{BB9A9340-FE6C-4DEC-A630-9BDE364948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Group 2">
                <a:extLst>
                  <a:ext uri="{FF2B5EF4-FFF2-40B4-BE49-F238E27FC236}">
                    <a16:creationId xmlns:a16="http://schemas.microsoft.com/office/drawing/2014/main" id="{6EA4B49C-B992-474C-8A00-78C375C40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00660" y="3364850"/>
                <a:ext cx="212430" cy="810090"/>
                <a:chOff x="2340" y="1596"/>
                <a:chExt cx="1735" cy="1519"/>
              </a:xfrm>
            </p:grpSpPr>
            <p:sp>
              <p:nvSpPr>
                <p:cNvPr id="143" name="Freeform 3">
                  <a:extLst>
                    <a:ext uri="{FF2B5EF4-FFF2-40B4-BE49-F238E27FC236}">
                      <a16:creationId xmlns:a16="http://schemas.microsoft.com/office/drawing/2014/main" id="{0911A6E0-DA9B-4487-A767-D386037483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" name="Freeform 4">
                  <a:extLst>
                    <a:ext uri="{FF2B5EF4-FFF2-40B4-BE49-F238E27FC236}">
                      <a16:creationId xmlns:a16="http://schemas.microsoft.com/office/drawing/2014/main" id="{CDD584CF-A209-48BC-A91B-88D3DC09A6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5" name="Freeform 5">
                  <a:extLst>
                    <a:ext uri="{FF2B5EF4-FFF2-40B4-BE49-F238E27FC236}">
                      <a16:creationId xmlns:a16="http://schemas.microsoft.com/office/drawing/2014/main" id="{9D347E4F-F9D5-4C59-8269-98C2067328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6" name="Freeform 6">
                  <a:extLst>
                    <a:ext uri="{FF2B5EF4-FFF2-40B4-BE49-F238E27FC236}">
                      <a16:creationId xmlns:a16="http://schemas.microsoft.com/office/drawing/2014/main" id="{23C46AF3-0C32-4DBA-997A-297E60189E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Freeform 7">
                  <a:extLst>
                    <a:ext uri="{FF2B5EF4-FFF2-40B4-BE49-F238E27FC236}">
                      <a16:creationId xmlns:a16="http://schemas.microsoft.com/office/drawing/2014/main" id="{0073E249-649E-474E-9993-ADA4EBC07A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5" name="Group 2">
                <a:extLst>
                  <a:ext uri="{FF2B5EF4-FFF2-40B4-BE49-F238E27FC236}">
                    <a16:creationId xmlns:a16="http://schemas.microsoft.com/office/drawing/2014/main" id="{57917D69-B39B-4CBD-8375-D9B1123EE6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12184" y="3364850"/>
                <a:ext cx="198014" cy="810090"/>
                <a:chOff x="2340" y="1596"/>
                <a:chExt cx="1735" cy="1519"/>
              </a:xfrm>
            </p:grpSpPr>
            <p:sp>
              <p:nvSpPr>
                <p:cNvPr id="138" name="Freeform 3">
                  <a:extLst>
                    <a:ext uri="{FF2B5EF4-FFF2-40B4-BE49-F238E27FC236}">
                      <a16:creationId xmlns:a16="http://schemas.microsoft.com/office/drawing/2014/main" id="{27A66227-5E9D-45ED-A4E3-1D0B353819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Freeform 4">
                  <a:extLst>
                    <a:ext uri="{FF2B5EF4-FFF2-40B4-BE49-F238E27FC236}">
                      <a16:creationId xmlns:a16="http://schemas.microsoft.com/office/drawing/2014/main" id="{A218104B-4D96-4AE3-B541-26621E2DD1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Freeform 5">
                  <a:extLst>
                    <a:ext uri="{FF2B5EF4-FFF2-40B4-BE49-F238E27FC236}">
                      <a16:creationId xmlns:a16="http://schemas.microsoft.com/office/drawing/2014/main" id="{1BF973B3-ACD5-4AE3-AEAA-B95850AFB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Freeform 6">
                  <a:extLst>
                    <a:ext uri="{FF2B5EF4-FFF2-40B4-BE49-F238E27FC236}">
                      <a16:creationId xmlns:a16="http://schemas.microsoft.com/office/drawing/2014/main" id="{4463125B-235C-495E-99B2-825F21ED5F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Freeform 7">
                  <a:extLst>
                    <a:ext uri="{FF2B5EF4-FFF2-40B4-BE49-F238E27FC236}">
                      <a16:creationId xmlns:a16="http://schemas.microsoft.com/office/drawing/2014/main" id="{D04457E8-A668-4AC6-8133-ABD8E6E241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6" name="Group 2">
                <a:extLst>
                  <a:ext uri="{FF2B5EF4-FFF2-40B4-BE49-F238E27FC236}">
                    <a16:creationId xmlns:a16="http://schemas.microsoft.com/office/drawing/2014/main" id="{14D71860-F33D-4608-9876-2FAE3E6BB9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12160" y="3364850"/>
                <a:ext cx="182241" cy="810090"/>
                <a:chOff x="2340" y="1596"/>
                <a:chExt cx="1735" cy="1519"/>
              </a:xfrm>
            </p:grpSpPr>
            <p:sp>
              <p:nvSpPr>
                <p:cNvPr id="133" name="Freeform 3">
                  <a:extLst>
                    <a:ext uri="{FF2B5EF4-FFF2-40B4-BE49-F238E27FC236}">
                      <a16:creationId xmlns:a16="http://schemas.microsoft.com/office/drawing/2014/main" id="{8F030C45-AFF5-4FED-9393-9962B4E53A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Freeform 4">
                  <a:extLst>
                    <a:ext uri="{FF2B5EF4-FFF2-40B4-BE49-F238E27FC236}">
                      <a16:creationId xmlns:a16="http://schemas.microsoft.com/office/drawing/2014/main" id="{F0DDD8FF-FAF4-4255-B124-C1C03359D4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Freeform 5">
                  <a:extLst>
                    <a:ext uri="{FF2B5EF4-FFF2-40B4-BE49-F238E27FC236}">
                      <a16:creationId xmlns:a16="http://schemas.microsoft.com/office/drawing/2014/main" id="{A1262C05-D022-4038-9E38-66413093B1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Freeform 6">
                  <a:extLst>
                    <a:ext uri="{FF2B5EF4-FFF2-40B4-BE49-F238E27FC236}">
                      <a16:creationId xmlns:a16="http://schemas.microsoft.com/office/drawing/2014/main" id="{A05084AB-FEE0-40F3-83D7-06CC336B9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Freeform 7">
                  <a:extLst>
                    <a:ext uri="{FF2B5EF4-FFF2-40B4-BE49-F238E27FC236}">
                      <a16:creationId xmlns:a16="http://schemas.microsoft.com/office/drawing/2014/main" id="{A7EF3BEB-45D9-49AD-814C-0289985AD6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7" name="Group 2">
                <a:extLst>
                  <a:ext uri="{FF2B5EF4-FFF2-40B4-BE49-F238E27FC236}">
                    <a16:creationId xmlns:a16="http://schemas.microsoft.com/office/drawing/2014/main" id="{CC53503C-6B71-45AE-A5D8-8E02523DBA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92180" y="3364850"/>
                <a:ext cx="155351" cy="810090"/>
                <a:chOff x="2340" y="1596"/>
                <a:chExt cx="1735" cy="1519"/>
              </a:xfrm>
            </p:grpSpPr>
            <p:sp>
              <p:nvSpPr>
                <p:cNvPr id="128" name="Freeform 3">
                  <a:extLst>
                    <a:ext uri="{FF2B5EF4-FFF2-40B4-BE49-F238E27FC236}">
                      <a16:creationId xmlns:a16="http://schemas.microsoft.com/office/drawing/2014/main" id="{E6E8FC2F-D5DC-44BA-8235-4F4CCC13E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Freeform 4">
                  <a:extLst>
                    <a:ext uri="{FF2B5EF4-FFF2-40B4-BE49-F238E27FC236}">
                      <a16:creationId xmlns:a16="http://schemas.microsoft.com/office/drawing/2014/main" id="{4E5E125F-2303-4E1F-B458-B39AE1EC66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0" name="Freeform 5">
                  <a:extLst>
                    <a:ext uri="{FF2B5EF4-FFF2-40B4-BE49-F238E27FC236}">
                      <a16:creationId xmlns:a16="http://schemas.microsoft.com/office/drawing/2014/main" id="{8EA040E2-024C-4632-8A1F-B0C47F3844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6">
                  <a:extLst>
                    <a:ext uri="{FF2B5EF4-FFF2-40B4-BE49-F238E27FC236}">
                      <a16:creationId xmlns:a16="http://schemas.microsoft.com/office/drawing/2014/main" id="{9A5BA7B9-381C-489F-8D92-537B2A259E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Freeform 7">
                  <a:extLst>
                    <a:ext uri="{FF2B5EF4-FFF2-40B4-BE49-F238E27FC236}">
                      <a16:creationId xmlns:a16="http://schemas.microsoft.com/office/drawing/2014/main" id="{C7C5BD7C-A1ED-48CC-85D5-7487329782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8" name="Group 2">
                <a:extLst>
                  <a:ext uri="{FF2B5EF4-FFF2-40B4-BE49-F238E27FC236}">
                    <a16:creationId xmlns:a16="http://schemas.microsoft.com/office/drawing/2014/main" id="{C8978DD5-C52F-4842-B4B1-7972DADAD3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46245" y="3381840"/>
                <a:ext cx="132429" cy="810090"/>
                <a:chOff x="2340" y="1596"/>
                <a:chExt cx="1735" cy="1519"/>
              </a:xfrm>
            </p:grpSpPr>
            <p:sp>
              <p:nvSpPr>
                <p:cNvPr id="123" name="Freeform 3">
                  <a:extLst>
                    <a:ext uri="{FF2B5EF4-FFF2-40B4-BE49-F238E27FC236}">
                      <a16:creationId xmlns:a16="http://schemas.microsoft.com/office/drawing/2014/main" id="{5A912BBE-47E6-4BEC-B202-1F3C4B3AD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Freeform 4">
                  <a:extLst>
                    <a:ext uri="{FF2B5EF4-FFF2-40B4-BE49-F238E27FC236}">
                      <a16:creationId xmlns:a16="http://schemas.microsoft.com/office/drawing/2014/main" id="{20D836EA-D7D4-4CB4-AF28-2B1C3C0567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5" name="Freeform 5">
                  <a:extLst>
                    <a:ext uri="{FF2B5EF4-FFF2-40B4-BE49-F238E27FC236}">
                      <a16:creationId xmlns:a16="http://schemas.microsoft.com/office/drawing/2014/main" id="{17EE2D04-3AEF-4637-AA56-8BE56A5957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Freeform 6">
                  <a:extLst>
                    <a:ext uri="{FF2B5EF4-FFF2-40B4-BE49-F238E27FC236}">
                      <a16:creationId xmlns:a16="http://schemas.microsoft.com/office/drawing/2014/main" id="{853FEB6F-F19B-4509-B52D-CF9540526B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Freeform 7">
                  <a:extLst>
                    <a:ext uri="{FF2B5EF4-FFF2-40B4-BE49-F238E27FC236}">
                      <a16:creationId xmlns:a16="http://schemas.microsoft.com/office/drawing/2014/main" id="{37D0DBCA-E1EF-4EFC-BCA8-ADDAF834E1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" name="Group 2">
                <a:extLst>
                  <a:ext uri="{FF2B5EF4-FFF2-40B4-BE49-F238E27FC236}">
                    <a16:creationId xmlns:a16="http://schemas.microsoft.com/office/drawing/2014/main" id="{3C660755-762E-4E22-9133-6C41275ED5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4811" y="3381840"/>
                <a:ext cx="112889" cy="810090"/>
                <a:chOff x="2340" y="1596"/>
                <a:chExt cx="1735" cy="1519"/>
              </a:xfrm>
            </p:grpSpPr>
            <p:sp>
              <p:nvSpPr>
                <p:cNvPr id="118" name="Freeform 3">
                  <a:extLst>
                    <a:ext uri="{FF2B5EF4-FFF2-40B4-BE49-F238E27FC236}">
                      <a16:creationId xmlns:a16="http://schemas.microsoft.com/office/drawing/2014/main" id="{B5ECAE36-2A5B-4AFE-ADE9-6BCD5CD568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Freeform 4">
                  <a:extLst>
                    <a:ext uri="{FF2B5EF4-FFF2-40B4-BE49-F238E27FC236}">
                      <a16:creationId xmlns:a16="http://schemas.microsoft.com/office/drawing/2014/main" id="{0E14FBCD-4F69-404E-8A78-7B198648B0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" name="Freeform 5">
                  <a:extLst>
                    <a:ext uri="{FF2B5EF4-FFF2-40B4-BE49-F238E27FC236}">
                      <a16:creationId xmlns:a16="http://schemas.microsoft.com/office/drawing/2014/main" id="{FD4472CA-D181-4035-BE88-0D4D1EA281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1" name="Freeform 6">
                  <a:extLst>
                    <a:ext uri="{FF2B5EF4-FFF2-40B4-BE49-F238E27FC236}">
                      <a16:creationId xmlns:a16="http://schemas.microsoft.com/office/drawing/2014/main" id="{5A88D099-E019-4877-88B4-3A540F595C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Freeform 7">
                  <a:extLst>
                    <a:ext uri="{FF2B5EF4-FFF2-40B4-BE49-F238E27FC236}">
                      <a16:creationId xmlns:a16="http://schemas.microsoft.com/office/drawing/2014/main" id="{009743CC-48DC-4EFC-9E32-188FA7E723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0" name="Group 2">
                <a:extLst>
                  <a:ext uri="{FF2B5EF4-FFF2-40B4-BE49-F238E27FC236}">
                    <a16:creationId xmlns:a16="http://schemas.microsoft.com/office/drawing/2014/main" id="{177C55EB-39DE-46BE-A4B1-6916F942BF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87700" y="3381840"/>
                <a:ext cx="93857" cy="810090"/>
                <a:chOff x="2340" y="1596"/>
                <a:chExt cx="1735" cy="1519"/>
              </a:xfrm>
            </p:grpSpPr>
            <p:sp>
              <p:nvSpPr>
                <p:cNvPr id="113" name="Freeform 3">
                  <a:extLst>
                    <a:ext uri="{FF2B5EF4-FFF2-40B4-BE49-F238E27FC236}">
                      <a16:creationId xmlns:a16="http://schemas.microsoft.com/office/drawing/2014/main" id="{5D157FC7-90B1-41DA-BC16-E77E6037B4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" name="Freeform 4">
                  <a:extLst>
                    <a:ext uri="{FF2B5EF4-FFF2-40B4-BE49-F238E27FC236}">
                      <a16:creationId xmlns:a16="http://schemas.microsoft.com/office/drawing/2014/main" id="{A25F56BD-F4DD-4044-A00B-F8590F2EF1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" name="Freeform 5">
                  <a:extLst>
                    <a:ext uri="{FF2B5EF4-FFF2-40B4-BE49-F238E27FC236}">
                      <a16:creationId xmlns:a16="http://schemas.microsoft.com/office/drawing/2014/main" id="{90DFED9C-4920-4E5E-8ADC-E66606A3E9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" name="Freeform 6">
                  <a:extLst>
                    <a:ext uri="{FF2B5EF4-FFF2-40B4-BE49-F238E27FC236}">
                      <a16:creationId xmlns:a16="http://schemas.microsoft.com/office/drawing/2014/main" id="{2A7B2BD1-F3AC-49B2-8BB1-0F3ED410C0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" name="Freeform 7">
                  <a:extLst>
                    <a:ext uri="{FF2B5EF4-FFF2-40B4-BE49-F238E27FC236}">
                      <a16:creationId xmlns:a16="http://schemas.microsoft.com/office/drawing/2014/main" id="{31A922CC-AB50-4FEC-86FB-0A23E8EA48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1" name="Group 2">
                <a:extLst>
                  <a:ext uri="{FF2B5EF4-FFF2-40B4-BE49-F238E27FC236}">
                    <a16:creationId xmlns:a16="http://schemas.microsoft.com/office/drawing/2014/main" id="{966764B5-4EA1-48BD-BA59-74BDA3B3A2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74928" y="3381840"/>
                <a:ext cx="83267" cy="810090"/>
                <a:chOff x="2340" y="1596"/>
                <a:chExt cx="1735" cy="1519"/>
              </a:xfrm>
            </p:grpSpPr>
            <p:sp>
              <p:nvSpPr>
                <p:cNvPr id="108" name="Freeform 3">
                  <a:extLst>
                    <a:ext uri="{FF2B5EF4-FFF2-40B4-BE49-F238E27FC236}">
                      <a16:creationId xmlns:a16="http://schemas.microsoft.com/office/drawing/2014/main" id="{BEC712E2-D6A6-4874-8740-3A0EF16D80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4">
                  <a:extLst>
                    <a:ext uri="{FF2B5EF4-FFF2-40B4-BE49-F238E27FC236}">
                      <a16:creationId xmlns:a16="http://schemas.microsoft.com/office/drawing/2014/main" id="{D88732C5-DC3E-4629-8EF5-3FF649C378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5">
                  <a:extLst>
                    <a:ext uri="{FF2B5EF4-FFF2-40B4-BE49-F238E27FC236}">
                      <a16:creationId xmlns:a16="http://schemas.microsoft.com/office/drawing/2014/main" id="{E39365F2-79C1-4C22-BAB6-1AC870378E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" name="Freeform 6">
                  <a:extLst>
                    <a:ext uri="{FF2B5EF4-FFF2-40B4-BE49-F238E27FC236}">
                      <a16:creationId xmlns:a16="http://schemas.microsoft.com/office/drawing/2014/main" id="{B953219F-5B66-45AF-8E4D-44AE405EA0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7">
                  <a:extLst>
                    <a:ext uri="{FF2B5EF4-FFF2-40B4-BE49-F238E27FC236}">
                      <a16:creationId xmlns:a16="http://schemas.microsoft.com/office/drawing/2014/main" id="{C5051E91-6CB9-4ACE-8A8A-CF4CFE2A03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2" name="Group 2">
                <a:extLst>
                  <a:ext uri="{FF2B5EF4-FFF2-40B4-BE49-F238E27FC236}">
                    <a16:creationId xmlns:a16="http://schemas.microsoft.com/office/drawing/2014/main" id="{C822F62E-D589-49EB-B7E9-03B653DAA5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74600" y="3381840"/>
                <a:ext cx="47650" cy="810090"/>
                <a:chOff x="2340" y="1596"/>
                <a:chExt cx="1735" cy="1519"/>
              </a:xfrm>
            </p:grpSpPr>
            <p:sp>
              <p:nvSpPr>
                <p:cNvPr id="103" name="Freeform 3">
                  <a:extLst>
                    <a:ext uri="{FF2B5EF4-FFF2-40B4-BE49-F238E27FC236}">
                      <a16:creationId xmlns:a16="http://schemas.microsoft.com/office/drawing/2014/main" id="{89C5CF55-9A31-4146-A0B2-EE9FF6666C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Freeform 4">
                  <a:extLst>
                    <a:ext uri="{FF2B5EF4-FFF2-40B4-BE49-F238E27FC236}">
                      <a16:creationId xmlns:a16="http://schemas.microsoft.com/office/drawing/2014/main" id="{E8F3208E-0D4C-47AD-873A-E763E28815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5">
                  <a:extLst>
                    <a:ext uri="{FF2B5EF4-FFF2-40B4-BE49-F238E27FC236}">
                      <a16:creationId xmlns:a16="http://schemas.microsoft.com/office/drawing/2014/main" id="{671481B8-3C37-43ED-8FF4-03DD96386B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6">
                  <a:extLst>
                    <a:ext uri="{FF2B5EF4-FFF2-40B4-BE49-F238E27FC236}">
                      <a16:creationId xmlns:a16="http://schemas.microsoft.com/office/drawing/2014/main" id="{2B52F568-0BCD-4FB1-9D8E-4B1CF6BDC2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6E56DC91-D0C2-47D8-B6A6-415734FC3E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29E69B90-0268-420E-BDBD-D8071269DD5C}"/>
                </a:ext>
              </a:extLst>
            </p:cNvPr>
            <p:cNvCxnSpPr/>
            <p:nvPr/>
          </p:nvCxnSpPr>
          <p:spPr>
            <a:xfrm>
              <a:off x="905535" y="3128278"/>
              <a:ext cx="1477279" cy="0"/>
            </a:xfrm>
            <a:prstGeom prst="straightConnector1">
              <a:avLst/>
            </a:prstGeom>
            <a:ln w="127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1">
              <a:extLst>
                <a:ext uri="{FF2B5EF4-FFF2-40B4-BE49-F238E27FC236}">
                  <a16:creationId xmlns:a16="http://schemas.microsoft.com/office/drawing/2014/main" id="{08045847-66DC-426A-80C4-5807472CF622}"/>
                </a:ext>
              </a:extLst>
            </p:cNvPr>
            <p:cNvSpPr txBox="1"/>
            <p:nvPr/>
          </p:nvSpPr>
          <p:spPr>
            <a:xfrm>
              <a:off x="1270336" y="2708232"/>
              <a:ext cx="11027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扫描正程</a:t>
              </a:r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BCBC9186-71A6-4D02-8C6B-76840FECF88D}"/>
                </a:ext>
              </a:extLst>
            </p:cNvPr>
            <p:cNvCxnSpPr/>
            <p:nvPr/>
          </p:nvCxnSpPr>
          <p:spPr>
            <a:xfrm>
              <a:off x="2370796" y="3128278"/>
              <a:ext cx="1477279" cy="0"/>
            </a:xfrm>
            <a:prstGeom prst="straightConnector1">
              <a:avLst/>
            </a:prstGeom>
            <a:ln w="127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7">
              <a:extLst>
                <a:ext uri="{FF2B5EF4-FFF2-40B4-BE49-F238E27FC236}">
                  <a16:creationId xmlns:a16="http://schemas.microsoft.com/office/drawing/2014/main" id="{C666651B-E037-425F-A08F-D7A01BD1305D}"/>
                </a:ext>
              </a:extLst>
            </p:cNvPr>
            <p:cNvSpPr txBox="1"/>
            <p:nvPr/>
          </p:nvSpPr>
          <p:spPr>
            <a:xfrm>
              <a:off x="2735597" y="2708232"/>
              <a:ext cx="11027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扫描逆程</a:t>
              </a:r>
            </a:p>
          </p:txBody>
        </p:sp>
      </p:grpSp>
      <p:sp>
        <p:nvSpPr>
          <p:cNvPr id="157" name="TextBox 158">
            <a:extLst>
              <a:ext uri="{FF2B5EF4-FFF2-40B4-BE49-F238E27FC236}">
                <a16:creationId xmlns:a16="http://schemas.microsoft.com/office/drawing/2014/main" id="{74AC401D-E12F-4BC5-BB66-222B0E24F691}"/>
              </a:ext>
            </a:extLst>
          </p:cNvPr>
          <p:cNvSpPr txBox="1"/>
          <p:nvPr/>
        </p:nvSpPr>
        <p:spPr>
          <a:xfrm>
            <a:off x="4387478" y="2618910"/>
            <a:ext cx="45866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/>
              <a:t>采用三角波信号作为压控信号（实际中多采用锯齿波作为压控振荡器，但逆程消隐电路设计较为繁琐）</a:t>
            </a:r>
            <a:endParaRPr lang="en-US" altLang="zh-CN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zh-CN" altLang="en-US" sz="2800" dirty="0"/>
              <a:t>三角波的正程和逆程都产生扫频波，通过后续电路之后，在示波器</a:t>
            </a:r>
            <a:r>
              <a:rPr lang="en-US" altLang="zh-CN" sz="2800" dirty="0"/>
              <a:t>X-Y</a:t>
            </a:r>
            <a:r>
              <a:rPr lang="zh-CN" altLang="en-US" sz="2800" dirty="0"/>
              <a:t>方式下，一个周期就扫描出两条重合的曲线。</a:t>
            </a:r>
          </a:p>
        </p:txBody>
      </p:sp>
    </p:spTree>
    <p:extLst>
      <p:ext uri="{BB962C8B-B14F-4D97-AF65-F5344CB8AC3E}">
        <p14:creationId xmlns:p14="http://schemas.microsoft.com/office/powerpoint/2010/main" val="24891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压控振荡器波形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C7D805-F75B-4902-A94D-21A20A1DCE1F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62" name="TextBox 161"/>
          <p:cNvSpPr txBox="1"/>
          <p:nvPr/>
        </p:nvSpPr>
        <p:spPr>
          <a:xfrm>
            <a:off x="4811228" y="1371926"/>
            <a:ext cx="37307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扫描正程：输入控制电压从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0V~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aseline="-25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2800" dirty="0"/>
              <a:t>单调上升，电路输出的正弦波频率从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8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800" baseline="-25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单调</a:t>
            </a:r>
            <a:r>
              <a:rPr lang="zh-CN" altLang="en-US" sz="2800" dirty="0"/>
              <a:t>地变化，即等幅扫频信号。</a:t>
            </a:r>
            <a:endParaRPr lang="en-US" altLang="zh-CN" sz="28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2160D87-C2E9-491E-BC7E-1AD73371424E}"/>
              </a:ext>
            </a:extLst>
          </p:cNvPr>
          <p:cNvGrpSpPr/>
          <p:nvPr/>
        </p:nvGrpSpPr>
        <p:grpSpPr>
          <a:xfrm>
            <a:off x="664002" y="4471215"/>
            <a:ext cx="1646899" cy="472397"/>
            <a:chOff x="664002" y="4471215"/>
            <a:chExt cx="1646899" cy="472397"/>
          </a:xfrm>
        </p:grpSpPr>
        <p:sp>
          <p:nvSpPr>
            <p:cNvPr id="163" name="TextBox 162"/>
            <p:cNvSpPr txBox="1"/>
            <p:nvPr/>
          </p:nvSpPr>
          <p:spPr>
            <a:xfrm>
              <a:off x="664002" y="4471215"/>
              <a:ext cx="4153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altLang="zh-CN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1827264" y="4481947"/>
              <a:ext cx="483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err="1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altLang="zh-CN" baseline="-25000" dirty="0" err="1">
                  <a:latin typeface="Times New Roman" pitchFamily="18" charset="0"/>
                  <a:cs typeface="Times New Roman" pitchFamily="18" charset="0"/>
                </a:rPr>
                <a:t>m</a:t>
              </a:r>
              <a:endParaRPr lang="zh-CN" alt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66" name="直接箭头连接符 165"/>
            <p:cNvCxnSpPr>
              <a:stCxn id="163" idx="3"/>
              <a:endCxn id="164" idx="1"/>
            </p:cNvCxnSpPr>
            <p:nvPr/>
          </p:nvCxnSpPr>
          <p:spPr>
            <a:xfrm>
              <a:off x="1079330" y="4702048"/>
              <a:ext cx="747934" cy="107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组合 175"/>
          <p:cNvGrpSpPr/>
          <p:nvPr/>
        </p:nvGrpSpPr>
        <p:grpSpPr>
          <a:xfrm>
            <a:off x="723875" y="4990452"/>
            <a:ext cx="1630671" cy="679871"/>
            <a:chOff x="4682611" y="4018856"/>
            <a:chExt cx="1630671" cy="509903"/>
          </a:xfrm>
        </p:grpSpPr>
        <p:sp>
          <p:nvSpPr>
            <p:cNvPr id="174" name="右大括号 173"/>
            <p:cNvSpPr/>
            <p:nvPr/>
          </p:nvSpPr>
          <p:spPr>
            <a:xfrm rot="5400000">
              <a:off x="5365293" y="3355584"/>
              <a:ext cx="188489" cy="1515034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4682611" y="4182510"/>
              <a:ext cx="1630671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扫描宽度</a:t>
              </a: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2246771" y="4595385"/>
            <a:ext cx="1703147" cy="1321011"/>
            <a:chOff x="4725965" y="4096127"/>
            <a:chExt cx="1703147" cy="990758"/>
          </a:xfrm>
        </p:grpSpPr>
        <p:sp>
          <p:nvSpPr>
            <p:cNvPr id="178" name="右大括号 177"/>
            <p:cNvSpPr/>
            <p:nvPr/>
          </p:nvSpPr>
          <p:spPr>
            <a:xfrm rot="5400000">
              <a:off x="5391914" y="3430178"/>
              <a:ext cx="171575" cy="1503474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4798441" y="4186638"/>
              <a:ext cx="1630671" cy="900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</a:t>
              </a:r>
              <a:r>
                <a:rPr lang="zh-CN" altLang="en-US" dirty="0"/>
                <a:t>值：决定了扫描速率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62BFAD3A-0C82-4939-9CF6-E32ED2CF53D6}"/>
              </a:ext>
            </a:extLst>
          </p:cNvPr>
          <p:cNvGrpSpPr/>
          <p:nvPr/>
        </p:nvGrpSpPr>
        <p:grpSpPr>
          <a:xfrm>
            <a:off x="495773" y="1002497"/>
            <a:ext cx="3923827" cy="3780420"/>
            <a:chOff x="648173" y="2648225"/>
            <a:chExt cx="3923827" cy="3780420"/>
          </a:xfrm>
        </p:grpSpPr>
        <p:sp>
          <p:nvSpPr>
            <p:cNvPr id="173" name="AutoShape 47">
              <a:extLst>
                <a:ext uri="{FF2B5EF4-FFF2-40B4-BE49-F238E27FC236}">
                  <a16:creationId xmlns:a16="http://schemas.microsoft.com/office/drawing/2014/main" id="{2102A174-7993-4325-BBA9-803BD94E2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840" y="4205699"/>
              <a:ext cx="3638112" cy="8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AutoShape 45">
              <a:extLst>
                <a:ext uri="{FF2B5EF4-FFF2-40B4-BE49-F238E27FC236}">
                  <a16:creationId xmlns:a16="http://schemas.microsoft.com/office/drawing/2014/main" id="{B8610926-8DC4-4A2A-B9F9-B62D028E68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6269" y="3214900"/>
              <a:ext cx="1494424" cy="99079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AutoShape 43">
              <a:extLst>
                <a:ext uri="{FF2B5EF4-FFF2-40B4-BE49-F238E27FC236}">
                  <a16:creationId xmlns:a16="http://schemas.microsoft.com/office/drawing/2014/main" id="{2985FEB0-CB81-43E9-9A6F-1A5A66DE3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7197" y="3218978"/>
              <a:ext cx="1516304" cy="98756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Text Box 41">
              <a:extLst>
                <a:ext uri="{FF2B5EF4-FFF2-40B4-BE49-F238E27FC236}">
                  <a16:creationId xmlns:a16="http://schemas.microsoft.com/office/drawing/2014/main" id="{953805C9-D6B8-4C77-B659-B4793ADEC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5809" y="3977053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4" name="Text Box 40">
              <a:extLst>
                <a:ext uri="{FF2B5EF4-FFF2-40B4-BE49-F238E27FC236}">
                  <a16:creationId xmlns:a16="http://schemas.microsoft.com/office/drawing/2014/main" id="{AD4A77AE-9B20-4D09-8201-9E5292FDC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301" y="2648225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5" name="Text Box 39">
              <a:extLst>
                <a:ext uri="{FF2B5EF4-FFF2-40B4-BE49-F238E27FC236}">
                  <a16:creationId xmlns:a16="http://schemas.microsoft.com/office/drawing/2014/main" id="{F75B05F1-4053-4DB5-A125-228ECB7A8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173" y="406597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等线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6" name="AutoShape 38">
              <a:extLst>
                <a:ext uri="{FF2B5EF4-FFF2-40B4-BE49-F238E27FC236}">
                  <a16:creationId xmlns:a16="http://schemas.microsoft.com/office/drawing/2014/main" id="{39C38C37-F6A7-453F-B5DA-13EF1D7E9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460" y="5463251"/>
              <a:ext cx="3590493" cy="8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AutoShape 37">
              <a:extLst>
                <a:ext uri="{FF2B5EF4-FFF2-40B4-BE49-F238E27FC236}">
                  <a16:creationId xmlns:a16="http://schemas.microsoft.com/office/drawing/2014/main" id="{78D85668-2D1E-4023-877A-F74965DC8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6270" y="4586776"/>
              <a:ext cx="635" cy="18418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Text Box 34">
              <a:extLst>
                <a:ext uri="{FF2B5EF4-FFF2-40B4-BE49-F238E27FC236}">
                  <a16:creationId xmlns:a16="http://schemas.microsoft.com/office/drawing/2014/main" id="{C0C5DCBC-834D-4836-A9AB-5E4B242A5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332" y="526001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9" name="Text Box 33">
              <a:extLst>
                <a:ext uri="{FF2B5EF4-FFF2-40B4-BE49-F238E27FC236}">
                  <a16:creationId xmlns:a16="http://schemas.microsoft.com/office/drawing/2014/main" id="{10B82193-022F-4264-B252-56D432B88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697" y="531082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等线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0" name="Text Box 6">
              <a:extLst>
                <a:ext uri="{FF2B5EF4-FFF2-40B4-BE49-F238E27FC236}">
                  <a16:creationId xmlns:a16="http://schemas.microsoft.com/office/drawing/2014/main" id="{257CB227-7004-401E-B012-E701F2554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470" y="410069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1" name="Text Box 5">
              <a:extLst>
                <a:ext uri="{FF2B5EF4-FFF2-40B4-BE49-F238E27FC236}">
                  <a16:creationId xmlns:a16="http://schemas.microsoft.com/office/drawing/2014/main" id="{46F96EAD-9DAF-4A90-8574-515B7E10D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2223" y="592014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2" name="Text Box 4">
              <a:extLst>
                <a:ext uri="{FF2B5EF4-FFF2-40B4-BE49-F238E27FC236}">
                  <a16:creationId xmlns:a16="http://schemas.microsoft.com/office/drawing/2014/main" id="{6C3B6A9D-562D-49B2-B457-690C20702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640" y="4090529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2T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3" name="Text Box 3">
              <a:extLst>
                <a:ext uri="{FF2B5EF4-FFF2-40B4-BE49-F238E27FC236}">
                  <a16:creationId xmlns:a16="http://schemas.microsoft.com/office/drawing/2014/main" id="{C4A961E1-735D-4508-96DD-2C39359F9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225" y="5380080"/>
              <a:ext cx="266668" cy="419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2T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4" name="Text Box 2">
              <a:extLst>
                <a:ext uri="{FF2B5EF4-FFF2-40B4-BE49-F238E27FC236}">
                  <a16:creationId xmlns:a16="http://schemas.microsoft.com/office/drawing/2014/main" id="{9156D893-628D-4DE7-A8C2-BE1ED64EF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318" y="4388418"/>
              <a:ext cx="456029" cy="318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BC35D1A9-D566-44A4-A1FD-8F3EB25E3652}"/>
                </a:ext>
              </a:extLst>
            </p:cNvPr>
            <p:cNvGrpSpPr/>
            <p:nvPr/>
          </p:nvGrpSpPr>
          <p:grpSpPr>
            <a:xfrm>
              <a:off x="2391944" y="4911864"/>
              <a:ext cx="1510701" cy="1088557"/>
              <a:chOff x="2760375" y="2626280"/>
              <a:chExt cx="1510701" cy="816418"/>
            </a:xfrm>
          </p:grpSpPr>
          <p:grpSp>
            <p:nvGrpSpPr>
              <p:cNvPr id="264" name="Group 2">
                <a:extLst>
                  <a:ext uri="{FF2B5EF4-FFF2-40B4-BE49-F238E27FC236}">
                    <a16:creationId xmlns:a16="http://schemas.microsoft.com/office/drawing/2014/main" id="{4A645757-FAF0-4035-80C0-66D63AE643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989199" y="2632608"/>
                <a:ext cx="281877" cy="810090"/>
                <a:chOff x="2340" y="1596"/>
                <a:chExt cx="1735" cy="1519"/>
              </a:xfrm>
            </p:grpSpPr>
            <p:sp>
              <p:nvSpPr>
                <p:cNvPr id="319" name="Freeform 3">
                  <a:extLst>
                    <a:ext uri="{FF2B5EF4-FFF2-40B4-BE49-F238E27FC236}">
                      <a16:creationId xmlns:a16="http://schemas.microsoft.com/office/drawing/2014/main" id="{C3456292-9D49-42AF-885D-BD74457E77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0" name="Freeform 4">
                  <a:extLst>
                    <a:ext uri="{FF2B5EF4-FFF2-40B4-BE49-F238E27FC236}">
                      <a16:creationId xmlns:a16="http://schemas.microsoft.com/office/drawing/2014/main" id="{482C8854-81C0-4A8F-AC6E-07E5414E5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1" name="Freeform 5">
                  <a:extLst>
                    <a:ext uri="{FF2B5EF4-FFF2-40B4-BE49-F238E27FC236}">
                      <a16:creationId xmlns:a16="http://schemas.microsoft.com/office/drawing/2014/main" id="{1B43ABC9-0DE5-4153-9032-511C9B853B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2" name="Freeform 6">
                  <a:extLst>
                    <a:ext uri="{FF2B5EF4-FFF2-40B4-BE49-F238E27FC236}">
                      <a16:creationId xmlns:a16="http://schemas.microsoft.com/office/drawing/2014/main" id="{D42D859D-01A2-41D2-8928-7D958D9E60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323" name="Freeform 7">
                  <a:extLst>
                    <a:ext uri="{FF2B5EF4-FFF2-40B4-BE49-F238E27FC236}">
                      <a16:creationId xmlns:a16="http://schemas.microsoft.com/office/drawing/2014/main" id="{F612695C-7289-47FC-AD7A-E2D3F17D79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5" name="Group 2">
                <a:extLst>
                  <a:ext uri="{FF2B5EF4-FFF2-40B4-BE49-F238E27FC236}">
                    <a16:creationId xmlns:a16="http://schemas.microsoft.com/office/drawing/2014/main" id="{09EB0E72-4DEC-4E74-9A87-D9724DE556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742450" y="2632608"/>
                <a:ext cx="246750" cy="810090"/>
                <a:chOff x="2340" y="1596"/>
                <a:chExt cx="1735" cy="1519"/>
              </a:xfrm>
            </p:grpSpPr>
            <p:sp>
              <p:nvSpPr>
                <p:cNvPr id="314" name="Freeform 3">
                  <a:extLst>
                    <a:ext uri="{FF2B5EF4-FFF2-40B4-BE49-F238E27FC236}">
                      <a16:creationId xmlns:a16="http://schemas.microsoft.com/office/drawing/2014/main" id="{2CB0DF4D-2DAC-46A7-80A7-3AAD039B1B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5" name="Freeform 4">
                  <a:extLst>
                    <a:ext uri="{FF2B5EF4-FFF2-40B4-BE49-F238E27FC236}">
                      <a16:creationId xmlns:a16="http://schemas.microsoft.com/office/drawing/2014/main" id="{3FA5AEBE-C860-406D-A073-08872A4D66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6" name="Freeform 5">
                  <a:extLst>
                    <a:ext uri="{FF2B5EF4-FFF2-40B4-BE49-F238E27FC236}">
                      <a16:creationId xmlns:a16="http://schemas.microsoft.com/office/drawing/2014/main" id="{B90C300E-59F9-4103-91A6-61421F95E2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7" name="Freeform 6">
                  <a:extLst>
                    <a:ext uri="{FF2B5EF4-FFF2-40B4-BE49-F238E27FC236}">
                      <a16:creationId xmlns:a16="http://schemas.microsoft.com/office/drawing/2014/main" id="{66B47575-D33F-46FF-A8B6-F9BDF6266F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8" name="Freeform 7">
                  <a:extLst>
                    <a:ext uri="{FF2B5EF4-FFF2-40B4-BE49-F238E27FC236}">
                      <a16:creationId xmlns:a16="http://schemas.microsoft.com/office/drawing/2014/main" id="{89B74BC8-3B3E-42B1-8B03-26963FCCD2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6" name="Group 2">
                <a:extLst>
                  <a:ext uri="{FF2B5EF4-FFF2-40B4-BE49-F238E27FC236}">
                    <a16:creationId xmlns:a16="http://schemas.microsoft.com/office/drawing/2014/main" id="{DB54A9D3-D158-4592-AFDC-F7190B03CF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536315" y="2632608"/>
                <a:ext cx="211684" cy="810090"/>
                <a:chOff x="2340" y="1596"/>
                <a:chExt cx="1735" cy="1519"/>
              </a:xfrm>
            </p:grpSpPr>
            <p:sp>
              <p:nvSpPr>
                <p:cNvPr id="309" name="Freeform 3">
                  <a:extLst>
                    <a:ext uri="{FF2B5EF4-FFF2-40B4-BE49-F238E27FC236}">
                      <a16:creationId xmlns:a16="http://schemas.microsoft.com/office/drawing/2014/main" id="{0D159543-50A0-47B7-98D7-EA9636CB1E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0" name="Freeform 4">
                  <a:extLst>
                    <a:ext uri="{FF2B5EF4-FFF2-40B4-BE49-F238E27FC236}">
                      <a16:creationId xmlns:a16="http://schemas.microsoft.com/office/drawing/2014/main" id="{59A3FBC8-31E9-420C-9E94-FB20CA8407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1" name="Freeform 5">
                  <a:extLst>
                    <a:ext uri="{FF2B5EF4-FFF2-40B4-BE49-F238E27FC236}">
                      <a16:creationId xmlns:a16="http://schemas.microsoft.com/office/drawing/2014/main" id="{64E5E9C6-CDE4-482A-9D88-769B2CF1F1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2" name="Freeform 6">
                  <a:extLst>
                    <a:ext uri="{FF2B5EF4-FFF2-40B4-BE49-F238E27FC236}">
                      <a16:creationId xmlns:a16="http://schemas.microsoft.com/office/drawing/2014/main" id="{5EB8873A-16ED-45DD-8AA3-B78A29FA3F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3" name="Freeform 7">
                  <a:extLst>
                    <a:ext uri="{FF2B5EF4-FFF2-40B4-BE49-F238E27FC236}">
                      <a16:creationId xmlns:a16="http://schemas.microsoft.com/office/drawing/2014/main" id="{2B814B3F-153F-4667-9E51-B2BEC7E52A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7" name="Group 2">
                <a:extLst>
                  <a:ext uri="{FF2B5EF4-FFF2-40B4-BE49-F238E27FC236}">
                    <a16:creationId xmlns:a16="http://schemas.microsoft.com/office/drawing/2014/main" id="{64A7AABC-A246-4090-8AD2-6379D19BEB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349086" y="2632608"/>
                <a:ext cx="180450" cy="810090"/>
                <a:chOff x="2340" y="1596"/>
                <a:chExt cx="1735" cy="1519"/>
              </a:xfrm>
            </p:grpSpPr>
            <p:sp>
              <p:nvSpPr>
                <p:cNvPr id="304" name="Freeform 3">
                  <a:extLst>
                    <a:ext uri="{FF2B5EF4-FFF2-40B4-BE49-F238E27FC236}">
                      <a16:creationId xmlns:a16="http://schemas.microsoft.com/office/drawing/2014/main" id="{116A5182-0200-4CB6-BB4C-D8107EB295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5" name="Freeform 4">
                  <a:extLst>
                    <a:ext uri="{FF2B5EF4-FFF2-40B4-BE49-F238E27FC236}">
                      <a16:creationId xmlns:a16="http://schemas.microsoft.com/office/drawing/2014/main" id="{08EB5655-CBB2-4F12-A89A-C88B40540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6" name="Freeform 5">
                  <a:extLst>
                    <a:ext uri="{FF2B5EF4-FFF2-40B4-BE49-F238E27FC236}">
                      <a16:creationId xmlns:a16="http://schemas.microsoft.com/office/drawing/2014/main" id="{3BEC3E9F-9B28-42EA-A2F1-D41C7EDB4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" name="Freeform 6">
                  <a:extLst>
                    <a:ext uri="{FF2B5EF4-FFF2-40B4-BE49-F238E27FC236}">
                      <a16:creationId xmlns:a16="http://schemas.microsoft.com/office/drawing/2014/main" id="{475E5649-5366-4417-A2EA-9AE0EEF84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8" name="Freeform 7">
                  <a:extLst>
                    <a:ext uri="{FF2B5EF4-FFF2-40B4-BE49-F238E27FC236}">
                      <a16:creationId xmlns:a16="http://schemas.microsoft.com/office/drawing/2014/main" id="{218A197C-06DA-424D-9C86-00BD893969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8" name="Group 2">
                <a:extLst>
                  <a:ext uri="{FF2B5EF4-FFF2-40B4-BE49-F238E27FC236}">
                    <a16:creationId xmlns:a16="http://schemas.microsoft.com/office/drawing/2014/main" id="{C20024E5-58DF-4CA9-92F3-25125C84E2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199720" y="2632608"/>
                <a:ext cx="153824" cy="810090"/>
                <a:chOff x="2340" y="1596"/>
                <a:chExt cx="1735" cy="1519"/>
              </a:xfrm>
            </p:grpSpPr>
            <p:sp>
              <p:nvSpPr>
                <p:cNvPr id="299" name="Freeform 3">
                  <a:extLst>
                    <a:ext uri="{FF2B5EF4-FFF2-40B4-BE49-F238E27FC236}">
                      <a16:creationId xmlns:a16="http://schemas.microsoft.com/office/drawing/2014/main" id="{9F85F5CB-1A77-45D2-A94D-2FAABF3CC0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0" name="Freeform 4">
                  <a:extLst>
                    <a:ext uri="{FF2B5EF4-FFF2-40B4-BE49-F238E27FC236}">
                      <a16:creationId xmlns:a16="http://schemas.microsoft.com/office/drawing/2014/main" id="{651033CE-2E3E-4CF6-AB0D-9C6E5D8106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1" name="Freeform 5">
                  <a:extLst>
                    <a:ext uri="{FF2B5EF4-FFF2-40B4-BE49-F238E27FC236}">
                      <a16:creationId xmlns:a16="http://schemas.microsoft.com/office/drawing/2014/main" id="{DACE6D46-9A89-45F4-83B4-FA9B523278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2" name="Freeform 6">
                  <a:extLst>
                    <a:ext uri="{FF2B5EF4-FFF2-40B4-BE49-F238E27FC236}">
                      <a16:creationId xmlns:a16="http://schemas.microsoft.com/office/drawing/2014/main" id="{D6F89FAC-494C-498E-93B7-53CBC8BEFF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3" name="Freeform 7">
                  <a:extLst>
                    <a:ext uri="{FF2B5EF4-FFF2-40B4-BE49-F238E27FC236}">
                      <a16:creationId xmlns:a16="http://schemas.microsoft.com/office/drawing/2014/main" id="{C2D245DE-DE81-4246-8385-1385DB3DD1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9" name="Group 2">
                <a:extLst>
                  <a:ext uri="{FF2B5EF4-FFF2-40B4-BE49-F238E27FC236}">
                    <a16:creationId xmlns:a16="http://schemas.microsoft.com/office/drawing/2014/main" id="{5415FF84-497F-4980-85E3-C7C77865F5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073902" y="2632608"/>
                <a:ext cx="131128" cy="810090"/>
                <a:chOff x="2340" y="1596"/>
                <a:chExt cx="1735" cy="1519"/>
              </a:xfrm>
            </p:grpSpPr>
            <p:sp>
              <p:nvSpPr>
                <p:cNvPr id="294" name="Freeform 3">
                  <a:extLst>
                    <a:ext uri="{FF2B5EF4-FFF2-40B4-BE49-F238E27FC236}">
                      <a16:creationId xmlns:a16="http://schemas.microsoft.com/office/drawing/2014/main" id="{344306E4-93A5-49D2-B5E3-579E29D300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5" name="Freeform 4">
                  <a:extLst>
                    <a:ext uri="{FF2B5EF4-FFF2-40B4-BE49-F238E27FC236}">
                      <a16:creationId xmlns:a16="http://schemas.microsoft.com/office/drawing/2014/main" id="{87AACAA5-65FE-4641-A688-32FFFAC9CC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6" name="Freeform 5">
                  <a:extLst>
                    <a:ext uri="{FF2B5EF4-FFF2-40B4-BE49-F238E27FC236}">
                      <a16:creationId xmlns:a16="http://schemas.microsoft.com/office/drawing/2014/main" id="{515D4488-CB35-4BE8-9910-B275C519F1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" name="Freeform 6">
                  <a:extLst>
                    <a:ext uri="{FF2B5EF4-FFF2-40B4-BE49-F238E27FC236}">
                      <a16:creationId xmlns:a16="http://schemas.microsoft.com/office/drawing/2014/main" id="{960E46AC-F5F2-4403-AB8D-791EC53C3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8" name="Freeform 7">
                  <a:extLst>
                    <a:ext uri="{FF2B5EF4-FFF2-40B4-BE49-F238E27FC236}">
                      <a16:creationId xmlns:a16="http://schemas.microsoft.com/office/drawing/2014/main" id="{7A5B18B1-EBEC-4835-B525-40FDACA2A1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0" name="Group 2">
                <a:extLst>
                  <a:ext uri="{FF2B5EF4-FFF2-40B4-BE49-F238E27FC236}">
                    <a16:creationId xmlns:a16="http://schemas.microsoft.com/office/drawing/2014/main" id="{257AD59D-454C-4CF0-93D8-7AC36C6A6A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967622" y="2632608"/>
                <a:ext cx="111779" cy="810090"/>
                <a:chOff x="2340" y="1596"/>
                <a:chExt cx="1735" cy="1519"/>
              </a:xfrm>
            </p:grpSpPr>
            <p:sp>
              <p:nvSpPr>
                <p:cNvPr id="289" name="Freeform 3">
                  <a:extLst>
                    <a:ext uri="{FF2B5EF4-FFF2-40B4-BE49-F238E27FC236}">
                      <a16:creationId xmlns:a16="http://schemas.microsoft.com/office/drawing/2014/main" id="{7F0B707F-EC18-4784-BEFB-E4C5C8EFFB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0" name="Freeform 4">
                  <a:extLst>
                    <a:ext uri="{FF2B5EF4-FFF2-40B4-BE49-F238E27FC236}">
                      <a16:creationId xmlns:a16="http://schemas.microsoft.com/office/drawing/2014/main" id="{37D3FE2D-9804-43AB-8F0F-6FD8CC958A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Freeform 5">
                  <a:extLst>
                    <a:ext uri="{FF2B5EF4-FFF2-40B4-BE49-F238E27FC236}">
                      <a16:creationId xmlns:a16="http://schemas.microsoft.com/office/drawing/2014/main" id="{2F0F9E2F-92C2-4846-B99A-469BB1FAAF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2" name="Freeform 6">
                  <a:extLst>
                    <a:ext uri="{FF2B5EF4-FFF2-40B4-BE49-F238E27FC236}">
                      <a16:creationId xmlns:a16="http://schemas.microsoft.com/office/drawing/2014/main" id="{53E08CCC-BF4D-47F8-B3EA-8654DBF458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3" name="Freeform 7">
                  <a:extLst>
                    <a:ext uri="{FF2B5EF4-FFF2-40B4-BE49-F238E27FC236}">
                      <a16:creationId xmlns:a16="http://schemas.microsoft.com/office/drawing/2014/main" id="{FD0EABEB-A6D8-477C-AC09-22612E99E9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1" name="Group 2">
                <a:extLst>
                  <a:ext uri="{FF2B5EF4-FFF2-40B4-BE49-F238E27FC236}">
                    <a16:creationId xmlns:a16="http://schemas.microsoft.com/office/drawing/2014/main" id="{5700D1F5-8456-49A1-8F19-B7AF199F58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879041" y="2632608"/>
                <a:ext cx="92935" cy="810090"/>
                <a:chOff x="2340" y="1596"/>
                <a:chExt cx="1735" cy="1519"/>
              </a:xfrm>
            </p:grpSpPr>
            <p:sp>
              <p:nvSpPr>
                <p:cNvPr id="284" name="Freeform 3">
                  <a:extLst>
                    <a:ext uri="{FF2B5EF4-FFF2-40B4-BE49-F238E27FC236}">
                      <a16:creationId xmlns:a16="http://schemas.microsoft.com/office/drawing/2014/main" id="{707D5284-0FBE-42F7-B641-54759ED6AB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" name="Freeform 4">
                  <a:extLst>
                    <a:ext uri="{FF2B5EF4-FFF2-40B4-BE49-F238E27FC236}">
                      <a16:creationId xmlns:a16="http://schemas.microsoft.com/office/drawing/2014/main" id="{BAAC118F-84B7-479D-9D46-B01BF7BE0F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" name="Freeform 5">
                  <a:extLst>
                    <a:ext uri="{FF2B5EF4-FFF2-40B4-BE49-F238E27FC236}">
                      <a16:creationId xmlns:a16="http://schemas.microsoft.com/office/drawing/2014/main" id="{0C9B7217-F2F5-45CE-8E38-F47875D712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" name="Freeform 6">
                  <a:extLst>
                    <a:ext uri="{FF2B5EF4-FFF2-40B4-BE49-F238E27FC236}">
                      <a16:creationId xmlns:a16="http://schemas.microsoft.com/office/drawing/2014/main" id="{D9E2E8DE-3F2D-484E-A03B-B14743D046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8" name="Freeform 7">
                  <a:extLst>
                    <a:ext uri="{FF2B5EF4-FFF2-40B4-BE49-F238E27FC236}">
                      <a16:creationId xmlns:a16="http://schemas.microsoft.com/office/drawing/2014/main" id="{C841F653-6623-469A-812C-F9CFB56113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2" name="Group 2">
                <a:extLst>
                  <a:ext uri="{FF2B5EF4-FFF2-40B4-BE49-F238E27FC236}">
                    <a16:creationId xmlns:a16="http://schemas.microsoft.com/office/drawing/2014/main" id="{B33F70AB-8863-4AA8-8976-416442732E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815709" y="2626280"/>
                <a:ext cx="63331" cy="810090"/>
                <a:chOff x="2340" y="1596"/>
                <a:chExt cx="1735" cy="1519"/>
              </a:xfrm>
            </p:grpSpPr>
            <p:sp>
              <p:nvSpPr>
                <p:cNvPr id="279" name="Freeform 3">
                  <a:extLst>
                    <a:ext uri="{FF2B5EF4-FFF2-40B4-BE49-F238E27FC236}">
                      <a16:creationId xmlns:a16="http://schemas.microsoft.com/office/drawing/2014/main" id="{F9D3288E-0C12-410D-BB1D-6366DDA1F9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" name="Freeform 4">
                  <a:extLst>
                    <a:ext uri="{FF2B5EF4-FFF2-40B4-BE49-F238E27FC236}">
                      <a16:creationId xmlns:a16="http://schemas.microsoft.com/office/drawing/2014/main" id="{16C63B85-85BA-4762-BD50-050BFDAE93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" name="Freeform 5">
                  <a:extLst>
                    <a:ext uri="{FF2B5EF4-FFF2-40B4-BE49-F238E27FC236}">
                      <a16:creationId xmlns:a16="http://schemas.microsoft.com/office/drawing/2014/main" id="{0CF8E319-ED74-4BC9-9820-216EC10719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" name="Freeform 6">
                  <a:extLst>
                    <a:ext uri="{FF2B5EF4-FFF2-40B4-BE49-F238E27FC236}">
                      <a16:creationId xmlns:a16="http://schemas.microsoft.com/office/drawing/2014/main" id="{14D75AF5-6EFE-48EF-8D69-D86EFE2D09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" name="Freeform 7">
                  <a:extLst>
                    <a:ext uri="{FF2B5EF4-FFF2-40B4-BE49-F238E27FC236}">
                      <a16:creationId xmlns:a16="http://schemas.microsoft.com/office/drawing/2014/main" id="{AF0C7E92-EDB8-4969-9A7F-B6D3F4B622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3" name="Group 2">
                <a:extLst>
                  <a:ext uri="{FF2B5EF4-FFF2-40B4-BE49-F238E27FC236}">
                    <a16:creationId xmlns:a16="http://schemas.microsoft.com/office/drawing/2014/main" id="{5F36480D-8377-4F88-A4B8-0E76829671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760375" y="2632608"/>
                <a:ext cx="48984" cy="810090"/>
                <a:chOff x="2340" y="1596"/>
                <a:chExt cx="1735" cy="1519"/>
              </a:xfrm>
            </p:grpSpPr>
            <p:sp>
              <p:nvSpPr>
                <p:cNvPr id="274" name="Freeform 3">
                  <a:extLst>
                    <a:ext uri="{FF2B5EF4-FFF2-40B4-BE49-F238E27FC236}">
                      <a16:creationId xmlns:a16="http://schemas.microsoft.com/office/drawing/2014/main" id="{BE51A753-6F2B-49FD-9D45-1BCB542A7B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" name="Freeform 4">
                  <a:extLst>
                    <a:ext uri="{FF2B5EF4-FFF2-40B4-BE49-F238E27FC236}">
                      <a16:creationId xmlns:a16="http://schemas.microsoft.com/office/drawing/2014/main" id="{00BD0F57-11C8-49EF-A936-3740A0163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" name="Freeform 5">
                  <a:extLst>
                    <a:ext uri="{FF2B5EF4-FFF2-40B4-BE49-F238E27FC236}">
                      <a16:creationId xmlns:a16="http://schemas.microsoft.com/office/drawing/2014/main" id="{456E43D4-443C-4FA2-AEAB-B7AF0DF7F4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" name="Freeform 6">
                  <a:extLst>
                    <a:ext uri="{FF2B5EF4-FFF2-40B4-BE49-F238E27FC236}">
                      <a16:creationId xmlns:a16="http://schemas.microsoft.com/office/drawing/2014/main" id="{898AD71A-EA30-4EB9-A5BD-B6C8A82B00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" name="Freeform 7">
                  <a:extLst>
                    <a:ext uri="{FF2B5EF4-FFF2-40B4-BE49-F238E27FC236}">
                      <a16:creationId xmlns:a16="http://schemas.microsoft.com/office/drawing/2014/main" id="{7B507D6D-1D3F-4364-A854-3A7B4C54AE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2C99DFE3-C52F-49DC-9608-B74CEB6CD9C9}"/>
                </a:ext>
              </a:extLst>
            </p:cNvPr>
            <p:cNvCxnSpPr/>
            <p:nvPr/>
          </p:nvCxnSpPr>
          <p:spPr>
            <a:xfrm flipV="1">
              <a:off x="900772" y="2849066"/>
              <a:ext cx="9524" cy="16360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E0EAA197-97E2-4621-B5E4-EBC8A3C9C5E0}"/>
                </a:ext>
              </a:extLst>
            </p:cNvPr>
            <p:cNvCxnSpPr/>
            <p:nvPr/>
          </p:nvCxnSpPr>
          <p:spPr>
            <a:xfrm flipH="1" flipV="1">
              <a:off x="2375133" y="3248293"/>
              <a:ext cx="5561" cy="222131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A03C0413-1424-47ED-8740-F96C425068A4}"/>
                </a:ext>
              </a:extLst>
            </p:cNvPr>
            <p:cNvCxnSpPr/>
            <p:nvPr/>
          </p:nvCxnSpPr>
          <p:spPr>
            <a:xfrm flipV="1">
              <a:off x="3902646" y="3218978"/>
              <a:ext cx="1" cy="2250628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E39B4FF2-DE2E-443E-8A4A-251FF81939AB}"/>
                </a:ext>
              </a:extLst>
            </p:cNvPr>
            <p:cNvGrpSpPr/>
            <p:nvPr/>
          </p:nvGrpSpPr>
          <p:grpSpPr>
            <a:xfrm>
              <a:off x="910297" y="4905825"/>
              <a:ext cx="1485165" cy="1102773"/>
              <a:chOff x="5337085" y="3364850"/>
              <a:chExt cx="1485165" cy="827080"/>
            </a:xfrm>
          </p:grpSpPr>
          <p:grpSp>
            <p:nvGrpSpPr>
              <p:cNvPr id="204" name="Group 2">
                <a:extLst>
                  <a:ext uri="{FF2B5EF4-FFF2-40B4-BE49-F238E27FC236}">
                    <a16:creationId xmlns:a16="http://schemas.microsoft.com/office/drawing/2014/main" id="{F6777590-72AB-4354-B3A2-69D3E433E0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7085" y="3364850"/>
                <a:ext cx="263675" cy="810090"/>
                <a:chOff x="2340" y="1596"/>
                <a:chExt cx="1735" cy="1519"/>
              </a:xfrm>
            </p:grpSpPr>
            <p:sp>
              <p:nvSpPr>
                <p:cNvPr id="259" name="Freeform 3">
                  <a:extLst>
                    <a:ext uri="{FF2B5EF4-FFF2-40B4-BE49-F238E27FC236}">
                      <a16:creationId xmlns:a16="http://schemas.microsoft.com/office/drawing/2014/main" id="{77098D28-B13C-4444-A8A0-ED033C86E5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" name="Freeform 4">
                  <a:extLst>
                    <a:ext uri="{FF2B5EF4-FFF2-40B4-BE49-F238E27FC236}">
                      <a16:creationId xmlns:a16="http://schemas.microsoft.com/office/drawing/2014/main" id="{8897DD6D-4281-4103-A08C-91C79917B9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" name="Freeform 5">
                  <a:extLst>
                    <a:ext uri="{FF2B5EF4-FFF2-40B4-BE49-F238E27FC236}">
                      <a16:creationId xmlns:a16="http://schemas.microsoft.com/office/drawing/2014/main" id="{52EDCCE9-BE38-4C47-9F24-7D5FC519B5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" name="Freeform 6">
                  <a:extLst>
                    <a:ext uri="{FF2B5EF4-FFF2-40B4-BE49-F238E27FC236}">
                      <a16:creationId xmlns:a16="http://schemas.microsoft.com/office/drawing/2014/main" id="{9FB628AB-557E-4A9D-9EF1-0D856B3BDA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" name="Freeform 7">
                  <a:extLst>
                    <a:ext uri="{FF2B5EF4-FFF2-40B4-BE49-F238E27FC236}">
                      <a16:creationId xmlns:a16="http://schemas.microsoft.com/office/drawing/2014/main" id="{195A7021-B34B-4758-A406-452BBB4F5F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Group 2">
                <a:extLst>
                  <a:ext uri="{FF2B5EF4-FFF2-40B4-BE49-F238E27FC236}">
                    <a16:creationId xmlns:a16="http://schemas.microsoft.com/office/drawing/2014/main" id="{A4AEDC4D-4E8A-4E38-9CAC-108D5AE821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00660" y="3364850"/>
                <a:ext cx="212430" cy="810090"/>
                <a:chOff x="2340" y="1596"/>
                <a:chExt cx="1735" cy="1519"/>
              </a:xfrm>
            </p:grpSpPr>
            <p:sp>
              <p:nvSpPr>
                <p:cNvPr id="254" name="Freeform 3">
                  <a:extLst>
                    <a:ext uri="{FF2B5EF4-FFF2-40B4-BE49-F238E27FC236}">
                      <a16:creationId xmlns:a16="http://schemas.microsoft.com/office/drawing/2014/main" id="{D6017CC0-3D93-49F0-916E-DC7BCFA792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" name="Freeform 4">
                  <a:extLst>
                    <a:ext uri="{FF2B5EF4-FFF2-40B4-BE49-F238E27FC236}">
                      <a16:creationId xmlns:a16="http://schemas.microsoft.com/office/drawing/2014/main" id="{3062FF64-07E3-4A0E-B28A-7E0A4EAB62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" name="Freeform 5">
                  <a:extLst>
                    <a:ext uri="{FF2B5EF4-FFF2-40B4-BE49-F238E27FC236}">
                      <a16:creationId xmlns:a16="http://schemas.microsoft.com/office/drawing/2014/main" id="{E302E7BE-4C9F-45DE-BD48-E0CBF89BA1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" name="Freeform 6">
                  <a:extLst>
                    <a:ext uri="{FF2B5EF4-FFF2-40B4-BE49-F238E27FC236}">
                      <a16:creationId xmlns:a16="http://schemas.microsoft.com/office/drawing/2014/main" id="{B25BAD1E-3C07-40D1-AEF1-EDCC6893DA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" name="Freeform 7">
                  <a:extLst>
                    <a:ext uri="{FF2B5EF4-FFF2-40B4-BE49-F238E27FC236}">
                      <a16:creationId xmlns:a16="http://schemas.microsoft.com/office/drawing/2014/main" id="{B1D27AC4-D9A1-4FDC-B510-9B19905C3D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6" name="Group 2">
                <a:extLst>
                  <a:ext uri="{FF2B5EF4-FFF2-40B4-BE49-F238E27FC236}">
                    <a16:creationId xmlns:a16="http://schemas.microsoft.com/office/drawing/2014/main" id="{50273EB4-62CF-449F-9229-38C93BA3D5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12184" y="3364850"/>
                <a:ext cx="198014" cy="810090"/>
                <a:chOff x="2340" y="1596"/>
                <a:chExt cx="1735" cy="1519"/>
              </a:xfrm>
            </p:grpSpPr>
            <p:sp>
              <p:nvSpPr>
                <p:cNvPr id="249" name="Freeform 3">
                  <a:extLst>
                    <a:ext uri="{FF2B5EF4-FFF2-40B4-BE49-F238E27FC236}">
                      <a16:creationId xmlns:a16="http://schemas.microsoft.com/office/drawing/2014/main" id="{14499221-1935-4ADC-AD43-F1E6BC12DF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" name="Freeform 4">
                  <a:extLst>
                    <a:ext uri="{FF2B5EF4-FFF2-40B4-BE49-F238E27FC236}">
                      <a16:creationId xmlns:a16="http://schemas.microsoft.com/office/drawing/2014/main" id="{BEA6A4A8-C89F-404E-B2EB-4B3C1D5057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" name="Freeform 5">
                  <a:extLst>
                    <a:ext uri="{FF2B5EF4-FFF2-40B4-BE49-F238E27FC236}">
                      <a16:creationId xmlns:a16="http://schemas.microsoft.com/office/drawing/2014/main" id="{92C8A420-33DA-4404-8683-B21BDE5EB5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" name="Freeform 6">
                  <a:extLst>
                    <a:ext uri="{FF2B5EF4-FFF2-40B4-BE49-F238E27FC236}">
                      <a16:creationId xmlns:a16="http://schemas.microsoft.com/office/drawing/2014/main" id="{39C76110-F7A0-4417-B12F-937CA49A63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" name="Freeform 7">
                  <a:extLst>
                    <a:ext uri="{FF2B5EF4-FFF2-40B4-BE49-F238E27FC236}">
                      <a16:creationId xmlns:a16="http://schemas.microsoft.com/office/drawing/2014/main" id="{BF1FB91E-406F-443C-9204-BD0E5D1944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7" name="Group 2">
                <a:extLst>
                  <a:ext uri="{FF2B5EF4-FFF2-40B4-BE49-F238E27FC236}">
                    <a16:creationId xmlns:a16="http://schemas.microsoft.com/office/drawing/2014/main" id="{F289758C-0C1F-40AC-8E6E-0CC5FB5316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12160" y="3364850"/>
                <a:ext cx="182241" cy="810090"/>
                <a:chOff x="2340" y="1596"/>
                <a:chExt cx="1735" cy="1519"/>
              </a:xfrm>
            </p:grpSpPr>
            <p:sp>
              <p:nvSpPr>
                <p:cNvPr id="244" name="Freeform 3">
                  <a:extLst>
                    <a:ext uri="{FF2B5EF4-FFF2-40B4-BE49-F238E27FC236}">
                      <a16:creationId xmlns:a16="http://schemas.microsoft.com/office/drawing/2014/main" id="{D93CB771-BDC4-4C7E-9D7B-F442B134F4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5" name="Freeform 4">
                  <a:extLst>
                    <a:ext uri="{FF2B5EF4-FFF2-40B4-BE49-F238E27FC236}">
                      <a16:creationId xmlns:a16="http://schemas.microsoft.com/office/drawing/2014/main" id="{2E19F4B5-7B05-4D20-A36F-9A42062C3B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6" name="Freeform 5">
                  <a:extLst>
                    <a:ext uri="{FF2B5EF4-FFF2-40B4-BE49-F238E27FC236}">
                      <a16:creationId xmlns:a16="http://schemas.microsoft.com/office/drawing/2014/main" id="{090ACBB8-25B6-4D65-84F7-FDCABAD633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" name="Freeform 6">
                  <a:extLst>
                    <a:ext uri="{FF2B5EF4-FFF2-40B4-BE49-F238E27FC236}">
                      <a16:creationId xmlns:a16="http://schemas.microsoft.com/office/drawing/2014/main" id="{79D2042A-715B-45EF-AB55-4573605192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" name="Freeform 7">
                  <a:extLst>
                    <a:ext uri="{FF2B5EF4-FFF2-40B4-BE49-F238E27FC236}">
                      <a16:creationId xmlns:a16="http://schemas.microsoft.com/office/drawing/2014/main" id="{0CD20813-3F6E-438A-B028-F17D397A3B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8" name="Group 2">
                <a:extLst>
                  <a:ext uri="{FF2B5EF4-FFF2-40B4-BE49-F238E27FC236}">
                    <a16:creationId xmlns:a16="http://schemas.microsoft.com/office/drawing/2014/main" id="{8C801C6F-9C6D-461D-9754-F16C6DA5F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92180" y="3364850"/>
                <a:ext cx="155351" cy="810090"/>
                <a:chOff x="2340" y="1596"/>
                <a:chExt cx="1735" cy="1519"/>
              </a:xfrm>
            </p:grpSpPr>
            <p:sp>
              <p:nvSpPr>
                <p:cNvPr id="239" name="Freeform 3">
                  <a:extLst>
                    <a:ext uri="{FF2B5EF4-FFF2-40B4-BE49-F238E27FC236}">
                      <a16:creationId xmlns:a16="http://schemas.microsoft.com/office/drawing/2014/main" id="{03AC1031-DF67-440F-9B50-9F7E56EC20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0" name="Freeform 4">
                  <a:extLst>
                    <a:ext uri="{FF2B5EF4-FFF2-40B4-BE49-F238E27FC236}">
                      <a16:creationId xmlns:a16="http://schemas.microsoft.com/office/drawing/2014/main" id="{795F8B6B-32DC-47E7-B66A-E759D57253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1" name="Freeform 5">
                  <a:extLst>
                    <a:ext uri="{FF2B5EF4-FFF2-40B4-BE49-F238E27FC236}">
                      <a16:creationId xmlns:a16="http://schemas.microsoft.com/office/drawing/2014/main" id="{1BE9FD69-4FAB-474D-889F-0F21190DE5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2" name="Freeform 6">
                  <a:extLst>
                    <a:ext uri="{FF2B5EF4-FFF2-40B4-BE49-F238E27FC236}">
                      <a16:creationId xmlns:a16="http://schemas.microsoft.com/office/drawing/2014/main" id="{2183CF3B-93CF-4DFA-892A-F9D34ED162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3" name="Freeform 7">
                  <a:extLst>
                    <a:ext uri="{FF2B5EF4-FFF2-40B4-BE49-F238E27FC236}">
                      <a16:creationId xmlns:a16="http://schemas.microsoft.com/office/drawing/2014/main" id="{E7268C7A-0E8B-44C1-86F4-C108BD45DB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9" name="Group 2">
                <a:extLst>
                  <a:ext uri="{FF2B5EF4-FFF2-40B4-BE49-F238E27FC236}">
                    <a16:creationId xmlns:a16="http://schemas.microsoft.com/office/drawing/2014/main" id="{2415EB48-13EE-441D-9C42-C8D3927362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46245" y="3381840"/>
                <a:ext cx="132429" cy="810090"/>
                <a:chOff x="2340" y="1596"/>
                <a:chExt cx="1735" cy="1519"/>
              </a:xfrm>
            </p:grpSpPr>
            <p:sp>
              <p:nvSpPr>
                <p:cNvPr id="234" name="Freeform 3">
                  <a:extLst>
                    <a:ext uri="{FF2B5EF4-FFF2-40B4-BE49-F238E27FC236}">
                      <a16:creationId xmlns:a16="http://schemas.microsoft.com/office/drawing/2014/main" id="{4251E4FE-6C87-4EA7-82D0-5FC275F261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5" name="Freeform 4">
                  <a:extLst>
                    <a:ext uri="{FF2B5EF4-FFF2-40B4-BE49-F238E27FC236}">
                      <a16:creationId xmlns:a16="http://schemas.microsoft.com/office/drawing/2014/main" id="{D759CA2F-879F-4CBB-822D-4E6691AA71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6" name="Freeform 5">
                  <a:extLst>
                    <a:ext uri="{FF2B5EF4-FFF2-40B4-BE49-F238E27FC236}">
                      <a16:creationId xmlns:a16="http://schemas.microsoft.com/office/drawing/2014/main" id="{7F926A3D-4C53-49EB-AF62-1134513466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7" name="Freeform 6">
                  <a:extLst>
                    <a:ext uri="{FF2B5EF4-FFF2-40B4-BE49-F238E27FC236}">
                      <a16:creationId xmlns:a16="http://schemas.microsoft.com/office/drawing/2014/main" id="{6021AE33-2AAE-4C8A-A1EF-61507EFCA1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8" name="Freeform 7">
                  <a:extLst>
                    <a:ext uri="{FF2B5EF4-FFF2-40B4-BE49-F238E27FC236}">
                      <a16:creationId xmlns:a16="http://schemas.microsoft.com/office/drawing/2014/main" id="{0CB2E1E2-8194-466D-B2E7-87C28B2ACD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0" name="Group 2">
                <a:extLst>
                  <a:ext uri="{FF2B5EF4-FFF2-40B4-BE49-F238E27FC236}">
                    <a16:creationId xmlns:a16="http://schemas.microsoft.com/office/drawing/2014/main" id="{1178F667-057F-4999-971C-330F4AD1FF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4811" y="3381840"/>
                <a:ext cx="112889" cy="810090"/>
                <a:chOff x="2340" y="1596"/>
                <a:chExt cx="1735" cy="1519"/>
              </a:xfrm>
            </p:grpSpPr>
            <p:sp>
              <p:nvSpPr>
                <p:cNvPr id="229" name="Freeform 3">
                  <a:extLst>
                    <a:ext uri="{FF2B5EF4-FFF2-40B4-BE49-F238E27FC236}">
                      <a16:creationId xmlns:a16="http://schemas.microsoft.com/office/drawing/2014/main" id="{D386C8F8-A754-4ACC-A0BF-C36B1DE6D0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" name="Freeform 4">
                  <a:extLst>
                    <a:ext uri="{FF2B5EF4-FFF2-40B4-BE49-F238E27FC236}">
                      <a16:creationId xmlns:a16="http://schemas.microsoft.com/office/drawing/2014/main" id="{6907E478-5797-49F9-BA3C-E46163D434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" name="Freeform 5">
                  <a:extLst>
                    <a:ext uri="{FF2B5EF4-FFF2-40B4-BE49-F238E27FC236}">
                      <a16:creationId xmlns:a16="http://schemas.microsoft.com/office/drawing/2014/main" id="{BFA0EF70-1220-421F-A202-D28D6986E9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" name="Freeform 6">
                  <a:extLst>
                    <a:ext uri="{FF2B5EF4-FFF2-40B4-BE49-F238E27FC236}">
                      <a16:creationId xmlns:a16="http://schemas.microsoft.com/office/drawing/2014/main" id="{46D6DACF-E3F8-47F0-91E2-DE82B4C82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" name="Freeform 7">
                  <a:extLst>
                    <a:ext uri="{FF2B5EF4-FFF2-40B4-BE49-F238E27FC236}">
                      <a16:creationId xmlns:a16="http://schemas.microsoft.com/office/drawing/2014/main" id="{56384A45-1199-46A7-8C95-925D10C741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1" name="Group 2">
                <a:extLst>
                  <a:ext uri="{FF2B5EF4-FFF2-40B4-BE49-F238E27FC236}">
                    <a16:creationId xmlns:a16="http://schemas.microsoft.com/office/drawing/2014/main" id="{B5C90FB9-BB8F-4BEA-A7A9-ACAF2CEE2A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87700" y="3381840"/>
                <a:ext cx="93857" cy="810090"/>
                <a:chOff x="2340" y="1596"/>
                <a:chExt cx="1735" cy="1519"/>
              </a:xfrm>
            </p:grpSpPr>
            <p:sp>
              <p:nvSpPr>
                <p:cNvPr id="224" name="Freeform 3">
                  <a:extLst>
                    <a:ext uri="{FF2B5EF4-FFF2-40B4-BE49-F238E27FC236}">
                      <a16:creationId xmlns:a16="http://schemas.microsoft.com/office/drawing/2014/main" id="{FD1653D2-F894-4102-A3F1-388E77189B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" name="Freeform 4">
                  <a:extLst>
                    <a:ext uri="{FF2B5EF4-FFF2-40B4-BE49-F238E27FC236}">
                      <a16:creationId xmlns:a16="http://schemas.microsoft.com/office/drawing/2014/main" id="{C1F26CC7-44AE-4514-97EA-2AEAFC796B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" name="Freeform 5">
                  <a:extLst>
                    <a:ext uri="{FF2B5EF4-FFF2-40B4-BE49-F238E27FC236}">
                      <a16:creationId xmlns:a16="http://schemas.microsoft.com/office/drawing/2014/main" id="{00E3DE0B-E089-431E-B2A7-504F2D6E39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" name="Freeform 6">
                  <a:extLst>
                    <a:ext uri="{FF2B5EF4-FFF2-40B4-BE49-F238E27FC236}">
                      <a16:creationId xmlns:a16="http://schemas.microsoft.com/office/drawing/2014/main" id="{3D034B18-C318-4B6D-AB34-0F0E97238B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" name="Freeform 7">
                  <a:extLst>
                    <a:ext uri="{FF2B5EF4-FFF2-40B4-BE49-F238E27FC236}">
                      <a16:creationId xmlns:a16="http://schemas.microsoft.com/office/drawing/2014/main" id="{ACA754DC-DBCD-41F6-8F06-AD9E52360C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Group 2">
                <a:extLst>
                  <a:ext uri="{FF2B5EF4-FFF2-40B4-BE49-F238E27FC236}">
                    <a16:creationId xmlns:a16="http://schemas.microsoft.com/office/drawing/2014/main" id="{14B7AA54-60EC-49FB-825D-DF4A764051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74928" y="3381840"/>
                <a:ext cx="83267" cy="810090"/>
                <a:chOff x="2340" y="1596"/>
                <a:chExt cx="1735" cy="1519"/>
              </a:xfrm>
            </p:grpSpPr>
            <p:sp>
              <p:nvSpPr>
                <p:cNvPr id="219" name="Freeform 3">
                  <a:extLst>
                    <a:ext uri="{FF2B5EF4-FFF2-40B4-BE49-F238E27FC236}">
                      <a16:creationId xmlns:a16="http://schemas.microsoft.com/office/drawing/2014/main" id="{2539F660-D209-44ED-81D1-66242CA96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" name="Freeform 4">
                  <a:extLst>
                    <a:ext uri="{FF2B5EF4-FFF2-40B4-BE49-F238E27FC236}">
                      <a16:creationId xmlns:a16="http://schemas.microsoft.com/office/drawing/2014/main" id="{722C4222-C450-4BF7-B826-AF83577507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" name="Freeform 5">
                  <a:extLst>
                    <a:ext uri="{FF2B5EF4-FFF2-40B4-BE49-F238E27FC236}">
                      <a16:creationId xmlns:a16="http://schemas.microsoft.com/office/drawing/2014/main" id="{FC57F273-26B2-4690-AF12-BAE9903E1E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Freeform 6">
                  <a:extLst>
                    <a:ext uri="{FF2B5EF4-FFF2-40B4-BE49-F238E27FC236}">
                      <a16:creationId xmlns:a16="http://schemas.microsoft.com/office/drawing/2014/main" id="{72B05461-9298-43A8-8001-13B4A6D365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" name="Freeform 7">
                  <a:extLst>
                    <a:ext uri="{FF2B5EF4-FFF2-40B4-BE49-F238E27FC236}">
                      <a16:creationId xmlns:a16="http://schemas.microsoft.com/office/drawing/2014/main" id="{F8528AA1-C525-4DC7-935D-C3C0C0EC7D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3" name="Group 2">
                <a:extLst>
                  <a:ext uri="{FF2B5EF4-FFF2-40B4-BE49-F238E27FC236}">
                    <a16:creationId xmlns:a16="http://schemas.microsoft.com/office/drawing/2014/main" id="{9B9AD745-5706-4D3F-924C-FCC0F60FB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74600" y="3381840"/>
                <a:ext cx="47650" cy="810090"/>
                <a:chOff x="2340" y="1596"/>
                <a:chExt cx="1735" cy="1519"/>
              </a:xfrm>
            </p:grpSpPr>
            <p:sp>
              <p:nvSpPr>
                <p:cNvPr id="214" name="Freeform 3">
                  <a:extLst>
                    <a:ext uri="{FF2B5EF4-FFF2-40B4-BE49-F238E27FC236}">
                      <a16:creationId xmlns:a16="http://schemas.microsoft.com/office/drawing/2014/main" id="{56EC1809-0543-4D5A-891A-F33A680600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Freeform 4">
                  <a:extLst>
                    <a:ext uri="{FF2B5EF4-FFF2-40B4-BE49-F238E27FC236}">
                      <a16:creationId xmlns:a16="http://schemas.microsoft.com/office/drawing/2014/main" id="{0A87C199-820A-477D-B9DE-DA5F4F528B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Freeform 5">
                  <a:extLst>
                    <a:ext uri="{FF2B5EF4-FFF2-40B4-BE49-F238E27FC236}">
                      <a16:creationId xmlns:a16="http://schemas.microsoft.com/office/drawing/2014/main" id="{81081DDD-344B-456F-A5FD-4DCD3A704A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Freeform 6">
                  <a:extLst>
                    <a:ext uri="{FF2B5EF4-FFF2-40B4-BE49-F238E27FC236}">
                      <a16:creationId xmlns:a16="http://schemas.microsoft.com/office/drawing/2014/main" id="{B89851A8-1C85-4318-894C-1B62913AE6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" name="Freeform 7">
                  <a:extLst>
                    <a:ext uri="{FF2B5EF4-FFF2-40B4-BE49-F238E27FC236}">
                      <a16:creationId xmlns:a16="http://schemas.microsoft.com/office/drawing/2014/main" id="{21BC8177-B8DB-4AB0-BFEA-3EA6BD5D34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599983D9-3006-4D6D-BBB6-F1EE8676FBBB}"/>
                </a:ext>
              </a:extLst>
            </p:cNvPr>
            <p:cNvCxnSpPr/>
            <p:nvPr/>
          </p:nvCxnSpPr>
          <p:spPr>
            <a:xfrm>
              <a:off x="905535" y="3128278"/>
              <a:ext cx="1477279" cy="0"/>
            </a:xfrm>
            <a:prstGeom prst="straightConnector1">
              <a:avLst/>
            </a:prstGeom>
            <a:ln w="127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151">
              <a:extLst>
                <a:ext uri="{FF2B5EF4-FFF2-40B4-BE49-F238E27FC236}">
                  <a16:creationId xmlns:a16="http://schemas.microsoft.com/office/drawing/2014/main" id="{B5C0B367-576E-42D5-A04C-B4302170C03D}"/>
                </a:ext>
              </a:extLst>
            </p:cNvPr>
            <p:cNvSpPr txBox="1"/>
            <p:nvPr/>
          </p:nvSpPr>
          <p:spPr>
            <a:xfrm>
              <a:off x="1270336" y="2708232"/>
              <a:ext cx="11027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扫描正程</a:t>
              </a:r>
            </a:p>
          </p:txBody>
        </p: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7C8DCB97-3B94-4153-BEE9-085AF391AC6C}"/>
                </a:ext>
              </a:extLst>
            </p:cNvPr>
            <p:cNvCxnSpPr/>
            <p:nvPr/>
          </p:nvCxnSpPr>
          <p:spPr>
            <a:xfrm>
              <a:off x="2370796" y="3128278"/>
              <a:ext cx="1477279" cy="0"/>
            </a:xfrm>
            <a:prstGeom prst="straightConnector1">
              <a:avLst/>
            </a:prstGeom>
            <a:ln w="127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TextBox 157">
              <a:extLst>
                <a:ext uri="{FF2B5EF4-FFF2-40B4-BE49-F238E27FC236}">
                  <a16:creationId xmlns:a16="http://schemas.microsoft.com/office/drawing/2014/main" id="{308CBFBF-4FA4-40D0-9128-603B0695E830}"/>
                </a:ext>
              </a:extLst>
            </p:cNvPr>
            <p:cNvSpPr txBox="1"/>
            <p:nvPr/>
          </p:nvSpPr>
          <p:spPr>
            <a:xfrm>
              <a:off x="2735597" y="2708232"/>
              <a:ext cx="11027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宋体" pitchFamily="2" charset="-122"/>
                  <a:ea typeface="宋体" pitchFamily="2" charset="-122"/>
                </a:rPr>
                <a:t>扫描逆程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900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4" name="TextBox 3"/>
          <p:cNvSpPr txBox="1"/>
          <p:nvPr/>
        </p:nvSpPr>
        <p:spPr>
          <a:xfrm>
            <a:off x="630593" y="1010668"/>
            <a:ext cx="7695855" cy="171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AED337"/>
              </a:buClr>
              <a:buFont typeface="Wingdings" pitchFamily="2" charset="2"/>
              <a:buChar char="v"/>
            </a:pPr>
            <a:r>
              <a:rPr lang="zh-CN" altLang="en-US" sz="2800" b="1" kern="0" dirty="0">
                <a:solidFill>
                  <a:srgbClr val="143DA2"/>
                </a:solidFill>
                <a:latin typeface="隶书" pitchFamily="49" charset="-122"/>
              </a:rPr>
              <a:t>扫频信号有什么作用？</a:t>
            </a:r>
            <a:endParaRPr lang="en-US" altLang="zh-CN" sz="2800" b="1" kern="0" dirty="0">
              <a:solidFill>
                <a:srgbClr val="143DA2"/>
              </a:solidFill>
              <a:latin typeface="隶书" pitchFamily="49" charset="-122"/>
            </a:endParaRPr>
          </a:p>
          <a:p>
            <a:r>
              <a:rPr lang="zh-CN" altLang="en-US" dirty="0"/>
              <a:t>只要滤波器的频带宽度在扫频信号的扫描宽度之内，等幅的扫频信号通过被测选频网络后，变化为调幅的扫频信号（例如通过</a:t>
            </a:r>
            <a:r>
              <a:rPr lang="en-US" altLang="zh-CN" dirty="0"/>
              <a:t>LPF</a:t>
            </a:r>
            <a:r>
              <a:rPr lang="zh-CN" altLang="en-US" dirty="0"/>
              <a:t>后）</a:t>
            </a:r>
          </a:p>
        </p:txBody>
      </p:sp>
      <p:grpSp>
        <p:nvGrpSpPr>
          <p:cNvPr id="160" name="组合 159"/>
          <p:cNvGrpSpPr/>
          <p:nvPr/>
        </p:nvGrpSpPr>
        <p:grpSpPr>
          <a:xfrm>
            <a:off x="2816698" y="2726487"/>
            <a:ext cx="2741943" cy="1500167"/>
            <a:chOff x="2910177" y="1716655"/>
            <a:chExt cx="2741943" cy="1125125"/>
          </a:xfrm>
        </p:grpSpPr>
        <p:grpSp>
          <p:nvGrpSpPr>
            <p:cNvPr id="5" name="组合 4"/>
            <p:cNvGrpSpPr/>
            <p:nvPr/>
          </p:nvGrpSpPr>
          <p:grpSpPr>
            <a:xfrm>
              <a:off x="3266855" y="1896675"/>
              <a:ext cx="1901000" cy="945105"/>
              <a:chOff x="2681790" y="2211710"/>
              <a:chExt cx="1901000" cy="94510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3311860" y="2211710"/>
                <a:ext cx="405045" cy="13501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3941930" y="2661760"/>
                <a:ext cx="360040" cy="135015"/>
                <a:chOff x="3941930" y="2661760"/>
                <a:chExt cx="360040" cy="135015"/>
              </a:xfrm>
            </p:grpSpPr>
            <p:cxnSp>
              <p:nvCxnSpPr>
                <p:cNvPr id="15" name="直接连接符 14"/>
                <p:cNvCxnSpPr/>
                <p:nvPr/>
              </p:nvCxnSpPr>
              <p:spPr>
                <a:xfrm>
                  <a:off x="3941930" y="2661760"/>
                  <a:ext cx="36004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3941930" y="2796775"/>
                  <a:ext cx="36004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直接连接符 7"/>
              <p:cNvCxnSpPr/>
              <p:nvPr/>
            </p:nvCxnSpPr>
            <p:spPr>
              <a:xfrm>
                <a:off x="3716905" y="2279218"/>
                <a:ext cx="76508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4121950" y="2279218"/>
                <a:ext cx="0" cy="3825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4121950" y="2796775"/>
                <a:ext cx="0" cy="3600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3986935" y="3156815"/>
                <a:ext cx="27003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2771800" y="2279218"/>
                <a:ext cx="5400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椭圆 12"/>
              <p:cNvSpPr/>
              <p:nvPr/>
            </p:nvSpPr>
            <p:spPr>
              <a:xfrm>
                <a:off x="2681790" y="2233225"/>
                <a:ext cx="100800" cy="1008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481990" y="2233225"/>
                <a:ext cx="100800" cy="1008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Text Box 40"/>
            <p:cNvSpPr txBox="1">
              <a:spLocks noChangeArrowheads="1"/>
            </p:cNvSpPr>
            <p:nvPr/>
          </p:nvSpPr>
          <p:spPr bwMode="auto">
            <a:xfrm>
              <a:off x="2910177" y="1778941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5196091" y="1716655"/>
              <a:ext cx="456029" cy="488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864606" y="2756921"/>
            <a:ext cx="2387598" cy="2051461"/>
            <a:chOff x="958086" y="1739481"/>
            <a:chExt cx="2387598" cy="1538596"/>
          </a:xfrm>
        </p:grpSpPr>
        <p:sp>
          <p:nvSpPr>
            <p:cNvPr id="19" name="AutoShape 37"/>
            <p:cNvSpPr>
              <a:spLocks noChangeShapeType="1"/>
            </p:cNvSpPr>
            <p:nvPr/>
          </p:nvSpPr>
          <p:spPr bwMode="auto">
            <a:xfrm flipV="1">
              <a:off x="1186658" y="1896675"/>
              <a:ext cx="635" cy="1381402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958086" y="2519184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等线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2636785" y="2572397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1210685" y="2135962"/>
              <a:ext cx="1485165" cy="827080"/>
              <a:chOff x="5337085" y="3364850"/>
              <a:chExt cx="1485165" cy="827080"/>
            </a:xfrm>
          </p:grpSpPr>
          <p:grpSp>
            <p:nvGrpSpPr>
              <p:cNvPr id="23" name="Group 2"/>
              <p:cNvGrpSpPr>
                <a:grpSpLocks/>
              </p:cNvGrpSpPr>
              <p:nvPr/>
            </p:nvGrpSpPr>
            <p:grpSpPr bwMode="auto">
              <a:xfrm>
                <a:off x="5337085" y="3364850"/>
                <a:ext cx="263675" cy="810090"/>
                <a:chOff x="2340" y="1596"/>
                <a:chExt cx="1735" cy="1519"/>
              </a:xfrm>
            </p:grpSpPr>
            <p:sp>
              <p:nvSpPr>
                <p:cNvPr id="78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" name="Group 2"/>
              <p:cNvGrpSpPr>
                <a:grpSpLocks/>
              </p:cNvGrpSpPr>
              <p:nvPr/>
            </p:nvGrpSpPr>
            <p:grpSpPr bwMode="auto">
              <a:xfrm>
                <a:off x="5600660" y="3364850"/>
                <a:ext cx="212430" cy="810090"/>
                <a:chOff x="2340" y="1596"/>
                <a:chExt cx="1735" cy="1519"/>
              </a:xfrm>
            </p:grpSpPr>
            <p:sp>
              <p:nvSpPr>
                <p:cNvPr id="73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Group 2"/>
              <p:cNvGrpSpPr>
                <a:grpSpLocks/>
              </p:cNvGrpSpPr>
              <p:nvPr/>
            </p:nvGrpSpPr>
            <p:grpSpPr bwMode="auto">
              <a:xfrm>
                <a:off x="5812184" y="3364850"/>
                <a:ext cx="198014" cy="810090"/>
                <a:chOff x="2340" y="1596"/>
                <a:chExt cx="1735" cy="1519"/>
              </a:xfrm>
            </p:grpSpPr>
            <p:sp>
              <p:nvSpPr>
                <p:cNvPr id="68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Group 2"/>
              <p:cNvGrpSpPr>
                <a:grpSpLocks/>
              </p:cNvGrpSpPr>
              <p:nvPr/>
            </p:nvGrpSpPr>
            <p:grpSpPr bwMode="auto">
              <a:xfrm>
                <a:off x="6012160" y="3364850"/>
                <a:ext cx="182241" cy="810090"/>
                <a:chOff x="2340" y="1596"/>
                <a:chExt cx="1735" cy="1519"/>
              </a:xfrm>
            </p:grpSpPr>
            <p:sp>
              <p:nvSpPr>
                <p:cNvPr id="63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2"/>
              <p:cNvGrpSpPr>
                <a:grpSpLocks/>
              </p:cNvGrpSpPr>
              <p:nvPr/>
            </p:nvGrpSpPr>
            <p:grpSpPr bwMode="auto">
              <a:xfrm>
                <a:off x="6192180" y="3364850"/>
                <a:ext cx="155351" cy="810090"/>
                <a:chOff x="2340" y="1596"/>
                <a:chExt cx="1735" cy="1519"/>
              </a:xfrm>
            </p:grpSpPr>
            <p:sp>
              <p:nvSpPr>
                <p:cNvPr id="58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2"/>
              <p:cNvGrpSpPr>
                <a:grpSpLocks/>
              </p:cNvGrpSpPr>
              <p:nvPr/>
            </p:nvGrpSpPr>
            <p:grpSpPr bwMode="auto">
              <a:xfrm>
                <a:off x="6346245" y="3381840"/>
                <a:ext cx="132429" cy="810090"/>
                <a:chOff x="2340" y="1596"/>
                <a:chExt cx="1735" cy="1519"/>
              </a:xfrm>
            </p:grpSpPr>
            <p:sp>
              <p:nvSpPr>
                <p:cNvPr id="53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Group 2"/>
              <p:cNvGrpSpPr>
                <a:grpSpLocks/>
              </p:cNvGrpSpPr>
              <p:nvPr/>
            </p:nvGrpSpPr>
            <p:grpSpPr bwMode="auto">
              <a:xfrm>
                <a:off x="6474811" y="3381840"/>
                <a:ext cx="112889" cy="810090"/>
                <a:chOff x="2340" y="1596"/>
                <a:chExt cx="1735" cy="1519"/>
              </a:xfrm>
            </p:grpSpPr>
            <p:sp>
              <p:nvSpPr>
                <p:cNvPr id="48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2"/>
              <p:cNvGrpSpPr>
                <a:grpSpLocks/>
              </p:cNvGrpSpPr>
              <p:nvPr/>
            </p:nvGrpSpPr>
            <p:grpSpPr bwMode="auto">
              <a:xfrm>
                <a:off x="6587700" y="3381840"/>
                <a:ext cx="93857" cy="810090"/>
                <a:chOff x="2340" y="1596"/>
                <a:chExt cx="1735" cy="1519"/>
              </a:xfrm>
            </p:grpSpPr>
            <p:sp>
              <p:nvSpPr>
                <p:cNvPr id="43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2"/>
              <p:cNvGrpSpPr>
                <a:grpSpLocks/>
              </p:cNvGrpSpPr>
              <p:nvPr/>
            </p:nvGrpSpPr>
            <p:grpSpPr bwMode="auto">
              <a:xfrm>
                <a:off x="6674928" y="3381840"/>
                <a:ext cx="83267" cy="810090"/>
                <a:chOff x="2340" y="1596"/>
                <a:chExt cx="1735" cy="1519"/>
              </a:xfrm>
            </p:grpSpPr>
            <p:sp>
              <p:nvSpPr>
                <p:cNvPr id="38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Group 2"/>
              <p:cNvGrpSpPr>
                <a:grpSpLocks/>
              </p:cNvGrpSpPr>
              <p:nvPr/>
            </p:nvGrpSpPr>
            <p:grpSpPr bwMode="auto">
              <a:xfrm>
                <a:off x="6774600" y="3381840"/>
                <a:ext cx="47650" cy="810090"/>
                <a:chOff x="2340" y="1596"/>
                <a:chExt cx="1735" cy="1519"/>
              </a:xfrm>
            </p:grpSpPr>
            <p:sp>
              <p:nvSpPr>
                <p:cNvPr id="33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83" name="直接箭头连接符 82"/>
            <p:cNvCxnSpPr/>
            <p:nvPr/>
          </p:nvCxnSpPr>
          <p:spPr>
            <a:xfrm>
              <a:off x="958086" y="2571750"/>
              <a:ext cx="2085425" cy="1562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 Box 40"/>
            <p:cNvSpPr txBox="1">
              <a:spLocks noChangeArrowheads="1"/>
            </p:cNvSpPr>
            <p:nvPr/>
          </p:nvSpPr>
          <p:spPr bwMode="auto">
            <a:xfrm>
              <a:off x="1234113" y="1739481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000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5" name="Text Box 5"/>
            <p:cNvSpPr txBox="1">
              <a:spLocks noChangeArrowheads="1"/>
            </p:cNvSpPr>
            <p:nvPr/>
          </p:nvSpPr>
          <p:spPr bwMode="auto">
            <a:xfrm>
              <a:off x="3079016" y="2430182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5468630" y="2726487"/>
            <a:ext cx="2387598" cy="2051461"/>
            <a:chOff x="5562110" y="1716655"/>
            <a:chExt cx="2387598" cy="1538596"/>
          </a:xfrm>
        </p:grpSpPr>
        <p:sp>
          <p:nvSpPr>
            <p:cNvPr id="86" name="AutoShape 37"/>
            <p:cNvSpPr>
              <a:spLocks noChangeShapeType="1"/>
            </p:cNvSpPr>
            <p:nvPr/>
          </p:nvSpPr>
          <p:spPr bwMode="auto">
            <a:xfrm flipV="1">
              <a:off x="5790682" y="1873849"/>
              <a:ext cx="635" cy="1381402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Text Box 33"/>
            <p:cNvSpPr txBox="1">
              <a:spLocks noChangeArrowheads="1"/>
            </p:cNvSpPr>
            <p:nvPr/>
          </p:nvSpPr>
          <p:spPr bwMode="auto">
            <a:xfrm>
              <a:off x="5562110" y="2496358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等线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8" name="Text Box 5"/>
            <p:cNvSpPr txBox="1">
              <a:spLocks noChangeArrowheads="1"/>
            </p:cNvSpPr>
            <p:nvPr/>
          </p:nvSpPr>
          <p:spPr bwMode="auto">
            <a:xfrm>
              <a:off x="7227295" y="2526745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5814709" y="2113136"/>
              <a:ext cx="1517303" cy="810090"/>
              <a:chOff x="5814709" y="2428171"/>
              <a:chExt cx="1517303" cy="810090"/>
            </a:xfrm>
          </p:grpSpPr>
          <p:grpSp>
            <p:nvGrpSpPr>
              <p:cNvPr id="90" name="Group 2"/>
              <p:cNvGrpSpPr>
                <a:grpSpLocks/>
              </p:cNvGrpSpPr>
              <p:nvPr/>
            </p:nvGrpSpPr>
            <p:grpSpPr bwMode="auto">
              <a:xfrm>
                <a:off x="5814709" y="2428171"/>
                <a:ext cx="263675" cy="810090"/>
                <a:chOff x="2340" y="1596"/>
                <a:chExt cx="1735" cy="1519"/>
              </a:xfrm>
            </p:grpSpPr>
            <p:sp>
              <p:nvSpPr>
                <p:cNvPr id="145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6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8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9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1" name="Group 2"/>
              <p:cNvGrpSpPr>
                <a:grpSpLocks/>
              </p:cNvGrpSpPr>
              <p:nvPr/>
            </p:nvGrpSpPr>
            <p:grpSpPr bwMode="auto">
              <a:xfrm>
                <a:off x="6078284" y="2428171"/>
                <a:ext cx="212430" cy="810090"/>
                <a:chOff x="2340" y="1596"/>
                <a:chExt cx="1735" cy="1519"/>
              </a:xfrm>
            </p:grpSpPr>
            <p:sp>
              <p:nvSpPr>
                <p:cNvPr id="140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3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Group 2"/>
              <p:cNvGrpSpPr>
                <a:grpSpLocks/>
              </p:cNvGrpSpPr>
              <p:nvPr/>
            </p:nvGrpSpPr>
            <p:grpSpPr bwMode="auto">
              <a:xfrm>
                <a:off x="6289808" y="2481820"/>
                <a:ext cx="198014" cy="720000"/>
                <a:chOff x="2340" y="1596"/>
                <a:chExt cx="1735" cy="1519"/>
              </a:xfrm>
            </p:grpSpPr>
            <p:sp>
              <p:nvSpPr>
                <p:cNvPr id="135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Group 2"/>
              <p:cNvGrpSpPr>
                <a:grpSpLocks/>
              </p:cNvGrpSpPr>
              <p:nvPr/>
            </p:nvGrpSpPr>
            <p:grpSpPr bwMode="auto">
              <a:xfrm>
                <a:off x="6489784" y="2508815"/>
                <a:ext cx="182241" cy="648000"/>
                <a:chOff x="2340" y="1596"/>
                <a:chExt cx="1735" cy="1519"/>
              </a:xfrm>
            </p:grpSpPr>
            <p:sp>
              <p:nvSpPr>
                <p:cNvPr id="130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Group 2"/>
              <p:cNvGrpSpPr>
                <a:grpSpLocks/>
              </p:cNvGrpSpPr>
              <p:nvPr/>
            </p:nvGrpSpPr>
            <p:grpSpPr bwMode="auto">
              <a:xfrm>
                <a:off x="6669804" y="2553810"/>
                <a:ext cx="155351" cy="558000"/>
                <a:chOff x="2340" y="1596"/>
                <a:chExt cx="1735" cy="1519"/>
              </a:xfrm>
            </p:grpSpPr>
            <p:sp>
              <p:nvSpPr>
                <p:cNvPr id="125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5" name="Group 2"/>
              <p:cNvGrpSpPr>
                <a:grpSpLocks/>
              </p:cNvGrpSpPr>
              <p:nvPr/>
            </p:nvGrpSpPr>
            <p:grpSpPr bwMode="auto">
              <a:xfrm>
                <a:off x="6823869" y="2598805"/>
                <a:ext cx="132429" cy="468000"/>
                <a:chOff x="2340" y="1596"/>
                <a:chExt cx="1735" cy="1519"/>
              </a:xfrm>
            </p:grpSpPr>
            <p:sp>
              <p:nvSpPr>
                <p:cNvPr id="120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1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6" name="Group 2"/>
              <p:cNvGrpSpPr>
                <a:grpSpLocks/>
              </p:cNvGrpSpPr>
              <p:nvPr/>
            </p:nvGrpSpPr>
            <p:grpSpPr bwMode="auto">
              <a:xfrm>
                <a:off x="6953991" y="2616755"/>
                <a:ext cx="112889" cy="414000"/>
                <a:chOff x="2340" y="1596"/>
                <a:chExt cx="1735" cy="1519"/>
              </a:xfrm>
            </p:grpSpPr>
            <p:sp>
              <p:nvSpPr>
                <p:cNvPr id="115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7" name="Group 2"/>
              <p:cNvGrpSpPr>
                <a:grpSpLocks/>
              </p:cNvGrpSpPr>
              <p:nvPr/>
            </p:nvGrpSpPr>
            <p:grpSpPr bwMode="auto">
              <a:xfrm>
                <a:off x="7065324" y="2661760"/>
                <a:ext cx="93857" cy="324000"/>
                <a:chOff x="2340" y="1596"/>
                <a:chExt cx="1735" cy="1519"/>
              </a:xfrm>
            </p:grpSpPr>
            <p:sp>
              <p:nvSpPr>
                <p:cNvPr id="110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8" name="Group 2"/>
              <p:cNvGrpSpPr>
                <a:grpSpLocks/>
              </p:cNvGrpSpPr>
              <p:nvPr/>
            </p:nvGrpSpPr>
            <p:grpSpPr bwMode="auto">
              <a:xfrm>
                <a:off x="7165252" y="2706765"/>
                <a:ext cx="83267" cy="234000"/>
                <a:chOff x="2340" y="1596"/>
                <a:chExt cx="1735" cy="1519"/>
              </a:xfrm>
            </p:grpSpPr>
            <p:sp>
              <p:nvSpPr>
                <p:cNvPr id="105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" name="Group 2"/>
              <p:cNvGrpSpPr>
                <a:grpSpLocks/>
              </p:cNvGrpSpPr>
              <p:nvPr/>
            </p:nvGrpSpPr>
            <p:grpSpPr bwMode="auto">
              <a:xfrm>
                <a:off x="7252224" y="2796775"/>
                <a:ext cx="79788" cy="126040"/>
                <a:chOff x="2340" y="1596"/>
                <a:chExt cx="1735" cy="1519"/>
              </a:xfrm>
            </p:grpSpPr>
            <p:sp>
              <p:nvSpPr>
                <p:cNvPr id="100" name="Freeform 3"/>
                <p:cNvSpPr>
                  <a:spLocks/>
                </p:cNvSpPr>
                <p:nvPr/>
              </p:nvSpPr>
              <p:spPr bwMode="auto">
                <a:xfrm>
                  <a:off x="2340" y="1622"/>
                  <a:ext cx="357" cy="735"/>
                </a:xfrm>
                <a:custGeom>
                  <a:avLst/>
                  <a:gdLst>
                    <a:gd name="T0" fmla="*/ 11 w 1188"/>
                    <a:gd name="T1" fmla="*/ 2405 h 2448"/>
                    <a:gd name="T2" fmla="*/ 22 w 1188"/>
                    <a:gd name="T3" fmla="*/ 2351 h 2448"/>
                    <a:gd name="T4" fmla="*/ 54 w 1188"/>
                    <a:gd name="T5" fmla="*/ 2297 h 2448"/>
                    <a:gd name="T6" fmla="*/ 65 w 1188"/>
                    <a:gd name="T7" fmla="*/ 2232 h 2448"/>
                    <a:gd name="T8" fmla="*/ 97 w 1188"/>
                    <a:gd name="T9" fmla="*/ 2178 h 2448"/>
                    <a:gd name="T10" fmla="*/ 108 w 1188"/>
                    <a:gd name="T11" fmla="*/ 2113 h 2448"/>
                    <a:gd name="T12" fmla="*/ 141 w 1188"/>
                    <a:gd name="T13" fmla="*/ 2059 h 2448"/>
                    <a:gd name="T14" fmla="*/ 151 w 1188"/>
                    <a:gd name="T15" fmla="*/ 1995 h 2448"/>
                    <a:gd name="T16" fmla="*/ 184 w 1188"/>
                    <a:gd name="T17" fmla="*/ 1930 h 2448"/>
                    <a:gd name="T18" fmla="*/ 195 w 1188"/>
                    <a:gd name="T19" fmla="*/ 1876 h 2448"/>
                    <a:gd name="T20" fmla="*/ 227 w 1188"/>
                    <a:gd name="T21" fmla="*/ 1811 h 2448"/>
                    <a:gd name="T22" fmla="*/ 249 w 1188"/>
                    <a:gd name="T23" fmla="*/ 1736 h 2448"/>
                    <a:gd name="T24" fmla="*/ 281 w 1188"/>
                    <a:gd name="T25" fmla="*/ 1682 h 2448"/>
                    <a:gd name="T26" fmla="*/ 292 w 1188"/>
                    <a:gd name="T27" fmla="*/ 1617 h 2448"/>
                    <a:gd name="T28" fmla="*/ 335 w 1188"/>
                    <a:gd name="T29" fmla="*/ 1542 h 2448"/>
                    <a:gd name="T30" fmla="*/ 357 w 1188"/>
                    <a:gd name="T31" fmla="*/ 1456 h 2448"/>
                    <a:gd name="T32" fmla="*/ 389 w 1188"/>
                    <a:gd name="T33" fmla="*/ 1402 h 2448"/>
                    <a:gd name="T34" fmla="*/ 411 w 1188"/>
                    <a:gd name="T35" fmla="*/ 1315 h 2448"/>
                    <a:gd name="T36" fmla="*/ 454 w 1188"/>
                    <a:gd name="T37" fmla="*/ 1240 h 2448"/>
                    <a:gd name="T38" fmla="*/ 465 w 1188"/>
                    <a:gd name="T39" fmla="*/ 1186 h 2448"/>
                    <a:gd name="T40" fmla="*/ 508 w 1188"/>
                    <a:gd name="T41" fmla="*/ 1111 h 2448"/>
                    <a:gd name="T42" fmla="*/ 519 w 1188"/>
                    <a:gd name="T43" fmla="*/ 1057 h 2448"/>
                    <a:gd name="T44" fmla="*/ 562 w 1188"/>
                    <a:gd name="T45" fmla="*/ 992 h 2448"/>
                    <a:gd name="T46" fmla="*/ 584 w 1188"/>
                    <a:gd name="T47" fmla="*/ 916 h 2448"/>
                    <a:gd name="T48" fmla="*/ 627 w 1188"/>
                    <a:gd name="T49" fmla="*/ 841 h 2448"/>
                    <a:gd name="T50" fmla="*/ 648 w 1188"/>
                    <a:gd name="T51" fmla="*/ 776 h 2448"/>
                    <a:gd name="T52" fmla="*/ 692 w 1188"/>
                    <a:gd name="T53" fmla="*/ 712 h 2448"/>
                    <a:gd name="T54" fmla="*/ 713 w 1188"/>
                    <a:gd name="T55" fmla="*/ 647 h 2448"/>
                    <a:gd name="T56" fmla="*/ 756 w 1188"/>
                    <a:gd name="T57" fmla="*/ 582 h 2448"/>
                    <a:gd name="T58" fmla="*/ 778 w 1188"/>
                    <a:gd name="T59" fmla="*/ 528 h 2448"/>
                    <a:gd name="T60" fmla="*/ 821 w 1188"/>
                    <a:gd name="T61" fmla="*/ 464 h 2448"/>
                    <a:gd name="T62" fmla="*/ 843 w 1188"/>
                    <a:gd name="T63" fmla="*/ 410 h 2448"/>
                    <a:gd name="T64" fmla="*/ 875 w 1188"/>
                    <a:gd name="T65" fmla="*/ 356 h 2448"/>
                    <a:gd name="T66" fmla="*/ 908 w 1188"/>
                    <a:gd name="T67" fmla="*/ 313 h 2448"/>
                    <a:gd name="T68" fmla="*/ 951 w 1188"/>
                    <a:gd name="T69" fmla="*/ 259 h 2448"/>
                    <a:gd name="T70" fmla="*/ 983 w 1188"/>
                    <a:gd name="T71" fmla="*/ 216 h 2448"/>
                    <a:gd name="T72" fmla="*/ 1016 w 1188"/>
                    <a:gd name="T73" fmla="*/ 172 h 2448"/>
                    <a:gd name="T74" fmla="*/ 1037 w 1188"/>
                    <a:gd name="T75" fmla="*/ 140 h 2448"/>
                    <a:gd name="T76" fmla="*/ 1070 w 1188"/>
                    <a:gd name="T77" fmla="*/ 108 h 2448"/>
                    <a:gd name="T78" fmla="*/ 1102 w 1188"/>
                    <a:gd name="T79" fmla="*/ 65 h 2448"/>
                    <a:gd name="T80" fmla="*/ 1134 w 1188"/>
                    <a:gd name="T81" fmla="*/ 43 h 2448"/>
                    <a:gd name="T82" fmla="*/ 1167 w 1188"/>
                    <a:gd name="T83" fmla="*/ 11 h 24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88" h="2448">
                      <a:moveTo>
                        <a:pt x="0" y="2448"/>
                      </a:moveTo>
                      <a:lnTo>
                        <a:pt x="0" y="2415"/>
                      </a:lnTo>
                      <a:lnTo>
                        <a:pt x="11" y="2405"/>
                      </a:lnTo>
                      <a:lnTo>
                        <a:pt x="11" y="2383"/>
                      </a:lnTo>
                      <a:lnTo>
                        <a:pt x="22" y="2372"/>
                      </a:lnTo>
                      <a:lnTo>
                        <a:pt x="22" y="2351"/>
                      </a:lnTo>
                      <a:lnTo>
                        <a:pt x="33" y="2340"/>
                      </a:lnTo>
                      <a:lnTo>
                        <a:pt x="33" y="2318"/>
                      </a:lnTo>
                      <a:lnTo>
                        <a:pt x="54" y="2297"/>
                      </a:lnTo>
                      <a:lnTo>
                        <a:pt x="54" y="2264"/>
                      </a:lnTo>
                      <a:lnTo>
                        <a:pt x="65" y="2254"/>
                      </a:lnTo>
                      <a:lnTo>
                        <a:pt x="65" y="2232"/>
                      </a:lnTo>
                      <a:lnTo>
                        <a:pt x="76" y="2221"/>
                      </a:lnTo>
                      <a:lnTo>
                        <a:pt x="76" y="2200"/>
                      </a:lnTo>
                      <a:lnTo>
                        <a:pt x="97" y="2178"/>
                      </a:lnTo>
                      <a:lnTo>
                        <a:pt x="97" y="2146"/>
                      </a:lnTo>
                      <a:lnTo>
                        <a:pt x="108" y="2135"/>
                      </a:lnTo>
                      <a:lnTo>
                        <a:pt x="108" y="2113"/>
                      </a:lnTo>
                      <a:lnTo>
                        <a:pt x="119" y="2103"/>
                      </a:lnTo>
                      <a:lnTo>
                        <a:pt x="119" y="2081"/>
                      </a:lnTo>
                      <a:lnTo>
                        <a:pt x="141" y="2059"/>
                      </a:lnTo>
                      <a:lnTo>
                        <a:pt x="141" y="2027"/>
                      </a:lnTo>
                      <a:lnTo>
                        <a:pt x="151" y="2016"/>
                      </a:lnTo>
                      <a:lnTo>
                        <a:pt x="151" y="1995"/>
                      </a:lnTo>
                      <a:lnTo>
                        <a:pt x="173" y="1973"/>
                      </a:lnTo>
                      <a:lnTo>
                        <a:pt x="173" y="1941"/>
                      </a:lnTo>
                      <a:lnTo>
                        <a:pt x="184" y="1930"/>
                      </a:lnTo>
                      <a:lnTo>
                        <a:pt x="184" y="1909"/>
                      </a:lnTo>
                      <a:lnTo>
                        <a:pt x="195" y="1898"/>
                      </a:lnTo>
                      <a:lnTo>
                        <a:pt x="195" y="1876"/>
                      </a:lnTo>
                      <a:lnTo>
                        <a:pt x="216" y="1855"/>
                      </a:lnTo>
                      <a:lnTo>
                        <a:pt x="216" y="1822"/>
                      </a:lnTo>
                      <a:lnTo>
                        <a:pt x="227" y="1811"/>
                      </a:lnTo>
                      <a:lnTo>
                        <a:pt x="227" y="1790"/>
                      </a:lnTo>
                      <a:lnTo>
                        <a:pt x="249" y="1768"/>
                      </a:lnTo>
                      <a:lnTo>
                        <a:pt x="249" y="1736"/>
                      </a:lnTo>
                      <a:lnTo>
                        <a:pt x="259" y="1725"/>
                      </a:lnTo>
                      <a:lnTo>
                        <a:pt x="259" y="1704"/>
                      </a:lnTo>
                      <a:lnTo>
                        <a:pt x="281" y="1682"/>
                      </a:lnTo>
                      <a:lnTo>
                        <a:pt x="281" y="1650"/>
                      </a:lnTo>
                      <a:lnTo>
                        <a:pt x="292" y="1639"/>
                      </a:lnTo>
                      <a:lnTo>
                        <a:pt x="292" y="1617"/>
                      </a:lnTo>
                      <a:lnTo>
                        <a:pt x="313" y="1596"/>
                      </a:lnTo>
                      <a:lnTo>
                        <a:pt x="313" y="1563"/>
                      </a:lnTo>
                      <a:lnTo>
                        <a:pt x="335" y="1542"/>
                      </a:lnTo>
                      <a:lnTo>
                        <a:pt x="335" y="1510"/>
                      </a:lnTo>
                      <a:lnTo>
                        <a:pt x="357" y="1488"/>
                      </a:lnTo>
                      <a:lnTo>
                        <a:pt x="357" y="1456"/>
                      </a:lnTo>
                      <a:lnTo>
                        <a:pt x="367" y="1445"/>
                      </a:lnTo>
                      <a:lnTo>
                        <a:pt x="367" y="1423"/>
                      </a:lnTo>
                      <a:lnTo>
                        <a:pt x="389" y="1402"/>
                      </a:lnTo>
                      <a:lnTo>
                        <a:pt x="389" y="1369"/>
                      </a:lnTo>
                      <a:lnTo>
                        <a:pt x="411" y="1348"/>
                      </a:lnTo>
                      <a:lnTo>
                        <a:pt x="411" y="1315"/>
                      </a:lnTo>
                      <a:lnTo>
                        <a:pt x="432" y="1294"/>
                      </a:lnTo>
                      <a:lnTo>
                        <a:pt x="432" y="1262"/>
                      </a:lnTo>
                      <a:lnTo>
                        <a:pt x="454" y="1240"/>
                      </a:lnTo>
                      <a:lnTo>
                        <a:pt x="454" y="1218"/>
                      </a:lnTo>
                      <a:lnTo>
                        <a:pt x="465" y="1208"/>
                      </a:lnTo>
                      <a:lnTo>
                        <a:pt x="465" y="1186"/>
                      </a:lnTo>
                      <a:lnTo>
                        <a:pt x="486" y="1164"/>
                      </a:lnTo>
                      <a:lnTo>
                        <a:pt x="486" y="1132"/>
                      </a:lnTo>
                      <a:lnTo>
                        <a:pt x="508" y="1111"/>
                      </a:lnTo>
                      <a:lnTo>
                        <a:pt x="508" y="1089"/>
                      </a:lnTo>
                      <a:lnTo>
                        <a:pt x="519" y="1078"/>
                      </a:lnTo>
                      <a:lnTo>
                        <a:pt x="519" y="1057"/>
                      </a:lnTo>
                      <a:lnTo>
                        <a:pt x="540" y="1035"/>
                      </a:lnTo>
                      <a:lnTo>
                        <a:pt x="540" y="1014"/>
                      </a:lnTo>
                      <a:lnTo>
                        <a:pt x="562" y="992"/>
                      </a:lnTo>
                      <a:lnTo>
                        <a:pt x="562" y="960"/>
                      </a:lnTo>
                      <a:lnTo>
                        <a:pt x="584" y="938"/>
                      </a:lnTo>
                      <a:lnTo>
                        <a:pt x="584" y="916"/>
                      </a:lnTo>
                      <a:lnTo>
                        <a:pt x="605" y="895"/>
                      </a:lnTo>
                      <a:lnTo>
                        <a:pt x="605" y="863"/>
                      </a:lnTo>
                      <a:lnTo>
                        <a:pt x="627" y="841"/>
                      </a:lnTo>
                      <a:lnTo>
                        <a:pt x="627" y="819"/>
                      </a:lnTo>
                      <a:lnTo>
                        <a:pt x="648" y="798"/>
                      </a:lnTo>
                      <a:lnTo>
                        <a:pt x="648" y="776"/>
                      </a:lnTo>
                      <a:lnTo>
                        <a:pt x="670" y="755"/>
                      </a:lnTo>
                      <a:lnTo>
                        <a:pt x="670" y="733"/>
                      </a:lnTo>
                      <a:lnTo>
                        <a:pt x="692" y="712"/>
                      </a:lnTo>
                      <a:lnTo>
                        <a:pt x="692" y="690"/>
                      </a:lnTo>
                      <a:lnTo>
                        <a:pt x="713" y="668"/>
                      </a:lnTo>
                      <a:lnTo>
                        <a:pt x="713" y="647"/>
                      </a:lnTo>
                      <a:lnTo>
                        <a:pt x="735" y="625"/>
                      </a:lnTo>
                      <a:lnTo>
                        <a:pt x="735" y="604"/>
                      </a:lnTo>
                      <a:lnTo>
                        <a:pt x="756" y="582"/>
                      </a:lnTo>
                      <a:lnTo>
                        <a:pt x="756" y="561"/>
                      </a:lnTo>
                      <a:lnTo>
                        <a:pt x="778" y="539"/>
                      </a:lnTo>
                      <a:lnTo>
                        <a:pt x="778" y="528"/>
                      </a:lnTo>
                      <a:lnTo>
                        <a:pt x="800" y="507"/>
                      </a:lnTo>
                      <a:lnTo>
                        <a:pt x="800" y="485"/>
                      </a:lnTo>
                      <a:lnTo>
                        <a:pt x="821" y="464"/>
                      </a:lnTo>
                      <a:lnTo>
                        <a:pt x="821" y="453"/>
                      </a:lnTo>
                      <a:lnTo>
                        <a:pt x="843" y="431"/>
                      </a:lnTo>
                      <a:lnTo>
                        <a:pt x="843" y="410"/>
                      </a:lnTo>
                      <a:lnTo>
                        <a:pt x="854" y="399"/>
                      </a:lnTo>
                      <a:lnTo>
                        <a:pt x="875" y="377"/>
                      </a:lnTo>
                      <a:lnTo>
                        <a:pt x="875" y="356"/>
                      </a:lnTo>
                      <a:lnTo>
                        <a:pt x="886" y="345"/>
                      </a:lnTo>
                      <a:lnTo>
                        <a:pt x="908" y="323"/>
                      </a:lnTo>
                      <a:lnTo>
                        <a:pt x="908" y="313"/>
                      </a:lnTo>
                      <a:lnTo>
                        <a:pt x="929" y="291"/>
                      </a:lnTo>
                      <a:lnTo>
                        <a:pt x="929" y="280"/>
                      </a:lnTo>
                      <a:lnTo>
                        <a:pt x="951" y="259"/>
                      </a:lnTo>
                      <a:lnTo>
                        <a:pt x="951" y="248"/>
                      </a:lnTo>
                      <a:lnTo>
                        <a:pt x="962" y="237"/>
                      </a:lnTo>
                      <a:lnTo>
                        <a:pt x="983" y="216"/>
                      </a:lnTo>
                      <a:lnTo>
                        <a:pt x="983" y="205"/>
                      </a:lnTo>
                      <a:lnTo>
                        <a:pt x="994" y="194"/>
                      </a:lnTo>
                      <a:lnTo>
                        <a:pt x="1016" y="172"/>
                      </a:lnTo>
                      <a:lnTo>
                        <a:pt x="1016" y="162"/>
                      </a:lnTo>
                      <a:lnTo>
                        <a:pt x="1026" y="151"/>
                      </a:lnTo>
                      <a:lnTo>
                        <a:pt x="1037" y="140"/>
                      </a:lnTo>
                      <a:lnTo>
                        <a:pt x="1048" y="129"/>
                      </a:lnTo>
                      <a:lnTo>
                        <a:pt x="1059" y="119"/>
                      </a:lnTo>
                      <a:lnTo>
                        <a:pt x="1070" y="108"/>
                      </a:lnTo>
                      <a:lnTo>
                        <a:pt x="1091" y="86"/>
                      </a:lnTo>
                      <a:lnTo>
                        <a:pt x="1091" y="75"/>
                      </a:lnTo>
                      <a:lnTo>
                        <a:pt x="1102" y="65"/>
                      </a:lnTo>
                      <a:lnTo>
                        <a:pt x="1113" y="65"/>
                      </a:lnTo>
                      <a:lnTo>
                        <a:pt x="1124" y="54"/>
                      </a:lnTo>
                      <a:lnTo>
                        <a:pt x="1134" y="43"/>
                      </a:lnTo>
                      <a:lnTo>
                        <a:pt x="1145" y="32"/>
                      </a:lnTo>
                      <a:lnTo>
                        <a:pt x="1156" y="21"/>
                      </a:lnTo>
                      <a:lnTo>
                        <a:pt x="1167" y="11"/>
                      </a:lnTo>
                      <a:lnTo>
                        <a:pt x="1178" y="0"/>
                      </a:lnTo>
                      <a:lnTo>
                        <a:pt x="1188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4"/>
                <p:cNvSpPr>
                  <a:spLocks/>
                </p:cNvSpPr>
                <p:nvPr/>
              </p:nvSpPr>
              <p:spPr bwMode="auto">
                <a:xfrm>
                  <a:off x="2697" y="1596"/>
                  <a:ext cx="402" cy="469"/>
                </a:xfrm>
                <a:custGeom>
                  <a:avLst/>
                  <a:gdLst>
                    <a:gd name="T0" fmla="*/ 22 w 1340"/>
                    <a:gd name="T1" fmla="*/ 64 h 1563"/>
                    <a:gd name="T2" fmla="*/ 54 w 1340"/>
                    <a:gd name="T3" fmla="*/ 43 h 1563"/>
                    <a:gd name="T4" fmla="*/ 87 w 1340"/>
                    <a:gd name="T5" fmla="*/ 32 h 1563"/>
                    <a:gd name="T6" fmla="*/ 119 w 1340"/>
                    <a:gd name="T7" fmla="*/ 21 h 1563"/>
                    <a:gd name="T8" fmla="*/ 152 w 1340"/>
                    <a:gd name="T9" fmla="*/ 10 h 1563"/>
                    <a:gd name="T10" fmla="*/ 184 w 1340"/>
                    <a:gd name="T11" fmla="*/ 0 h 1563"/>
                    <a:gd name="T12" fmla="*/ 216 w 1340"/>
                    <a:gd name="T13" fmla="*/ 0 h 1563"/>
                    <a:gd name="T14" fmla="*/ 249 w 1340"/>
                    <a:gd name="T15" fmla="*/ 0 h 1563"/>
                    <a:gd name="T16" fmla="*/ 281 w 1340"/>
                    <a:gd name="T17" fmla="*/ 0 h 1563"/>
                    <a:gd name="T18" fmla="*/ 314 w 1340"/>
                    <a:gd name="T19" fmla="*/ 0 h 1563"/>
                    <a:gd name="T20" fmla="*/ 346 w 1340"/>
                    <a:gd name="T21" fmla="*/ 10 h 1563"/>
                    <a:gd name="T22" fmla="*/ 379 w 1340"/>
                    <a:gd name="T23" fmla="*/ 21 h 1563"/>
                    <a:gd name="T24" fmla="*/ 411 w 1340"/>
                    <a:gd name="T25" fmla="*/ 32 h 1563"/>
                    <a:gd name="T26" fmla="*/ 443 w 1340"/>
                    <a:gd name="T27" fmla="*/ 54 h 1563"/>
                    <a:gd name="T28" fmla="*/ 476 w 1340"/>
                    <a:gd name="T29" fmla="*/ 75 h 1563"/>
                    <a:gd name="T30" fmla="*/ 508 w 1340"/>
                    <a:gd name="T31" fmla="*/ 97 h 1563"/>
                    <a:gd name="T32" fmla="*/ 541 w 1340"/>
                    <a:gd name="T33" fmla="*/ 129 h 1563"/>
                    <a:gd name="T34" fmla="*/ 573 w 1340"/>
                    <a:gd name="T35" fmla="*/ 151 h 1563"/>
                    <a:gd name="T36" fmla="*/ 605 w 1340"/>
                    <a:gd name="T37" fmla="*/ 183 h 1563"/>
                    <a:gd name="T38" fmla="*/ 638 w 1340"/>
                    <a:gd name="T39" fmla="*/ 226 h 1563"/>
                    <a:gd name="T40" fmla="*/ 670 w 1340"/>
                    <a:gd name="T41" fmla="*/ 258 h 1563"/>
                    <a:gd name="T42" fmla="*/ 703 w 1340"/>
                    <a:gd name="T43" fmla="*/ 302 h 1563"/>
                    <a:gd name="T44" fmla="*/ 735 w 1340"/>
                    <a:gd name="T45" fmla="*/ 345 h 1563"/>
                    <a:gd name="T46" fmla="*/ 778 w 1340"/>
                    <a:gd name="T47" fmla="*/ 399 h 1563"/>
                    <a:gd name="T48" fmla="*/ 800 w 1340"/>
                    <a:gd name="T49" fmla="*/ 442 h 1563"/>
                    <a:gd name="T50" fmla="*/ 832 w 1340"/>
                    <a:gd name="T51" fmla="*/ 496 h 1563"/>
                    <a:gd name="T52" fmla="*/ 865 w 1340"/>
                    <a:gd name="T53" fmla="*/ 550 h 1563"/>
                    <a:gd name="T54" fmla="*/ 908 w 1340"/>
                    <a:gd name="T55" fmla="*/ 614 h 1563"/>
                    <a:gd name="T56" fmla="*/ 929 w 1340"/>
                    <a:gd name="T57" fmla="*/ 668 h 1563"/>
                    <a:gd name="T58" fmla="*/ 973 w 1340"/>
                    <a:gd name="T59" fmla="*/ 733 h 1563"/>
                    <a:gd name="T60" fmla="*/ 994 w 1340"/>
                    <a:gd name="T61" fmla="*/ 798 h 1563"/>
                    <a:gd name="T62" fmla="*/ 1037 w 1340"/>
                    <a:gd name="T63" fmla="*/ 862 h 1563"/>
                    <a:gd name="T64" fmla="*/ 1059 w 1340"/>
                    <a:gd name="T65" fmla="*/ 927 h 1563"/>
                    <a:gd name="T66" fmla="*/ 1102 w 1340"/>
                    <a:gd name="T67" fmla="*/ 1002 h 1563"/>
                    <a:gd name="T68" fmla="*/ 1124 w 1340"/>
                    <a:gd name="T69" fmla="*/ 1067 h 1563"/>
                    <a:gd name="T70" fmla="*/ 1156 w 1340"/>
                    <a:gd name="T71" fmla="*/ 1121 h 1563"/>
                    <a:gd name="T72" fmla="*/ 1167 w 1340"/>
                    <a:gd name="T73" fmla="*/ 1175 h 1563"/>
                    <a:gd name="T74" fmla="*/ 1199 w 1340"/>
                    <a:gd name="T75" fmla="*/ 1229 h 1563"/>
                    <a:gd name="T76" fmla="*/ 1221 w 1340"/>
                    <a:gd name="T77" fmla="*/ 1304 h 1563"/>
                    <a:gd name="T78" fmla="*/ 1253 w 1340"/>
                    <a:gd name="T79" fmla="*/ 1358 h 1563"/>
                    <a:gd name="T80" fmla="*/ 1275 w 1340"/>
                    <a:gd name="T81" fmla="*/ 1434 h 1563"/>
                    <a:gd name="T82" fmla="*/ 1318 w 1340"/>
                    <a:gd name="T83" fmla="*/ 1509 h 1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40" h="1563">
                      <a:moveTo>
                        <a:pt x="0" y="86"/>
                      </a:moveTo>
                      <a:lnTo>
                        <a:pt x="11" y="75"/>
                      </a:lnTo>
                      <a:lnTo>
                        <a:pt x="22" y="64"/>
                      </a:lnTo>
                      <a:lnTo>
                        <a:pt x="33" y="64"/>
                      </a:lnTo>
                      <a:lnTo>
                        <a:pt x="44" y="54"/>
                      </a:lnTo>
                      <a:lnTo>
                        <a:pt x="54" y="43"/>
                      </a:lnTo>
                      <a:lnTo>
                        <a:pt x="65" y="43"/>
                      </a:lnTo>
                      <a:lnTo>
                        <a:pt x="76" y="32"/>
                      </a:lnTo>
                      <a:lnTo>
                        <a:pt x="87" y="32"/>
                      </a:lnTo>
                      <a:lnTo>
                        <a:pt x="98" y="21"/>
                      </a:lnTo>
                      <a:lnTo>
                        <a:pt x="108" y="21"/>
                      </a:lnTo>
                      <a:lnTo>
                        <a:pt x="119" y="21"/>
                      </a:lnTo>
                      <a:lnTo>
                        <a:pt x="130" y="10"/>
                      </a:lnTo>
                      <a:lnTo>
                        <a:pt x="141" y="10"/>
                      </a:lnTo>
                      <a:lnTo>
                        <a:pt x="152" y="10"/>
                      </a:lnTo>
                      <a:lnTo>
                        <a:pt x="162" y="0"/>
                      </a:lnTo>
                      <a:lnTo>
                        <a:pt x="173" y="0"/>
                      </a:lnTo>
                      <a:lnTo>
                        <a:pt x="184" y="0"/>
                      </a:lnTo>
                      <a:lnTo>
                        <a:pt x="195" y="0"/>
                      </a:lnTo>
                      <a:lnTo>
                        <a:pt x="206" y="0"/>
                      </a:lnTo>
                      <a:lnTo>
                        <a:pt x="216" y="0"/>
                      </a:lnTo>
                      <a:lnTo>
                        <a:pt x="227" y="0"/>
                      </a:lnTo>
                      <a:lnTo>
                        <a:pt x="238" y="0"/>
                      </a:lnTo>
                      <a:lnTo>
                        <a:pt x="249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81" y="0"/>
                      </a:lnTo>
                      <a:lnTo>
                        <a:pt x="292" y="0"/>
                      </a:lnTo>
                      <a:lnTo>
                        <a:pt x="303" y="0"/>
                      </a:lnTo>
                      <a:lnTo>
                        <a:pt x="314" y="0"/>
                      </a:lnTo>
                      <a:lnTo>
                        <a:pt x="325" y="0"/>
                      </a:lnTo>
                      <a:lnTo>
                        <a:pt x="335" y="10"/>
                      </a:lnTo>
                      <a:lnTo>
                        <a:pt x="346" y="10"/>
                      </a:lnTo>
                      <a:lnTo>
                        <a:pt x="357" y="10"/>
                      </a:lnTo>
                      <a:lnTo>
                        <a:pt x="368" y="21"/>
                      </a:lnTo>
                      <a:lnTo>
                        <a:pt x="379" y="21"/>
                      </a:lnTo>
                      <a:lnTo>
                        <a:pt x="389" y="21"/>
                      </a:lnTo>
                      <a:lnTo>
                        <a:pt x="400" y="32"/>
                      </a:lnTo>
                      <a:lnTo>
                        <a:pt x="411" y="32"/>
                      </a:lnTo>
                      <a:lnTo>
                        <a:pt x="422" y="43"/>
                      </a:lnTo>
                      <a:lnTo>
                        <a:pt x="433" y="43"/>
                      </a:lnTo>
                      <a:lnTo>
                        <a:pt x="443" y="54"/>
                      </a:lnTo>
                      <a:lnTo>
                        <a:pt x="454" y="64"/>
                      </a:lnTo>
                      <a:lnTo>
                        <a:pt x="465" y="64"/>
                      </a:lnTo>
                      <a:lnTo>
                        <a:pt x="476" y="75"/>
                      </a:lnTo>
                      <a:lnTo>
                        <a:pt x="487" y="86"/>
                      </a:lnTo>
                      <a:lnTo>
                        <a:pt x="497" y="86"/>
                      </a:lnTo>
                      <a:lnTo>
                        <a:pt x="508" y="97"/>
                      </a:lnTo>
                      <a:lnTo>
                        <a:pt x="519" y="107"/>
                      </a:lnTo>
                      <a:lnTo>
                        <a:pt x="530" y="118"/>
                      </a:lnTo>
                      <a:lnTo>
                        <a:pt x="541" y="129"/>
                      </a:lnTo>
                      <a:lnTo>
                        <a:pt x="551" y="140"/>
                      </a:lnTo>
                      <a:lnTo>
                        <a:pt x="562" y="140"/>
                      </a:lnTo>
                      <a:lnTo>
                        <a:pt x="573" y="151"/>
                      </a:lnTo>
                      <a:lnTo>
                        <a:pt x="584" y="161"/>
                      </a:lnTo>
                      <a:lnTo>
                        <a:pt x="595" y="172"/>
                      </a:lnTo>
                      <a:lnTo>
                        <a:pt x="605" y="183"/>
                      </a:lnTo>
                      <a:lnTo>
                        <a:pt x="627" y="205"/>
                      </a:lnTo>
                      <a:lnTo>
                        <a:pt x="627" y="215"/>
                      </a:lnTo>
                      <a:lnTo>
                        <a:pt x="638" y="226"/>
                      </a:lnTo>
                      <a:lnTo>
                        <a:pt x="649" y="237"/>
                      </a:lnTo>
                      <a:lnTo>
                        <a:pt x="659" y="248"/>
                      </a:lnTo>
                      <a:lnTo>
                        <a:pt x="670" y="258"/>
                      </a:lnTo>
                      <a:lnTo>
                        <a:pt x="692" y="280"/>
                      </a:lnTo>
                      <a:lnTo>
                        <a:pt x="692" y="291"/>
                      </a:lnTo>
                      <a:lnTo>
                        <a:pt x="703" y="302"/>
                      </a:lnTo>
                      <a:lnTo>
                        <a:pt x="724" y="323"/>
                      </a:lnTo>
                      <a:lnTo>
                        <a:pt x="724" y="334"/>
                      </a:lnTo>
                      <a:lnTo>
                        <a:pt x="735" y="345"/>
                      </a:lnTo>
                      <a:lnTo>
                        <a:pt x="757" y="366"/>
                      </a:lnTo>
                      <a:lnTo>
                        <a:pt x="757" y="377"/>
                      </a:lnTo>
                      <a:lnTo>
                        <a:pt x="778" y="399"/>
                      </a:lnTo>
                      <a:lnTo>
                        <a:pt x="778" y="409"/>
                      </a:lnTo>
                      <a:lnTo>
                        <a:pt x="800" y="431"/>
                      </a:lnTo>
                      <a:lnTo>
                        <a:pt x="800" y="442"/>
                      </a:lnTo>
                      <a:lnTo>
                        <a:pt x="821" y="463"/>
                      </a:lnTo>
                      <a:lnTo>
                        <a:pt x="821" y="485"/>
                      </a:lnTo>
                      <a:lnTo>
                        <a:pt x="832" y="496"/>
                      </a:lnTo>
                      <a:lnTo>
                        <a:pt x="854" y="517"/>
                      </a:lnTo>
                      <a:lnTo>
                        <a:pt x="854" y="539"/>
                      </a:lnTo>
                      <a:lnTo>
                        <a:pt x="865" y="550"/>
                      </a:lnTo>
                      <a:lnTo>
                        <a:pt x="886" y="571"/>
                      </a:lnTo>
                      <a:lnTo>
                        <a:pt x="886" y="593"/>
                      </a:lnTo>
                      <a:lnTo>
                        <a:pt x="908" y="614"/>
                      </a:lnTo>
                      <a:lnTo>
                        <a:pt x="908" y="625"/>
                      </a:lnTo>
                      <a:lnTo>
                        <a:pt x="929" y="647"/>
                      </a:lnTo>
                      <a:lnTo>
                        <a:pt x="929" y="668"/>
                      </a:lnTo>
                      <a:lnTo>
                        <a:pt x="951" y="690"/>
                      </a:lnTo>
                      <a:lnTo>
                        <a:pt x="951" y="711"/>
                      </a:lnTo>
                      <a:lnTo>
                        <a:pt x="973" y="733"/>
                      </a:lnTo>
                      <a:lnTo>
                        <a:pt x="973" y="754"/>
                      </a:lnTo>
                      <a:lnTo>
                        <a:pt x="994" y="776"/>
                      </a:lnTo>
                      <a:lnTo>
                        <a:pt x="994" y="798"/>
                      </a:lnTo>
                      <a:lnTo>
                        <a:pt x="1016" y="819"/>
                      </a:lnTo>
                      <a:lnTo>
                        <a:pt x="1016" y="841"/>
                      </a:lnTo>
                      <a:lnTo>
                        <a:pt x="1037" y="862"/>
                      </a:lnTo>
                      <a:lnTo>
                        <a:pt x="1037" y="884"/>
                      </a:lnTo>
                      <a:lnTo>
                        <a:pt x="1059" y="905"/>
                      </a:lnTo>
                      <a:lnTo>
                        <a:pt x="1059" y="927"/>
                      </a:lnTo>
                      <a:lnTo>
                        <a:pt x="1081" y="949"/>
                      </a:lnTo>
                      <a:lnTo>
                        <a:pt x="1081" y="981"/>
                      </a:lnTo>
                      <a:lnTo>
                        <a:pt x="1102" y="1002"/>
                      </a:lnTo>
                      <a:lnTo>
                        <a:pt x="1102" y="1024"/>
                      </a:lnTo>
                      <a:lnTo>
                        <a:pt x="1124" y="1046"/>
                      </a:lnTo>
                      <a:lnTo>
                        <a:pt x="1124" y="1067"/>
                      </a:lnTo>
                      <a:lnTo>
                        <a:pt x="1135" y="1078"/>
                      </a:lnTo>
                      <a:lnTo>
                        <a:pt x="1135" y="1100"/>
                      </a:lnTo>
                      <a:lnTo>
                        <a:pt x="1156" y="1121"/>
                      </a:lnTo>
                      <a:lnTo>
                        <a:pt x="1156" y="1143"/>
                      </a:lnTo>
                      <a:lnTo>
                        <a:pt x="1167" y="1153"/>
                      </a:lnTo>
                      <a:lnTo>
                        <a:pt x="1167" y="1175"/>
                      </a:lnTo>
                      <a:lnTo>
                        <a:pt x="1189" y="1197"/>
                      </a:lnTo>
                      <a:lnTo>
                        <a:pt x="1189" y="1218"/>
                      </a:lnTo>
                      <a:lnTo>
                        <a:pt x="1199" y="1229"/>
                      </a:lnTo>
                      <a:lnTo>
                        <a:pt x="1199" y="1250"/>
                      </a:lnTo>
                      <a:lnTo>
                        <a:pt x="1221" y="1272"/>
                      </a:lnTo>
                      <a:lnTo>
                        <a:pt x="1221" y="1304"/>
                      </a:lnTo>
                      <a:lnTo>
                        <a:pt x="1243" y="1326"/>
                      </a:lnTo>
                      <a:lnTo>
                        <a:pt x="1243" y="1348"/>
                      </a:lnTo>
                      <a:lnTo>
                        <a:pt x="1253" y="1358"/>
                      </a:lnTo>
                      <a:lnTo>
                        <a:pt x="1253" y="1380"/>
                      </a:lnTo>
                      <a:lnTo>
                        <a:pt x="1275" y="1401"/>
                      </a:lnTo>
                      <a:lnTo>
                        <a:pt x="1275" y="1434"/>
                      </a:lnTo>
                      <a:lnTo>
                        <a:pt x="1297" y="1455"/>
                      </a:lnTo>
                      <a:lnTo>
                        <a:pt x="1297" y="1488"/>
                      </a:lnTo>
                      <a:lnTo>
                        <a:pt x="1318" y="1509"/>
                      </a:lnTo>
                      <a:lnTo>
                        <a:pt x="1318" y="1542"/>
                      </a:lnTo>
                      <a:lnTo>
                        <a:pt x="1340" y="1563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" name="Freeform 5"/>
                <p:cNvSpPr>
                  <a:spLocks/>
                </p:cNvSpPr>
                <p:nvPr/>
              </p:nvSpPr>
              <p:spPr bwMode="auto">
                <a:xfrm>
                  <a:off x="3099" y="2065"/>
                  <a:ext cx="311" cy="810"/>
                </a:xfrm>
                <a:custGeom>
                  <a:avLst/>
                  <a:gdLst>
                    <a:gd name="T0" fmla="*/ 11 w 1037"/>
                    <a:gd name="T1" fmla="*/ 43 h 2696"/>
                    <a:gd name="T2" fmla="*/ 32 w 1037"/>
                    <a:gd name="T3" fmla="*/ 119 h 2696"/>
                    <a:gd name="T4" fmla="*/ 65 w 1037"/>
                    <a:gd name="T5" fmla="*/ 184 h 2696"/>
                    <a:gd name="T6" fmla="*/ 86 w 1037"/>
                    <a:gd name="T7" fmla="*/ 259 h 2696"/>
                    <a:gd name="T8" fmla="*/ 119 w 1037"/>
                    <a:gd name="T9" fmla="*/ 313 h 2696"/>
                    <a:gd name="T10" fmla="*/ 130 w 1037"/>
                    <a:gd name="T11" fmla="*/ 378 h 2696"/>
                    <a:gd name="T12" fmla="*/ 162 w 1037"/>
                    <a:gd name="T13" fmla="*/ 442 h 2696"/>
                    <a:gd name="T14" fmla="*/ 184 w 1037"/>
                    <a:gd name="T15" fmla="*/ 518 h 2696"/>
                    <a:gd name="T16" fmla="*/ 205 w 1037"/>
                    <a:gd name="T17" fmla="*/ 561 h 2696"/>
                    <a:gd name="T18" fmla="*/ 227 w 1037"/>
                    <a:gd name="T19" fmla="*/ 636 h 2696"/>
                    <a:gd name="T20" fmla="*/ 248 w 1037"/>
                    <a:gd name="T21" fmla="*/ 680 h 2696"/>
                    <a:gd name="T22" fmla="*/ 270 w 1037"/>
                    <a:gd name="T23" fmla="*/ 755 h 2696"/>
                    <a:gd name="T24" fmla="*/ 292 w 1037"/>
                    <a:gd name="T25" fmla="*/ 798 h 2696"/>
                    <a:gd name="T26" fmla="*/ 313 w 1037"/>
                    <a:gd name="T27" fmla="*/ 874 h 2696"/>
                    <a:gd name="T28" fmla="*/ 335 w 1037"/>
                    <a:gd name="T29" fmla="*/ 917 h 2696"/>
                    <a:gd name="T30" fmla="*/ 356 w 1037"/>
                    <a:gd name="T31" fmla="*/ 992 h 2696"/>
                    <a:gd name="T32" fmla="*/ 378 w 1037"/>
                    <a:gd name="T33" fmla="*/ 1035 h 2696"/>
                    <a:gd name="T34" fmla="*/ 400 w 1037"/>
                    <a:gd name="T35" fmla="*/ 1111 h 2696"/>
                    <a:gd name="T36" fmla="*/ 421 w 1037"/>
                    <a:gd name="T37" fmla="*/ 1154 h 2696"/>
                    <a:gd name="T38" fmla="*/ 443 w 1037"/>
                    <a:gd name="T39" fmla="*/ 1229 h 2696"/>
                    <a:gd name="T40" fmla="*/ 464 w 1037"/>
                    <a:gd name="T41" fmla="*/ 1273 h 2696"/>
                    <a:gd name="T42" fmla="*/ 486 w 1037"/>
                    <a:gd name="T43" fmla="*/ 1348 h 2696"/>
                    <a:gd name="T44" fmla="*/ 508 w 1037"/>
                    <a:gd name="T45" fmla="*/ 1391 h 2696"/>
                    <a:gd name="T46" fmla="*/ 529 w 1037"/>
                    <a:gd name="T47" fmla="*/ 1467 h 2696"/>
                    <a:gd name="T48" fmla="*/ 562 w 1037"/>
                    <a:gd name="T49" fmla="*/ 1521 h 2696"/>
                    <a:gd name="T50" fmla="*/ 572 w 1037"/>
                    <a:gd name="T51" fmla="*/ 1585 h 2696"/>
                    <a:gd name="T52" fmla="*/ 605 w 1037"/>
                    <a:gd name="T53" fmla="*/ 1639 h 2696"/>
                    <a:gd name="T54" fmla="*/ 616 w 1037"/>
                    <a:gd name="T55" fmla="*/ 1704 h 2696"/>
                    <a:gd name="T56" fmla="*/ 659 w 1037"/>
                    <a:gd name="T57" fmla="*/ 1779 h 2696"/>
                    <a:gd name="T58" fmla="*/ 670 w 1037"/>
                    <a:gd name="T59" fmla="*/ 1844 h 2696"/>
                    <a:gd name="T60" fmla="*/ 713 w 1037"/>
                    <a:gd name="T61" fmla="*/ 1920 h 2696"/>
                    <a:gd name="T62" fmla="*/ 734 w 1037"/>
                    <a:gd name="T63" fmla="*/ 2006 h 2696"/>
                    <a:gd name="T64" fmla="*/ 767 w 1037"/>
                    <a:gd name="T65" fmla="*/ 2060 h 2696"/>
                    <a:gd name="T66" fmla="*/ 778 w 1037"/>
                    <a:gd name="T67" fmla="*/ 2114 h 2696"/>
                    <a:gd name="T68" fmla="*/ 821 w 1037"/>
                    <a:gd name="T69" fmla="*/ 2189 h 2696"/>
                    <a:gd name="T70" fmla="*/ 842 w 1037"/>
                    <a:gd name="T71" fmla="*/ 2265 h 2696"/>
                    <a:gd name="T72" fmla="*/ 875 w 1037"/>
                    <a:gd name="T73" fmla="*/ 2319 h 2696"/>
                    <a:gd name="T74" fmla="*/ 896 w 1037"/>
                    <a:gd name="T75" fmla="*/ 2394 h 2696"/>
                    <a:gd name="T76" fmla="*/ 940 w 1037"/>
                    <a:gd name="T77" fmla="*/ 2470 h 2696"/>
                    <a:gd name="T78" fmla="*/ 961 w 1037"/>
                    <a:gd name="T79" fmla="*/ 2534 h 2696"/>
                    <a:gd name="T80" fmla="*/ 994 w 1037"/>
                    <a:gd name="T81" fmla="*/ 2588 h 2696"/>
                    <a:gd name="T82" fmla="*/ 1015 w 1037"/>
                    <a:gd name="T83" fmla="*/ 2653 h 26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7" h="2696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11" y="43"/>
                      </a:lnTo>
                      <a:lnTo>
                        <a:pt x="11" y="65"/>
                      </a:lnTo>
                      <a:lnTo>
                        <a:pt x="32" y="86"/>
                      </a:lnTo>
                      <a:lnTo>
                        <a:pt x="32" y="119"/>
                      </a:lnTo>
                      <a:lnTo>
                        <a:pt x="54" y="140"/>
                      </a:lnTo>
                      <a:lnTo>
                        <a:pt x="54" y="173"/>
                      </a:lnTo>
                      <a:lnTo>
                        <a:pt x="65" y="184"/>
                      </a:lnTo>
                      <a:lnTo>
                        <a:pt x="65" y="205"/>
                      </a:lnTo>
                      <a:lnTo>
                        <a:pt x="86" y="227"/>
                      </a:lnTo>
                      <a:lnTo>
                        <a:pt x="86" y="259"/>
                      </a:lnTo>
                      <a:lnTo>
                        <a:pt x="97" y="270"/>
                      </a:lnTo>
                      <a:lnTo>
                        <a:pt x="97" y="291"/>
                      </a:lnTo>
                      <a:lnTo>
                        <a:pt x="119" y="313"/>
                      </a:lnTo>
                      <a:lnTo>
                        <a:pt x="119" y="345"/>
                      </a:lnTo>
                      <a:lnTo>
                        <a:pt x="130" y="356"/>
                      </a:lnTo>
                      <a:lnTo>
                        <a:pt x="130" y="378"/>
                      </a:lnTo>
                      <a:lnTo>
                        <a:pt x="151" y="399"/>
                      </a:lnTo>
                      <a:lnTo>
                        <a:pt x="151" y="432"/>
                      </a:lnTo>
                      <a:lnTo>
                        <a:pt x="162" y="442"/>
                      </a:lnTo>
                      <a:lnTo>
                        <a:pt x="162" y="464"/>
                      </a:lnTo>
                      <a:lnTo>
                        <a:pt x="184" y="485"/>
                      </a:lnTo>
                      <a:lnTo>
                        <a:pt x="184" y="518"/>
                      </a:lnTo>
                      <a:lnTo>
                        <a:pt x="194" y="529"/>
                      </a:lnTo>
                      <a:lnTo>
                        <a:pt x="194" y="550"/>
                      </a:lnTo>
                      <a:lnTo>
                        <a:pt x="205" y="561"/>
                      </a:lnTo>
                      <a:lnTo>
                        <a:pt x="205" y="582"/>
                      </a:lnTo>
                      <a:lnTo>
                        <a:pt x="227" y="604"/>
                      </a:lnTo>
                      <a:lnTo>
                        <a:pt x="227" y="636"/>
                      </a:lnTo>
                      <a:lnTo>
                        <a:pt x="238" y="647"/>
                      </a:lnTo>
                      <a:lnTo>
                        <a:pt x="238" y="669"/>
                      </a:lnTo>
                      <a:lnTo>
                        <a:pt x="248" y="680"/>
                      </a:lnTo>
                      <a:lnTo>
                        <a:pt x="248" y="701"/>
                      </a:lnTo>
                      <a:lnTo>
                        <a:pt x="270" y="723"/>
                      </a:lnTo>
                      <a:lnTo>
                        <a:pt x="270" y="755"/>
                      </a:lnTo>
                      <a:lnTo>
                        <a:pt x="281" y="766"/>
                      </a:lnTo>
                      <a:lnTo>
                        <a:pt x="281" y="787"/>
                      </a:lnTo>
                      <a:lnTo>
                        <a:pt x="292" y="798"/>
                      </a:lnTo>
                      <a:lnTo>
                        <a:pt x="292" y="820"/>
                      </a:lnTo>
                      <a:lnTo>
                        <a:pt x="313" y="841"/>
                      </a:lnTo>
                      <a:lnTo>
                        <a:pt x="313" y="874"/>
                      </a:lnTo>
                      <a:lnTo>
                        <a:pt x="324" y="884"/>
                      </a:lnTo>
                      <a:lnTo>
                        <a:pt x="324" y="906"/>
                      </a:lnTo>
                      <a:lnTo>
                        <a:pt x="335" y="917"/>
                      </a:lnTo>
                      <a:lnTo>
                        <a:pt x="335" y="938"/>
                      </a:lnTo>
                      <a:lnTo>
                        <a:pt x="356" y="960"/>
                      </a:lnTo>
                      <a:lnTo>
                        <a:pt x="356" y="992"/>
                      </a:lnTo>
                      <a:lnTo>
                        <a:pt x="367" y="1003"/>
                      </a:lnTo>
                      <a:lnTo>
                        <a:pt x="367" y="1025"/>
                      </a:lnTo>
                      <a:lnTo>
                        <a:pt x="378" y="1035"/>
                      </a:lnTo>
                      <a:lnTo>
                        <a:pt x="378" y="1057"/>
                      </a:lnTo>
                      <a:lnTo>
                        <a:pt x="400" y="1079"/>
                      </a:lnTo>
                      <a:lnTo>
                        <a:pt x="400" y="1111"/>
                      </a:lnTo>
                      <a:lnTo>
                        <a:pt x="410" y="1122"/>
                      </a:lnTo>
                      <a:lnTo>
                        <a:pt x="410" y="1143"/>
                      </a:lnTo>
                      <a:lnTo>
                        <a:pt x="421" y="1154"/>
                      </a:lnTo>
                      <a:lnTo>
                        <a:pt x="421" y="1176"/>
                      </a:lnTo>
                      <a:lnTo>
                        <a:pt x="443" y="1197"/>
                      </a:lnTo>
                      <a:lnTo>
                        <a:pt x="443" y="1229"/>
                      </a:lnTo>
                      <a:lnTo>
                        <a:pt x="454" y="1240"/>
                      </a:lnTo>
                      <a:lnTo>
                        <a:pt x="454" y="1262"/>
                      </a:lnTo>
                      <a:lnTo>
                        <a:pt x="464" y="1273"/>
                      </a:lnTo>
                      <a:lnTo>
                        <a:pt x="464" y="1294"/>
                      </a:lnTo>
                      <a:lnTo>
                        <a:pt x="486" y="1316"/>
                      </a:lnTo>
                      <a:lnTo>
                        <a:pt x="486" y="1348"/>
                      </a:lnTo>
                      <a:lnTo>
                        <a:pt x="497" y="1359"/>
                      </a:lnTo>
                      <a:lnTo>
                        <a:pt x="497" y="1380"/>
                      </a:lnTo>
                      <a:lnTo>
                        <a:pt x="508" y="1391"/>
                      </a:lnTo>
                      <a:lnTo>
                        <a:pt x="508" y="1413"/>
                      </a:lnTo>
                      <a:lnTo>
                        <a:pt x="529" y="1434"/>
                      </a:lnTo>
                      <a:lnTo>
                        <a:pt x="529" y="1467"/>
                      </a:lnTo>
                      <a:lnTo>
                        <a:pt x="540" y="1477"/>
                      </a:lnTo>
                      <a:lnTo>
                        <a:pt x="540" y="1499"/>
                      </a:lnTo>
                      <a:lnTo>
                        <a:pt x="562" y="1521"/>
                      </a:lnTo>
                      <a:lnTo>
                        <a:pt x="562" y="1553"/>
                      </a:lnTo>
                      <a:lnTo>
                        <a:pt x="572" y="1564"/>
                      </a:lnTo>
                      <a:lnTo>
                        <a:pt x="572" y="1585"/>
                      </a:lnTo>
                      <a:lnTo>
                        <a:pt x="583" y="1596"/>
                      </a:lnTo>
                      <a:lnTo>
                        <a:pt x="583" y="1618"/>
                      </a:lnTo>
                      <a:lnTo>
                        <a:pt x="605" y="1639"/>
                      </a:lnTo>
                      <a:lnTo>
                        <a:pt x="605" y="1672"/>
                      </a:lnTo>
                      <a:lnTo>
                        <a:pt x="616" y="1682"/>
                      </a:lnTo>
                      <a:lnTo>
                        <a:pt x="616" y="1704"/>
                      </a:lnTo>
                      <a:lnTo>
                        <a:pt x="637" y="1725"/>
                      </a:lnTo>
                      <a:lnTo>
                        <a:pt x="637" y="1758"/>
                      </a:lnTo>
                      <a:lnTo>
                        <a:pt x="659" y="1779"/>
                      </a:lnTo>
                      <a:lnTo>
                        <a:pt x="659" y="1812"/>
                      </a:lnTo>
                      <a:lnTo>
                        <a:pt x="670" y="1823"/>
                      </a:lnTo>
                      <a:lnTo>
                        <a:pt x="670" y="1844"/>
                      </a:lnTo>
                      <a:lnTo>
                        <a:pt x="691" y="1866"/>
                      </a:lnTo>
                      <a:lnTo>
                        <a:pt x="691" y="1898"/>
                      </a:lnTo>
                      <a:lnTo>
                        <a:pt x="713" y="1920"/>
                      </a:lnTo>
                      <a:lnTo>
                        <a:pt x="713" y="1952"/>
                      </a:lnTo>
                      <a:lnTo>
                        <a:pt x="734" y="1973"/>
                      </a:lnTo>
                      <a:lnTo>
                        <a:pt x="734" y="2006"/>
                      </a:lnTo>
                      <a:lnTo>
                        <a:pt x="745" y="2017"/>
                      </a:lnTo>
                      <a:lnTo>
                        <a:pt x="745" y="2038"/>
                      </a:lnTo>
                      <a:lnTo>
                        <a:pt x="767" y="2060"/>
                      </a:lnTo>
                      <a:lnTo>
                        <a:pt x="767" y="2081"/>
                      </a:lnTo>
                      <a:lnTo>
                        <a:pt x="778" y="2092"/>
                      </a:lnTo>
                      <a:lnTo>
                        <a:pt x="778" y="2114"/>
                      </a:lnTo>
                      <a:lnTo>
                        <a:pt x="799" y="2135"/>
                      </a:lnTo>
                      <a:lnTo>
                        <a:pt x="799" y="2168"/>
                      </a:lnTo>
                      <a:lnTo>
                        <a:pt x="821" y="2189"/>
                      </a:lnTo>
                      <a:lnTo>
                        <a:pt x="821" y="2221"/>
                      </a:lnTo>
                      <a:lnTo>
                        <a:pt x="842" y="2243"/>
                      </a:lnTo>
                      <a:lnTo>
                        <a:pt x="842" y="2265"/>
                      </a:lnTo>
                      <a:lnTo>
                        <a:pt x="853" y="2275"/>
                      </a:lnTo>
                      <a:lnTo>
                        <a:pt x="853" y="2297"/>
                      </a:lnTo>
                      <a:lnTo>
                        <a:pt x="875" y="2319"/>
                      </a:lnTo>
                      <a:lnTo>
                        <a:pt x="875" y="2351"/>
                      </a:lnTo>
                      <a:lnTo>
                        <a:pt x="896" y="2372"/>
                      </a:lnTo>
                      <a:lnTo>
                        <a:pt x="896" y="2394"/>
                      </a:lnTo>
                      <a:lnTo>
                        <a:pt x="918" y="2416"/>
                      </a:lnTo>
                      <a:lnTo>
                        <a:pt x="918" y="2448"/>
                      </a:lnTo>
                      <a:lnTo>
                        <a:pt x="940" y="2470"/>
                      </a:lnTo>
                      <a:lnTo>
                        <a:pt x="940" y="2491"/>
                      </a:lnTo>
                      <a:lnTo>
                        <a:pt x="961" y="2513"/>
                      </a:lnTo>
                      <a:lnTo>
                        <a:pt x="961" y="2534"/>
                      </a:lnTo>
                      <a:lnTo>
                        <a:pt x="972" y="2545"/>
                      </a:lnTo>
                      <a:lnTo>
                        <a:pt x="972" y="2567"/>
                      </a:lnTo>
                      <a:lnTo>
                        <a:pt x="994" y="2588"/>
                      </a:lnTo>
                      <a:lnTo>
                        <a:pt x="994" y="2610"/>
                      </a:lnTo>
                      <a:lnTo>
                        <a:pt x="1015" y="2631"/>
                      </a:lnTo>
                      <a:lnTo>
                        <a:pt x="1015" y="2653"/>
                      </a:lnTo>
                      <a:lnTo>
                        <a:pt x="1037" y="2674"/>
                      </a:lnTo>
                      <a:lnTo>
                        <a:pt x="1037" y="269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6"/>
                <p:cNvSpPr>
                  <a:spLocks/>
                </p:cNvSpPr>
                <p:nvPr/>
              </p:nvSpPr>
              <p:spPr bwMode="auto">
                <a:xfrm>
                  <a:off x="3410" y="2875"/>
                  <a:ext cx="409" cy="240"/>
                </a:xfrm>
                <a:custGeom>
                  <a:avLst/>
                  <a:gdLst>
                    <a:gd name="T0" fmla="*/ 22 w 1361"/>
                    <a:gd name="T1" fmla="*/ 43 h 798"/>
                    <a:gd name="T2" fmla="*/ 65 w 1361"/>
                    <a:gd name="T3" fmla="*/ 108 h 798"/>
                    <a:gd name="T4" fmla="*/ 86 w 1361"/>
                    <a:gd name="T5" fmla="*/ 172 h 798"/>
                    <a:gd name="T6" fmla="*/ 119 w 1361"/>
                    <a:gd name="T7" fmla="*/ 226 h 798"/>
                    <a:gd name="T8" fmla="*/ 162 w 1361"/>
                    <a:gd name="T9" fmla="*/ 280 h 798"/>
                    <a:gd name="T10" fmla="*/ 194 w 1361"/>
                    <a:gd name="T11" fmla="*/ 334 h 798"/>
                    <a:gd name="T12" fmla="*/ 227 w 1361"/>
                    <a:gd name="T13" fmla="*/ 388 h 798"/>
                    <a:gd name="T14" fmla="*/ 248 w 1361"/>
                    <a:gd name="T15" fmla="*/ 431 h 798"/>
                    <a:gd name="T16" fmla="*/ 281 w 1361"/>
                    <a:gd name="T17" fmla="*/ 474 h 798"/>
                    <a:gd name="T18" fmla="*/ 313 w 1361"/>
                    <a:gd name="T19" fmla="*/ 518 h 798"/>
                    <a:gd name="T20" fmla="*/ 346 w 1361"/>
                    <a:gd name="T21" fmla="*/ 561 h 798"/>
                    <a:gd name="T22" fmla="*/ 378 w 1361"/>
                    <a:gd name="T23" fmla="*/ 593 h 798"/>
                    <a:gd name="T24" fmla="*/ 410 w 1361"/>
                    <a:gd name="T25" fmla="*/ 625 h 798"/>
                    <a:gd name="T26" fmla="*/ 443 w 1361"/>
                    <a:gd name="T27" fmla="*/ 658 h 798"/>
                    <a:gd name="T28" fmla="*/ 475 w 1361"/>
                    <a:gd name="T29" fmla="*/ 690 h 798"/>
                    <a:gd name="T30" fmla="*/ 508 w 1361"/>
                    <a:gd name="T31" fmla="*/ 712 h 798"/>
                    <a:gd name="T32" fmla="*/ 540 w 1361"/>
                    <a:gd name="T33" fmla="*/ 733 h 798"/>
                    <a:gd name="T34" fmla="*/ 572 w 1361"/>
                    <a:gd name="T35" fmla="*/ 755 h 798"/>
                    <a:gd name="T36" fmla="*/ 605 w 1361"/>
                    <a:gd name="T37" fmla="*/ 776 h 798"/>
                    <a:gd name="T38" fmla="*/ 637 w 1361"/>
                    <a:gd name="T39" fmla="*/ 787 h 798"/>
                    <a:gd name="T40" fmla="*/ 670 w 1361"/>
                    <a:gd name="T41" fmla="*/ 798 h 798"/>
                    <a:gd name="T42" fmla="*/ 702 w 1361"/>
                    <a:gd name="T43" fmla="*/ 798 h 798"/>
                    <a:gd name="T44" fmla="*/ 734 w 1361"/>
                    <a:gd name="T45" fmla="*/ 798 h 798"/>
                    <a:gd name="T46" fmla="*/ 756 w 1361"/>
                    <a:gd name="T47" fmla="*/ 798 h 798"/>
                    <a:gd name="T48" fmla="*/ 788 w 1361"/>
                    <a:gd name="T49" fmla="*/ 798 h 798"/>
                    <a:gd name="T50" fmla="*/ 821 w 1361"/>
                    <a:gd name="T51" fmla="*/ 798 h 798"/>
                    <a:gd name="T52" fmla="*/ 853 w 1361"/>
                    <a:gd name="T53" fmla="*/ 787 h 798"/>
                    <a:gd name="T54" fmla="*/ 886 w 1361"/>
                    <a:gd name="T55" fmla="*/ 776 h 798"/>
                    <a:gd name="T56" fmla="*/ 918 w 1361"/>
                    <a:gd name="T57" fmla="*/ 766 h 798"/>
                    <a:gd name="T58" fmla="*/ 950 w 1361"/>
                    <a:gd name="T59" fmla="*/ 744 h 798"/>
                    <a:gd name="T60" fmla="*/ 983 w 1361"/>
                    <a:gd name="T61" fmla="*/ 722 h 798"/>
                    <a:gd name="T62" fmla="*/ 1015 w 1361"/>
                    <a:gd name="T63" fmla="*/ 701 h 798"/>
                    <a:gd name="T64" fmla="*/ 1048 w 1361"/>
                    <a:gd name="T65" fmla="*/ 668 h 798"/>
                    <a:gd name="T66" fmla="*/ 1080 w 1361"/>
                    <a:gd name="T67" fmla="*/ 647 h 798"/>
                    <a:gd name="T68" fmla="*/ 1113 w 1361"/>
                    <a:gd name="T69" fmla="*/ 615 h 798"/>
                    <a:gd name="T70" fmla="*/ 1145 w 1361"/>
                    <a:gd name="T71" fmla="*/ 571 h 798"/>
                    <a:gd name="T72" fmla="*/ 1177 w 1361"/>
                    <a:gd name="T73" fmla="*/ 539 h 798"/>
                    <a:gd name="T74" fmla="*/ 1210 w 1361"/>
                    <a:gd name="T75" fmla="*/ 496 h 798"/>
                    <a:gd name="T76" fmla="*/ 1242 w 1361"/>
                    <a:gd name="T77" fmla="*/ 453 h 798"/>
                    <a:gd name="T78" fmla="*/ 1285 w 1361"/>
                    <a:gd name="T79" fmla="*/ 399 h 798"/>
                    <a:gd name="T80" fmla="*/ 1307 w 1361"/>
                    <a:gd name="T81" fmla="*/ 356 h 798"/>
                    <a:gd name="T82" fmla="*/ 1350 w 1361"/>
                    <a:gd name="T83" fmla="*/ 302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61" h="798">
                      <a:moveTo>
                        <a:pt x="0" y="0"/>
                      </a:moveTo>
                      <a:lnTo>
                        <a:pt x="22" y="22"/>
                      </a:lnTo>
                      <a:lnTo>
                        <a:pt x="22" y="43"/>
                      </a:lnTo>
                      <a:lnTo>
                        <a:pt x="43" y="65"/>
                      </a:lnTo>
                      <a:lnTo>
                        <a:pt x="43" y="86"/>
                      </a:lnTo>
                      <a:lnTo>
                        <a:pt x="65" y="108"/>
                      </a:lnTo>
                      <a:lnTo>
                        <a:pt x="65" y="129"/>
                      </a:lnTo>
                      <a:lnTo>
                        <a:pt x="86" y="151"/>
                      </a:lnTo>
                      <a:lnTo>
                        <a:pt x="86" y="172"/>
                      </a:lnTo>
                      <a:lnTo>
                        <a:pt x="97" y="183"/>
                      </a:lnTo>
                      <a:lnTo>
                        <a:pt x="119" y="205"/>
                      </a:lnTo>
                      <a:lnTo>
                        <a:pt x="119" y="226"/>
                      </a:lnTo>
                      <a:lnTo>
                        <a:pt x="140" y="248"/>
                      </a:lnTo>
                      <a:lnTo>
                        <a:pt x="140" y="259"/>
                      </a:lnTo>
                      <a:lnTo>
                        <a:pt x="162" y="280"/>
                      </a:lnTo>
                      <a:lnTo>
                        <a:pt x="162" y="302"/>
                      </a:lnTo>
                      <a:lnTo>
                        <a:pt x="173" y="313"/>
                      </a:lnTo>
                      <a:lnTo>
                        <a:pt x="194" y="334"/>
                      </a:lnTo>
                      <a:lnTo>
                        <a:pt x="194" y="356"/>
                      </a:lnTo>
                      <a:lnTo>
                        <a:pt x="205" y="367"/>
                      </a:lnTo>
                      <a:lnTo>
                        <a:pt x="227" y="388"/>
                      </a:lnTo>
                      <a:lnTo>
                        <a:pt x="227" y="399"/>
                      </a:lnTo>
                      <a:lnTo>
                        <a:pt x="248" y="420"/>
                      </a:lnTo>
                      <a:lnTo>
                        <a:pt x="248" y="431"/>
                      </a:lnTo>
                      <a:lnTo>
                        <a:pt x="270" y="453"/>
                      </a:lnTo>
                      <a:lnTo>
                        <a:pt x="270" y="464"/>
                      </a:lnTo>
                      <a:lnTo>
                        <a:pt x="281" y="474"/>
                      </a:lnTo>
                      <a:lnTo>
                        <a:pt x="302" y="496"/>
                      </a:lnTo>
                      <a:lnTo>
                        <a:pt x="302" y="507"/>
                      </a:lnTo>
                      <a:lnTo>
                        <a:pt x="313" y="518"/>
                      </a:lnTo>
                      <a:lnTo>
                        <a:pt x="335" y="539"/>
                      </a:lnTo>
                      <a:lnTo>
                        <a:pt x="335" y="550"/>
                      </a:lnTo>
                      <a:lnTo>
                        <a:pt x="346" y="561"/>
                      </a:lnTo>
                      <a:lnTo>
                        <a:pt x="356" y="571"/>
                      </a:lnTo>
                      <a:lnTo>
                        <a:pt x="367" y="582"/>
                      </a:lnTo>
                      <a:lnTo>
                        <a:pt x="378" y="593"/>
                      </a:lnTo>
                      <a:lnTo>
                        <a:pt x="389" y="604"/>
                      </a:lnTo>
                      <a:lnTo>
                        <a:pt x="400" y="615"/>
                      </a:lnTo>
                      <a:lnTo>
                        <a:pt x="410" y="625"/>
                      </a:lnTo>
                      <a:lnTo>
                        <a:pt x="421" y="636"/>
                      </a:lnTo>
                      <a:lnTo>
                        <a:pt x="432" y="647"/>
                      </a:lnTo>
                      <a:lnTo>
                        <a:pt x="443" y="658"/>
                      </a:lnTo>
                      <a:lnTo>
                        <a:pt x="454" y="668"/>
                      </a:lnTo>
                      <a:lnTo>
                        <a:pt x="464" y="679"/>
                      </a:lnTo>
                      <a:lnTo>
                        <a:pt x="475" y="690"/>
                      </a:lnTo>
                      <a:lnTo>
                        <a:pt x="486" y="701"/>
                      </a:lnTo>
                      <a:lnTo>
                        <a:pt x="497" y="712"/>
                      </a:lnTo>
                      <a:lnTo>
                        <a:pt x="508" y="712"/>
                      </a:lnTo>
                      <a:lnTo>
                        <a:pt x="518" y="722"/>
                      </a:lnTo>
                      <a:lnTo>
                        <a:pt x="529" y="733"/>
                      </a:lnTo>
                      <a:lnTo>
                        <a:pt x="540" y="733"/>
                      </a:lnTo>
                      <a:lnTo>
                        <a:pt x="551" y="744"/>
                      </a:lnTo>
                      <a:lnTo>
                        <a:pt x="562" y="755"/>
                      </a:lnTo>
                      <a:lnTo>
                        <a:pt x="572" y="755"/>
                      </a:lnTo>
                      <a:lnTo>
                        <a:pt x="583" y="766"/>
                      </a:lnTo>
                      <a:lnTo>
                        <a:pt x="594" y="766"/>
                      </a:lnTo>
                      <a:lnTo>
                        <a:pt x="605" y="776"/>
                      </a:lnTo>
                      <a:lnTo>
                        <a:pt x="616" y="776"/>
                      </a:lnTo>
                      <a:lnTo>
                        <a:pt x="626" y="776"/>
                      </a:lnTo>
                      <a:lnTo>
                        <a:pt x="637" y="787"/>
                      </a:lnTo>
                      <a:lnTo>
                        <a:pt x="648" y="787"/>
                      </a:lnTo>
                      <a:lnTo>
                        <a:pt x="659" y="787"/>
                      </a:lnTo>
                      <a:lnTo>
                        <a:pt x="670" y="798"/>
                      </a:lnTo>
                      <a:lnTo>
                        <a:pt x="680" y="798"/>
                      </a:lnTo>
                      <a:lnTo>
                        <a:pt x="691" y="798"/>
                      </a:lnTo>
                      <a:lnTo>
                        <a:pt x="702" y="798"/>
                      </a:lnTo>
                      <a:lnTo>
                        <a:pt x="713" y="798"/>
                      </a:lnTo>
                      <a:lnTo>
                        <a:pt x="724" y="798"/>
                      </a:lnTo>
                      <a:lnTo>
                        <a:pt x="734" y="798"/>
                      </a:lnTo>
                      <a:lnTo>
                        <a:pt x="745" y="798"/>
                      </a:lnTo>
                      <a:lnTo>
                        <a:pt x="767" y="798"/>
                      </a:lnTo>
                      <a:lnTo>
                        <a:pt x="756" y="798"/>
                      </a:lnTo>
                      <a:lnTo>
                        <a:pt x="767" y="798"/>
                      </a:lnTo>
                      <a:lnTo>
                        <a:pt x="778" y="798"/>
                      </a:lnTo>
                      <a:lnTo>
                        <a:pt x="788" y="798"/>
                      </a:lnTo>
                      <a:lnTo>
                        <a:pt x="799" y="798"/>
                      </a:lnTo>
                      <a:lnTo>
                        <a:pt x="810" y="798"/>
                      </a:lnTo>
                      <a:lnTo>
                        <a:pt x="821" y="798"/>
                      </a:lnTo>
                      <a:lnTo>
                        <a:pt x="832" y="798"/>
                      </a:lnTo>
                      <a:lnTo>
                        <a:pt x="842" y="787"/>
                      </a:lnTo>
                      <a:lnTo>
                        <a:pt x="853" y="787"/>
                      </a:lnTo>
                      <a:lnTo>
                        <a:pt x="864" y="787"/>
                      </a:lnTo>
                      <a:lnTo>
                        <a:pt x="875" y="776"/>
                      </a:lnTo>
                      <a:lnTo>
                        <a:pt x="886" y="776"/>
                      </a:lnTo>
                      <a:lnTo>
                        <a:pt x="896" y="776"/>
                      </a:lnTo>
                      <a:lnTo>
                        <a:pt x="907" y="766"/>
                      </a:lnTo>
                      <a:lnTo>
                        <a:pt x="918" y="766"/>
                      </a:lnTo>
                      <a:lnTo>
                        <a:pt x="929" y="755"/>
                      </a:lnTo>
                      <a:lnTo>
                        <a:pt x="940" y="755"/>
                      </a:lnTo>
                      <a:lnTo>
                        <a:pt x="950" y="744"/>
                      </a:lnTo>
                      <a:lnTo>
                        <a:pt x="961" y="733"/>
                      </a:lnTo>
                      <a:lnTo>
                        <a:pt x="972" y="733"/>
                      </a:lnTo>
                      <a:lnTo>
                        <a:pt x="983" y="722"/>
                      </a:lnTo>
                      <a:lnTo>
                        <a:pt x="994" y="712"/>
                      </a:lnTo>
                      <a:lnTo>
                        <a:pt x="1004" y="712"/>
                      </a:lnTo>
                      <a:lnTo>
                        <a:pt x="1015" y="701"/>
                      </a:lnTo>
                      <a:lnTo>
                        <a:pt x="1026" y="690"/>
                      </a:lnTo>
                      <a:lnTo>
                        <a:pt x="1037" y="679"/>
                      </a:lnTo>
                      <a:lnTo>
                        <a:pt x="1048" y="668"/>
                      </a:lnTo>
                      <a:lnTo>
                        <a:pt x="1059" y="658"/>
                      </a:lnTo>
                      <a:lnTo>
                        <a:pt x="1069" y="658"/>
                      </a:lnTo>
                      <a:lnTo>
                        <a:pt x="1080" y="647"/>
                      </a:lnTo>
                      <a:lnTo>
                        <a:pt x="1091" y="636"/>
                      </a:lnTo>
                      <a:lnTo>
                        <a:pt x="1102" y="625"/>
                      </a:lnTo>
                      <a:lnTo>
                        <a:pt x="1113" y="615"/>
                      </a:lnTo>
                      <a:lnTo>
                        <a:pt x="1134" y="593"/>
                      </a:lnTo>
                      <a:lnTo>
                        <a:pt x="1134" y="582"/>
                      </a:lnTo>
                      <a:lnTo>
                        <a:pt x="1145" y="571"/>
                      </a:lnTo>
                      <a:lnTo>
                        <a:pt x="1156" y="561"/>
                      </a:lnTo>
                      <a:lnTo>
                        <a:pt x="1167" y="550"/>
                      </a:lnTo>
                      <a:lnTo>
                        <a:pt x="1177" y="539"/>
                      </a:lnTo>
                      <a:lnTo>
                        <a:pt x="1199" y="518"/>
                      </a:lnTo>
                      <a:lnTo>
                        <a:pt x="1199" y="507"/>
                      </a:lnTo>
                      <a:lnTo>
                        <a:pt x="1210" y="496"/>
                      </a:lnTo>
                      <a:lnTo>
                        <a:pt x="1231" y="474"/>
                      </a:lnTo>
                      <a:lnTo>
                        <a:pt x="1231" y="464"/>
                      </a:lnTo>
                      <a:lnTo>
                        <a:pt x="1242" y="453"/>
                      </a:lnTo>
                      <a:lnTo>
                        <a:pt x="1264" y="431"/>
                      </a:lnTo>
                      <a:lnTo>
                        <a:pt x="1264" y="420"/>
                      </a:lnTo>
                      <a:lnTo>
                        <a:pt x="1285" y="399"/>
                      </a:lnTo>
                      <a:lnTo>
                        <a:pt x="1285" y="388"/>
                      </a:lnTo>
                      <a:lnTo>
                        <a:pt x="1307" y="367"/>
                      </a:lnTo>
                      <a:lnTo>
                        <a:pt x="1307" y="356"/>
                      </a:lnTo>
                      <a:lnTo>
                        <a:pt x="1329" y="334"/>
                      </a:lnTo>
                      <a:lnTo>
                        <a:pt x="1329" y="323"/>
                      </a:lnTo>
                      <a:lnTo>
                        <a:pt x="1350" y="302"/>
                      </a:lnTo>
                      <a:lnTo>
                        <a:pt x="1350" y="280"/>
                      </a:lnTo>
                      <a:lnTo>
                        <a:pt x="1361" y="27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Freeform 7"/>
                <p:cNvSpPr>
                  <a:spLocks/>
                </p:cNvSpPr>
                <p:nvPr/>
              </p:nvSpPr>
              <p:spPr bwMode="auto">
                <a:xfrm>
                  <a:off x="3819" y="2344"/>
                  <a:ext cx="256" cy="612"/>
                </a:xfrm>
                <a:custGeom>
                  <a:avLst/>
                  <a:gdLst>
                    <a:gd name="T0" fmla="*/ 22 w 853"/>
                    <a:gd name="T1" fmla="*/ 2016 h 2038"/>
                    <a:gd name="T2" fmla="*/ 43 w 853"/>
                    <a:gd name="T3" fmla="*/ 1973 h 2038"/>
                    <a:gd name="T4" fmla="*/ 65 w 853"/>
                    <a:gd name="T5" fmla="*/ 1940 h 2038"/>
                    <a:gd name="T6" fmla="*/ 86 w 853"/>
                    <a:gd name="T7" fmla="*/ 1897 h 2038"/>
                    <a:gd name="T8" fmla="*/ 108 w 853"/>
                    <a:gd name="T9" fmla="*/ 1854 h 2038"/>
                    <a:gd name="T10" fmla="*/ 130 w 853"/>
                    <a:gd name="T11" fmla="*/ 1811 h 2038"/>
                    <a:gd name="T12" fmla="*/ 151 w 853"/>
                    <a:gd name="T13" fmla="*/ 1768 h 2038"/>
                    <a:gd name="T14" fmla="*/ 173 w 853"/>
                    <a:gd name="T15" fmla="*/ 1725 h 2038"/>
                    <a:gd name="T16" fmla="*/ 194 w 853"/>
                    <a:gd name="T17" fmla="*/ 1682 h 2038"/>
                    <a:gd name="T18" fmla="*/ 216 w 853"/>
                    <a:gd name="T19" fmla="*/ 1639 h 2038"/>
                    <a:gd name="T20" fmla="*/ 238 w 853"/>
                    <a:gd name="T21" fmla="*/ 1595 h 2038"/>
                    <a:gd name="T22" fmla="*/ 259 w 853"/>
                    <a:gd name="T23" fmla="*/ 1542 h 2038"/>
                    <a:gd name="T24" fmla="*/ 281 w 853"/>
                    <a:gd name="T25" fmla="*/ 1498 h 2038"/>
                    <a:gd name="T26" fmla="*/ 302 w 853"/>
                    <a:gd name="T27" fmla="*/ 1444 h 2038"/>
                    <a:gd name="T28" fmla="*/ 313 w 853"/>
                    <a:gd name="T29" fmla="*/ 1412 h 2038"/>
                    <a:gd name="T30" fmla="*/ 335 w 853"/>
                    <a:gd name="T31" fmla="*/ 1369 h 2038"/>
                    <a:gd name="T32" fmla="*/ 346 w 853"/>
                    <a:gd name="T33" fmla="*/ 1337 h 2038"/>
                    <a:gd name="T34" fmla="*/ 367 w 853"/>
                    <a:gd name="T35" fmla="*/ 1293 h 2038"/>
                    <a:gd name="T36" fmla="*/ 378 w 853"/>
                    <a:gd name="T37" fmla="*/ 1261 h 2038"/>
                    <a:gd name="T38" fmla="*/ 400 w 853"/>
                    <a:gd name="T39" fmla="*/ 1218 h 2038"/>
                    <a:gd name="T40" fmla="*/ 421 w 853"/>
                    <a:gd name="T41" fmla="*/ 1164 h 2038"/>
                    <a:gd name="T42" fmla="*/ 443 w 853"/>
                    <a:gd name="T43" fmla="*/ 1110 h 2038"/>
                    <a:gd name="T44" fmla="*/ 464 w 853"/>
                    <a:gd name="T45" fmla="*/ 1056 h 2038"/>
                    <a:gd name="T46" fmla="*/ 486 w 853"/>
                    <a:gd name="T47" fmla="*/ 1002 h 2038"/>
                    <a:gd name="T48" fmla="*/ 508 w 853"/>
                    <a:gd name="T49" fmla="*/ 948 h 2038"/>
                    <a:gd name="T50" fmla="*/ 518 w 853"/>
                    <a:gd name="T51" fmla="*/ 905 h 2038"/>
                    <a:gd name="T52" fmla="*/ 540 w 853"/>
                    <a:gd name="T53" fmla="*/ 862 h 2038"/>
                    <a:gd name="T54" fmla="*/ 551 w 853"/>
                    <a:gd name="T55" fmla="*/ 819 h 2038"/>
                    <a:gd name="T56" fmla="*/ 572 w 853"/>
                    <a:gd name="T57" fmla="*/ 776 h 2038"/>
                    <a:gd name="T58" fmla="*/ 594 w 853"/>
                    <a:gd name="T59" fmla="*/ 722 h 2038"/>
                    <a:gd name="T60" fmla="*/ 605 w 853"/>
                    <a:gd name="T61" fmla="*/ 679 h 2038"/>
                    <a:gd name="T62" fmla="*/ 616 w 853"/>
                    <a:gd name="T63" fmla="*/ 647 h 2038"/>
                    <a:gd name="T64" fmla="*/ 637 w 853"/>
                    <a:gd name="T65" fmla="*/ 603 h 2038"/>
                    <a:gd name="T66" fmla="*/ 648 w 853"/>
                    <a:gd name="T67" fmla="*/ 560 h 2038"/>
                    <a:gd name="T68" fmla="*/ 670 w 853"/>
                    <a:gd name="T69" fmla="*/ 517 h 2038"/>
                    <a:gd name="T70" fmla="*/ 680 w 853"/>
                    <a:gd name="T71" fmla="*/ 474 h 2038"/>
                    <a:gd name="T72" fmla="*/ 691 w 853"/>
                    <a:gd name="T73" fmla="*/ 442 h 2038"/>
                    <a:gd name="T74" fmla="*/ 713 w 853"/>
                    <a:gd name="T75" fmla="*/ 399 h 2038"/>
                    <a:gd name="T76" fmla="*/ 724 w 853"/>
                    <a:gd name="T77" fmla="*/ 355 h 2038"/>
                    <a:gd name="T78" fmla="*/ 745 w 853"/>
                    <a:gd name="T79" fmla="*/ 312 h 2038"/>
                    <a:gd name="T80" fmla="*/ 756 w 853"/>
                    <a:gd name="T81" fmla="*/ 269 h 2038"/>
                    <a:gd name="T82" fmla="*/ 767 w 853"/>
                    <a:gd name="T83" fmla="*/ 237 h 2038"/>
                    <a:gd name="T84" fmla="*/ 789 w 853"/>
                    <a:gd name="T85" fmla="*/ 194 h 2038"/>
                    <a:gd name="T86" fmla="*/ 799 w 853"/>
                    <a:gd name="T87" fmla="*/ 151 h 2038"/>
                    <a:gd name="T88" fmla="*/ 810 w 853"/>
                    <a:gd name="T89" fmla="*/ 118 h 2038"/>
                    <a:gd name="T90" fmla="*/ 821 w 853"/>
                    <a:gd name="T91" fmla="*/ 86 h 2038"/>
                    <a:gd name="T92" fmla="*/ 843 w 853"/>
                    <a:gd name="T93" fmla="*/ 43 h 2038"/>
                    <a:gd name="T94" fmla="*/ 853 w 853"/>
                    <a:gd name="T95" fmla="*/ 0 h 20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53" h="2038">
                      <a:moveTo>
                        <a:pt x="0" y="2038"/>
                      </a:moveTo>
                      <a:lnTo>
                        <a:pt x="22" y="2016"/>
                      </a:lnTo>
                      <a:lnTo>
                        <a:pt x="22" y="1994"/>
                      </a:lnTo>
                      <a:lnTo>
                        <a:pt x="43" y="1973"/>
                      </a:lnTo>
                      <a:lnTo>
                        <a:pt x="43" y="1962"/>
                      </a:lnTo>
                      <a:lnTo>
                        <a:pt x="65" y="1940"/>
                      </a:lnTo>
                      <a:lnTo>
                        <a:pt x="65" y="1919"/>
                      </a:lnTo>
                      <a:lnTo>
                        <a:pt x="86" y="1897"/>
                      </a:lnTo>
                      <a:lnTo>
                        <a:pt x="86" y="1876"/>
                      </a:lnTo>
                      <a:lnTo>
                        <a:pt x="108" y="1854"/>
                      </a:lnTo>
                      <a:lnTo>
                        <a:pt x="108" y="1833"/>
                      </a:lnTo>
                      <a:lnTo>
                        <a:pt x="130" y="1811"/>
                      </a:lnTo>
                      <a:lnTo>
                        <a:pt x="130" y="1790"/>
                      </a:lnTo>
                      <a:lnTo>
                        <a:pt x="151" y="1768"/>
                      </a:lnTo>
                      <a:lnTo>
                        <a:pt x="151" y="1746"/>
                      </a:lnTo>
                      <a:lnTo>
                        <a:pt x="173" y="1725"/>
                      </a:lnTo>
                      <a:lnTo>
                        <a:pt x="173" y="1703"/>
                      </a:lnTo>
                      <a:lnTo>
                        <a:pt x="194" y="1682"/>
                      </a:lnTo>
                      <a:lnTo>
                        <a:pt x="194" y="1660"/>
                      </a:lnTo>
                      <a:lnTo>
                        <a:pt x="216" y="1639"/>
                      </a:lnTo>
                      <a:lnTo>
                        <a:pt x="216" y="1617"/>
                      </a:lnTo>
                      <a:lnTo>
                        <a:pt x="238" y="1595"/>
                      </a:lnTo>
                      <a:lnTo>
                        <a:pt x="238" y="1563"/>
                      </a:lnTo>
                      <a:lnTo>
                        <a:pt x="259" y="1542"/>
                      </a:lnTo>
                      <a:lnTo>
                        <a:pt x="259" y="1520"/>
                      </a:lnTo>
                      <a:lnTo>
                        <a:pt x="281" y="1498"/>
                      </a:lnTo>
                      <a:lnTo>
                        <a:pt x="281" y="1466"/>
                      </a:lnTo>
                      <a:lnTo>
                        <a:pt x="302" y="1444"/>
                      </a:lnTo>
                      <a:lnTo>
                        <a:pt x="302" y="1423"/>
                      </a:lnTo>
                      <a:lnTo>
                        <a:pt x="313" y="1412"/>
                      </a:lnTo>
                      <a:lnTo>
                        <a:pt x="313" y="1391"/>
                      </a:lnTo>
                      <a:lnTo>
                        <a:pt x="335" y="1369"/>
                      </a:lnTo>
                      <a:lnTo>
                        <a:pt x="335" y="1347"/>
                      </a:lnTo>
                      <a:lnTo>
                        <a:pt x="346" y="1337"/>
                      </a:lnTo>
                      <a:lnTo>
                        <a:pt x="346" y="1315"/>
                      </a:lnTo>
                      <a:lnTo>
                        <a:pt x="367" y="1293"/>
                      </a:lnTo>
                      <a:lnTo>
                        <a:pt x="367" y="1272"/>
                      </a:lnTo>
                      <a:lnTo>
                        <a:pt x="378" y="1261"/>
                      </a:lnTo>
                      <a:lnTo>
                        <a:pt x="378" y="1240"/>
                      </a:lnTo>
                      <a:lnTo>
                        <a:pt x="400" y="1218"/>
                      </a:lnTo>
                      <a:lnTo>
                        <a:pt x="400" y="1186"/>
                      </a:lnTo>
                      <a:lnTo>
                        <a:pt x="421" y="1164"/>
                      </a:lnTo>
                      <a:lnTo>
                        <a:pt x="421" y="1132"/>
                      </a:lnTo>
                      <a:lnTo>
                        <a:pt x="443" y="1110"/>
                      </a:lnTo>
                      <a:lnTo>
                        <a:pt x="443" y="1078"/>
                      </a:lnTo>
                      <a:lnTo>
                        <a:pt x="464" y="1056"/>
                      </a:lnTo>
                      <a:lnTo>
                        <a:pt x="464" y="1024"/>
                      </a:lnTo>
                      <a:lnTo>
                        <a:pt x="486" y="1002"/>
                      </a:lnTo>
                      <a:lnTo>
                        <a:pt x="486" y="970"/>
                      </a:lnTo>
                      <a:lnTo>
                        <a:pt x="508" y="948"/>
                      </a:lnTo>
                      <a:lnTo>
                        <a:pt x="508" y="916"/>
                      </a:lnTo>
                      <a:lnTo>
                        <a:pt x="518" y="905"/>
                      </a:lnTo>
                      <a:lnTo>
                        <a:pt x="518" y="884"/>
                      </a:lnTo>
                      <a:lnTo>
                        <a:pt x="540" y="862"/>
                      </a:lnTo>
                      <a:lnTo>
                        <a:pt x="540" y="830"/>
                      </a:lnTo>
                      <a:lnTo>
                        <a:pt x="551" y="819"/>
                      </a:lnTo>
                      <a:lnTo>
                        <a:pt x="551" y="797"/>
                      </a:lnTo>
                      <a:lnTo>
                        <a:pt x="572" y="776"/>
                      </a:lnTo>
                      <a:lnTo>
                        <a:pt x="572" y="744"/>
                      </a:lnTo>
                      <a:lnTo>
                        <a:pt x="594" y="722"/>
                      </a:lnTo>
                      <a:lnTo>
                        <a:pt x="594" y="690"/>
                      </a:lnTo>
                      <a:lnTo>
                        <a:pt x="605" y="679"/>
                      </a:lnTo>
                      <a:lnTo>
                        <a:pt x="605" y="657"/>
                      </a:lnTo>
                      <a:lnTo>
                        <a:pt x="616" y="647"/>
                      </a:lnTo>
                      <a:lnTo>
                        <a:pt x="616" y="625"/>
                      </a:lnTo>
                      <a:lnTo>
                        <a:pt x="637" y="603"/>
                      </a:lnTo>
                      <a:lnTo>
                        <a:pt x="637" y="571"/>
                      </a:lnTo>
                      <a:lnTo>
                        <a:pt x="648" y="560"/>
                      </a:lnTo>
                      <a:lnTo>
                        <a:pt x="648" y="539"/>
                      </a:lnTo>
                      <a:lnTo>
                        <a:pt x="670" y="517"/>
                      </a:lnTo>
                      <a:lnTo>
                        <a:pt x="670" y="485"/>
                      </a:lnTo>
                      <a:lnTo>
                        <a:pt x="680" y="474"/>
                      </a:lnTo>
                      <a:lnTo>
                        <a:pt x="680" y="452"/>
                      </a:lnTo>
                      <a:lnTo>
                        <a:pt x="691" y="442"/>
                      </a:lnTo>
                      <a:lnTo>
                        <a:pt x="691" y="420"/>
                      </a:lnTo>
                      <a:lnTo>
                        <a:pt x="713" y="399"/>
                      </a:lnTo>
                      <a:lnTo>
                        <a:pt x="713" y="366"/>
                      </a:lnTo>
                      <a:lnTo>
                        <a:pt x="724" y="355"/>
                      </a:lnTo>
                      <a:lnTo>
                        <a:pt x="724" y="334"/>
                      </a:lnTo>
                      <a:lnTo>
                        <a:pt x="745" y="312"/>
                      </a:lnTo>
                      <a:lnTo>
                        <a:pt x="745" y="280"/>
                      </a:lnTo>
                      <a:lnTo>
                        <a:pt x="756" y="269"/>
                      </a:lnTo>
                      <a:lnTo>
                        <a:pt x="756" y="248"/>
                      </a:lnTo>
                      <a:lnTo>
                        <a:pt x="767" y="237"/>
                      </a:lnTo>
                      <a:lnTo>
                        <a:pt x="767" y="215"/>
                      </a:lnTo>
                      <a:lnTo>
                        <a:pt x="789" y="194"/>
                      </a:lnTo>
                      <a:lnTo>
                        <a:pt x="789" y="161"/>
                      </a:lnTo>
                      <a:lnTo>
                        <a:pt x="799" y="151"/>
                      </a:lnTo>
                      <a:lnTo>
                        <a:pt x="799" y="129"/>
                      </a:lnTo>
                      <a:lnTo>
                        <a:pt x="810" y="118"/>
                      </a:lnTo>
                      <a:lnTo>
                        <a:pt x="810" y="97"/>
                      </a:lnTo>
                      <a:lnTo>
                        <a:pt x="821" y="86"/>
                      </a:lnTo>
                      <a:lnTo>
                        <a:pt x="821" y="64"/>
                      </a:lnTo>
                      <a:lnTo>
                        <a:pt x="843" y="43"/>
                      </a:lnTo>
                      <a:lnTo>
                        <a:pt x="843" y="10"/>
                      </a:lnTo>
                      <a:lnTo>
                        <a:pt x="853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150" name="直接箭头连接符 149"/>
            <p:cNvCxnSpPr/>
            <p:nvPr/>
          </p:nvCxnSpPr>
          <p:spPr>
            <a:xfrm>
              <a:off x="5562110" y="2526745"/>
              <a:ext cx="2085425" cy="1562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 Box 40"/>
            <p:cNvSpPr txBox="1">
              <a:spLocks noChangeArrowheads="1"/>
            </p:cNvSpPr>
            <p:nvPr/>
          </p:nvSpPr>
          <p:spPr bwMode="auto">
            <a:xfrm>
              <a:off x="5838137" y="1716655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000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2" name="Text Box 5"/>
            <p:cNvSpPr txBox="1">
              <a:spLocks noChangeArrowheads="1"/>
            </p:cNvSpPr>
            <p:nvPr/>
          </p:nvSpPr>
          <p:spPr bwMode="auto">
            <a:xfrm>
              <a:off x="7683040" y="2407356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</a:p>
          </p:txBody>
        </p:sp>
      </p:grpSp>
      <p:sp>
        <p:nvSpPr>
          <p:cNvPr id="154" name="任意多边形 153"/>
          <p:cNvSpPr/>
          <p:nvPr/>
        </p:nvSpPr>
        <p:spPr>
          <a:xfrm>
            <a:off x="5689019" y="3206540"/>
            <a:ext cx="1562100" cy="533400"/>
          </a:xfrm>
          <a:custGeom>
            <a:avLst/>
            <a:gdLst>
              <a:gd name="connsiteX0" fmla="*/ 0 w 1562100"/>
              <a:gd name="connsiteY0" fmla="*/ 0 h 400050"/>
              <a:gd name="connsiteX1" fmla="*/ 361950 w 1562100"/>
              <a:gd name="connsiteY1" fmla="*/ 38100 h 400050"/>
              <a:gd name="connsiteX2" fmla="*/ 962025 w 1562100"/>
              <a:gd name="connsiteY2" fmla="*/ 161925 h 400050"/>
              <a:gd name="connsiteX3" fmla="*/ 1400175 w 1562100"/>
              <a:gd name="connsiteY3" fmla="*/ 304800 h 400050"/>
              <a:gd name="connsiteX4" fmla="*/ 1562100 w 1562100"/>
              <a:gd name="connsiteY4" fmla="*/ 40005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2100" h="400050">
                <a:moveTo>
                  <a:pt x="0" y="0"/>
                </a:moveTo>
                <a:cubicBezTo>
                  <a:pt x="100806" y="5556"/>
                  <a:pt x="201613" y="11113"/>
                  <a:pt x="361950" y="38100"/>
                </a:cubicBezTo>
                <a:cubicBezTo>
                  <a:pt x="522287" y="65087"/>
                  <a:pt x="788988" y="117475"/>
                  <a:pt x="962025" y="161925"/>
                </a:cubicBezTo>
                <a:cubicBezTo>
                  <a:pt x="1135062" y="206375"/>
                  <a:pt x="1300163" y="265113"/>
                  <a:pt x="1400175" y="304800"/>
                </a:cubicBezTo>
                <a:cubicBezTo>
                  <a:pt x="1500187" y="344487"/>
                  <a:pt x="1531143" y="372268"/>
                  <a:pt x="1562100" y="40005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任意多边形 154"/>
          <p:cNvSpPr/>
          <p:nvPr/>
        </p:nvSpPr>
        <p:spPr>
          <a:xfrm flipV="1">
            <a:off x="5711311" y="3866613"/>
            <a:ext cx="1562100" cy="511168"/>
          </a:xfrm>
          <a:custGeom>
            <a:avLst/>
            <a:gdLst>
              <a:gd name="connsiteX0" fmla="*/ 0 w 1562100"/>
              <a:gd name="connsiteY0" fmla="*/ 0 h 400050"/>
              <a:gd name="connsiteX1" fmla="*/ 361950 w 1562100"/>
              <a:gd name="connsiteY1" fmla="*/ 38100 h 400050"/>
              <a:gd name="connsiteX2" fmla="*/ 962025 w 1562100"/>
              <a:gd name="connsiteY2" fmla="*/ 161925 h 400050"/>
              <a:gd name="connsiteX3" fmla="*/ 1400175 w 1562100"/>
              <a:gd name="connsiteY3" fmla="*/ 304800 h 400050"/>
              <a:gd name="connsiteX4" fmla="*/ 1562100 w 1562100"/>
              <a:gd name="connsiteY4" fmla="*/ 40005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2100" h="400050">
                <a:moveTo>
                  <a:pt x="0" y="0"/>
                </a:moveTo>
                <a:cubicBezTo>
                  <a:pt x="100806" y="5556"/>
                  <a:pt x="201613" y="11113"/>
                  <a:pt x="361950" y="38100"/>
                </a:cubicBezTo>
                <a:cubicBezTo>
                  <a:pt x="522287" y="65087"/>
                  <a:pt x="788988" y="117475"/>
                  <a:pt x="962025" y="161925"/>
                </a:cubicBezTo>
                <a:cubicBezTo>
                  <a:pt x="1135062" y="206375"/>
                  <a:pt x="1300163" y="265113"/>
                  <a:pt x="1400175" y="304800"/>
                </a:cubicBezTo>
                <a:cubicBezTo>
                  <a:pt x="1500187" y="344487"/>
                  <a:pt x="1531143" y="372268"/>
                  <a:pt x="1562100" y="40005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2" name="组合 161"/>
          <p:cNvGrpSpPr/>
          <p:nvPr/>
        </p:nvGrpSpPr>
        <p:grpSpPr>
          <a:xfrm>
            <a:off x="5166606" y="4314653"/>
            <a:ext cx="3596930" cy="1756090"/>
            <a:chOff x="5295550" y="2965020"/>
            <a:chExt cx="3596930" cy="1317067"/>
          </a:xfrm>
        </p:grpSpPr>
        <p:sp>
          <p:nvSpPr>
            <p:cNvPr id="153" name="TextBox 152"/>
            <p:cNvSpPr txBox="1"/>
            <p:nvPr/>
          </p:nvSpPr>
          <p:spPr>
            <a:xfrm>
              <a:off x="5295550" y="3381840"/>
              <a:ext cx="3596930" cy="900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包络体现了网络的幅频转移特性</a:t>
              </a:r>
              <a:r>
                <a:rPr lang="en-US" altLang="zh-CN" dirty="0"/>
                <a:t>——</a:t>
              </a:r>
              <a:r>
                <a:rPr lang="zh-CN" altLang="en-US" dirty="0"/>
                <a:t>输出信号的幅度随频率的升高而降低</a:t>
              </a:r>
            </a:p>
          </p:txBody>
        </p:sp>
        <p:cxnSp>
          <p:nvCxnSpPr>
            <p:cNvPr id="157" name="直接箭头连接符 156"/>
            <p:cNvCxnSpPr>
              <a:cxnSpLocks/>
            </p:cNvCxnSpPr>
            <p:nvPr/>
          </p:nvCxnSpPr>
          <p:spPr>
            <a:xfrm flipV="1">
              <a:off x="6314526" y="2965020"/>
              <a:ext cx="192597" cy="53813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云形 157"/>
          <p:cNvSpPr/>
          <p:nvPr/>
        </p:nvSpPr>
        <p:spPr>
          <a:xfrm>
            <a:off x="1511788" y="5146885"/>
            <a:ext cx="2695072" cy="120013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如何提取包络？</a:t>
            </a:r>
          </a:p>
        </p:txBody>
      </p:sp>
    </p:spTree>
    <p:extLst>
      <p:ext uri="{BB962C8B-B14F-4D97-AF65-F5344CB8AC3E}">
        <p14:creationId xmlns:p14="http://schemas.microsoft.com/office/powerpoint/2010/main" val="274790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935" y="3148471"/>
            <a:ext cx="2399039" cy="157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峰值包络检波电路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左大括号 4"/>
          <p:cNvSpPr/>
          <p:nvPr/>
        </p:nvSpPr>
        <p:spPr>
          <a:xfrm rot="16200000">
            <a:off x="4292924" y="4047009"/>
            <a:ext cx="147635" cy="1436519"/>
          </a:xfrm>
          <a:prstGeom prst="leftBrace">
            <a:avLst>
              <a:gd name="adj1" fmla="val 1962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标注 5"/>
          <p:cNvSpPr/>
          <p:nvPr/>
        </p:nvSpPr>
        <p:spPr>
          <a:xfrm>
            <a:off x="229409" y="1907247"/>
            <a:ext cx="2685006" cy="1496536"/>
          </a:xfrm>
          <a:prstGeom prst="wedgeRoundRectCallout">
            <a:avLst>
              <a:gd name="adj1" fmla="val 62910"/>
              <a:gd name="adj2" fmla="val 4004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检波二极管，提取波形的正半周，幅度超过二极管导通电压的部分可以通过</a:t>
            </a:r>
          </a:p>
        </p:txBody>
      </p:sp>
      <p:sp>
        <p:nvSpPr>
          <p:cNvPr id="7" name="矩形 6"/>
          <p:cNvSpPr/>
          <p:nvPr/>
        </p:nvSpPr>
        <p:spPr>
          <a:xfrm>
            <a:off x="621054" y="977967"/>
            <a:ext cx="7911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扫频信号</a:t>
            </a:r>
            <a:r>
              <a:rPr lang="zh-CN" altLang="en-US" dirty="0"/>
              <a:t>的包络</a:t>
            </a:r>
            <a:r>
              <a:rPr lang="zh-CN" altLang="zh-CN" dirty="0"/>
              <a:t>属于慢变化波形其频率</a:t>
            </a:r>
            <a:r>
              <a:rPr lang="zh-CN" altLang="en-US" dirty="0"/>
              <a:t>较</a:t>
            </a:r>
            <a:r>
              <a:rPr lang="zh-CN" altLang="zh-CN" dirty="0"/>
              <a:t>低。把包络提取出来就要用到</a:t>
            </a:r>
            <a:r>
              <a:rPr lang="zh-CN" altLang="en-US" dirty="0"/>
              <a:t>峰值包络</a:t>
            </a:r>
            <a:r>
              <a:rPr lang="zh-CN" altLang="zh-CN" dirty="0"/>
              <a:t>检波电路来实现。</a:t>
            </a:r>
            <a:endParaRPr lang="zh-CN" altLang="en-US" dirty="0"/>
          </a:p>
        </p:txBody>
      </p:sp>
      <p:grpSp>
        <p:nvGrpSpPr>
          <p:cNvPr id="93" name="组合 92"/>
          <p:cNvGrpSpPr/>
          <p:nvPr/>
        </p:nvGrpSpPr>
        <p:grpSpPr>
          <a:xfrm>
            <a:off x="3536885" y="1703807"/>
            <a:ext cx="1883322" cy="1753608"/>
            <a:chOff x="3536885" y="1446624"/>
            <a:chExt cx="1883322" cy="1315206"/>
          </a:xfrm>
        </p:grpSpPr>
        <p:grpSp>
          <p:nvGrpSpPr>
            <p:cNvPr id="89" name="组合 88"/>
            <p:cNvGrpSpPr/>
            <p:nvPr/>
          </p:nvGrpSpPr>
          <p:grpSpPr>
            <a:xfrm>
              <a:off x="3536885" y="1446624"/>
              <a:ext cx="1883322" cy="1125126"/>
              <a:chOff x="3536885" y="1446624"/>
              <a:chExt cx="1883322" cy="1125126"/>
            </a:xfrm>
          </p:grpSpPr>
          <p:sp>
            <p:nvSpPr>
              <p:cNvPr id="12" name="Text Box 5"/>
              <p:cNvSpPr txBox="1">
                <a:spLocks noChangeArrowheads="1"/>
              </p:cNvSpPr>
              <p:nvPr/>
            </p:nvSpPr>
            <p:spPr bwMode="auto">
              <a:xfrm>
                <a:off x="4842030" y="2257362"/>
                <a:ext cx="266668" cy="314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T</a:t>
                </a:r>
                <a:endPara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3536885" y="1446624"/>
                <a:ext cx="1883322" cy="1125126"/>
                <a:chOff x="6411013" y="1544914"/>
                <a:chExt cx="2302324" cy="1296865"/>
              </a:xfrm>
            </p:grpSpPr>
            <p:sp>
              <p:nvSpPr>
                <p:cNvPr id="10" name="AutoShape 37"/>
                <p:cNvSpPr>
                  <a:spLocks noChangeShapeType="1"/>
                </p:cNvSpPr>
                <p:nvPr/>
              </p:nvSpPr>
              <p:spPr bwMode="auto">
                <a:xfrm flipH="1" flipV="1">
                  <a:off x="6687235" y="1716655"/>
                  <a:ext cx="0" cy="1029829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6411013" y="2527389"/>
                  <a:ext cx="266668" cy="314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4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等线"/>
                      <a:ea typeface="宋体" pitchFamily="2" charset="-122"/>
                      <a:cs typeface="Times New Roman" pitchFamily="18" charset="0"/>
                    </a:rPr>
                    <a:t>O</a:t>
                  </a:r>
                  <a:endPara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pitchFamily="2" charset="-122"/>
                  </a:endParaRPr>
                </a:p>
              </p:txBody>
            </p:sp>
            <p:grpSp>
              <p:nvGrpSpPr>
                <p:cNvPr id="17" name="Group 2"/>
                <p:cNvGrpSpPr>
                  <a:grpSpLocks/>
                </p:cNvGrpSpPr>
                <p:nvPr/>
              </p:nvGrpSpPr>
              <p:grpSpPr bwMode="auto">
                <a:xfrm>
                  <a:off x="6697629" y="2051239"/>
                  <a:ext cx="161093" cy="431977"/>
                  <a:chOff x="2340" y="1596"/>
                  <a:chExt cx="1060" cy="810"/>
                </a:xfrm>
              </p:grpSpPr>
              <p:sp>
                <p:nvSpPr>
                  <p:cNvPr id="72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301" cy="341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" name="Group 2"/>
                <p:cNvGrpSpPr>
                  <a:grpSpLocks/>
                </p:cNvGrpSpPr>
                <p:nvPr/>
              </p:nvGrpSpPr>
              <p:grpSpPr bwMode="auto">
                <a:xfrm>
                  <a:off x="6961203" y="2051239"/>
                  <a:ext cx="138600" cy="405845"/>
                  <a:chOff x="2340" y="1596"/>
                  <a:chExt cx="1132" cy="761"/>
                </a:xfrm>
              </p:grpSpPr>
              <p:sp>
                <p:nvSpPr>
                  <p:cNvPr id="67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373" cy="274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9" name="Group 2"/>
                <p:cNvGrpSpPr>
                  <a:grpSpLocks/>
                </p:cNvGrpSpPr>
                <p:nvPr/>
              </p:nvGrpSpPr>
              <p:grpSpPr bwMode="auto">
                <a:xfrm>
                  <a:off x="7172728" y="2104887"/>
                  <a:ext cx="132390" cy="378249"/>
                  <a:chOff x="2340" y="1596"/>
                  <a:chExt cx="1160" cy="798"/>
                </a:xfrm>
              </p:grpSpPr>
              <p:sp>
                <p:nvSpPr>
                  <p:cNvPr id="62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401" cy="329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" name="Group 2"/>
                <p:cNvGrpSpPr>
                  <a:grpSpLocks/>
                </p:cNvGrpSpPr>
                <p:nvPr/>
              </p:nvGrpSpPr>
              <p:grpSpPr bwMode="auto">
                <a:xfrm>
                  <a:off x="7372704" y="2131883"/>
                  <a:ext cx="125416" cy="351516"/>
                  <a:chOff x="2340" y="1596"/>
                  <a:chExt cx="1194" cy="824"/>
                </a:xfrm>
              </p:grpSpPr>
              <p:sp>
                <p:nvSpPr>
                  <p:cNvPr id="57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435" cy="355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1" name="Group 2"/>
                <p:cNvGrpSpPr>
                  <a:grpSpLocks/>
                </p:cNvGrpSpPr>
                <p:nvPr/>
              </p:nvGrpSpPr>
              <p:grpSpPr bwMode="auto">
                <a:xfrm>
                  <a:off x="7552722" y="2176878"/>
                  <a:ext cx="113715" cy="306368"/>
                  <a:chOff x="2340" y="1596"/>
                  <a:chExt cx="1270" cy="834"/>
                </a:xfrm>
              </p:grpSpPr>
              <p:sp>
                <p:nvSpPr>
                  <p:cNvPr id="52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3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511" cy="365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" name="Group 2"/>
                <p:cNvGrpSpPr>
                  <a:grpSpLocks/>
                </p:cNvGrpSpPr>
                <p:nvPr/>
              </p:nvGrpSpPr>
              <p:grpSpPr bwMode="auto">
                <a:xfrm>
                  <a:off x="7706787" y="2221874"/>
                  <a:ext cx="103653" cy="235079"/>
                  <a:chOff x="2340" y="1596"/>
                  <a:chExt cx="1358" cy="763"/>
                </a:xfrm>
              </p:grpSpPr>
              <p:sp>
                <p:nvSpPr>
                  <p:cNvPr id="47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599" cy="294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" name="Group 2"/>
                <p:cNvGrpSpPr>
                  <a:grpSpLocks/>
                </p:cNvGrpSpPr>
                <p:nvPr/>
              </p:nvGrpSpPr>
              <p:grpSpPr bwMode="auto">
                <a:xfrm>
                  <a:off x="7836910" y="2239822"/>
                  <a:ext cx="95126" cy="207409"/>
                  <a:chOff x="2340" y="1596"/>
                  <a:chExt cx="1462" cy="761"/>
                </a:xfrm>
              </p:grpSpPr>
              <p:sp>
                <p:nvSpPr>
                  <p:cNvPr id="42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703" cy="292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4" name="Group 2"/>
                <p:cNvGrpSpPr>
                  <a:grpSpLocks/>
                </p:cNvGrpSpPr>
                <p:nvPr/>
              </p:nvGrpSpPr>
              <p:grpSpPr bwMode="auto">
                <a:xfrm>
                  <a:off x="7967554" y="2292195"/>
                  <a:ext cx="86770" cy="162320"/>
                  <a:chOff x="2340" y="1596"/>
                  <a:chExt cx="1604" cy="761"/>
                </a:xfrm>
              </p:grpSpPr>
              <p:sp>
                <p:nvSpPr>
                  <p:cNvPr id="37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845" cy="292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" name="Group 2"/>
                <p:cNvGrpSpPr>
                  <a:grpSpLocks/>
                </p:cNvGrpSpPr>
                <p:nvPr/>
              </p:nvGrpSpPr>
              <p:grpSpPr bwMode="auto">
                <a:xfrm>
                  <a:off x="8057834" y="2346704"/>
                  <a:ext cx="82163" cy="152354"/>
                  <a:chOff x="2340" y="-2381"/>
                  <a:chExt cx="1712" cy="989"/>
                </a:xfrm>
              </p:grpSpPr>
              <p:sp>
                <p:nvSpPr>
                  <p:cNvPr id="32" name="Freeform 3"/>
                  <p:cNvSpPr>
                    <a:spLocks/>
                  </p:cNvSpPr>
                  <p:nvPr/>
                </p:nvSpPr>
                <p:spPr bwMode="auto">
                  <a:xfrm>
                    <a:off x="2340" y="-2381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" name="Freeform 4"/>
                  <p:cNvSpPr>
                    <a:spLocks/>
                  </p:cNvSpPr>
                  <p:nvPr/>
                </p:nvSpPr>
                <p:spPr bwMode="auto">
                  <a:xfrm>
                    <a:off x="2697" y="-226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Freeform 5"/>
                  <p:cNvSpPr>
                    <a:spLocks/>
                  </p:cNvSpPr>
                  <p:nvPr/>
                </p:nvSpPr>
                <p:spPr bwMode="auto">
                  <a:xfrm>
                    <a:off x="3099" y="-1797"/>
                    <a:ext cx="953" cy="405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" name="Group 2"/>
                <p:cNvGrpSpPr>
                  <a:grpSpLocks/>
                </p:cNvGrpSpPr>
                <p:nvPr/>
              </p:nvGrpSpPr>
              <p:grpSpPr bwMode="auto">
                <a:xfrm>
                  <a:off x="8139997" y="2381397"/>
                  <a:ext cx="49206" cy="106126"/>
                  <a:chOff x="2340" y="1596"/>
                  <a:chExt cx="1070" cy="1279"/>
                </a:xfrm>
              </p:grpSpPr>
              <p:sp>
                <p:nvSpPr>
                  <p:cNvPr id="27" name="Freeform 3"/>
                  <p:cNvSpPr>
                    <a:spLocks/>
                  </p:cNvSpPr>
                  <p:nvPr/>
                </p:nvSpPr>
                <p:spPr bwMode="auto">
                  <a:xfrm>
                    <a:off x="2340" y="1622"/>
                    <a:ext cx="357" cy="735"/>
                  </a:xfrm>
                  <a:custGeom>
                    <a:avLst/>
                    <a:gdLst>
                      <a:gd name="T0" fmla="*/ 11 w 1188"/>
                      <a:gd name="T1" fmla="*/ 2405 h 2448"/>
                      <a:gd name="T2" fmla="*/ 22 w 1188"/>
                      <a:gd name="T3" fmla="*/ 2351 h 2448"/>
                      <a:gd name="T4" fmla="*/ 54 w 1188"/>
                      <a:gd name="T5" fmla="*/ 2297 h 2448"/>
                      <a:gd name="T6" fmla="*/ 65 w 1188"/>
                      <a:gd name="T7" fmla="*/ 2232 h 2448"/>
                      <a:gd name="T8" fmla="*/ 97 w 1188"/>
                      <a:gd name="T9" fmla="*/ 2178 h 2448"/>
                      <a:gd name="T10" fmla="*/ 108 w 1188"/>
                      <a:gd name="T11" fmla="*/ 2113 h 2448"/>
                      <a:gd name="T12" fmla="*/ 141 w 1188"/>
                      <a:gd name="T13" fmla="*/ 2059 h 2448"/>
                      <a:gd name="T14" fmla="*/ 151 w 1188"/>
                      <a:gd name="T15" fmla="*/ 1995 h 2448"/>
                      <a:gd name="T16" fmla="*/ 184 w 1188"/>
                      <a:gd name="T17" fmla="*/ 1930 h 2448"/>
                      <a:gd name="T18" fmla="*/ 195 w 1188"/>
                      <a:gd name="T19" fmla="*/ 1876 h 2448"/>
                      <a:gd name="T20" fmla="*/ 227 w 1188"/>
                      <a:gd name="T21" fmla="*/ 1811 h 2448"/>
                      <a:gd name="T22" fmla="*/ 249 w 1188"/>
                      <a:gd name="T23" fmla="*/ 1736 h 2448"/>
                      <a:gd name="T24" fmla="*/ 281 w 1188"/>
                      <a:gd name="T25" fmla="*/ 1682 h 2448"/>
                      <a:gd name="T26" fmla="*/ 292 w 1188"/>
                      <a:gd name="T27" fmla="*/ 1617 h 2448"/>
                      <a:gd name="T28" fmla="*/ 335 w 1188"/>
                      <a:gd name="T29" fmla="*/ 1542 h 2448"/>
                      <a:gd name="T30" fmla="*/ 357 w 1188"/>
                      <a:gd name="T31" fmla="*/ 1456 h 2448"/>
                      <a:gd name="T32" fmla="*/ 389 w 1188"/>
                      <a:gd name="T33" fmla="*/ 1402 h 2448"/>
                      <a:gd name="T34" fmla="*/ 411 w 1188"/>
                      <a:gd name="T35" fmla="*/ 1315 h 2448"/>
                      <a:gd name="T36" fmla="*/ 454 w 1188"/>
                      <a:gd name="T37" fmla="*/ 1240 h 2448"/>
                      <a:gd name="T38" fmla="*/ 465 w 1188"/>
                      <a:gd name="T39" fmla="*/ 1186 h 2448"/>
                      <a:gd name="T40" fmla="*/ 508 w 1188"/>
                      <a:gd name="T41" fmla="*/ 1111 h 2448"/>
                      <a:gd name="T42" fmla="*/ 519 w 1188"/>
                      <a:gd name="T43" fmla="*/ 1057 h 2448"/>
                      <a:gd name="T44" fmla="*/ 562 w 1188"/>
                      <a:gd name="T45" fmla="*/ 992 h 2448"/>
                      <a:gd name="T46" fmla="*/ 584 w 1188"/>
                      <a:gd name="T47" fmla="*/ 916 h 2448"/>
                      <a:gd name="T48" fmla="*/ 627 w 1188"/>
                      <a:gd name="T49" fmla="*/ 841 h 2448"/>
                      <a:gd name="T50" fmla="*/ 648 w 1188"/>
                      <a:gd name="T51" fmla="*/ 776 h 2448"/>
                      <a:gd name="T52" fmla="*/ 692 w 1188"/>
                      <a:gd name="T53" fmla="*/ 712 h 2448"/>
                      <a:gd name="T54" fmla="*/ 713 w 1188"/>
                      <a:gd name="T55" fmla="*/ 647 h 2448"/>
                      <a:gd name="T56" fmla="*/ 756 w 1188"/>
                      <a:gd name="T57" fmla="*/ 582 h 2448"/>
                      <a:gd name="T58" fmla="*/ 778 w 1188"/>
                      <a:gd name="T59" fmla="*/ 528 h 2448"/>
                      <a:gd name="T60" fmla="*/ 821 w 1188"/>
                      <a:gd name="T61" fmla="*/ 464 h 2448"/>
                      <a:gd name="T62" fmla="*/ 843 w 1188"/>
                      <a:gd name="T63" fmla="*/ 410 h 2448"/>
                      <a:gd name="T64" fmla="*/ 875 w 1188"/>
                      <a:gd name="T65" fmla="*/ 356 h 2448"/>
                      <a:gd name="T66" fmla="*/ 908 w 1188"/>
                      <a:gd name="T67" fmla="*/ 313 h 2448"/>
                      <a:gd name="T68" fmla="*/ 951 w 1188"/>
                      <a:gd name="T69" fmla="*/ 259 h 2448"/>
                      <a:gd name="T70" fmla="*/ 983 w 1188"/>
                      <a:gd name="T71" fmla="*/ 216 h 2448"/>
                      <a:gd name="T72" fmla="*/ 1016 w 1188"/>
                      <a:gd name="T73" fmla="*/ 172 h 2448"/>
                      <a:gd name="T74" fmla="*/ 1037 w 1188"/>
                      <a:gd name="T75" fmla="*/ 140 h 2448"/>
                      <a:gd name="T76" fmla="*/ 1070 w 1188"/>
                      <a:gd name="T77" fmla="*/ 108 h 2448"/>
                      <a:gd name="T78" fmla="*/ 1102 w 1188"/>
                      <a:gd name="T79" fmla="*/ 65 h 2448"/>
                      <a:gd name="T80" fmla="*/ 1134 w 1188"/>
                      <a:gd name="T81" fmla="*/ 43 h 2448"/>
                      <a:gd name="T82" fmla="*/ 1167 w 1188"/>
                      <a:gd name="T83" fmla="*/ 11 h 24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88" h="2448">
                        <a:moveTo>
                          <a:pt x="0" y="2448"/>
                        </a:moveTo>
                        <a:lnTo>
                          <a:pt x="0" y="2415"/>
                        </a:lnTo>
                        <a:lnTo>
                          <a:pt x="11" y="2405"/>
                        </a:lnTo>
                        <a:lnTo>
                          <a:pt x="11" y="2383"/>
                        </a:lnTo>
                        <a:lnTo>
                          <a:pt x="22" y="2372"/>
                        </a:lnTo>
                        <a:lnTo>
                          <a:pt x="22" y="2351"/>
                        </a:lnTo>
                        <a:lnTo>
                          <a:pt x="33" y="2340"/>
                        </a:lnTo>
                        <a:lnTo>
                          <a:pt x="33" y="2318"/>
                        </a:lnTo>
                        <a:lnTo>
                          <a:pt x="54" y="2297"/>
                        </a:lnTo>
                        <a:lnTo>
                          <a:pt x="54" y="2264"/>
                        </a:lnTo>
                        <a:lnTo>
                          <a:pt x="65" y="2254"/>
                        </a:lnTo>
                        <a:lnTo>
                          <a:pt x="65" y="2232"/>
                        </a:lnTo>
                        <a:lnTo>
                          <a:pt x="76" y="2221"/>
                        </a:lnTo>
                        <a:lnTo>
                          <a:pt x="76" y="2200"/>
                        </a:lnTo>
                        <a:lnTo>
                          <a:pt x="97" y="2178"/>
                        </a:lnTo>
                        <a:lnTo>
                          <a:pt x="97" y="2146"/>
                        </a:lnTo>
                        <a:lnTo>
                          <a:pt x="108" y="2135"/>
                        </a:lnTo>
                        <a:lnTo>
                          <a:pt x="108" y="2113"/>
                        </a:lnTo>
                        <a:lnTo>
                          <a:pt x="119" y="2103"/>
                        </a:lnTo>
                        <a:lnTo>
                          <a:pt x="119" y="2081"/>
                        </a:lnTo>
                        <a:lnTo>
                          <a:pt x="141" y="2059"/>
                        </a:lnTo>
                        <a:lnTo>
                          <a:pt x="141" y="2027"/>
                        </a:lnTo>
                        <a:lnTo>
                          <a:pt x="151" y="2016"/>
                        </a:lnTo>
                        <a:lnTo>
                          <a:pt x="151" y="1995"/>
                        </a:lnTo>
                        <a:lnTo>
                          <a:pt x="173" y="1973"/>
                        </a:lnTo>
                        <a:lnTo>
                          <a:pt x="173" y="1941"/>
                        </a:lnTo>
                        <a:lnTo>
                          <a:pt x="184" y="1930"/>
                        </a:lnTo>
                        <a:lnTo>
                          <a:pt x="184" y="1909"/>
                        </a:lnTo>
                        <a:lnTo>
                          <a:pt x="195" y="1898"/>
                        </a:lnTo>
                        <a:lnTo>
                          <a:pt x="195" y="1876"/>
                        </a:lnTo>
                        <a:lnTo>
                          <a:pt x="216" y="1855"/>
                        </a:lnTo>
                        <a:lnTo>
                          <a:pt x="216" y="1822"/>
                        </a:lnTo>
                        <a:lnTo>
                          <a:pt x="227" y="1811"/>
                        </a:lnTo>
                        <a:lnTo>
                          <a:pt x="227" y="1790"/>
                        </a:lnTo>
                        <a:lnTo>
                          <a:pt x="249" y="1768"/>
                        </a:lnTo>
                        <a:lnTo>
                          <a:pt x="249" y="1736"/>
                        </a:lnTo>
                        <a:lnTo>
                          <a:pt x="259" y="1725"/>
                        </a:lnTo>
                        <a:lnTo>
                          <a:pt x="259" y="1704"/>
                        </a:lnTo>
                        <a:lnTo>
                          <a:pt x="281" y="1682"/>
                        </a:lnTo>
                        <a:lnTo>
                          <a:pt x="281" y="1650"/>
                        </a:lnTo>
                        <a:lnTo>
                          <a:pt x="292" y="1639"/>
                        </a:lnTo>
                        <a:lnTo>
                          <a:pt x="292" y="1617"/>
                        </a:lnTo>
                        <a:lnTo>
                          <a:pt x="313" y="1596"/>
                        </a:lnTo>
                        <a:lnTo>
                          <a:pt x="313" y="1563"/>
                        </a:lnTo>
                        <a:lnTo>
                          <a:pt x="335" y="1542"/>
                        </a:lnTo>
                        <a:lnTo>
                          <a:pt x="335" y="1510"/>
                        </a:lnTo>
                        <a:lnTo>
                          <a:pt x="357" y="1488"/>
                        </a:lnTo>
                        <a:lnTo>
                          <a:pt x="357" y="1456"/>
                        </a:lnTo>
                        <a:lnTo>
                          <a:pt x="367" y="1445"/>
                        </a:lnTo>
                        <a:lnTo>
                          <a:pt x="367" y="1423"/>
                        </a:lnTo>
                        <a:lnTo>
                          <a:pt x="389" y="1402"/>
                        </a:lnTo>
                        <a:lnTo>
                          <a:pt x="389" y="1369"/>
                        </a:lnTo>
                        <a:lnTo>
                          <a:pt x="411" y="1348"/>
                        </a:lnTo>
                        <a:lnTo>
                          <a:pt x="411" y="1315"/>
                        </a:lnTo>
                        <a:lnTo>
                          <a:pt x="432" y="1294"/>
                        </a:lnTo>
                        <a:lnTo>
                          <a:pt x="432" y="1262"/>
                        </a:lnTo>
                        <a:lnTo>
                          <a:pt x="454" y="1240"/>
                        </a:lnTo>
                        <a:lnTo>
                          <a:pt x="454" y="1218"/>
                        </a:lnTo>
                        <a:lnTo>
                          <a:pt x="465" y="1208"/>
                        </a:lnTo>
                        <a:lnTo>
                          <a:pt x="465" y="1186"/>
                        </a:lnTo>
                        <a:lnTo>
                          <a:pt x="486" y="1164"/>
                        </a:lnTo>
                        <a:lnTo>
                          <a:pt x="486" y="1132"/>
                        </a:lnTo>
                        <a:lnTo>
                          <a:pt x="508" y="1111"/>
                        </a:lnTo>
                        <a:lnTo>
                          <a:pt x="508" y="1089"/>
                        </a:lnTo>
                        <a:lnTo>
                          <a:pt x="519" y="1078"/>
                        </a:lnTo>
                        <a:lnTo>
                          <a:pt x="519" y="1057"/>
                        </a:lnTo>
                        <a:lnTo>
                          <a:pt x="540" y="1035"/>
                        </a:lnTo>
                        <a:lnTo>
                          <a:pt x="540" y="1014"/>
                        </a:lnTo>
                        <a:lnTo>
                          <a:pt x="562" y="992"/>
                        </a:lnTo>
                        <a:lnTo>
                          <a:pt x="562" y="960"/>
                        </a:lnTo>
                        <a:lnTo>
                          <a:pt x="584" y="938"/>
                        </a:lnTo>
                        <a:lnTo>
                          <a:pt x="584" y="916"/>
                        </a:lnTo>
                        <a:lnTo>
                          <a:pt x="605" y="895"/>
                        </a:lnTo>
                        <a:lnTo>
                          <a:pt x="605" y="863"/>
                        </a:lnTo>
                        <a:lnTo>
                          <a:pt x="627" y="841"/>
                        </a:lnTo>
                        <a:lnTo>
                          <a:pt x="627" y="819"/>
                        </a:lnTo>
                        <a:lnTo>
                          <a:pt x="648" y="798"/>
                        </a:lnTo>
                        <a:lnTo>
                          <a:pt x="648" y="776"/>
                        </a:lnTo>
                        <a:lnTo>
                          <a:pt x="670" y="755"/>
                        </a:lnTo>
                        <a:lnTo>
                          <a:pt x="670" y="733"/>
                        </a:lnTo>
                        <a:lnTo>
                          <a:pt x="692" y="712"/>
                        </a:lnTo>
                        <a:lnTo>
                          <a:pt x="692" y="690"/>
                        </a:lnTo>
                        <a:lnTo>
                          <a:pt x="713" y="668"/>
                        </a:lnTo>
                        <a:lnTo>
                          <a:pt x="713" y="647"/>
                        </a:lnTo>
                        <a:lnTo>
                          <a:pt x="735" y="625"/>
                        </a:lnTo>
                        <a:lnTo>
                          <a:pt x="735" y="604"/>
                        </a:lnTo>
                        <a:lnTo>
                          <a:pt x="756" y="582"/>
                        </a:lnTo>
                        <a:lnTo>
                          <a:pt x="756" y="561"/>
                        </a:lnTo>
                        <a:lnTo>
                          <a:pt x="778" y="539"/>
                        </a:lnTo>
                        <a:lnTo>
                          <a:pt x="778" y="528"/>
                        </a:lnTo>
                        <a:lnTo>
                          <a:pt x="800" y="507"/>
                        </a:lnTo>
                        <a:lnTo>
                          <a:pt x="800" y="485"/>
                        </a:lnTo>
                        <a:lnTo>
                          <a:pt x="821" y="464"/>
                        </a:lnTo>
                        <a:lnTo>
                          <a:pt x="821" y="453"/>
                        </a:lnTo>
                        <a:lnTo>
                          <a:pt x="843" y="431"/>
                        </a:lnTo>
                        <a:lnTo>
                          <a:pt x="843" y="410"/>
                        </a:lnTo>
                        <a:lnTo>
                          <a:pt x="854" y="399"/>
                        </a:lnTo>
                        <a:lnTo>
                          <a:pt x="875" y="377"/>
                        </a:lnTo>
                        <a:lnTo>
                          <a:pt x="875" y="356"/>
                        </a:lnTo>
                        <a:lnTo>
                          <a:pt x="886" y="345"/>
                        </a:lnTo>
                        <a:lnTo>
                          <a:pt x="908" y="323"/>
                        </a:lnTo>
                        <a:lnTo>
                          <a:pt x="908" y="313"/>
                        </a:lnTo>
                        <a:lnTo>
                          <a:pt x="929" y="291"/>
                        </a:lnTo>
                        <a:lnTo>
                          <a:pt x="929" y="280"/>
                        </a:lnTo>
                        <a:lnTo>
                          <a:pt x="951" y="259"/>
                        </a:lnTo>
                        <a:lnTo>
                          <a:pt x="951" y="248"/>
                        </a:lnTo>
                        <a:lnTo>
                          <a:pt x="962" y="237"/>
                        </a:lnTo>
                        <a:lnTo>
                          <a:pt x="983" y="216"/>
                        </a:lnTo>
                        <a:lnTo>
                          <a:pt x="983" y="205"/>
                        </a:lnTo>
                        <a:lnTo>
                          <a:pt x="994" y="194"/>
                        </a:lnTo>
                        <a:lnTo>
                          <a:pt x="1016" y="172"/>
                        </a:lnTo>
                        <a:lnTo>
                          <a:pt x="1016" y="162"/>
                        </a:lnTo>
                        <a:lnTo>
                          <a:pt x="1026" y="151"/>
                        </a:lnTo>
                        <a:lnTo>
                          <a:pt x="1037" y="140"/>
                        </a:lnTo>
                        <a:lnTo>
                          <a:pt x="1048" y="129"/>
                        </a:lnTo>
                        <a:lnTo>
                          <a:pt x="1059" y="119"/>
                        </a:lnTo>
                        <a:lnTo>
                          <a:pt x="1070" y="108"/>
                        </a:lnTo>
                        <a:lnTo>
                          <a:pt x="1091" y="86"/>
                        </a:lnTo>
                        <a:lnTo>
                          <a:pt x="1091" y="75"/>
                        </a:lnTo>
                        <a:lnTo>
                          <a:pt x="1102" y="65"/>
                        </a:lnTo>
                        <a:lnTo>
                          <a:pt x="1113" y="65"/>
                        </a:lnTo>
                        <a:lnTo>
                          <a:pt x="1124" y="54"/>
                        </a:lnTo>
                        <a:lnTo>
                          <a:pt x="1134" y="43"/>
                        </a:lnTo>
                        <a:lnTo>
                          <a:pt x="1145" y="32"/>
                        </a:lnTo>
                        <a:lnTo>
                          <a:pt x="1156" y="21"/>
                        </a:lnTo>
                        <a:lnTo>
                          <a:pt x="1167" y="11"/>
                        </a:lnTo>
                        <a:lnTo>
                          <a:pt x="1178" y="0"/>
                        </a:lnTo>
                        <a:lnTo>
                          <a:pt x="1188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Freeform 4"/>
                  <p:cNvSpPr>
                    <a:spLocks/>
                  </p:cNvSpPr>
                  <p:nvPr/>
                </p:nvSpPr>
                <p:spPr bwMode="auto">
                  <a:xfrm>
                    <a:off x="2697" y="1596"/>
                    <a:ext cx="402" cy="469"/>
                  </a:xfrm>
                  <a:custGeom>
                    <a:avLst/>
                    <a:gdLst>
                      <a:gd name="T0" fmla="*/ 22 w 1340"/>
                      <a:gd name="T1" fmla="*/ 64 h 1563"/>
                      <a:gd name="T2" fmla="*/ 54 w 1340"/>
                      <a:gd name="T3" fmla="*/ 43 h 1563"/>
                      <a:gd name="T4" fmla="*/ 87 w 1340"/>
                      <a:gd name="T5" fmla="*/ 32 h 1563"/>
                      <a:gd name="T6" fmla="*/ 119 w 1340"/>
                      <a:gd name="T7" fmla="*/ 21 h 1563"/>
                      <a:gd name="T8" fmla="*/ 152 w 1340"/>
                      <a:gd name="T9" fmla="*/ 10 h 1563"/>
                      <a:gd name="T10" fmla="*/ 184 w 1340"/>
                      <a:gd name="T11" fmla="*/ 0 h 1563"/>
                      <a:gd name="T12" fmla="*/ 216 w 1340"/>
                      <a:gd name="T13" fmla="*/ 0 h 1563"/>
                      <a:gd name="T14" fmla="*/ 249 w 1340"/>
                      <a:gd name="T15" fmla="*/ 0 h 1563"/>
                      <a:gd name="T16" fmla="*/ 281 w 1340"/>
                      <a:gd name="T17" fmla="*/ 0 h 1563"/>
                      <a:gd name="T18" fmla="*/ 314 w 1340"/>
                      <a:gd name="T19" fmla="*/ 0 h 1563"/>
                      <a:gd name="T20" fmla="*/ 346 w 1340"/>
                      <a:gd name="T21" fmla="*/ 10 h 1563"/>
                      <a:gd name="T22" fmla="*/ 379 w 1340"/>
                      <a:gd name="T23" fmla="*/ 21 h 1563"/>
                      <a:gd name="T24" fmla="*/ 411 w 1340"/>
                      <a:gd name="T25" fmla="*/ 32 h 1563"/>
                      <a:gd name="T26" fmla="*/ 443 w 1340"/>
                      <a:gd name="T27" fmla="*/ 54 h 1563"/>
                      <a:gd name="T28" fmla="*/ 476 w 1340"/>
                      <a:gd name="T29" fmla="*/ 75 h 1563"/>
                      <a:gd name="T30" fmla="*/ 508 w 1340"/>
                      <a:gd name="T31" fmla="*/ 97 h 1563"/>
                      <a:gd name="T32" fmla="*/ 541 w 1340"/>
                      <a:gd name="T33" fmla="*/ 129 h 1563"/>
                      <a:gd name="T34" fmla="*/ 573 w 1340"/>
                      <a:gd name="T35" fmla="*/ 151 h 1563"/>
                      <a:gd name="T36" fmla="*/ 605 w 1340"/>
                      <a:gd name="T37" fmla="*/ 183 h 1563"/>
                      <a:gd name="T38" fmla="*/ 638 w 1340"/>
                      <a:gd name="T39" fmla="*/ 226 h 1563"/>
                      <a:gd name="T40" fmla="*/ 670 w 1340"/>
                      <a:gd name="T41" fmla="*/ 258 h 1563"/>
                      <a:gd name="T42" fmla="*/ 703 w 1340"/>
                      <a:gd name="T43" fmla="*/ 302 h 1563"/>
                      <a:gd name="T44" fmla="*/ 735 w 1340"/>
                      <a:gd name="T45" fmla="*/ 345 h 1563"/>
                      <a:gd name="T46" fmla="*/ 778 w 1340"/>
                      <a:gd name="T47" fmla="*/ 399 h 1563"/>
                      <a:gd name="T48" fmla="*/ 800 w 1340"/>
                      <a:gd name="T49" fmla="*/ 442 h 1563"/>
                      <a:gd name="T50" fmla="*/ 832 w 1340"/>
                      <a:gd name="T51" fmla="*/ 496 h 1563"/>
                      <a:gd name="T52" fmla="*/ 865 w 1340"/>
                      <a:gd name="T53" fmla="*/ 550 h 1563"/>
                      <a:gd name="T54" fmla="*/ 908 w 1340"/>
                      <a:gd name="T55" fmla="*/ 614 h 1563"/>
                      <a:gd name="T56" fmla="*/ 929 w 1340"/>
                      <a:gd name="T57" fmla="*/ 668 h 1563"/>
                      <a:gd name="T58" fmla="*/ 973 w 1340"/>
                      <a:gd name="T59" fmla="*/ 733 h 1563"/>
                      <a:gd name="T60" fmla="*/ 994 w 1340"/>
                      <a:gd name="T61" fmla="*/ 798 h 1563"/>
                      <a:gd name="T62" fmla="*/ 1037 w 1340"/>
                      <a:gd name="T63" fmla="*/ 862 h 1563"/>
                      <a:gd name="T64" fmla="*/ 1059 w 1340"/>
                      <a:gd name="T65" fmla="*/ 927 h 1563"/>
                      <a:gd name="T66" fmla="*/ 1102 w 1340"/>
                      <a:gd name="T67" fmla="*/ 1002 h 1563"/>
                      <a:gd name="T68" fmla="*/ 1124 w 1340"/>
                      <a:gd name="T69" fmla="*/ 1067 h 1563"/>
                      <a:gd name="T70" fmla="*/ 1156 w 1340"/>
                      <a:gd name="T71" fmla="*/ 1121 h 1563"/>
                      <a:gd name="T72" fmla="*/ 1167 w 1340"/>
                      <a:gd name="T73" fmla="*/ 1175 h 1563"/>
                      <a:gd name="T74" fmla="*/ 1199 w 1340"/>
                      <a:gd name="T75" fmla="*/ 1229 h 1563"/>
                      <a:gd name="T76" fmla="*/ 1221 w 1340"/>
                      <a:gd name="T77" fmla="*/ 1304 h 1563"/>
                      <a:gd name="T78" fmla="*/ 1253 w 1340"/>
                      <a:gd name="T79" fmla="*/ 1358 h 1563"/>
                      <a:gd name="T80" fmla="*/ 1275 w 1340"/>
                      <a:gd name="T81" fmla="*/ 1434 h 1563"/>
                      <a:gd name="T82" fmla="*/ 1318 w 1340"/>
                      <a:gd name="T83" fmla="*/ 1509 h 1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40" h="1563">
                        <a:moveTo>
                          <a:pt x="0" y="86"/>
                        </a:moveTo>
                        <a:lnTo>
                          <a:pt x="11" y="75"/>
                        </a:lnTo>
                        <a:lnTo>
                          <a:pt x="22" y="64"/>
                        </a:lnTo>
                        <a:lnTo>
                          <a:pt x="33" y="64"/>
                        </a:lnTo>
                        <a:lnTo>
                          <a:pt x="44" y="54"/>
                        </a:lnTo>
                        <a:lnTo>
                          <a:pt x="54" y="43"/>
                        </a:lnTo>
                        <a:lnTo>
                          <a:pt x="65" y="43"/>
                        </a:lnTo>
                        <a:lnTo>
                          <a:pt x="76" y="32"/>
                        </a:lnTo>
                        <a:lnTo>
                          <a:pt x="87" y="32"/>
                        </a:lnTo>
                        <a:lnTo>
                          <a:pt x="98" y="21"/>
                        </a:lnTo>
                        <a:lnTo>
                          <a:pt x="108" y="21"/>
                        </a:lnTo>
                        <a:lnTo>
                          <a:pt x="119" y="21"/>
                        </a:lnTo>
                        <a:lnTo>
                          <a:pt x="130" y="10"/>
                        </a:lnTo>
                        <a:lnTo>
                          <a:pt x="141" y="10"/>
                        </a:lnTo>
                        <a:lnTo>
                          <a:pt x="152" y="10"/>
                        </a:lnTo>
                        <a:lnTo>
                          <a:pt x="162" y="0"/>
                        </a:lnTo>
                        <a:lnTo>
                          <a:pt x="173" y="0"/>
                        </a:lnTo>
                        <a:lnTo>
                          <a:pt x="184" y="0"/>
                        </a:lnTo>
                        <a:lnTo>
                          <a:pt x="195" y="0"/>
                        </a:lnTo>
                        <a:lnTo>
                          <a:pt x="206" y="0"/>
                        </a:lnTo>
                        <a:lnTo>
                          <a:pt x="216" y="0"/>
                        </a:lnTo>
                        <a:lnTo>
                          <a:pt x="227" y="0"/>
                        </a:lnTo>
                        <a:lnTo>
                          <a:pt x="238" y="0"/>
                        </a:lnTo>
                        <a:lnTo>
                          <a:pt x="249" y="0"/>
                        </a:lnTo>
                        <a:lnTo>
                          <a:pt x="260" y="0"/>
                        </a:lnTo>
                        <a:lnTo>
                          <a:pt x="270" y="0"/>
                        </a:lnTo>
                        <a:lnTo>
                          <a:pt x="281" y="0"/>
                        </a:lnTo>
                        <a:lnTo>
                          <a:pt x="292" y="0"/>
                        </a:lnTo>
                        <a:lnTo>
                          <a:pt x="303" y="0"/>
                        </a:lnTo>
                        <a:lnTo>
                          <a:pt x="314" y="0"/>
                        </a:lnTo>
                        <a:lnTo>
                          <a:pt x="325" y="0"/>
                        </a:lnTo>
                        <a:lnTo>
                          <a:pt x="335" y="10"/>
                        </a:lnTo>
                        <a:lnTo>
                          <a:pt x="346" y="10"/>
                        </a:lnTo>
                        <a:lnTo>
                          <a:pt x="357" y="10"/>
                        </a:lnTo>
                        <a:lnTo>
                          <a:pt x="368" y="21"/>
                        </a:lnTo>
                        <a:lnTo>
                          <a:pt x="379" y="21"/>
                        </a:lnTo>
                        <a:lnTo>
                          <a:pt x="389" y="21"/>
                        </a:lnTo>
                        <a:lnTo>
                          <a:pt x="400" y="32"/>
                        </a:lnTo>
                        <a:lnTo>
                          <a:pt x="411" y="32"/>
                        </a:lnTo>
                        <a:lnTo>
                          <a:pt x="422" y="43"/>
                        </a:lnTo>
                        <a:lnTo>
                          <a:pt x="433" y="43"/>
                        </a:lnTo>
                        <a:lnTo>
                          <a:pt x="443" y="54"/>
                        </a:lnTo>
                        <a:lnTo>
                          <a:pt x="454" y="64"/>
                        </a:lnTo>
                        <a:lnTo>
                          <a:pt x="465" y="64"/>
                        </a:lnTo>
                        <a:lnTo>
                          <a:pt x="476" y="75"/>
                        </a:lnTo>
                        <a:lnTo>
                          <a:pt x="487" y="86"/>
                        </a:lnTo>
                        <a:lnTo>
                          <a:pt x="497" y="86"/>
                        </a:lnTo>
                        <a:lnTo>
                          <a:pt x="508" y="97"/>
                        </a:lnTo>
                        <a:lnTo>
                          <a:pt x="519" y="107"/>
                        </a:lnTo>
                        <a:lnTo>
                          <a:pt x="530" y="118"/>
                        </a:lnTo>
                        <a:lnTo>
                          <a:pt x="541" y="129"/>
                        </a:lnTo>
                        <a:lnTo>
                          <a:pt x="551" y="140"/>
                        </a:lnTo>
                        <a:lnTo>
                          <a:pt x="562" y="140"/>
                        </a:lnTo>
                        <a:lnTo>
                          <a:pt x="573" y="151"/>
                        </a:lnTo>
                        <a:lnTo>
                          <a:pt x="584" y="161"/>
                        </a:lnTo>
                        <a:lnTo>
                          <a:pt x="595" y="172"/>
                        </a:lnTo>
                        <a:lnTo>
                          <a:pt x="605" y="183"/>
                        </a:lnTo>
                        <a:lnTo>
                          <a:pt x="627" y="205"/>
                        </a:lnTo>
                        <a:lnTo>
                          <a:pt x="627" y="215"/>
                        </a:lnTo>
                        <a:lnTo>
                          <a:pt x="638" y="226"/>
                        </a:lnTo>
                        <a:lnTo>
                          <a:pt x="649" y="237"/>
                        </a:lnTo>
                        <a:lnTo>
                          <a:pt x="659" y="248"/>
                        </a:lnTo>
                        <a:lnTo>
                          <a:pt x="670" y="258"/>
                        </a:lnTo>
                        <a:lnTo>
                          <a:pt x="692" y="280"/>
                        </a:lnTo>
                        <a:lnTo>
                          <a:pt x="692" y="291"/>
                        </a:lnTo>
                        <a:lnTo>
                          <a:pt x="703" y="302"/>
                        </a:lnTo>
                        <a:lnTo>
                          <a:pt x="724" y="323"/>
                        </a:lnTo>
                        <a:lnTo>
                          <a:pt x="724" y="334"/>
                        </a:lnTo>
                        <a:lnTo>
                          <a:pt x="735" y="345"/>
                        </a:lnTo>
                        <a:lnTo>
                          <a:pt x="757" y="366"/>
                        </a:lnTo>
                        <a:lnTo>
                          <a:pt x="757" y="377"/>
                        </a:lnTo>
                        <a:lnTo>
                          <a:pt x="778" y="399"/>
                        </a:lnTo>
                        <a:lnTo>
                          <a:pt x="778" y="409"/>
                        </a:lnTo>
                        <a:lnTo>
                          <a:pt x="800" y="431"/>
                        </a:lnTo>
                        <a:lnTo>
                          <a:pt x="800" y="442"/>
                        </a:lnTo>
                        <a:lnTo>
                          <a:pt x="821" y="463"/>
                        </a:lnTo>
                        <a:lnTo>
                          <a:pt x="821" y="485"/>
                        </a:lnTo>
                        <a:lnTo>
                          <a:pt x="832" y="496"/>
                        </a:lnTo>
                        <a:lnTo>
                          <a:pt x="854" y="517"/>
                        </a:lnTo>
                        <a:lnTo>
                          <a:pt x="854" y="539"/>
                        </a:lnTo>
                        <a:lnTo>
                          <a:pt x="865" y="550"/>
                        </a:lnTo>
                        <a:lnTo>
                          <a:pt x="886" y="571"/>
                        </a:lnTo>
                        <a:lnTo>
                          <a:pt x="886" y="593"/>
                        </a:lnTo>
                        <a:lnTo>
                          <a:pt x="908" y="614"/>
                        </a:lnTo>
                        <a:lnTo>
                          <a:pt x="908" y="625"/>
                        </a:lnTo>
                        <a:lnTo>
                          <a:pt x="929" y="647"/>
                        </a:lnTo>
                        <a:lnTo>
                          <a:pt x="929" y="668"/>
                        </a:lnTo>
                        <a:lnTo>
                          <a:pt x="951" y="690"/>
                        </a:lnTo>
                        <a:lnTo>
                          <a:pt x="951" y="711"/>
                        </a:lnTo>
                        <a:lnTo>
                          <a:pt x="973" y="733"/>
                        </a:lnTo>
                        <a:lnTo>
                          <a:pt x="973" y="754"/>
                        </a:lnTo>
                        <a:lnTo>
                          <a:pt x="994" y="776"/>
                        </a:lnTo>
                        <a:lnTo>
                          <a:pt x="994" y="798"/>
                        </a:lnTo>
                        <a:lnTo>
                          <a:pt x="1016" y="819"/>
                        </a:lnTo>
                        <a:lnTo>
                          <a:pt x="1016" y="841"/>
                        </a:lnTo>
                        <a:lnTo>
                          <a:pt x="1037" y="862"/>
                        </a:lnTo>
                        <a:lnTo>
                          <a:pt x="1037" y="884"/>
                        </a:lnTo>
                        <a:lnTo>
                          <a:pt x="1059" y="905"/>
                        </a:lnTo>
                        <a:lnTo>
                          <a:pt x="1059" y="927"/>
                        </a:lnTo>
                        <a:lnTo>
                          <a:pt x="1081" y="949"/>
                        </a:lnTo>
                        <a:lnTo>
                          <a:pt x="1081" y="981"/>
                        </a:lnTo>
                        <a:lnTo>
                          <a:pt x="1102" y="1002"/>
                        </a:lnTo>
                        <a:lnTo>
                          <a:pt x="1102" y="1024"/>
                        </a:lnTo>
                        <a:lnTo>
                          <a:pt x="1124" y="1046"/>
                        </a:lnTo>
                        <a:lnTo>
                          <a:pt x="1124" y="1067"/>
                        </a:lnTo>
                        <a:lnTo>
                          <a:pt x="1135" y="1078"/>
                        </a:lnTo>
                        <a:lnTo>
                          <a:pt x="1135" y="1100"/>
                        </a:lnTo>
                        <a:lnTo>
                          <a:pt x="1156" y="1121"/>
                        </a:lnTo>
                        <a:lnTo>
                          <a:pt x="1156" y="1143"/>
                        </a:lnTo>
                        <a:lnTo>
                          <a:pt x="1167" y="1153"/>
                        </a:lnTo>
                        <a:lnTo>
                          <a:pt x="1167" y="1175"/>
                        </a:lnTo>
                        <a:lnTo>
                          <a:pt x="1189" y="1197"/>
                        </a:lnTo>
                        <a:lnTo>
                          <a:pt x="1189" y="1218"/>
                        </a:lnTo>
                        <a:lnTo>
                          <a:pt x="1199" y="1229"/>
                        </a:lnTo>
                        <a:lnTo>
                          <a:pt x="1199" y="1250"/>
                        </a:lnTo>
                        <a:lnTo>
                          <a:pt x="1221" y="1272"/>
                        </a:lnTo>
                        <a:lnTo>
                          <a:pt x="1221" y="1304"/>
                        </a:lnTo>
                        <a:lnTo>
                          <a:pt x="1243" y="1326"/>
                        </a:lnTo>
                        <a:lnTo>
                          <a:pt x="1243" y="1348"/>
                        </a:lnTo>
                        <a:lnTo>
                          <a:pt x="1253" y="1358"/>
                        </a:lnTo>
                        <a:lnTo>
                          <a:pt x="1253" y="1380"/>
                        </a:lnTo>
                        <a:lnTo>
                          <a:pt x="1275" y="1401"/>
                        </a:lnTo>
                        <a:lnTo>
                          <a:pt x="1275" y="1434"/>
                        </a:lnTo>
                        <a:lnTo>
                          <a:pt x="1297" y="1455"/>
                        </a:lnTo>
                        <a:lnTo>
                          <a:pt x="1297" y="1488"/>
                        </a:lnTo>
                        <a:lnTo>
                          <a:pt x="1318" y="1509"/>
                        </a:lnTo>
                        <a:lnTo>
                          <a:pt x="1318" y="1542"/>
                        </a:lnTo>
                        <a:lnTo>
                          <a:pt x="1340" y="1563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9" name="Freeform 5"/>
                  <p:cNvSpPr>
                    <a:spLocks/>
                  </p:cNvSpPr>
                  <p:nvPr/>
                </p:nvSpPr>
                <p:spPr bwMode="auto">
                  <a:xfrm>
                    <a:off x="3099" y="2065"/>
                    <a:ext cx="311" cy="810"/>
                  </a:xfrm>
                  <a:custGeom>
                    <a:avLst/>
                    <a:gdLst>
                      <a:gd name="T0" fmla="*/ 11 w 1037"/>
                      <a:gd name="T1" fmla="*/ 43 h 2696"/>
                      <a:gd name="T2" fmla="*/ 32 w 1037"/>
                      <a:gd name="T3" fmla="*/ 119 h 2696"/>
                      <a:gd name="T4" fmla="*/ 65 w 1037"/>
                      <a:gd name="T5" fmla="*/ 184 h 2696"/>
                      <a:gd name="T6" fmla="*/ 86 w 1037"/>
                      <a:gd name="T7" fmla="*/ 259 h 2696"/>
                      <a:gd name="T8" fmla="*/ 119 w 1037"/>
                      <a:gd name="T9" fmla="*/ 313 h 2696"/>
                      <a:gd name="T10" fmla="*/ 130 w 1037"/>
                      <a:gd name="T11" fmla="*/ 378 h 2696"/>
                      <a:gd name="T12" fmla="*/ 162 w 1037"/>
                      <a:gd name="T13" fmla="*/ 442 h 2696"/>
                      <a:gd name="T14" fmla="*/ 184 w 1037"/>
                      <a:gd name="T15" fmla="*/ 518 h 2696"/>
                      <a:gd name="T16" fmla="*/ 205 w 1037"/>
                      <a:gd name="T17" fmla="*/ 561 h 2696"/>
                      <a:gd name="T18" fmla="*/ 227 w 1037"/>
                      <a:gd name="T19" fmla="*/ 636 h 2696"/>
                      <a:gd name="T20" fmla="*/ 248 w 1037"/>
                      <a:gd name="T21" fmla="*/ 680 h 2696"/>
                      <a:gd name="T22" fmla="*/ 270 w 1037"/>
                      <a:gd name="T23" fmla="*/ 755 h 2696"/>
                      <a:gd name="T24" fmla="*/ 292 w 1037"/>
                      <a:gd name="T25" fmla="*/ 798 h 2696"/>
                      <a:gd name="T26" fmla="*/ 313 w 1037"/>
                      <a:gd name="T27" fmla="*/ 874 h 2696"/>
                      <a:gd name="T28" fmla="*/ 335 w 1037"/>
                      <a:gd name="T29" fmla="*/ 917 h 2696"/>
                      <a:gd name="T30" fmla="*/ 356 w 1037"/>
                      <a:gd name="T31" fmla="*/ 992 h 2696"/>
                      <a:gd name="T32" fmla="*/ 378 w 1037"/>
                      <a:gd name="T33" fmla="*/ 1035 h 2696"/>
                      <a:gd name="T34" fmla="*/ 400 w 1037"/>
                      <a:gd name="T35" fmla="*/ 1111 h 2696"/>
                      <a:gd name="T36" fmla="*/ 421 w 1037"/>
                      <a:gd name="T37" fmla="*/ 1154 h 2696"/>
                      <a:gd name="T38" fmla="*/ 443 w 1037"/>
                      <a:gd name="T39" fmla="*/ 1229 h 2696"/>
                      <a:gd name="T40" fmla="*/ 464 w 1037"/>
                      <a:gd name="T41" fmla="*/ 1273 h 2696"/>
                      <a:gd name="T42" fmla="*/ 486 w 1037"/>
                      <a:gd name="T43" fmla="*/ 1348 h 2696"/>
                      <a:gd name="T44" fmla="*/ 508 w 1037"/>
                      <a:gd name="T45" fmla="*/ 1391 h 2696"/>
                      <a:gd name="T46" fmla="*/ 529 w 1037"/>
                      <a:gd name="T47" fmla="*/ 1467 h 2696"/>
                      <a:gd name="T48" fmla="*/ 562 w 1037"/>
                      <a:gd name="T49" fmla="*/ 1521 h 2696"/>
                      <a:gd name="T50" fmla="*/ 572 w 1037"/>
                      <a:gd name="T51" fmla="*/ 1585 h 2696"/>
                      <a:gd name="T52" fmla="*/ 605 w 1037"/>
                      <a:gd name="T53" fmla="*/ 1639 h 2696"/>
                      <a:gd name="T54" fmla="*/ 616 w 1037"/>
                      <a:gd name="T55" fmla="*/ 1704 h 2696"/>
                      <a:gd name="T56" fmla="*/ 659 w 1037"/>
                      <a:gd name="T57" fmla="*/ 1779 h 2696"/>
                      <a:gd name="T58" fmla="*/ 670 w 1037"/>
                      <a:gd name="T59" fmla="*/ 1844 h 2696"/>
                      <a:gd name="T60" fmla="*/ 713 w 1037"/>
                      <a:gd name="T61" fmla="*/ 1920 h 2696"/>
                      <a:gd name="T62" fmla="*/ 734 w 1037"/>
                      <a:gd name="T63" fmla="*/ 2006 h 2696"/>
                      <a:gd name="T64" fmla="*/ 767 w 1037"/>
                      <a:gd name="T65" fmla="*/ 2060 h 2696"/>
                      <a:gd name="T66" fmla="*/ 778 w 1037"/>
                      <a:gd name="T67" fmla="*/ 2114 h 2696"/>
                      <a:gd name="T68" fmla="*/ 821 w 1037"/>
                      <a:gd name="T69" fmla="*/ 2189 h 2696"/>
                      <a:gd name="T70" fmla="*/ 842 w 1037"/>
                      <a:gd name="T71" fmla="*/ 2265 h 2696"/>
                      <a:gd name="T72" fmla="*/ 875 w 1037"/>
                      <a:gd name="T73" fmla="*/ 2319 h 2696"/>
                      <a:gd name="T74" fmla="*/ 896 w 1037"/>
                      <a:gd name="T75" fmla="*/ 2394 h 2696"/>
                      <a:gd name="T76" fmla="*/ 940 w 1037"/>
                      <a:gd name="T77" fmla="*/ 2470 h 2696"/>
                      <a:gd name="T78" fmla="*/ 961 w 1037"/>
                      <a:gd name="T79" fmla="*/ 2534 h 2696"/>
                      <a:gd name="T80" fmla="*/ 994 w 1037"/>
                      <a:gd name="T81" fmla="*/ 2588 h 2696"/>
                      <a:gd name="T82" fmla="*/ 1015 w 1037"/>
                      <a:gd name="T83" fmla="*/ 2653 h 26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037" h="2696">
                        <a:moveTo>
                          <a:pt x="0" y="0"/>
                        </a:moveTo>
                        <a:lnTo>
                          <a:pt x="0" y="33"/>
                        </a:lnTo>
                        <a:lnTo>
                          <a:pt x="11" y="43"/>
                        </a:lnTo>
                        <a:lnTo>
                          <a:pt x="11" y="65"/>
                        </a:lnTo>
                        <a:lnTo>
                          <a:pt x="32" y="86"/>
                        </a:lnTo>
                        <a:lnTo>
                          <a:pt x="32" y="119"/>
                        </a:lnTo>
                        <a:lnTo>
                          <a:pt x="54" y="140"/>
                        </a:lnTo>
                        <a:lnTo>
                          <a:pt x="54" y="173"/>
                        </a:lnTo>
                        <a:lnTo>
                          <a:pt x="65" y="184"/>
                        </a:lnTo>
                        <a:lnTo>
                          <a:pt x="65" y="205"/>
                        </a:lnTo>
                        <a:lnTo>
                          <a:pt x="86" y="227"/>
                        </a:lnTo>
                        <a:lnTo>
                          <a:pt x="86" y="259"/>
                        </a:lnTo>
                        <a:lnTo>
                          <a:pt x="97" y="270"/>
                        </a:lnTo>
                        <a:lnTo>
                          <a:pt x="97" y="291"/>
                        </a:lnTo>
                        <a:lnTo>
                          <a:pt x="119" y="313"/>
                        </a:lnTo>
                        <a:lnTo>
                          <a:pt x="119" y="345"/>
                        </a:lnTo>
                        <a:lnTo>
                          <a:pt x="130" y="356"/>
                        </a:lnTo>
                        <a:lnTo>
                          <a:pt x="130" y="378"/>
                        </a:lnTo>
                        <a:lnTo>
                          <a:pt x="151" y="399"/>
                        </a:lnTo>
                        <a:lnTo>
                          <a:pt x="151" y="432"/>
                        </a:lnTo>
                        <a:lnTo>
                          <a:pt x="162" y="442"/>
                        </a:lnTo>
                        <a:lnTo>
                          <a:pt x="162" y="464"/>
                        </a:lnTo>
                        <a:lnTo>
                          <a:pt x="184" y="485"/>
                        </a:lnTo>
                        <a:lnTo>
                          <a:pt x="184" y="518"/>
                        </a:lnTo>
                        <a:lnTo>
                          <a:pt x="194" y="529"/>
                        </a:lnTo>
                        <a:lnTo>
                          <a:pt x="194" y="550"/>
                        </a:lnTo>
                        <a:lnTo>
                          <a:pt x="205" y="561"/>
                        </a:lnTo>
                        <a:lnTo>
                          <a:pt x="205" y="582"/>
                        </a:lnTo>
                        <a:lnTo>
                          <a:pt x="227" y="604"/>
                        </a:lnTo>
                        <a:lnTo>
                          <a:pt x="227" y="636"/>
                        </a:lnTo>
                        <a:lnTo>
                          <a:pt x="238" y="647"/>
                        </a:lnTo>
                        <a:lnTo>
                          <a:pt x="238" y="669"/>
                        </a:lnTo>
                        <a:lnTo>
                          <a:pt x="248" y="680"/>
                        </a:lnTo>
                        <a:lnTo>
                          <a:pt x="248" y="701"/>
                        </a:lnTo>
                        <a:lnTo>
                          <a:pt x="270" y="723"/>
                        </a:lnTo>
                        <a:lnTo>
                          <a:pt x="270" y="755"/>
                        </a:lnTo>
                        <a:lnTo>
                          <a:pt x="281" y="766"/>
                        </a:lnTo>
                        <a:lnTo>
                          <a:pt x="281" y="787"/>
                        </a:lnTo>
                        <a:lnTo>
                          <a:pt x="292" y="798"/>
                        </a:lnTo>
                        <a:lnTo>
                          <a:pt x="292" y="820"/>
                        </a:lnTo>
                        <a:lnTo>
                          <a:pt x="313" y="841"/>
                        </a:lnTo>
                        <a:lnTo>
                          <a:pt x="313" y="874"/>
                        </a:lnTo>
                        <a:lnTo>
                          <a:pt x="324" y="884"/>
                        </a:lnTo>
                        <a:lnTo>
                          <a:pt x="324" y="906"/>
                        </a:lnTo>
                        <a:lnTo>
                          <a:pt x="335" y="917"/>
                        </a:lnTo>
                        <a:lnTo>
                          <a:pt x="335" y="938"/>
                        </a:lnTo>
                        <a:lnTo>
                          <a:pt x="356" y="960"/>
                        </a:lnTo>
                        <a:lnTo>
                          <a:pt x="356" y="992"/>
                        </a:lnTo>
                        <a:lnTo>
                          <a:pt x="367" y="1003"/>
                        </a:lnTo>
                        <a:lnTo>
                          <a:pt x="367" y="1025"/>
                        </a:lnTo>
                        <a:lnTo>
                          <a:pt x="378" y="1035"/>
                        </a:lnTo>
                        <a:lnTo>
                          <a:pt x="378" y="1057"/>
                        </a:lnTo>
                        <a:lnTo>
                          <a:pt x="400" y="1079"/>
                        </a:lnTo>
                        <a:lnTo>
                          <a:pt x="400" y="1111"/>
                        </a:lnTo>
                        <a:lnTo>
                          <a:pt x="410" y="1122"/>
                        </a:lnTo>
                        <a:lnTo>
                          <a:pt x="410" y="1143"/>
                        </a:lnTo>
                        <a:lnTo>
                          <a:pt x="421" y="1154"/>
                        </a:lnTo>
                        <a:lnTo>
                          <a:pt x="421" y="1176"/>
                        </a:lnTo>
                        <a:lnTo>
                          <a:pt x="443" y="1197"/>
                        </a:lnTo>
                        <a:lnTo>
                          <a:pt x="443" y="1229"/>
                        </a:lnTo>
                        <a:lnTo>
                          <a:pt x="454" y="1240"/>
                        </a:lnTo>
                        <a:lnTo>
                          <a:pt x="454" y="1262"/>
                        </a:lnTo>
                        <a:lnTo>
                          <a:pt x="464" y="1273"/>
                        </a:lnTo>
                        <a:lnTo>
                          <a:pt x="464" y="1294"/>
                        </a:lnTo>
                        <a:lnTo>
                          <a:pt x="486" y="1316"/>
                        </a:lnTo>
                        <a:lnTo>
                          <a:pt x="486" y="1348"/>
                        </a:lnTo>
                        <a:lnTo>
                          <a:pt x="497" y="1359"/>
                        </a:lnTo>
                        <a:lnTo>
                          <a:pt x="497" y="1380"/>
                        </a:lnTo>
                        <a:lnTo>
                          <a:pt x="508" y="1391"/>
                        </a:lnTo>
                        <a:lnTo>
                          <a:pt x="508" y="1413"/>
                        </a:lnTo>
                        <a:lnTo>
                          <a:pt x="529" y="1434"/>
                        </a:lnTo>
                        <a:lnTo>
                          <a:pt x="529" y="1467"/>
                        </a:lnTo>
                        <a:lnTo>
                          <a:pt x="540" y="1477"/>
                        </a:lnTo>
                        <a:lnTo>
                          <a:pt x="540" y="1499"/>
                        </a:lnTo>
                        <a:lnTo>
                          <a:pt x="562" y="1521"/>
                        </a:lnTo>
                        <a:lnTo>
                          <a:pt x="562" y="1553"/>
                        </a:lnTo>
                        <a:lnTo>
                          <a:pt x="572" y="1564"/>
                        </a:lnTo>
                        <a:lnTo>
                          <a:pt x="572" y="1585"/>
                        </a:lnTo>
                        <a:lnTo>
                          <a:pt x="583" y="1596"/>
                        </a:lnTo>
                        <a:lnTo>
                          <a:pt x="583" y="1618"/>
                        </a:lnTo>
                        <a:lnTo>
                          <a:pt x="605" y="1639"/>
                        </a:lnTo>
                        <a:lnTo>
                          <a:pt x="605" y="1672"/>
                        </a:lnTo>
                        <a:lnTo>
                          <a:pt x="616" y="1682"/>
                        </a:lnTo>
                        <a:lnTo>
                          <a:pt x="616" y="1704"/>
                        </a:lnTo>
                        <a:lnTo>
                          <a:pt x="637" y="1725"/>
                        </a:lnTo>
                        <a:lnTo>
                          <a:pt x="637" y="1758"/>
                        </a:lnTo>
                        <a:lnTo>
                          <a:pt x="659" y="1779"/>
                        </a:lnTo>
                        <a:lnTo>
                          <a:pt x="659" y="1812"/>
                        </a:lnTo>
                        <a:lnTo>
                          <a:pt x="670" y="1823"/>
                        </a:lnTo>
                        <a:lnTo>
                          <a:pt x="670" y="1844"/>
                        </a:lnTo>
                        <a:lnTo>
                          <a:pt x="691" y="1866"/>
                        </a:lnTo>
                        <a:lnTo>
                          <a:pt x="691" y="1898"/>
                        </a:lnTo>
                        <a:lnTo>
                          <a:pt x="713" y="1920"/>
                        </a:lnTo>
                        <a:lnTo>
                          <a:pt x="713" y="1952"/>
                        </a:lnTo>
                        <a:lnTo>
                          <a:pt x="734" y="1973"/>
                        </a:lnTo>
                        <a:lnTo>
                          <a:pt x="734" y="2006"/>
                        </a:lnTo>
                        <a:lnTo>
                          <a:pt x="745" y="2017"/>
                        </a:lnTo>
                        <a:lnTo>
                          <a:pt x="745" y="2038"/>
                        </a:lnTo>
                        <a:lnTo>
                          <a:pt x="767" y="2060"/>
                        </a:lnTo>
                        <a:lnTo>
                          <a:pt x="767" y="2081"/>
                        </a:lnTo>
                        <a:lnTo>
                          <a:pt x="778" y="2092"/>
                        </a:lnTo>
                        <a:lnTo>
                          <a:pt x="778" y="2114"/>
                        </a:lnTo>
                        <a:lnTo>
                          <a:pt x="799" y="2135"/>
                        </a:lnTo>
                        <a:lnTo>
                          <a:pt x="799" y="2168"/>
                        </a:lnTo>
                        <a:lnTo>
                          <a:pt x="821" y="2189"/>
                        </a:lnTo>
                        <a:lnTo>
                          <a:pt x="821" y="2221"/>
                        </a:lnTo>
                        <a:lnTo>
                          <a:pt x="842" y="2243"/>
                        </a:lnTo>
                        <a:lnTo>
                          <a:pt x="842" y="2265"/>
                        </a:lnTo>
                        <a:lnTo>
                          <a:pt x="853" y="2275"/>
                        </a:lnTo>
                        <a:lnTo>
                          <a:pt x="853" y="2297"/>
                        </a:lnTo>
                        <a:lnTo>
                          <a:pt x="875" y="2319"/>
                        </a:lnTo>
                        <a:lnTo>
                          <a:pt x="875" y="2351"/>
                        </a:lnTo>
                        <a:lnTo>
                          <a:pt x="896" y="2372"/>
                        </a:lnTo>
                        <a:lnTo>
                          <a:pt x="896" y="2394"/>
                        </a:lnTo>
                        <a:lnTo>
                          <a:pt x="918" y="2416"/>
                        </a:lnTo>
                        <a:lnTo>
                          <a:pt x="918" y="2448"/>
                        </a:lnTo>
                        <a:lnTo>
                          <a:pt x="940" y="2470"/>
                        </a:lnTo>
                        <a:lnTo>
                          <a:pt x="940" y="2491"/>
                        </a:lnTo>
                        <a:lnTo>
                          <a:pt x="961" y="2513"/>
                        </a:lnTo>
                        <a:lnTo>
                          <a:pt x="961" y="2534"/>
                        </a:lnTo>
                        <a:lnTo>
                          <a:pt x="972" y="2545"/>
                        </a:lnTo>
                        <a:lnTo>
                          <a:pt x="972" y="2567"/>
                        </a:lnTo>
                        <a:lnTo>
                          <a:pt x="994" y="2588"/>
                        </a:lnTo>
                        <a:lnTo>
                          <a:pt x="994" y="2610"/>
                        </a:lnTo>
                        <a:lnTo>
                          <a:pt x="1015" y="2631"/>
                        </a:lnTo>
                        <a:lnTo>
                          <a:pt x="1015" y="2653"/>
                        </a:lnTo>
                        <a:lnTo>
                          <a:pt x="1037" y="2674"/>
                        </a:lnTo>
                        <a:lnTo>
                          <a:pt x="1037" y="2696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14" name="直接箭头连接符 13"/>
                <p:cNvCxnSpPr/>
                <p:nvPr/>
              </p:nvCxnSpPr>
              <p:spPr>
                <a:xfrm>
                  <a:off x="6445029" y="2463031"/>
                  <a:ext cx="2085425" cy="1562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6721056" y="1544914"/>
                  <a:ext cx="378746" cy="314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6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u</a:t>
                  </a:r>
                  <a:r>
                    <a:rPr kumimoji="0" lang="en-US" altLang="zh-CN" sz="1600" b="0" i="0" u="none" strike="noStrike" cap="none" normalizeH="0" baseline="-30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o1</a:t>
                  </a:r>
                  <a:endParaRPr kumimoji="0" lang="en-US" altLang="zh-CN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宋体" pitchFamily="2" charset="-122"/>
                    <a:cs typeface="宋体" pitchFamily="2" charset="-122"/>
                  </a:endParaRPr>
                </a:p>
              </p:txBody>
            </p:sp>
            <p:sp>
              <p:nvSpPr>
                <p:cNvPr id="16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8446669" y="2345458"/>
                  <a:ext cx="266668" cy="3143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4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  <a:cs typeface="Times New Roman" pitchFamily="18" charset="0"/>
                    </a:rPr>
                    <a:t>t</a:t>
                  </a:r>
                </a:p>
              </p:txBody>
            </p:sp>
          </p:grpSp>
        </p:grpSp>
        <p:cxnSp>
          <p:nvCxnSpPr>
            <p:cNvPr id="78" name="直接箭头连接符 77"/>
            <p:cNvCxnSpPr/>
            <p:nvPr/>
          </p:nvCxnSpPr>
          <p:spPr>
            <a:xfrm flipH="1">
              <a:off x="3903115" y="2298994"/>
              <a:ext cx="365157" cy="46283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 Box 40"/>
          <p:cNvSpPr txBox="1">
            <a:spLocks noChangeArrowheads="1"/>
          </p:cNvSpPr>
          <p:nvPr/>
        </p:nvSpPr>
        <p:spPr bwMode="auto">
          <a:xfrm>
            <a:off x="3555878" y="3093741"/>
            <a:ext cx="309818" cy="363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9" name="圆角矩形标注 78"/>
          <p:cNvSpPr/>
          <p:nvPr/>
        </p:nvSpPr>
        <p:spPr>
          <a:xfrm>
            <a:off x="356777" y="4554125"/>
            <a:ext cx="2430269" cy="1575175"/>
          </a:xfrm>
          <a:prstGeom prst="wedgeRoundRectCallout">
            <a:avLst>
              <a:gd name="adj1" fmla="val 105059"/>
              <a:gd name="adj2" fmla="val -4293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RC</a:t>
            </a:r>
            <a:r>
              <a:rPr lang="zh-CN" altLang="en-US" sz="2000" dirty="0">
                <a:solidFill>
                  <a:schemeClr val="tx1"/>
                </a:solidFill>
              </a:rPr>
              <a:t>电路作用：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检波二极管的负载；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滤除检波信号中的高频分量。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5790750" y="1763816"/>
            <a:ext cx="1834702" cy="1380153"/>
            <a:chOff x="5790750" y="1446625"/>
            <a:chExt cx="1834702" cy="1035115"/>
          </a:xfrm>
        </p:grpSpPr>
        <p:sp>
          <p:nvSpPr>
            <p:cNvPr id="84" name="任意多边形 83"/>
            <p:cNvSpPr/>
            <p:nvPr/>
          </p:nvSpPr>
          <p:spPr>
            <a:xfrm>
              <a:off x="5971705" y="1772285"/>
              <a:ext cx="1251041" cy="400050"/>
            </a:xfrm>
            <a:custGeom>
              <a:avLst/>
              <a:gdLst>
                <a:gd name="connsiteX0" fmla="*/ 0 w 1562100"/>
                <a:gd name="connsiteY0" fmla="*/ 0 h 400050"/>
                <a:gd name="connsiteX1" fmla="*/ 361950 w 1562100"/>
                <a:gd name="connsiteY1" fmla="*/ 38100 h 400050"/>
                <a:gd name="connsiteX2" fmla="*/ 962025 w 1562100"/>
                <a:gd name="connsiteY2" fmla="*/ 161925 h 400050"/>
                <a:gd name="connsiteX3" fmla="*/ 1400175 w 1562100"/>
                <a:gd name="connsiteY3" fmla="*/ 304800 h 400050"/>
                <a:gd name="connsiteX4" fmla="*/ 1562100 w 1562100"/>
                <a:gd name="connsiteY4" fmla="*/ 40005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2100" h="400050">
                  <a:moveTo>
                    <a:pt x="0" y="0"/>
                  </a:moveTo>
                  <a:cubicBezTo>
                    <a:pt x="100806" y="5556"/>
                    <a:pt x="201613" y="11113"/>
                    <a:pt x="361950" y="38100"/>
                  </a:cubicBezTo>
                  <a:cubicBezTo>
                    <a:pt x="522287" y="65087"/>
                    <a:pt x="788988" y="117475"/>
                    <a:pt x="962025" y="161925"/>
                  </a:cubicBezTo>
                  <a:cubicBezTo>
                    <a:pt x="1135062" y="206375"/>
                    <a:pt x="1300163" y="265113"/>
                    <a:pt x="1400175" y="304800"/>
                  </a:cubicBezTo>
                  <a:cubicBezTo>
                    <a:pt x="1500187" y="344487"/>
                    <a:pt x="1531143" y="372268"/>
                    <a:pt x="1562100" y="40005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" name="直接箭头连接符 82"/>
            <p:cNvCxnSpPr/>
            <p:nvPr/>
          </p:nvCxnSpPr>
          <p:spPr>
            <a:xfrm flipV="1">
              <a:off x="5790750" y="2200662"/>
              <a:ext cx="166157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 flipV="1">
              <a:off x="5971705" y="1595623"/>
              <a:ext cx="0" cy="8182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 Box 5"/>
            <p:cNvSpPr txBox="1">
              <a:spLocks noChangeArrowheads="1"/>
            </p:cNvSpPr>
            <p:nvPr/>
          </p:nvSpPr>
          <p:spPr bwMode="auto">
            <a:xfrm>
              <a:off x="7407315" y="2031690"/>
              <a:ext cx="218137" cy="272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91" name="Text Box 5"/>
            <p:cNvSpPr txBox="1">
              <a:spLocks noChangeArrowheads="1"/>
            </p:cNvSpPr>
            <p:nvPr/>
          </p:nvSpPr>
          <p:spPr bwMode="auto">
            <a:xfrm>
              <a:off x="7095642" y="2167352"/>
              <a:ext cx="266668" cy="31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T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2" name="Text Box 40"/>
            <p:cNvSpPr txBox="1">
              <a:spLocks noChangeArrowheads="1"/>
            </p:cNvSpPr>
            <p:nvPr/>
          </p:nvSpPr>
          <p:spPr bwMode="auto">
            <a:xfrm>
              <a:off x="6017377" y="1446625"/>
              <a:ext cx="309818" cy="272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600" b="0" i="0" u="none" strike="noStrike" cap="none" normalizeH="0" baseline="-3000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o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4" name="任意多边形 3"/>
          <p:cNvSpPr/>
          <p:nvPr/>
        </p:nvSpPr>
        <p:spPr>
          <a:xfrm>
            <a:off x="3759200" y="2244098"/>
            <a:ext cx="1332089" cy="509827"/>
          </a:xfrm>
          <a:custGeom>
            <a:avLst/>
            <a:gdLst>
              <a:gd name="connsiteX0" fmla="*/ 0 w 1332089"/>
              <a:gd name="connsiteY0" fmla="*/ 13116 h 509827"/>
              <a:gd name="connsiteX1" fmla="*/ 56444 w 1332089"/>
              <a:gd name="connsiteY1" fmla="*/ 1827 h 509827"/>
              <a:gd name="connsiteX2" fmla="*/ 237067 w 1332089"/>
              <a:gd name="connsiteY2" fmla="*/ 46983 h 509827"/>
              <a:gd name="connsiteX3" fmla="*/ 282222 w 1332089"/>
              <a:gd name="connsiteY3" fmla="*/ 24405 h 509827"/>
              <a:gd name="connsiteX4" fmla="*/ 440267 w 1332089"/>
              <a:gd name="connsiteY4" fmla="*/ 80850 h 509827"/>
              <a:gd name="connsiteX5" fmla="*/ 462844 w 1332089"/>
              <a:gd name="connsiteY5" fmla="*/ 69561 h 509827"/>
              <a:gd name="connsiteX6" fmla="*/ 609600 w 1332089"/>
              <a:gd name="connsiteY6" fmla="*/ 114716 h 509827"/>
              <a:gd name="connsiteX7" fmla="*/ 643467 w 1332089"/>
              <a:gd name="connsiteY7" fmla="*/ 103427 h 509827"/>
              <a:gd name="connsiteX8" fmla="*/ 756356 w 1332089"/>
              <a:gd name="connsiteY8" fmla="*/ 159872 h 509827"/>
              <a:gd name="connsiteX9" fmla="*/ 790222 w 1332089"/>
              <a:gd name="connsiteY9" fmla="*/ 148583 h 509827"/>
              <a:gd name="connsiteX10" fmla="*/ 857956 w 1332089"/>
              <a:gd name="connsiteY10" fmla="*/ 216316 h 509827"/>
              <a:gd name="connsiteX11" fmla="*/ 880533 w 1332089"/>
              <a:gd name="connsiteY11" fmla="*/ 205027 h 509827"/>
              <a:gd name="connsiteX12" fmla="*/ 970844 w 1332089"/>
              <a:gd name="connsiteY12" fmla="*/ 250183 h 509827"/>
              <a:gd name="connsiteX13" fmla="*/ 1004711 w 1332089"/>
              <a:gd name="connsiteY13" fmla="*/ 238894 h 509827"/>
              <a:gd name="connsiteX14" fmla="*/ 1095022 w 1332089"/>
              <a:gd name="connsiteY14" fmla="*/ 295339 h 509827"/>
              <a:gd name="connsiteX15" fmla="*/ 1117600 w 1332089"/>
              <a:gd name="connsiteY15" fmla="*/ 284050 h 509827"/>
              <a:gd name="connsiteX16" fmla="*/ 1185333 w 1332089"/>
              <a:gd name="connsiteY16" fmla="*/ 363072 h 509827"/>
              <a:gd name="connsiteX17" fmla="*/ 1207911 w 1332089"/>
              <a:gd name="connsiteY17" fmla="*/ 363072 h 509827"/>
              <a:gd name="connsiteX18" fmla="*/ 1332089 w 1332089"/>
              <a:gd name="connsiteY18" fmla="*/ 509827 h 50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32089" h="509827">
                <a:moveTo>
                  <a:pt x="0" y="13116"/>
                </a:moveTo>
                <a:cubicBezTo>
                  <a:pt x="8466" y="4649"/>
                  <a:pt x="16933" y="-3817"/>
                  <a:pt x="56444" y="1827"/>
                </a:cubicBezTo>
                <a:cubicBezTo>
                  <a:pt x="95955" y="7471"/>
                  <a:pt x="199437" y="43220"/>
                  <a:pt x="237067" y="46983"/>
                </a:cubicBezTo>
                <a:cubicBezTo>
                  <a:pt x="274697" y="50746"/>
                  <a:pt x="248355" y="18761"/>
                  <a:pt x="282222" y="24405"/>
                </a:cubicBezTo>
                <a:cubicBezTo>
                  <a:pt x="316089" y="30049"/>
                  <a:pt x="410163" y="73324"/>
                  <a:pt x="440267" y="80850"/>
                </a:cubicBezTo>
                <a:cubicBezTo>
                  <a:pt x="470371" y="88376"/>
                  <a:pt x="434622" y="63917"/>
                  <a:pt x="462844" y="69561"/>
                </a:cubicBezTo>
                <a:cubicBezTo>
                  <a:pt x="491066" y="75205"/>
                  <a:pt x="579496" y="109072"/>
                  <a:pt x="609600" y="114716"/>
                </a:cubicBezTo>
                <a:cubicBezTo>
                  <a:pt x="639704" y="120360"/>
                  <a:pt x="619008" y="95901"/>
                  <a:pt x="643467" y="103427"/>
                </a:cubicBezTo>
                <a:cubicBezTo>
                  <a:pt x="667926" y="110953"/>
                  <a:pt x="731897" y="152346"/>
                  <a:pt x="756356" y="159872"/>
                </a:cubicBezTo>
                <a:cubicBezTo>
                  <a:pt x="780815" y="167398"/>
                  <a:pt x="773289" y="139176"/>
                  <a:pt x="790222" y="148583"/>
                </a:cubicBezTo>
                <a:cubicBezTo>
                  <a:pt x="807155" y="157990"/>
                  <a:pt x="842904" y="206909"/>
                  <a:pt x="857956" y="216316"/>
                </a:cubicBezTo>
                <a:cubicBezTo>
                  <a:pt x="873008" y="225723"/>
                  <a:pt x="861718" y="199383"/>
                  <a:pt x="880533" y="205027"/>
                </a:cubicBezTo>
                <a:cubicBezTo>
                  <a:pt x="899348" y="210671"/>
                  <a:pt x="950148" y="244539"/>
                  <a:pt x="970844" y="250183"/>
                </a:cubicBezTo>
                <a:cubicBezTo>
                  <a:pt x="991540" y="255828"/>
                  <a:pt x="984015" y="231368"/>
                  <a:pt x="1004711" y="238894"/>
                </a:cubicBezTo>
                <a:cubicBezTo>
                  <a:pt x="1025407" y="246420"/>
                  <a:pt x="1076207" y="287813"/>
                  <a:pt x="1095022" y="295339"/>
                </a:cubicBezTo>
                <a:cubicBezTo>
                  <a:pt x="1113837" y="302865"/>
                  <a:pt x="1102548" y="272761"/>
                  <a:pt x="1117600" y="284050"/>
                </a:cubicBezTo>
                <a:cubicBezTo>
                  <a:pt x="1132652" y="295339"/>
                  <a:pt x="1170281" y="349902"/>
                  <a:pt x="1185333" y="363072"/>
                </a:cubicBezTo>
                <a:cubicBezTo>
                  <a:pt x="1200385" y="376242"/>
                  <a:pt x="1183452" y="338613"/>
                  <a:pt x="1207911" y="363072"/>
                </a:cubicBezTo>
                <a:cubicBezTo>
                  <a:pt x="1232370" y="387531"/>
                  <a:pt x="1282229" y="448679"/>
                  <a:pt x="1332089" y="5098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366755" y="3639022"/>
            <a:ext cx="522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936974" y="3684027"/>
            <a:ext cx="522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baseline="-25000" dirty="0" err="1">
                <a:latin typeface="Times New Roman" pitchFamily="18" charset="0"/>
                <a:cs typeface="Times New Roman" pitchFamily="18" charset="0"/>
              </a:rPr>
              <a:t>o</a:t>
            </a:r>
            <a:endParaRPr lang="zh-CN" alt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8210" y="3275577"/>
            <a:ext cx="3219275" cy="304698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基本工作原理：</a:t>
            </a:r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dirty="0"/>
              <a:t>的正半周信号令 </a:t>
            </a:r>
            <a:r>
              <a:rPr lang="en-US" altLang="zh-CN" dirty="0"/>
              <a:t>D</a:t>
            </a:r>
            <a:r>
              <a:rPr lang="zh-CN" altLang="en-US" dirty="0"/>
              <a:t>导通，对</a:t>
            </a:r>
            <a:r>
              <a:rPr lang="en-US" altLang="zh-CN" dirty="0"/>
              <a:t>C</a:t>
            </a:r>
            <a:r>
              <a:rPr lang="zh-CN" altLang="en-US" dirty="0"/>
              <a:t>快速充电；负半周信号令</a:t>
            </a:r>
            <a:r>
              <a:rPr lang="en-US" altLang="zh-CN" dirty="0"/>
              <a:t>D</a:t>
            </a:r>
            <a:r>
              <a:rPr lang="zh-CN" altLang="en-US" dirty="0"/>
              <a:t>截止，</a:t>
            </a:r>
            <a:r>
              <a:rPr lang="en-US" altLang="zh-CN" dirty="0"/>
              <a:t>C</a:t>
            </a:r>
            <a:r>
              <a:rPr lang="zh-CN" altLang="en-US" dirty="0"/>
              <a:t>上存储的电荷通过</a:t>
            </a:r>
            <a:r>
              <a:rPr lang="en-US" altLang="zh-CN" dirty="0"/>
              <a:t>R</a:t>
            </a:r>
            <a:r>
              <a:rPr lang="zh-CN" altLang="en-US" dirty="0"/>
              <a:t>放电，为了保持住包络，需要电阻较大，延长放电时间。</a:t>
            </a:r>
          </a:p>
        </p:txBody>
      </p:sp>
    </p:spTree>
    <p:extLst>
      <p:ext uri="{BB962C8B-B14F-4D97-AF65-F5344CB8AC3E}">
        <p14:creationId xmlns:p14="http://schemas.microsoft.com/office/powerpoint/2010/main" val="107108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9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2"/>
          <p:cNvSpPr>
            <a:spLocks noChangeArrowheads="1"/>
          </p:cNvSpPr>
          <p:nvPr/>
        </p:nvSpPr>
        <p:spPr bwMode="auto">
          <a:xfrm>
            <a:off x="684213" y="116418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solidFill>
                  <a:schemeClr val="bg1"/>
                </a:solidFill>
              </a:rPr>
              <a:t>实验原理</a:t>
            </a:r>
            <a:r>
              <a:rPr lang="en-US" altLang="zh-CN" sz="3600" b="1" dirty="0">
                <a:solidFill>
                  <a:schemeClr val="bg1"/>
                </a:solidFill>
              </a:rPr>
              <a:t>——</a:t>
            </a:r>
            <a:r>
              <a:rPr lang="zh-CN" altLang="zh-CN" sz="3600" dirty="0">
                <a:solidFill>
                  <a:schemeClr val="bg1"/>
                </a:solidFill>
              </a:rPr>
              <a:t>测试系统原理图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33000" y="2560157"/>
            <a:ext cx="1758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华文中宋" pitchFamily="2" charset="-122"/>
                <a:ea typeface="华文中宋" pitchFamily="2" charset="-122"/>
              </a:rPr>
              <a:t>纵轴：幅</a:t>
            </a:r>
          </a:p>
          <a:p>
            <a:r>
              <a:rPr lang="zh-CN" altLang="zh-CN" sz="2000" dirty="0">
                <a:latin typeface="华文中宋" pitchFamily="2" charset="-122"/>
                <a:ea typeface="华文中宋" pitchFamily="2" charset="-122"/>
              </a:rPr>
              <a:t>度控制信号</a:t>
            </a:r>
            <a:endParaRPr lang="zh-CN" altLang="en-US" sz="200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4400" y="1209186"/>
            <a:ext cx="156936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en-US" dirty="0">
                <a:solidFill>
                  <a:srgbClr val="000000"/>
                </a:solidFill>
              </a:rPr>
              <a:t>三角</a:t>
            </a:r>
            <a:r>
              <a:rPr lang="zh-CN" altLang="zh-CN" dirty="0">
                <a:solidFill>
                  <a:srgbClr val="000000"/>
                </a:solidFill>
              </a:rPr>
              <a:t>波信号发生器</a:t>
            </a:r>
          </a:p>
        </p:txBody>
      </p:sp>
      <p:sp>
        <p:nvSpPr>
          <p:cNvPr id="7" name="矩形 6"/>
          <p:cNvSpPr/>
          <p:nvPr/>
        </p:nvSpPr>
        <p:spPr>
          <a:xfrm>
            <a:off x="613668" y="4049197"/>
            <a:ext cx="2170832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zh-CN" dirty="0">
                <a:solidFill>
                  <a:srgbClr val="000000"/>
                </a:solidFill>
              </a:rPr>
              <a:t>压控频率源</a:t>
            </a:r>
          </a:p>
          <a:p>
            <a:pPr lvl="0" algn="ctr"/>
            <a:r>
              <a:rPr lang="zh-CN" altLang="zh-CN" dirty="0">
                <a:solidFill>
                  <a:srgbClr val="000000"/>
                </a:solidFill>
              </a:rPr>
              <a:t>（函数发生器）</a:t>
            </a:r>
          </a:p>
        </p:txBody>
      </p:sp>
      <p:sp>
        <p:nvSpPr>
          <p:cNvPr id="8" name="矩形 7"/>
          <p:cNvSpPr/>
          <p:nvPr/>
        </p:nvSpPr>
        <p:spPr>
          <a:xfrm>
            <a:off x="6058671" y="1209186"/>
            <a:ext cx="2368723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zh-CN" dirty="0">
                <a:solidFill>
                  <a:srgbClr val="000000"/>
                </a:solidFill>
              </a:rPr>
              <a:t>幅频特性显示器</a:t>
            </a:r>
          </a:p>
          <a:p>
            <a:pPr lvl="0" algn="ctr"/>
            <a:r>
              <a:rPr lang="zh-CN" altLang="zh-CN" dirty="0">
                <a:solidFill>
                  <a:srgbClr val="000000"/>
                </a:solidFill>
              </a:rPr>
              <a:t>（示波器）</a:t>
            </a:r>
          </a:p>
        </p:txBody>
      </p:sp>
      <p:sp>
        <p:nvSpPr>
          <p:cNvPr id="9" name="矩形 8"/>
          <p:cNvSpPr/>
          <p:nvPr/>
        </p:nvSpPr>
        <p:spPr>
          <a:xfrm>
            <a:off x="4067945" y="4049197"/>
            <a:ext cx="1224135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zh-CN" dirty="0">
                <a:solidFill>
                  <a:srgbClr val="000000"/>
                </a:solidFill>
              </a:rPr>
              <a:t>被测试电路</a:t>
            </a:r>
          </a:p>
        </p:txBody>
      </p:sp>
      <p:sp>
        <p:nvSpPr>
          <p:cNvPr id="10" name="矩形 9"/>
          <p:cNvSpPr/>
          <p:nvPr/>
        </p:nvSpPr>
        <p:spPr>
          <a:xfrm>
            <a:off x="6660233" y="4049194"/>
            <a:ext cx="1651947" cy="830997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zh-CN" altLang="zh-CN" dirty="0">
                <a:solidFill>
                  <a:srgbClr val="000000"/>
                </a:solidFill>
              </a:rPr>
              <a:t>峰值包络</a:t>
            </a:r>
          </a:p>
          <a:p>
            <a:pPr lvl="0"/>
            <a:r>
              <a:rPr lang="zh-CN" altLang="zh-CN" dirty="0">
                <a:solidFill>
                  <a:srgbClr val="000000"/>
                </a:solidFill>
              </a:rPr>
              <a:t>检波电路</a:t>
            </a:r>
          </a:p>
        </p:txBody>
      </p:sp>
      <p:cxnSp>
        <p:nvCxnSpPr>
          <p:cNvPr id="12" name="直接箭头连接符 11"/>
          <p:cNvCxnSpPr>
            <a:stCxn id="6" idx="3"/>
            <a:endCxn id="8" idx="1"/>
          </p:cNvCxnSpPr>
          <p:nvPr/>
        </p:nvCxnSpPr>
        <p:spPr>
          <a:xfrm>
            <a:off x="2483768" y="1624685"/>
            <a:ext cx="3574903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906815" y="1210126"/>
            <a:ext cx="27003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X</a:t>
            </a:r>
            <a:r>
              <a:rPr lang="zh-CN" altLang="zh-CN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轴：</a:t>
            </a:r>
            <a:r>
              <a:rPr lang="zh-CN" altLang="en-US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电压</a:t>
            </a:r>
            <a:r>
              <a:rPr lang="zh-CN" altLang="zh-CN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控制信号</a:t>
            </a:r>
          </a:p>
        </p:txBody>
      </p:sp>
      <p:cxnSp>
        <p:nvCxnSpPr>
          <p:cNvPr id="15" name="直接箭头连接符 14"/>
          <p:cNvCxnSpPr>
            <a:stCxn id="6" idx="2"/>
            <a:endCxn id="7" idx="0"/>
          </p:cNvCxnSpPr>
          <p:nvPr/>
        </p:nvCxnSpPr>
        <p:spPr>
          <a:xfrm>
            <a:off x="1699084" y="2040183"/>
            <a:ext cx="0" cy="200901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763689" y="258067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电压</a:t>
            </a:r>
            <a:r>
              <a:rPr lang="zh-CN" altLang="zh-CN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控制信号</a:t>
            </a:r>
          </a:p>
        </p:txBody>
      </p:sp>
      <p:cxnSp>
        <p:nvCxnSpPr>
          <p:cNvPr id="18" name="直接箭头连接符 17"/>
          <p:cNvCxnSpPr>
            <a:stCxn id="7" idx="3"/>
            <a:endCxn id="9" idx="1"/>
          </p:cNvCxnSpPr>
          <p:nvPr/>
        </p:nvCxnSpPr>
        <p:spPr>
          <a:xfrm>
            <a:off x="2784500" y="4464696"/>
            <a:ext cx="128344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796829" y="3621021"/>
            <a:ext cx="12711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zh-CN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等幅扫频信号</a:t>
            </a:r>
          </a:p>
        </p:txBody>
      </p:sp>
      <p:cxnSp>
        <p:nvCxnSpPr>
          <p:cNvPr id="22" name="直接箭头连接符 21"/>
          <p:cNvCxnSpPr>
            <a:stCxn id="9" idx="3"/>
            <a:endCxn id="10" idx="1"/>
          </p:cNvCxnSpPr>
          <p:nvPr/>
        </p:nvCxnSpPr>
        <p:spPr>
          <a:xfrm flipV="1">
            <a:off x="5292080" y="4464693"/>
            <a:ext cx="1368153" cy="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292080" y="3717032"/>
            <a:ext cx="15121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zh-CN" sz="200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幅度变化的扫频信号</a:t>
            </a:r>
          </a:p>
        </p:txBody>
      </p:sp>
      <p:cxnSp>
        <p:nvCxnSpPr>
          <p:cNvPr id="27" name="直接箭头连接符 26"/>
          <p:cNvCxnSpPr>
            <a:stCxn id="10" idx="0"/>
          </p:cNvCxnSpPr>
          <p:nvPr/>
        </p:nvCxnSpPr>
        <p:spPr>
          <a:xfrm flipV="1">
            <a:off x="7486207" y="2317182"/>
            <a:ext cx="0" cy="173201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系统连接参考图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C7D805-F75B-4902-A94D-21A20A1DCE1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7" b="14531"/>
          <a:stretch/>
        </p:blipFill>
        <p:spPr bwMode="auto">
          <a:xfrm>
            <a:off x="79236" y="3248981"/>
            <a:ext cx="2894383" cy="1503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" r="-223" b="1805"/>
          <a:stretch>
            <a:fillRect/>
          </a:stretch>
        </p:blipFill>
        <p:spPr bwMode="auto">
          <a:xfrm>
            <a:off x="6507216" y="1028734"/>
            <a:ext cx="2301861" cy="1350425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4407066" y="1246257"/>
            <a:ext cx="945105" cy="840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电平变换电路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052532" y="1709198"/>
            <a:ext cx="35453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/>
        </p:nvSpPr>
        <p:spPr>
          <a:xfrm>
            <a:off x="5352171" y="1879599"/>
            <a:ext cx="2601204" cy="740999"/>
          </a:xfrm>
          <a:custGeom>
            <a:avLst/>
            <a:gdLst>
              <a:gd name="connsiteX0" fmla="*/ 0 w 3419475"/>
              <a:gd name="connsiteY0" fmla="*/ 1159 h 556908"/>
              <a:gd name="connsiteX1" fmla="*/ 790575 w 3419475"/>
              <a:gd name="connsiteY1" fmla="*/ 86884 h 556908"/>
              <a:gd name="connsiteX2" fmla="*/ 2190750 w 3419475"/>
              <a:gd name="connsiteY2" fmla="*/ 553609 h 556908"/>
              <a:gd name="connsiteX3" fmla="*/ 3419475 w 3419475"/>
              <a:gd name="connsiteY3" fmla="*/ 258334 h 55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9475" h="556908">
                <a:moveTo>
                  <a:pt x="0" y="1159"/>
                </a:moveTo>
                <a:cubicBezTo>
                  <a:pt x="212725" y="-2016"/>
                  <a:pt x="425450" y="-5191"/>
                  <a:pt x="790575" y="86884"/>
                </a:cubicBezTo>
                <a:cubicBezTo>
                  <a:pt x="1155700" y="178959"/>
                  <a:pt x="1752600" y="525034"/>
                  <a:pt x="2190750" y="553609"/>
                </a:cubicBezTo>
                <a:cubicBezTo>
                  <a:pt x="2628900" y="582184"/>
                  <a:pt x="3024187" y="420259"/>
                  <a:pt x="3419475" y="25833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2562225" y="1879600"/>
            <a:ext cx="3044890" cy="1752600"/>
          </a:xfrm>
          <a:custGeom>
            <a:avLst/>
            <a:gdLst>
              <a:gd name="connsiteX0" fmla="*/ 2162175 w 2317394"/>
              <a:gd name="connsiteY0" fmla="*/ 0 h 1314450"/>
              <a:gd name="connsiteX1" fmla="*/ 2190750 w 2317394"/>
              <a:gd name="connsiteY1" fmla="*/ 504825 h 1314450"/>
              <a:gd name="connsiteX2" fmla="*/ 781050 w 2317394"/>
              <a:gd name="connsiteY2" fmla="*/ 1076325 h 1314450"/>
              <a:gd name="connsiteX3" fmla="*/ 0 w 2317394"/>
              <a:gd name="connsiteY3" fmla="*/ 1314450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7394" h="1314450">
                <a:moveTo>
                  <a:pt x="2162175" y="0"/>
                </a:moveTo>
                <a:cubicBezTo>
                  <a:pt x="2291556" y="162719"/>
                  <a:pt x="2420938" y="325438"/>
                  <a:pt x="2190750" y="504825"/>
                </a:cubicBezTo>
                <a:cubicBezTo>
                  <a:pt x="1960562" y="684213"/>
                  <a:pt x="1146175" y="941388"/>
                  <a:pt x="781050" y="1076325"/>
                </a:cubicBezTo>
                <a:cubicBezTo>
                  <a:pt x="415925" y="1211262"/>
                  <a:pt x="207962" y="1262856"/>
                  <a:pt x="0" y="131445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3544301" y="3632201"/>
            <a:ext cx="1522754" cy="1020113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被测电路</a:t>
            </a:r>
          </a:p>
        </p:txBody>
      </p:sp>
      <p:cxnSp>
        <p:nvCxnSpPr>
          <p:cNvPr id="19" name="直接箭头连接符 18"/>
          <p:cNvCxnSpPr>
            <a:endCxn id="17" idx="1"/>
          </p:cNvCxnSpPr>
          <p:nvPr/>
        </p:nvCxnSpPr>
        <p:spPr>
          <a:xfrm flipV="1">
            <a:off x="2562225" y="4142257"/>
            <a:ext cx="982076" cy="18684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 19"/>
          <p:cNvSpPr/>
          <p:nvPr/>
        </p:nvSpPr>
        <p:spPr>
          <a:xfrm>
            <a:off x="5067055" y="3505200"/>
            <a:ext cx="630070" cy="495301"/>
          </a:xfrm>
          <a:custGeom>
            <a:avLst/>
            <a:gdLst>
              <a:gd name="connsiteX0" fmla="*/ 0 w 590550"/>
              <a:gd name="connsiteY0" fmla="*/ 371475 h 371475"/>
              <a:gd name="connsiteX1" fmla="*/ 238125 w 590550"/>
              <a:gd name="connsiteY1" fmla="*/ 200025 h 371475"/>
              <a:gd name="connsiteX2" fmla="*/ 590550 w 590550"/>
              <a:gd name="connsiteY2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371475">
                <a:moveTo>
                  <a:pt x="0" y="371475"/>
                </a:moveTo>
                <a:cubicBezTo>
                  <a:pt x="69850" y="316706"/>
                  <a:pt x="139700" y="261937"/>
                  <a:pt x="238125" y="200025"/>
                </a:cubicBezTo>
                <a:cubicBezTo>
                  <a:pt x="336550" y="138113"/>
                  <a:pt x="463550" y="69056"/>
                  <a:pt x="590550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 rot="879548">
            <a:off x="8071579" y="2274843"/>
            <a:ext cx="367159" cy="1334070"/>
          </a:xfrm>
          <a:custGeom>
            <a:avLst/>
            <a:gdLst>
              <a:gd name="connsiteX0" fmla="*/ 180975 w 381072"/>
              <a:gd name="connsiteY0" fmla="*/ 1371600 h 1371600"/>
              <a:gd name="connsiteX1" fmla="*/ 381000 w 381072"/>
              <a:gd name="connsiteY1" fmla="*/ 1171575 h 1371600"/>
              <a:gd name="connsiteX2" fmla="*/ 161925 w 381072"/>
              <a:gd name="connsiteY2" fmla="*/ 533400 h 1371600"/>
              <a:gd name="connsiteX3" fmla="*/ 0 w 381072"/>
              <a:gd name="connsiteY3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72" h="1371600">
                <a:moveTo>
                  <a:pt x="180975" y="1371600"/>
                </a:moveTo>
                <a:cubicBezTo>
                  <a:pt x="282575" y="1341437"/>
                  <a:pt x="384175" y="1311275"/>
                  <a:pt x="381000" y="1171575"/>
                </a:cubicBezTo>
                <a:cubicBezTo>
                  <a:pt x="377825" y="1031875"/>
                  <a:pt x="225425" y="728662"/>
                  <a:pt x="161925" y="533400"/>
                </a:cubicBezTo>
                <a:cubicBezTo>
                  <a:pt x="98425" y="338137"/>
                  <a:pt x="49212" y="169068"/>
                  <a:pt x="0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24615" y="4982807"/>
            <a:ext cx="732876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注意：图中红线仅表示了信号端，在每个端口连接处，都应当接地，且全系统应当共地。</a:t>
            </a:r>
          </a:p>
        </p:txBody>
      </p:sp>
      <p:pic>
        <p:nvPicPr>
          <p:cNvPr id="18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24965"/>
            <a:ext cx="4056140" cy="1936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箭头连接符 2"/>
          <p:cNvCxnSpPr/>
          <p:nvPr/>
        </p:nvCxnSpPr>
        <p:spPr>
          <a:xfrm flipV="1">
            <a:off x="926595" y="1191317"/>
            <a:ext cx="180020" cy="225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238" y="3181751"/>
            <a:ext cx="2399039" cy="157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32240" y="1157843"/>
            <a:ext cx="81009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X-Y</a:t>
            </a:r>
            <a:r>
              <a:rPr lang="zh-CN" altLang="en-US" dirty="0">
                <a:solidFill>
                  <a:schemeClr val="bg1"/>
                </a:solidFill>
              </a:rPr>
              <a:t>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575" y="2843935"/>
            <a:ext cx="1710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外扫描方式</a:t>
            </a:r>
          </a:p>
        </p:txBody>
      </p:sp>
    </p:spTree>
    <p:extLst>
      <p:ext uri="{BB962C8B-B14F-4D97-AF65-F5344CB8AC3E}">
        <p14:creationId xmlns:p14="http://schemas.microsoft.com/office/powerpoint/2010/main" val="2901231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100" y="952499"/>
            <a:ext cx="8229600" cy="5491835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实验内容一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FF0000"/>
                </a:solidFill>
              </a:rPr>
              <a:t>确定通过滤波器扫频信号范围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搭建</a:t>
            </a:r>
            <a:r>
              <a:rPr lang="zh-CN" altLang="zh-CN" dirty="0"/>
              <a:t>一个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=70kHz</a:t>
            </a:r>
            <a:r>
              <a:rPr lang="zh-CN" altLang="zh-CN" dirty="0"/>
              <a:t>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串联</a:t>
            </a:r>
            <a:r>
              <a:rPr lang="zh-CN" altLang="en-US" dirty="0"/>
              <a:t>谐振电路</a:t>
            </a:r>
            <a:r>
              <a:rPr lang="zh-CN" altLang="zh-CN" dirty="0"/>
              <a:t>，观察扫描</a:t>
            </a:r>
            <a:r>
              <a:rPr lang="zh-CN" altLang="en-US" dirty="0"/>
              <a:t>信号</a:t>
            </a:r>
            <a:r>
              <a:rPr lang="zh-CN" altLang="zh-CN" dirty="0"/>
              <a:t>通过</a:t>
            </a:r>
            <a:r>
              <a:rPr lang="zh-CN" altLang="en-US" dirty="0"/>
              <a:t>该电路</a:t>
            </a:r>
            <a:r>
              <a:rPr lang="zh-CN" altLang="zh-CN" dirty="0"/>
              <a:t>的情况，记录于表</a:t>
            </a:r>
            <a:r>
              <a:rPr lang="zh-CN" altLang="en-US" dirty="0"/>
              <a:t>中。</a:t>
            </a:r>
            <a:endParaRPr lang="en-US" altLang="zh-CN" dirty="0"/>
          </a:p>
          <a:p>
            <a:pPr lvl="1"/>
            <a:r>
              <a:rPr lang="zh-CN" altLang="en-US" dirty="0"/>
              <a:t>函数发生器输出的波形选用正弦波</a:t>
            </a:r>
            <a:r>
              <a:rPr lang="en-US" altLang="zh-CN" dirty="0"/>
              <a:t>,</a:t>
            </a:r>
            <a:r>
              <a:rPr lang="zh-CN" altLang="en-US" dirty="0"/>
              <a:t>幅度</a:t>
            </a:r>
            <a:r>
              <a:rPr lang="en-US" altLang="zh-CN" dirty="0"/>
              <a:t>4Vpp</a:t>
            </a:r>
            <a:r>
              <a:rPr lang="zh-CN" altLang="en-US" dirty="0"/>
              <a:t>（注意正弦波波形对称，无直流偏移），</a:t>
            </a:r>
            <a:r>
              <a:rPr lang="zh-CN" altLang="zh-CN" dirty="0"/>
              <a:t>调节函数发生器的</a:t>
            </a:r>
            <a:r>
              <a:rPr lang="en-US" altLang="zh-CN" dirty="0"/>
              <a:t>“</a:t>
            </a:r>
            <a:r>
              <a:rPr lang="zh-CN" altLang="zh-CN" dirty="0"/>
              <a:t>扫描</a:t>
            </a:r>
            <a:r>
              <a:rPr lang="en-US" altLang="zh-CN" dirty="0"/>
              <a:t>/</a:t>
            </a:r>
            <a:r>
              <a:rPr lang="zh-CN" altLang="zh-CN" dirty="0"/>
              <a:t>计数</a:t>
            </a:r>
            <a:r>
              <a:rPr lang="en-US" altLang="zh-CN" dirty="0"/>
              <a:t>”</a:t>
            </a:r>
            <a:r>
              <a:rPr lang="zh-CN" altLang="zh-CN" dirty="0"/>
              <a:t>按键，置于</a:t>
            </a:r>
            <a:r>
              <a:rPr lang="en-US" altLang="zh-CN" dirty="0"/>
              <a:t>“</a:t>
            </a:r>
            <a:r>
              <a:rPr lang="zh-CN" altLang="zh-CN" dirty="0">
                <a:solidFill>
                  <a:srgbClr val="FF0000"/>
                </a:solidFill>
              </a:rPr>
              <a:t>内</a:t>
            </a:r>
            <a:r>
              <a:rPr lang="zh-CN" altLang="en-US" dirty="0">
                <a:solidFill>
                  <a:srgbClr val="FF0000"/>
                </a:solidFill>
              </a:rPr>
              <a:t>线性</a:t>
            </a:r>
            <a:r>
              <a:rPr lang="en-US" altLang="zh-CN" dirty="0"/>
              <a:t>”</a:t>
            </a:r>
            <a:r>
              <a:rPr lang="zh-CN" altLang="zh-CN" dirty="0"/>
              <a:t>，</a:t>
            </a:r>
            <a:endParaRPr lang="en-US" altLang="zh-CN" dirty="0"/>
          </a:p>
          <a:p>
            <a:pPr lvl="1"/>
            <a:r>
              <a:rPr lang="zh-CN" altLang="en-US" dirty="0"/>
              <a:t>扫描宽度置于最宽（右旋到底），扫描速度可放置在慢速，。</a:t>
            </a:r>
            <a:endParaRPr lang="en-US" altLang="zh-CN" dirty="0"/>
          </a:p>
          <a:p>
            <a:pPr lvl="1"/>
            <a:r>
              <a:rPr lang="zh-CN" altLang="zh-CN" dirty="0"/>
              <a:t>切换频段，</a:t>
            </a:r>
            <a:r>
              <a:rPr lang="zh-CN" altLang="en-US" dirty="0"/>
              <a:t>调节示波器“水平扫描速度”旋钮至合适，用示波器（主时基模式）</a:t>
            </a:r>
            <a:r>
              <a:rPr lang="zh-CN" altLang="zh-CN" dirty="0"/>
              <a:t>观测</a:t>
            </a:r>
            <a:r>
              <a:rPr lang="zh-CN" altLang="en-US" dirty="0">
                <a:solidFill>
                  <a:srgbClr val="FF0000"/>
                </a:solidFill>
              </a:rPr>
              <a:t>各频段扫频信号包络波形</a:t>
            </a:r>
            <a:r>
              <a:rPr lang="zh-CN" altLang="zh-CN" dirty="0">
                <a:solidFill>
                  <a:srgbClr val="FF0000"/>
                </a:solidFill>
              </a:rPr>
              <a:t>变化</a:t>
            </a:r>
            <a:r>
              <a:rPr lang="zh-CN" altLang="en-US" dirty="0"/>
              <a:t>情况，并记录下来</a:t>
            </a:r>
            <a:r>
              <a:rPr lang="zh-CN" altLang="zh-CN" dirty="0"/>
              <a:t>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124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522" y="3308007"/>
            <a:ext cx="6194982" cy="25065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7855" y="974605"/>
            <a:ext cx="6712750" cy="563033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函数发生器扫描方式相关旋钮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4752020" y="4220302"/>
            <a:ext cx="675075" cy="14509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694230" y="5814600"/>
            <a:ext cx="1032489" cy="9001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扫描方式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5548013" y="1905542"/>
            <a:ext cx="855095" cy="900100"/>
          </a:xfrm>
          <a:prstGeom prst="borderCallout1">
            <a:avLst>
              <a:gd name="adj1" fmla="val 101731"/>
              <a:gd name="adj2" fmla="val 74789"/>
              <a:gd name="adj3" fmla="val 219336"/>
              <a:gd name="adj4" fmla="val 138639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扫描宽度</a:t>
            </a:r>
          </a:p>
        </p:txBody>
      </p:sp>
      <p:sp>
        <p:nvSpPr>
          <p:cNvPr id="8" name="线形标注 1 7"/>
          <p:cNvSpPr/>
          <p:nvPr/>
        </p:nvSpPr>
        <p:spPr>
          <a:xfrm>
            <a:off x="6577103" y="1905542"/>
            <a:ext cx="855095" cy="900100"/>
          </a:xfrm>
          <a:prstGeom prst="borderCallout1">
            <a:avLst>
              <a:gd name="adj1" fmla="val 101731"/>
              <a:gd name="adj2" fmla="val 77040"/>
              <a:gd name="adj3" fmla="val 215399"/>
              <a:gd name="adj4" fmla="val 118501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扫描速率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699085" y="5750165"/>
            <a:ext cx="900100" cy="5100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输出</a:t>
            </a:r>
          </a:p>
        </p:txBody>
      </p:sp>
      <p:sp>
        <p:nvSpPr>
          <p:cNvPr id="12" name="矩形 11"/>
          <p:cNvSpPr/>
          <p:nvPr/>
        </p:nvSpPr>
        <p:spPr>
          <a:xfrm>
            <a:off x="758674" y="1686060"/>
            <a:ext cx="41584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扫描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宽度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调节旋钮：可调节扫频输出的频率范围。</a:t>
            </a:r>
          </a:p>
        </p:txBody>
      </p:sp>
      <p:sp>
        <p:nvSpPr>
          <p:cNvPr id="13" name="矩形 12"/>
          <p:cNvSpPr/>
          <p:nvPr/>
        </p:nvSpPr>
        <p:spPr>
          <a:xfrm>
            <a:off x="758674" y="2440303"/>
            <a:ext cx="44419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扫描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速率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调节旋钮 可以改变内扫描的时间长短。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8FBD4F2-D4E5-461F-AD46-A1F441031835}"/>
              </a:ext>
            </a:extLst>
          </p:cNvPr>
          <p:cNvSpPr txBox="1">
            <a:spLocks/>
          </p:cNvSpPr>
          <p:nvPr/>
        </p:nvSpPr>
        <p:spPr bwMode="white">
          <a:xfrm>
            <a:off x="838200" y="228601"/>
            <a:ext cx="7162800" cy="56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kern="0"/>
              <a:t>实验内容一</a:t>
            </a:r>
            <a:endParaRPr lang="zh-CN" altLang="en-US" kern="0" dirty="0"/>
          </a:p>
        </p:txBody>
      </p:sp>
      <p:sp>
        <p:nvSpPr>
          <p:cNvPr id="15" name="线形标注 1 6">
            <a:extLst>
              <a:ext uri="{FF2B5EF4-FFF2-40B4-BE49-F238E27FC236}">
                <a16:creationId xmlns:a16="http://schemas.microsoft.com/office/drawing/2014/main" id="{066B90F8-96F2-43EF-91CF-DD9282A44214}"/>
              </a:ext>
            </a:extLst>
          </p:cNvPr>
          <p:cNvSpPr/>
          <p:nvPr/>
        </p:nvSpPr>
        <p:spPr>
          <a:xfrm>
            <a:off x="552934" y="3657748"/>
            <a:ext cx="1186418" cy="900100"/>
          </a:xfrm>
          <a:prstGeom prst="borderCallout1">
            <a:avLst>
              <a:gd name="adj1" fmla="val 101731"/>
              <a:gd name="adj2" fmla="val 74789"/>
              <a:gd name="adj3" fmla="val 133140"/>
              <a:gd name="adj4" fmla="val 254078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扫频信号频段</a:t>
            </a:r>
          </a:p>
        </p:txBody>
      </p:sp>
      <p:sp>
        <p:nvSpPr>
          <p:cNvPr id="16" name="线形标注 1 6">
            <a:extLst>
              <a:ext uri="{FF2B5EF4-FFF2-40B4-BE49-F238E27FC236}">
                <a16:creationId xmlns:a16="http://schemas.microsoft.com/office/drawing/2014/main" id="{9BC3071B-966D-4695-AE93-990C37E76467}"/>
              </a:ext>
            </a:extLst>
          </p:cNvPr>
          <p:cNvSpPr/>
          <p:nvPr/>
        </p:nvSpPr>
        <p:spPr>
          <a:xfrm>
            <a:off x="457578" y="4983295"/>
            <a:ext cx="1840211" cy="1101000"/>
          </a:xfrm>
          <a:prstGeom prst="borderCallout1">
            <a:avLst>
              <a:gd name="adj1" fmla="val 101731"/>
              <a:gd name="adj2" fmla="val 74789"/>
              <a:gd name="adj3" fmla="val -1286"/>
              <a:gd name="adj4" fmla="val 199074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频率微调旋钮逆时针旋到底</a:t>
            </a:r>
          </a:p>
        </p:txBody>
      </p:sp>
    </p:spTree>
    <p:extLst>
      <p:ext uri="{BB962C8B-B14F-4D97-AF65-F5344CB8AC3E}">
        <p14:creationId xmlns:p14="http://schemas.microsoft.com/office/powerpoint/2010/main" val="196576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2" grpId="0"/>
      <p:bldP spid="13" grpId="0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13327" y="2663915"/>
            <a:ext cx="2223458" cy="563033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数据记录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140786"/>
              </p:ext>
            </p:extLst>
          </p:nvPr>
        </p:nvGraphicFramePr>
        <p:xfrm>
          <a:off x="459160" y="3389692"/>
          <a:ext cx="7920880" cy="288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频段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100Hz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ysClr val="windowText" lastClr="000000"/>
                          </a:solidFill>
                          <a:effectLst/>
                        </a:rPr>
                        <a:t>1kHz</a:t>
                      </a:r>
                      <a:endParaRPr lang="zh-CN" sz="2400" kern="10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ysClr val="windowText" lastClr="000000"/>
                          </a:solidFill>
                          <a:effectLst/>
                        </a:rPr>
                        <a:t>10kHz</a:t>
                      </a:r>
                      <a:endParaRPr lang="zh-CN" sz="2400" kern="10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100kHz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25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输出波形幅度的变化情况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956" y="816186"/>
            <a:ext cx="4842088" cy="241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36785" y="1352832"/>
            <a:ext cx="540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54009" y="1307827"/>
            <a:ext cx="540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baseline="-25000" dirty="0" err="1">
                <a:latin typeface="Times New Roman" pitchFamily="18" charset="0"/>
                <a:cs typeface="Times New Roman" pitchFamily="18" charset="0"/>
              </a:rPr>
              <a:t>o</a:t>
            </a:r>
            <a:endParaRPr lang="zh-CN" alt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3491880" y="2162922"/>
            <a:ext cx="1710190" cy="585065"/>
          </a:xfrm>
          <a:prstGeom prst="wedgeRoundRectCallout">
            <a:avLst>
              <a:gd name="adj1" fmla="val 45492"/>
              <a:gd name="adj2" fmla="val -1136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两个</a:t>
            </a:r>
            <a:r>
              <a:rPr lang="en-US" altLang="zh-CN" sz="2000" dirty="0"/>
              <a:t>0.01</a:t>
            </a:r>
            <a:r>
              <a:rPr lang="el-GR" altLang="zh-CN" sz="2000" dirty="0"/>
              <a:t>μ</a:t>
            </a:r>
            <a:r>
              <a:rPr lang="en-US" altLang="zh-CN" sz="2000" dirty="0"/>
              <a:t>F</a:t>
            </a:r>
          </a:p>
          <a:p>
            <a:pPr algn="ctr"/>
            <a:r>
              <a:rPr lang="zh-CN" altLang="en-US" sz="2000" dirty="0"/>
              <a:t>串联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D821C91-DA13-46B4-A6C4-EF75CF4537D9}"/>
              </a:ext>
            </a:extLst>
          </p:cNvPr>
          <p:cNvSpPr txBox="1">
            <a:spLocks/>
          </p:cNvSpPr>
          <p:nvPr/>
        </p:nvSpPr>
        <p:spPr bwMode="white">
          <a:xfrm>
            <a:off x="838200" y="228601"/>
            <a:ext cx="7162800" cy="56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kern="0" dirty="0"/>
              <a:t>实验内容一</a:t>
            </a:r>
          </a:p>
        </p:txBody>
      </p:sp>
    </p:spTree>
    <p:extLst>
      <p:ext uri="{BB962C8B-B14F-4D97-AF65-F5344CB8AC3E}">
        <p14:creationId xmlns:p14="http://schemas.microsoft.com/office/powerpoint/2010/main" val="790034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100kHz</a:t>
            </a:r>
            <a:r>
              <a:rPr lang="zh-CN" altLang="en-US" dirty="0"/>
              <a:t>频段的输出波形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t>17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993" y="1110825"/>
            <a:ext cx="5535615" cy="56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4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6555" y="878149"/>
            <a:ext cx="8229599" cy="563033"/>
          </a:xfrm>
        </p:spPr>
        <p:txBody>
          <a:bodyPr/>
          <a:lstStyle/>
          <a:p>
            <a:pPr algn="l"/>
            <a:r>
              <a:rPr lang="zh-CN" altLang="en-US" sz="3200" dirty="0">
                <a:solidFill>
                  <a:srgbClr val="FF0000"/>
                </a:solidFill>
              </a:rPr>
              <a:t>实验内容二：测试函数发生器的压控特性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538605"/>
            <a:ext cx="8544896" cy="3237864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测试内容</a:t>
            </a:r>
            <a:r>
              <a:rPr lang="en-US" altLang="zh-CN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、搭建一个精确电压调节的测试电路，从函数发生器“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  外扫描”输入可调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3V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直流电压，以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0.1V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作为测量间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  隔（函数发生器输出的波形选用峰峰值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4V</a:t>
            </a:r>
            <a:r>
              <a:rPr lang="en-US" altLang="zh-CN" sz="2400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pp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正弦波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，频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  段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100KHz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，波形对称无直流偏移），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记录输出信号频率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  随着输入直流控制电压的逐点变化的情况，完成表格。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B9CCCB2-AFD7-46FE-B661-A29CEF0B4BDD}"/>
              </a:ext>
            </a:extLst>
          </p:cNvPr>
          <p:cNvSpPr txBox="1">
            <a:spLocks/>
          </p:cNvSpPr>
          <p:nvPr/>
        </p:nvSpPr>
        <p:spPr bwMode="white">
          <a:xfrm>
            <a:off x="838200" y="228601"/>
            <a:ext cx="7162800" cy="56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kern="0" dirty="0"/>
              <a:t>实验内容二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2FB1D9-D52A-459F-92F3-AB37C419E9FA}"/>
              </a:ext>
            </a:extLst>
          </p:cNvPr>
          <p:cNvSpPr/>
          <p:nvPr/>
        </p:nvSpPr>
        <p:spPr>
          <a:xfrm>
            <a:off x="1696591" y="5132520"/>
            <a:ext cx="4625340" cy="1213485"/>
          </a:xfrm>
          <a:prstGeom prst="rect">
            <a:avLst/>
          </a:prstGeom>
          <a:noFill/>
        </p:spPr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84D3744-AA98-4623-835A-A167DD47B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790" y="5222529"/>
            <a:ext cx="1575458" cy="1108947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accent2">
                <a:lumMod val="75000"/>
              </a:schemeClr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800" b="1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 </a:t>
            </a:r>
            <a:endParaRPr lang="zh-CN" altLang="en-US" sz="1800" b="1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cxnSp>
        <p:nvCxnSpPr>
          <p:cNvPr id="8" name="AutoShape 5">
            <a:extLst>
              <a:ext uri="{FF2B5EF4-FFF2-40B4-BE49-F238E27FC236}">
                <a16:creationId xmlns:a16="http://schemas.microsoft.com/office/drawing/2014/main" id="{6F299370-4C75-4485-81A6-2AB4D9358C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8890" y="5888247"/>
            <a:ext cx="342900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9" name="Text Box 6">
            <a:extLst>
              <a:ext uri="{FF2B5EF4-FFF2-40B4-BE49-F238E27FC236}">
                <a16:creationId xmlns:a16="http://schemas.microsoft.com/office/drawing/2014/main" id="{7C70CA09-8FAC-4921-B947-2D1EA0C81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083" y="5388022"/>
            <a:ext cx="1395155" cy="77391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91440" tIns="0" rIns="91440" bIns="0" anchor="ctr" anchorCtr="0" upright="1">
            <a:noAutofit/>
          </a:bodyPr>
          <a:lstStyle/>
          <a:p>
            <a:pPr indent="57150" algn="just">
              <a:spcAft>
                <a:spcPts val="0"/>
              </a:spcAft>
            </a:pPr>
            <a:r>
              <a:rPr lang="zh-CN" altLang="en-US" sz="1800" b="1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扫描</a:t>
            </a:r>
            <a:r>
              <a:rPr lang="en-US" sz="1800" b="1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/</a:t>
            </a:r>
            <a:r>
              <a:rPr lang="zh-CN" altLang="en-US" sz="1800" b="1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计数外扫描输入</a:t>
            </a:r>
          </a:p>
        </p:txBody>
      </p:sp>
      <p:cxnSp>
        <p:nvCxnSpPr>
          <p:cNvPr id="10" name="AutoShape 7">
            <a:extLst>
              <a:ext uri="{FF2B5EF4-FFF2-40B4-BE49-F238E27FC236}">
                <a16:creationId xmlns:a16="http://schemas.microsoft.com/office/drawing/2014/main" id="{978E679E-C8FE-492F-9B6E-9164874CD4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7249" y="5777001"/>
            <a:ext cx="875227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1" name="Text Box 8">
            <a:extLst>
              <a:ext uri="{FF2B5EF4-FFF2-40B4-BE49-F238E27FC236}">
                <a16:creationId xmlns:a16="http://schemas.microsoft.com/office/drawing/2014/main" id="{0DF1D61D-998A-4813-A78A-702CC5950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8424" y="5423577"/>
            <a:ext cx="701427" cy="324485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1800" b="1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输出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EA6B09E8-34B6-4CC9-B50E-FEBFB25C9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017" y="5721799"/>
            <a:ext cx="91440" cy="3060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 sz="1800" b="1"/>
          </a:p>
        </p:txBody>
      </p:sp>
      <p:cxnSp>
        <p:nvCxnSpPr>
          <p:cNvPr id="15" name="AutoShape 12">
            <a:extLst>
              <a:ext uri="{FF2B5EF4-FFF2-40B4-BE49-F238E27FC236}">
                <a16:creationId xmlns:a16="http://schemas.microsoft.com/office/drawing/2014/main" id="{C3A54B5C-9F14-40CE-8F2B-9B4E4932677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11832" y="5427160"/>
            <a:ext cx="1270" cy="29400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16" name="AutoShape 13">
            <a:extLst>
              <a:ext uri="{FF2B5EF4-FFF2-40B4-BE49-F238E27FC236}">
                <a16:creationId xmlns:a16="http://schemas.microsoft.com/office/drawing/2014/main" id="{8B1C6B3C-463B-4BF8-882A-EDB88D06E59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10562" y="6046919"/>
            <a:ext cx="1270" cy="23876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17" name="Oval 14">
            <a:extLst>
              <a:ext uri="{FF2B5EF4-FFF2-40B4-BE49-F238E27FC236}">
                <a16:creationId xmlns:a16="http://schemas.microsoft.com/office/drawing/2014/main" id="{F2F94CEC-9F16-44B7-AEF0-D15958685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258" y="5389695"/>
            <a:ext cx="71755" cy="7175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 sz="1800" b="1"/>
          </a:p>
        </p:txBody>
      </p:sp>
      <p:cxnSp>
        <p:nvCxnSpPr>
          <p:cNvPr id="18" name="AutoShape 15">
            <a:extLst>
              <a:ext uri="{FF2B5EF4-FFF2-40B4-BE49-F238E27FC236}">
                <a16:creationId xmlns:a16="http://schemas.microsoft.com/office/drawing/2014/main" id="{0BB76C65-3615-4BC3-8A0E-127D36CEBB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64207" y="6285679"/>
            <a:ext cx="95250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</a:ln>
        </p:spPr>
      </p:cxnSp>
      <p:sp>
        <p:nvSpPr>
          <p:cNvPr id="19" name="Text Box 16">
            <a:extLst>
              <a:ext uri="{FF2B5EF4-FFF2-40B4-BE49-F238E27FC236}">
                <a16:creationId xmlns:a16="http://schemas.microsoft.com/office/drawing/2014/main" id="{69241C5F-E2A3-44CC-A31A-4B6017223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743" y="4829245"/>
            <a:ext cx="630552" cy="314325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800" b="1" kern="100" dirty="0" err="1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V</a:t>
            </a:r>
            <a:r>
              <a:rPr lang="en-US" sz="1800" b="1" kern="100" baseline="-25000" dirty="0" err="1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cc</a:t>
            </a:r>
            <a:endParaRPr lang="zh-CN" altLang="en-US" sz="1800" b="1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76F71CB2-A676-4312-A4A2-FB14BCAA50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875587" y="5283649"/>
            <a:ext cx="91440" cy="3060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zh-CN" altLang="en-US" sz="1800" b="1"/>
          </a:p>
        </p:txBody>
      </p:sp>
      <p:cxnSp>
        <p:nvCxnSpPr>
          <p:cNvPr id="21" name="AutoShape 18">
            <a:extLst>
              <a:ext uri="{FF2B5EF4-FFF2-40B4-BE49-F238E27FC236}">
                <a16:creationId xmlns:a16="http://schemas.microsoft.com/office/drawing/2014/main" id="{D9FD07CA-72F5-4107-855E-C582FF4B94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93013" y="5427160"/>
            <a:ext cx="164465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22" name="AutoShape 19">
            <a:extLst>
              <a:ext uri="{FF2B5EF4-FFF2-40B4-BE49-F238E27FC236}">
                <a16:creationId xmlns:a16="http://schemas.microsoft.com/office/drawing/2014/main" id="{3E5C2DCA-AE5E-4F69-B702-B3E6809F09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74342" y="5437320"/>
            <a:ext cx="232410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23" name="Text Box 20">
            <a:extLst>
              <a:ext uri="{FF2B5EF4-FFF2-40B4-BE49-F238E27FC236}">
                <a16:creationId xmlns:a16="http://schemas.microsoft.com/office/drawing/2014/main" id="{95593295-C7D5-487E-82D7-009D9EAA1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998" y="5087515"/>
            <a:ext cx="248285" cy="299085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800" b="1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R</a:t>
            </a:r>
            <a:r>
              <a:rPr lang="en-US" sz="1800" b="1" kern="100" baseline="-250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1</a:t>
            </a:r>
            <a:endParaRPr lang="zh-CN" altLang="en-US" sz="1800" b="1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06AE8715-7B84-41F8-8FD5-487F42D8E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341" y="5709735"/>
            <a:ext cx="248285" cy="299085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800" b="1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R</a:t>
            </a:r>
            <a:r>
              <a:rPr lang="en-US" sz="1800" b="1" kern="100" baseline="-250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</a:t>
            </a:r>
            <a:endParaRPr lang="zh-CN" altLang="en-US" sz="1800" b="1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D5D67BE0-BDAD-48D5-8249-36D815896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2083" y="4847962"/>
            <a:ext cx="1372310" cy="345915"/>
          </a:xfrm>
          <a:prstGeom prst="rect">
            <a:avLst/>
          </a:prstGeom>
          <a:solidFill>
            <a:schemeClr val="bg1">
              <a:lumMod val="85000"/>
              <a:lumOff val="0"/>
            </a:schemeClr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800" b="1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函数发生器</a:t>
            </a:r>
          </a:p>
          <a:p>
            <a:pPr algn="ctr">
              <a:spcAft>
                <a:spcPts val="0"/>
              </a:spcAft>
            </a:pPr>
            <a:r>
              <a:rPr lang="en-US" sz="1800" b="1" kern="100" dirty="0"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rPr>
              <a:t> </a:t>
            </a:r>
            <a:endParaRPr lang="zh-CN" altLang="en-US" sz="1800" b="1" kern="100" dirty="0">
              <a:latin typeface="Calibri" panose="020F05020202040302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8EDBF8-7BD3-4C8D-AC42-C2036F4AE8E5}"/>
              </a:ext>
            </a:extLst>
          </p:cNvPr>
          <p:cNvSpPr txBox="1"/>
          <p:nvPr/>
        </p:nvSpPr>
        <p:spPr>
          <a:xfrm>
            <a:off x="1146145" y="5222529"/>
            <a:ext cx="465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5V</a:t>
            </a:r>
            <a:endParaRPr lang="zh-CN" altLang="en-US" sz="1800" dirty="0"/>
          </a:p>
        </p:txBody>
      </p:sp>
      <p:sp>
        <p:nvSpPr>
          <p:cNvPr id="27" name="圆角矩形 30">
            <a:extLst>
              <a:ext uri="{FF2B5EF4-FFF2-40B4-BE49-F238E27FC236}">
                <a16:creationId xmlns:a16="http://schemas.microsoft.com/office/drawing/2014/main" id="{F1C42558-2ACE-42BB-8953-AA404A9AA1F8}"/>
              </a:ext>
            </a:extLst>
          </p:cNvPr>
          <p:cNvSpPr/>
          <p:nvPr/>
        </p:nvSpPr>
        <p:spPr>
          <a:xfrm>
            <a:off x="5132476" y="5388022"/>
            <a:ext cx="1984183" cy="8032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示波器测量频率（可选）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实验内容二参考方案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4068087" y="6905779"/>
            <a:ext cx="838200" cy="222251"/>
          </a:xfrm>
        </p:spPr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719529" y="2904335"/>
            <a:ext cx="4625340" cy="1213485"/>
          </a:xfrm>
          <a:prstGeom prst="rect">
            <a:avLst/>
          </a:prstGeom>
          <a:noFill/>
        </p:spPr>
      </p:sp>
      <p:pic>
        <p:nvPicPr>
          <p:cNvPr id="29" name="Picture 132" descr="IMG_00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30" y="2024388"/>
            <a:ext cx="4044041" cy="185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椭圆 35"/>
          <p:cNvSpPr/>
          <p:nvPr/>
        </p:nvSpPr>
        <p:spPr>
          <a:xfrm>
            <a:off x="5287484" y="2753925"/>
            <a:ext cx="405045" cy="967743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6190471" y="2776292"/>
            <a:ext cx="405045" cy="967743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椭圆 37"/>
          <p:cNvSpPr/>
          <p:nvPr/>
        </p:nvSpPr>
        <p:spPr>
          <a:xfrm>
            <a:off x="7270592" y="2312342"/>
            <a:ext cx="463349" cy="441583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765647" y="2312343"/>
            <a:ext cx="428921" cy="441582"/>
          </a:xfrm>
          <a:prstGeom prst="ellipse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5073829" y="4035706"/>
            <a:ext cx="9449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100k</a:t>
            </a:r>
            <a:r>
              <a:rPr lang="zh-CN" altLang="en-US" dirty="0"/>
              <a:t>频段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8100" y="4023817"/>
            <a:ext cx="513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外扫描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5471" y="3983446"/>
            <a:ext cx="811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扫描宽度顺时针旋至最大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67355" y="3969060"/>
            <a:ext cx="8547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扫描速率顺时针旋至适中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AC67669F-76EE-44F2-8D98-B77775769F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5" t="13131" r="4615" b="10558"/>
          <a:stretch/>
        </p:blipFill>
        <p:spPr>
          <a:xfrm>
            <a:off x="221315" y="2307344"/>
            <a:ext cx="3587528" cy="2280028"/>
          </a:xfrm>
          <a:prstGeom prst="rect">
            <a:avLst/>
          </a:prstGeom>
        </p:spPr>
      </p:pic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828B1202-E074-7A08-E198-769B80C5D443}"/>
              </a:ext>
            </a:extLst>
          </p:cNvPr>
          <p:cNvSpPr/>
          <p:nvPr/>
        </p:nvSpPr>
        <p:spPr>
          <a:xfrm>
            <a:off x="1404919" y="4375591"/>
            <a:ext cx="1815224" cy="1213484"/>
          </a:xfrm>
          <a:custGeom>
            <a:avLst/>
            <a:gdLst>
              <a:gd name="connsiteX0" fmla="*/ 0 w 1682885"/>
              <a:gd name="connsiteY0" fmla="*/ 0 h 1955260"/>
              <a:gd name="connsiteX1" fmla="*/ 68093 w 1682885"/>
              <a:gd name="connsiteY1" fmla="*/ 214009 h 1955260"/>
              <a:gd name="connsiteX2" fmla="*/ 136187 w 1682885"/>
              <a:gd name="connsiteY2" fmla="*/ 505839 h 1955260"/>
              <a:gd name="connsiteX3" fmla="*/ 194553 w 1682885"/>
              <a:gd name="connsiteY3" fmla="*/ 632298 h 1955260"/>
              <a:gd name="connsiteX4" fmla="*/ 204281 w 1682885"/>
              <a:gd name="connsiteY4" fmla="*/ 680936 h 1955260"/>
              <a:gd name="connsiteX5" fmla="*/ 243191 w 1682885"/>
              <a:gd name="connsiteY5" fmla="*/ 768485 h 1955260"/>
              <a:gd name="connsiteX6" fmla="*/ 282102 w 1682885"/>
              <a:gd name="connsiteY6" fmla="*/ 885217 h 1955260"/>
              <a:gd name="connsiteX7" fmla="*/ 340468 w 1682885"/>
              <a:gd name="connsiteY7" fmla="*/ 992222 h 1955260"/>
              <a:gd name="connsiteX8" fmla="*/ 379378 w 1682885"/>
              <a:gd name="connsiteY8" fmla="*/ 1108953 h 1955260"/>
              <a:gd name="connsiteX9" fmla="*/ 408561 w 1682885"/>
              <a:gd name="connsiteY9" fmla="*/ 1157592 h 1955260"/>
              <a:gd name="connsiteX10" fmla="*/ 428017 w 1682885"/>
              <a:gd name="connsiteY10" fmla="*/ 1206230 h 1955260"/>
              <a:gd name="connsiteX11" fmla="*/ 466927 w 1682885"/>
              <a:gd name="connsiteY11" fmla="*/ 1264596 h 1955260"/>
              <a:gd name="connsiteX12" fmla="*/ 505838 w 1682885"/>
              <a:gd name="connsiteY12" fmla="*/ 1342417 h 1955260"/>
              <a:gd name="connsiteX13" fmla="*/ 554476 w 1682885"/>
              <a:gd name="connsiteY13" fmla="*/ 1400783 h 1955260"/>
              <a:gd name="connsiteX14" fmla="*/ 573932 w 1682885"/>
              <a:gd name="connsiteY14" fmla="*/ 1439694 h 1955260"/>
              <a:gd name="connsiteX15" fmla="*/ 593387 w 1682885"/>
              <a:gd name="connsiteY15" fmla="*/ 1468877 h 1955260"/>
              <a:gd name="connsiteX16" fmla="*/ 632298 w 1682885"/>
              <a:gd name="connsiteY16" fmla="*/ 1546698 h 1955260"/>
              <a:gd name="connsiteX17" fmla="*/ 690664 w 1682885"/>
              <a:gd name="connsiteY17" fmla="*/ 1634247 h 1955260"/>
              <a:gd name="connsiteX18" fmla="*/ 817123 w 1682885"/>
              <a:gd name="connsiteY18" fmla="*/ 1750979 h 1955260"/>
              <a:gd name="connsiteX19" fmla="*/ 885217 w 1682885"/>
              <a:gd name="connsiteY19" fmla="*/ 1799617 h 1955260"/>
              <a:gd name="connsiteX20" fmla="*/ 1001949 w 1682885"/>
              <a:gd name="connsiteY20" fmla="*/ 1896894 h 1955260"/>
              <a:gd name="connsiteX21" fmla="*/ 1040859 w 1682885"/>
              <a:gd name="connsiteY21" fmla="*/ 1916349 h 1955260"/>
              <a:gd name="connsiteX22" fmla="*/ 1167319 w 1682885"/>
              <a:gd name="connsiteY22" fmla="*/ 1935804 h 1955260"/>
              <a:gd name="connsiteX23" fmla="*/ 1206230 w 1682885"/>
              <a:gd name="connsiteY23" fmla="*/ 1945532 h 1955260"/>
              <a:gd name="connsiteX24" fmla="*/ 1264596 w 1682885"/>
              <a:gd name="connsiteY24" fmla="*/ 1955260 h 1955260"/>
              <a:gd name="connsiteX25" fmla="*/ 1614791 w 1682885"/>
              <a:gd name="connsiteY25" fmla="*/ 1945532 h 1955260"/>
              <a:gd name="connsiteX26" fmla="*/ 1643974 w 1682885"/>
              <a:gd name="connsiteY26" fmla="*/ 1906622 h 1955260"/>
              <a:gd name="connsiteX27" fmla="*/ 1682885 w 1682885"/>
              <a:gd name="connsiteY27" fmla="*/ 1877439 h 19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682885" h="1955260">
                <a:moveTo>
                  <a:pt x="0" y="0"/>
                </a:moveTo>
                <a:cubicBezTo>
                  <a:pt x="22698" y="71336"/>
                  <a:pt x="52408" y="140810"/>
                  <a:pt x="68093" y="214009"/>
                </a:cubicBezTo>
                <a:cubicBezTo>
                  <a:pt x="82348" y="280532"/>
                  <a:pt x="116118" y="445633"/>
                  <a:pt x="136187" y="505839"/>
                </a:cubicBezTo>
                <a:cubicBezTo>
                  <a:pt x="197567" y="689977"/>
                  <a:pt x="155501" y="502124"/>
                  <a:pt x="194553" y="632298"/>
                </a:cubicBezTo>
                <a:cubicBezTo>
                  <a:pt x="199304" y="648134"/>
                  <a:pt x="199530" y="665100"/>
                  <a:pt x="204281" y="680936"/>
                </a:cubicBezTo>
                <a:cubicBezTo>
                  <a:pt x="230904" y="769680"/>
                  <a:pt x="214446" y="691833"/>
                  <a:pt x="243191" y="768485"/>
                </a:cubicBezTo>
                <a:cubicBezTo>
                  <a:pt x="257593" y="806889"/>
                  <a:pt x="261000" y="850046"/>
                  <a:pt x="282102" y="885217"/>
                </a:cubicBezTo>
                <a:cubicBezTo>
                  <a:pt x="301812" y="918068"/>
                  <a:pt x="326602" y="956566"/>
                  <a:pt x="340468" y="992222"/>
                </a:cubicBezTo>
                <a:cubicBezTo>
                  <a:pt x="355334" y="1030448"/>
                  <a:pt x="358276" y="1073783"/>
                  <a:pt x="379378" y="1108953"/>
                </a:cubicBezTo>
                <a:cubicBezTo>
                  <a:pt x="389106" y="1125166"/>
                  <a:pt x="400105" y="1140681"/>
                  <a:pt x="408561" y="1157592"/>
                </a:cubicBezTo>
                <a:cubicBezTo>
                  <a:pt x="416370" y="1173210"/>
                  <a:pt x="419655" y="1190900"/>
                  <a:pt x="428017" y="1206230"/>
                </a:cubicBezTo>
                <a:cubicBezTo>
                  <a:pt x="439214" y="1226757"/>
                  <a:pt x="455326" y="1244294"/>
                  <a:pt x="466927" y="1264596"/>
                </a:cubicBezTo>
                <a:cubicBezTo>
                  <a:pt x="481316" y="1289777"/>
                  <a:pt x="485331" y="1321909"/>
                  <a:pt x="505838" y="1342417"/>
                </a:cubicBezTo>
                <a:cubicBezTo>
                  <a:pt x="528035" y="1364615"/>
                  <a:pt x="535208" y="1369954"/>
                  <a:pt x="554476" y="1400783"/>
                </a:cubicBezTo>
                <a:cubicBezTo>
                  <a:pt x="562162" y="1413080"/>
                  <a:pt x="566737" y="1427103"/>
                  <a:pt x="573932" y="1439694"/>
                </a:cubicBezTo>
                <a:cubicBezTo>
                  <a:pt x="579732" y="1449845"/>
                  <a:pt x="587789" y="1458613"/>
                  <a:pt x="593387" y="1468877"/>
                </a:cubicBezTo>
                <a:cubicBezTo>
                  <a:pt x="607275" y="1494338"/>
                  <a:pt x="616210" y="1522567"/>
                  <a:pt x="632298" y="1546698"/>
                </a:cubicBezTo>
                <a:cubicBezTo>
                  <a:pt x="651753" y="1575881"/>
                  <a:pt x="665863" y="1609446"/>
                  <a:pt x="690664" y="1634247"/>
                </a:cubicBezTo>
                <a:cubicBezTo>
                  <a:pt x="865099" y="1808682"/>
                  <a:pt x="693468" y="1642780"/>
                  <a:pt x="817123" y="1750979"/>
                </a:cubicBezTo>
                <a:cubicBezTo>
                  <a:pt x="869704" y="1796988"/>
                  <a:pt x="820146" y="1767082"/>
                  <a:pt x="885217" y="1799617"/>
                </a:cubicBezTo>
                <a:cubicBezTo>
                  <a:pt x="920896" y="1835296"/>
                  <a:pt x="955697" y="1873768"/>
                  <a:pt x="1001949" y="1896894"/>
                </a:cubicBezTo>
                <a:cubicBezTo>
                  <a:pt x="1014919" y="1903379"/>
                  <a:pt x="1026970" y="1912182"/>
                  <a:pt x="1040859" y="1916349"/>
                </a:cubicBezTo>
                <a:cubicBezTo>
                  <a:pt x="1055335" y="1920692"/>
                  <a:pt x="1157012" y="1933930"/>
                  <a:pt x="1167319" y="1935804"/>
                </a:cubicBezTo>
                <a:cubicBezTo>
                  <a:pt x="1180473" y="1938196"/>
                  <a:pt x="1193120" y="1942910"/>
                  <a:pt x="1206230" y="1945532"/>
                </a:cubicBezTo>
                <a:cubicBezTo>
                  <a:pt x="1225571" y="1949400"/>
                  <a:pt x="1245141" y="1952017"/>
                  <a:pt x="1264596" y="1955260"/>
                </a:cubicBezTo>
                <a:lnTo>
                  <a:pt x="1614791" y="1945532"/>
                </a:lnTo>
                <a:cubicBezTo>
                  <a:pt x="1630872" y="1943470"/>
                  <a:pt x="1632510" y="1918086"/>
                  <a:pt x="1643974" y="1906622"/>
                </a:cubicBezTo>
                <a:cubicBezTo>
                  <a:pt x="1655438" y="1895158"/>
                  <a:pt x="1669915" y="1887167"/>
                  <a:pt x="1682885" y="1877439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C134561-CDF8-9B0F-2319-E4E2AC8CB7E2}"/>
              </a:ext>
            </a:extLst>
          </p:cNvPr>
          <p:cNvSpPr/>
          <p:nvPr/>
        </p:nvSpPr>
        <p:spPr>
          <a:xfrm>
            <a:off x="2769715" y="4409538"/>
            <a:ext cx="1303283" cy="1693544"/>
          </a:xfrm>
          <a:custGeom>
            <a:avLst/>
            <a:gdLst>
              <a:gd name="connsiteX0" fmla="*/ 1303283 w 1303283"/>
              <a:gd name="connsiteY0" fmla="*/ 0 h 1693544"/>
              <a:gd name="connsiteX1" fmla="*/ 1261242 w 1303283"/>
              <a:gd name="connsiteY1" fmla="*/ 84083 h 1693544"/>
              <a:gd name="connsiteX2" fmla="*/ 1250731 w 1303283"/>
              <a:gd name="connsiteY2" fmla="*/ 178676 h 1693544"/>
              <a:gd name="connsiteX3" fmla="*/ 1229711 w 1303283"/>
              <a:gd name="connsiteY3" fmla="*/ 304800 h 1693544"/>
              <a:gd name="connsiteX4" fmla="*/ 1219200 w 1303283"/>
              <a:gd name="connsiteY4" fmla="*/ 346842 h 1693544"/>
              <a:gd name="connsiteX5" fmla="*/ 1198180 w 1303283"/>
              <a:gd name="connsiteY5" fmla="*/ 388883 h 1693544"/>
              <a:gd name="connsiteX6" fmla="*/ 1177159 w 1303283"/>
              <a:gd name="connsiteY6" fmla="*/ 493986 h 1693544"/>
              <a:gd name="connsiteX7" fmla="*/ 1156138 w 1303283"/>
              <a:gd name="connsiteY7" fmla="*/ 578069 h 1693544"/>
              <a:gd name="connsiteX8" fmla="*/ 1145628 w 1303283"/>
              <a:gd name="connsiteY8" fmla="*/ 620111 h 1693544"/>
              <a:gd name="connsiteX9" fmla="*/ 1135118 w 1303283"/>
              <a:gd name="connsiteY9" fmla="*/ 672662 h 1693544"/>
              <a:gd name="connsiteX10" fmla="*/ 1145628 w 1303283"/>
              <a:gd name="connsiteY10" fmla="*/ 767255 h 1693544"/>
              <a:gd name="connsiteX11" fmla="*/ 1124607 w 1303283"/>
              <a:gd name="connsiteY11" fmla="*/ 987973 h 1693544"/>
              <a:gd name="connsiteX12" fmla="*/ 1093076 w 1303283"/>
              <a:gd name="connsiteY12" fmla="*/ 1061545 h 1693544"/>
              <a:gd name="connsiteX13" fmla="*/ 1082566 w 1303283"/>
              <a:gd name="connsiteY13" fmla="*/ 1093076 h 1693544"/>
              <a:gd name="connsiteX14" fmla="*/ 1008993 w 1303283"/>
              <a:gd name="connsiteY14" fmla="*/ 1198180 h 1693544"/>
              <a:gd name="connsiteX15" fmla="*/ 914400 w 1303283"/>
              <a:gd name="connsiteY15" fmla="*/ 1292773 h 1693544"/>
              <a:gd name="connsiteX16" fmla="*/ 861849 w 1303283"/>
              <a:gd name="connsiteY16" fmla="*/ 1324304 h 1693544"/>
              <a:gd name="connsiteX17" fmla="*/ 798787 w 1303283"/>
              <a:gd name="connsiteY17" fmla="*/ 1366345 h 1693544"/>
              <a:gd name="connsiteX18" fmla="*/ 756745 w 1303283"/>
              <a:gd name="connsiteY18" fmla="*/ 1387366 h 1693544"/>
              <a:gd name="connsiteX19" fmla="*/ 714704 w 1303283"/>
              <a:gd name="connsiteY19" fmla="*/ 1429407 h 1693544"/>
              <a:gd name="connsiteX20" fmla="*/ 662152 w 1303283"/>
              <a:gd name="connsiteY20" fmla="*/ 1450428 h 1693544"/>
              <a:gd name="connsiteX21" fmla="*/ 546538 w 1303283"/>
              <a:gd name="connsiteY21" fmla="*/ 1555531 h 1693544"/>
              <a:gd name="connsiteX22" fmla="*/ 515007 w 1303283"/>
              <a:gd name="connsiteY22" fmla="*/ 1587062 h 1693544"/>
              <a:gd name="connsiteX23" fmla="*/ 483476 w 1303283"/>
              <a:gd name="connsiteY23" fmla="*/ 1608083 h 1693544"/>
              <a:gd name="connsiteX24" fmla="*/ 441435 w 1303283"/>
              <a:gd name="connsiteY24" fmla="*/ 1639614 h 1693544"/>
              <a:gd name="connsiteX25" fmla="*/ 399393 w 1303283"/>
              <a:gd name="connsiteY25" fmla="*/ 1660635 h 1693544"/>
              <a:gd name="connsiteX26" fmla="*/ 367862 w 1303283"/>
              <a:gd name="connsiteY26" fmla="*/ 1681655 h 1693544"/>
              <a:gd name="connsiteX27" fmla="*/ 325821 w 1303283"/>
              <a:gd name="connsiteY27" fmla="*/ 1692166 h 1693544"/>
              <a:gd name="connsiteX28" fmla="*/ 0 w 1303283"/>
              <a:gd name="connsiteY28" fmla="*/ 1692166 h 169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03283" h="1693544">
                <a:moveTo>
                  <a:pt x="1303283" y="0"/>
                </a:moveTo>
                <a:cubicBezTo>
                  <a:pt x="1287714" y="25948"/>
                  <a:pt x="1266464" y="52752"/>
                  <a:pt x="1261242" y="84083"/>
                </a:cubicBezTo>
                <a:cubicBezTo>
                  <a:pt x="1256026" y="115376"/>
                  <a:pt x="1254666" y="147196"/>
                  <a:pt x="1250731" y="178676"/>
                </a:cubicBezTo>
                <a:cubicBezTo>
                  <a:pt x="1244464" y="228810"/>
                  <a:pt x="1240198" y="257610"/>
                  <a:pt x="1229711" y="304800"/>
                </a:cubicBezTo>
                <a:cubicBezTo>
                  <a:pt x="1226577" y="318901"/>
                  <a:pt x="1224272" y="333316"/>
                  <a:pt x="1219200" y="346842"/>
                </a:cubicBezTo>
                <a:cubicBezTo>
                  <a:pt x="1213699" y="361512"/>
                  <a:pt x="1205187" y="374869"/>
                  <a:pt x="1198180" y="388883"/>
                </a:cubicBezTo>
                <a:cubicBezTo>
                  <a:pt x="1191173" y="423917"/>
                  <a:pt x="1185824" y="459325"/>
                  <a:pt x="1177159" y="493986"/>
                </a:cubicBezTo>
                <a:lnTo>
                  <a:pt x="1156138" y="578069"/>
                </a:lnTo>
                <a:cubicBezTo>
                  <a:pt x="1152635" y="592083"/>
                  <a:pt x="1148461" y="605946"/>
                  <a:pt x="1145628" y="620111"/>
                </a:cubicBezTo>
                <a:lnTo>
                  <a:pt x="1135118" y="672662"/>
                </a:lnTo>
                <a:cubicBezTo>
                  <a:pt x="1138621" y="704193"/>
                  <a:pt x="1145628" y="735530"/>
                  <a:pt x="1145628" y="767255"/>
                </a:cubicBezTo>
                <a:cubicBezTo>
                  <a:pt x="1145628" y="821448"/>
                  <a:pt x="1138951" y="923425"/>
                  <a:pt x="1124607" y="987973"/>
                </a:cubicBezTo>
                <a:cubicBezTo>
                  <a:pt x="1117022" y="1022107"/>
                  <a:pt x="1107909" y="1026935"/>
                  <a:pt x="1093076" y="1061545"/>
                </a:cubicBezTo>
                <a:cubicBezTo>
                  <a:pt x="1088712" y="1071728"/>
                  <a:pt x="1087946" y="1083391"/>
                  <a:pt x="1082566" y="1093076"/>
                </a:cubicBezTo>
                <a:cubicBezTo>
                  <a:pt x="1075961" y="1104965"/>
                  <a:pt x="1024375" y="1181517"/>
                  <a:pt x="1008993" y="1198180"/>
                </a:cubicBezTo>
                <a:cubicBezTo>
                  <a:pt x="978747" y="1230946"/>
                  <a:pt x="952637" y="1269831"/>
                  <a:pt x="914400" y="1292773"/>
                </a:cubicBezTo>
                <a:cubicBezTo>
                  <a:pt x="896883" y="1303283"/>
                  <a:pt x="879084" y="1313337"/>
                  <a:pt x="861849" y="1324304"/>
                </a:cubicBezTo>
                <a:cubicBezTo>
                  <a:pt x="840535" y="1337867"/>
                  <a:pt x="821383" y="1355047"/>
                  <a:pt x="798787" y="1366345"/>
                </a:cubicBezTo>
                <a:cubicBezTo>
                  <a:pt x="784773" y="1373352"/>
                  <a:pt x="769280" y="1377965"/>
                  <a:pt x="756745" y="1387366"/>
                </a:cubicBezTo>
                <a:cubicBezTo>
                  <a:pt x="740890" y="1399257"/>
                  <a:pt x="731194" y="1418414"/>
                  <a:pt x="714704" y="1429407"/>
                </a:cubicBezTo>
                <a:cubicBezTo>
                  <a:pt x="699006" y="1439872"/>
                  <a:pt x="678644" y="1441265"/>
                  <a:pt x="662152" y="1450428"/>
                </a:cubicBezTo>
                <a:cubicBezTo>
                  <a:pt x="622899" y="1472236"/>
                  <a:pt x="572044" y="1530025"/>
                  <a:pt x="546538" y="1555531"/>
                </a:cubicBezTo>
                <a:cubicBezTo>
                  <a:pt x="536028" y="1566041"/>
                  <a:pt x="527374" y="1578817"/>
                  <a:pt x="515007" y="1587062"/>
                </a:cubicBezTo>
                <a:cubicBezTo>
                  <a:pt x="504497" y="1594069"/>
                  <a:pt x="493755" y="1600741"/>
                  <a:pt x="483476" y="1608083"/>
                </a:cubicBezTo>
                <a:cubicBezTo>
                  <a:pt x="469222" y="1618265"/>
                  <a:pt x="456289" y="1630330"/>
                  <a:pt x="441435" y="1639614"/>
                </a:cubicBezTo>
                <a:cubicBezTo>
                  <a:pt x="428148" y="1647918"/>
                  <a:pt x="412997" y="1652862"/>
                  <a:pt x="399393" y="1660635"/>
                </a:cubicBezTo>
                <a:cubicBezTo>
                  <a:pt x="388426" y="1666902"/>
                  <a:pt x="379472" y="1676679"/>
                  <a:pt x="367862" y="1681655"/>
                </a:cubicBezTo>
                <a:cubicBezTo>
                  <a:pt x="354585" y="1687345"/>
                  <a:pt x="340260" y="1691753"/>
                  <a:pt x="325821" y="1692166"/>
                </a:cubicBezTo>
                <a:cubicBezTo>
                  <a:pt x="217258" y="1695268"/>
                  <a:pt x="108607" y="1692166"/>
                  <a:pt x="0" y="1692166"/>
                </a:cubicBezTo>
              </a:path>
            </a:pathLst>
          </a:custGeom>
          <a:noFill/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BE2FEA71-B13A-48E0-ABF5-B0BCE335DC55}"/>
              </a:ext>
            </a:extLst>
          </p:cNvPr>
          <p:cNvSpPr/>
          <p:nvPr/>
        </p:nvSpPr>
        <p:spPr>
          <a:xfrm>
            <a:off x="3236220" y="1601778"/>
            <a:ext cx="5192919" cy="3924728"/>
          </a:xfrm>
          <a:custGeom>
            <a:avLst/>
            <a:gdLst>
              <a:gd name="connsiteX0" fmla="*/ 0 w 5208998"/>
              <a:gd name="connsiteY0" fmla="*/ 3924728 h 3924728"/>
              <a:gd name="connsiteX1" fmla="*/ 133564 w 5208998"/>
              <a:gd name="connsiteY1" fmla="*/ 3914454 h 3924728"/>
              <a:gd name="connsiteX2" fmla="*/ 205483 w 5208998"/>
              <a:gd name="connsiteY2" fmla="*/ 3893906 h 3924728"/>
              <a:gd name="connsiteX3" fmla="*/ 267128 w 5208998"/>
              <a:gd name="connsiteY3" fmla="*/ 3852809 h 3924728"/>
              <a:gd name="connsiteX4" fmla="*/ 297951 w 5208998"/>
              <a:gd name="connsiteY4" fmla="*/ 3821986 h 3924728"/>
              <a:gd name="connsiteX5" fmla="*/ 359596 w 5208998"/>
              <a:gd name="connsiteY5" fmla="*/ 3780890 h 3924728"/>
              <a:gd name="connsiteX6" fmla="*/ 410966 w 5208998"/>
              <a:gd name="connsiteY6" fmla="*/ 3729519 h 3924728"/>
              <a:gd name="connsiteX7" fmla="*/ 431515 w 5208998"/>
              <a:gd name="connsiteY7" fmla="*/ 3698697 h 3924728"/>
              <a:gd name="connsiteX8" fmla="*/ 452063 w 5208998"/>
              <a:gd name="connsiteY8" fmla="*/ 3678148 h 3924728"/>
              <a:gd name="connsiteX9" fmla="*/ 493160 w 5208998"/>
              <a:gd name="connsiteY9" fmla="*/ 3616503 h 3924728"/>
              <a:gd name="connsiteX10" fmla="*/ 513708 w 5208998"/>
              <a:gd name="connsiteY10" fmla="*/ 3585681 h 3924728"/>
              <a:gd name="connsiteX11" fmla="*/ 554805 w 5208998"/>
              <a:gd name="connsiteY11" fmla="*/ 3524036 h 3924728"/>
              <a:gd name="connsiteX12" fmla="*/ 565079 w 5208998"/>
              <a:gd name="connsiteY12" fmla="*/ 3493213 h 3924728"/>
              <a:gd name="connsiteX13" fmla="*/ 626724 w 5208998"/>
              <a:gd name="connsiteY13" fmla="*/ 3390472 h 3924728"/>
              <a:gd name="connsiteX14" fmla="*/ 647272 w 5208998"/>
              <a:gd name="connsiteY14" fmla="*/ 3328827 h 3924728"/>
              <a:gd name="connsiteX15" fmla="*/ 667820 w 5208998"/>
              <a:gd name="connsiteY15" fmla="*/ 3287730 h 3924728"/>
              <a:gd name="connsiteX16" fmla="*/ 688369 w 5208998"/>
              <a:gd name="connsiteY16" fmla="*/ 3226085 h 3924728"/>
              <a:gd name="connsiteX17" fmla="*/ 708917 w 5208998"/>
              <a:gd name="connsiteY17" fmla="*/ 3164440 h 3924728"/>
              <a:gd name="connsiteX18" fmla="*/ 719191 w 5208998"/>
              <a:gd name="connsiteY18" fmla="*/ 3123344 h 3924728"/>
              <a:gd name="connsiteX19" fmla="*/ 750014 w 5208998"/>
              <a:gd name="connsiteY19" fmla="*/ 3030876 h 3924728"/>
              <a:gd name="connsiteX20" fmla="*/ 760288 w 5208998"/>
              <a:gd name="connsiteY20" fmla="*/ 3000054 h 3924728"/>
              <a:gd name="connsiteX21" fmla="*/ 791110 w 5208998"/>
              <a:gd name="connsiteY21" fmla="*/ 2897312 h 3924728"/>
              <a:gd name="connsiteX22" fmla="*/ 821933 w 5208998"/>
              <a:gd name="connsiteY22" fmla="*/ 2804845 h 3924728"/>
              <a:gd name="connsiteX23" fmla="*/ 832207 w 5208998"/>
              <a:gd name="connsiteY23" fmla="*/ 2774022 h 3924728"/>
              <a:gd name="connsiteX24" fmla="*/ 842481 w 5208998"/>
              <a:gd name="connsiteY24" fmla="*/ 2743200 h 3924728"/>
              <a:gd name="connsiteX25" fmla="*/ 873303 w 5208998"/>
              <a:gd name="connsiteY25" fmla="*/ 2630184 h 3924728"/>
              <a:gd name="connsiteX26" fmla="*/ 893852 w 5208998"/>
              <a:gd name="connsiteY26" fmla="*/ 2568539 h 3924728"/>
              <a:gd name="connsiteX27" fmla="*/ 904126 w 5208998"/>
              <a:gd name="connsiteY27" fmla="*/ 2537717 h 3924728"/>
              <a:gd name="connsiteX28" fmla="*/ 924674 w 5208998"/>
              <a:gd name="connsiteY28" fmla="*/ 2404153 h 3924728"/>
              <a:gd name="connsiteX29" fmla="*/ 945222 w 5208998"/>
              <a:gd name="connsiteY29" fmla="*/ 2342508 h 3924728"/>
              <a:gd name="connsiteX30" fmla="*/ 955497 w 5208998"/>
              <a:gd name="connsiteY30" fmla="*/ 2311685 h 3924728"/>
              <a:gd name="connsiteX31" fmla="*/ 965771 w 5208998"/>
              <a:gd name="connsiteY31" fmla="*/ 2208944 h 3924728"/>
              <a:gd name="connsiteX32" fmla="*/ 986319 w 5208998"/>
              <a:gd name="connsiteY32" fmla="*/ 2054831 h 3924728"/>
              <a:gd name="connsiteX33" fmla="*/ 1006867 w 5208998"/>
              <a:gd name="connsiteY33" fmla="*/ 1900719 h 3924728"/>
              <a:gd name="connsiteX34" fmla="*/ 1017142 w 5208998"/>
              <a:gd name="connsiteY34" fmla="*/ 1869897 h 3924728"/>
              <a:gd name="connsiteX35" fmla="*/ 1027416 w 5208998"/>
              <a:gd name="connsiteY35" fmla="*/ 1787703 h 3924728"/>
              <a:gd name="connsiteX36" fmla="*/ 1058238 w 5208998"/>
              <a:gd name="connsiteY36" fmla="*/ 1695236 h 3924728"/>
              <a:gd name="connsiteX37" fmla="*/ 1068512 w 5208998"/>
              <a:gd name="connsiteY37" fmla="*/ 1664413 h 3924728"/>
              <a:gd name="connsiteX38" fmla="*/ 1078787 w 5208998"/>
              <a:gd name="connsiteY38" fmla="*/ 1613043 h 3924728"/>
              <a:gd name="connsiteX39" fmla="*/ 1089061 w 5208998"/>
              <a:gd name="connsiteY39" fmla="*/ 1541124 h 3924728"/>
              <a:gd name="connsiteX40" fmla="*/ 1099335 w 5208998"/>
              <a:gd name="connsiteY40" fmla="*/ 1510301 h 3924728"/>
              <a:gd name="connsiteX41" fmla="*/ 1109609 w 5208998"/>
              <a:gd name="connsiteY41" fmla="*/ 1458930 h 3924728"/>
              <a:gd name="connsiteX42" fmla="*/ 1119883 w 5208998"/>
              <a:gd name="connsiteY42" fmla="*/ 1428108 h 3924728"/>
              <a:gd name="connsiteX43" fmla="*/ 1130157 w 5208998"/>
              <a:gd name="connsiteY43" fmla="*/ 1376737 h 3924728"/>
              <a:gd name="connsiteX44" fmla="*/ 1150706 w 5208998"/>
              <a:gd name="connsiteY44" fmla="*/ 1315092 h 3924728"/>
              <a:gd name="connsiteX45" fmla="*/ 1160980 w 5208998"/>
              <a:gd name="connsiteY45" fmla="*/ 1284270 h 3924728"/>
              <a:gd name="connsiteX46" fmla="*/ 1171254 w 5208998"/>
              <a:gd name="connsiteY46" fmla="*/ 1232899 h 3924728"/>
              <a:gd name="connsiteX47" fmla="*/ 1191802 w 5208998"/>
              <a:gd name="connsiteY47" fmla="*/ 1171254 h 3924728"/>
              <a:gd name="connsiteX48" fmla="*/ 1212351 w 5208998"/>
              <a:gd name="connsiteY48" fmla="*/ 1089061 h 3924728"/>
              <a:gd name="connsiteX49" fmla="*/ 1222625 w 5208998"/>
              <a:gd name="connsiteY49" fmla="*/ 1017141 h 3924728"/>
              <a:gd name="connsiteX50" fmla="*/ 1232899 w 5208998"/>
              <a:gd name="connsiteY50" fmla="*/ 986319 h 3924728"/>
              <a:gd name="connsiteX51" fmla="*/ 1243173 w 5208998"/>
              <a:gd name="connsiteY51" fmla="*/ 934948 h 3924728"/>
              <a:gd name="connsiteX52" fmla="*/ 1253447 w 5208998"/>
              <a:gd name="connsiteY52" fmla="*/ 893852 h 3924728"/>
              <a:gd name="connsiteX53" fmla="*/ 1263721 w 5208998"/>
              <a:gd name="connsiteY53" fmla="*/ 832207 h 3924728"/>
              <a:gd name="connsiteX54" fmla="*/ 1284270 w 5208998"/>
              <a:gd name="connsiteY54" fmla="*/ 770562 h 3924728"/>
              <a:gd name="connsiteX55" fmla="*/ 1294544 w 5208998"/>
              <a:gd name="connsiteY55" fmla="*/ 739739 h 3924728"/>
              <a:gd name="connsiteX56" fmla="*/ 1315092 w 5208998"/>
              <a:gd name="connsiteY56" fmla="*/ 657546 h 3924728"/>
              <a:gd name="connsiteX57" fmla="*/ 1335640 w 5208998"/>
              <a:gd name="connsiteY57" fmla="*/ 595901 h 3924728"/>
              <a:gd name="connsiteX58" fmla="*/ 1356189 w 5208998"/>
              <a:gd name="connsiteY58" fmla="*/ 523982 h 3924728"/>
              <a:gd name="connsiteX59" fmla="*/ 1376737 w 5208998"/>
              <a:gd name="connsiteY59" fmla="*/ 493159 h 3924728"/>
              <a:gd name="connsiteX60" fmla="*/ 1397285 w 5208998"/>
              <a:gd name="connsiteY60" fmla="*/ 400692 h 3924728"/>
              <a:gd name="connsiteX61" fmla="*/ 1417834 w 5208998"/>
              <a:gd name="connsiteY61" fmla="*/ 339047 h 3924728"/>
              <a:gd name="connsiteX62" fmla="*/ 1428108 w 5208998"/>
              <a:gd name="connsiteY62" fmla="*/ 308225 h 3924728"/>
              <a:gd name="connsiteX63" fmla="*/ 1448656 w 5208998"/>
              <a:gd name="connsiteY63" fmla="*/ 277402 h 3924728"/>
              <a:gd name="connsiteX64" fmla="*/ 1479479 w 5208998"/>
              <a:gd name="connsiteY64" fmla="*/ 215757 h 3924728"/>
              <a:gd name="connsiteX65" fmla="*/ 1510301 w 5208998"/>
              <a:gd name="connsiteY65" fmla="*/ 195209 h 3924728"/>
              <a:gd name="connsiteX66" fmla="*/ 1520575 w 5208998"/>
              <a:gd name="connsiteY66" fmla="*/ 164386 h 3924728"/>
              <a:gd name="connsiteX67" fmla="*/ 1643865 w 5208998"/>
              <a:gd name="connsiteY67" fmla="*/ 102741 h 3924728"/>
              <a:gd name="connsiteX68" fmla="*/ 1736333 w 5208998"/>
              <a:gd name="connsiteY68" fmla="*/ 82193 h 3924728"/>
              <a:gd name="connsiteX69" fmla="*/ 2311685 w 5208998"/>
              <a:gd name="connsiteY69" fmla="*/ 71919 h 3924728"/>
              <a:gd name="connsiteX70" fmla="*/ 2424701 w 5208998"/>
              <a:gd name="connsiteY70" fmla="*/ 51371 h 3924728"/>
              <a:gd name="connsiteX71" fmla="*/ 2486346 w 5208998"/>
              <a:gd name="connsiteY71" fmla="*/ 41097 h 3924728"/>
              <a:gd name="connsiteX72" fmla="*/ 2578814 w 5208998"/>
              <a:gd name="connsiteY72" fmla="*/ 20548 h 3924728"/>
              <a:gd name="connsiteX73" fmla="*/ 2732926 w 5208998"/>
              <a:gd name="connsiteY73" fmla="*/ 0 h 3924728"/>
              <a:gd name="connsiteX74" fmla="*/ 4602822 w 5208998"/>
              <a:gd name="connsiteY74" fmla="*/ 30822 h 3924728"/>
              <a:gd name="connsiteX75" fmla="*/ 4715838 w 5208998"/>
              <a:gd name="connsiteY75" fmla="*/ 51371 h 3924728"/>
              <a:gd name="connsiteX76" fmla="*/ 4756935 w 5208998"/>
              <a:gd name="connsiteY76" fmla="*/ 61645 h 3924728"/>
              <a:gd name="connsiteX77" fmla="*/ 4818580 w 5208998"/>
              <a:gd name="connsiteY77" fmla="*/ 92467 h 3924728"/>
              <a:gd name="connsiteX78" fmla="*/ 4880225 w 5208998"/>
              <a:gd name="connsiteY78" fmla="*/ 123290 h 3924728"/>
              <a:gd name="connsiteX79" fmla="*/ 4911047 w 5208998"/>
              <a:gd name="connsiteY79" fmla="*/ 143838 h 3924728"/>
              <a:gd name="connsiteX80" fmla="*/ 4931596 w 5208998"/>
              <a:gd name="connsiteY80" fmla="*/ 164386 h 3924728"/>
              <a:gd name="connsiteX81" fmla="*/ 4972692 w 5208998"/>
              <a:gd name="connsiteY81" fmla="*/ 174661 h 3924728"/>
              <a:gd name="connsiteX82" fmla="*/ 5034337 w 5208998"/>
              <a:gd name="connsiteY82" fmla="*/ 215757 h 3924728"/>
              <a:gd name="connsiteX83" fmla="*/ 5075434 w 5208998"/>
              <a:gd name="connsiteY83" fmla="*/ 256854 h 3924728"/>
              <a:gd name="connsiteX84" fmla="*/ 5106256 w 5208998"/>
              <a:gd name="connsiteY84" fmla="*/ 318499 h 3924728"/>
              <a:gd name="connsiteX85" fmla="*/ 5137079 w 5208998"/>
              <a:gd name="connsiteY85" fmla="*/ 421240 h 3924728"/>
              <a:gd name="connsiteX86" fmla="*/ 5157627 w 5208998"/>
              <a:gd name="connsiteY86" fmla="*/ 482885 h 3924728"/>
              <a:gd name="connsiteX87" fmla="*/ 5188449 w 5208998"/>
              <a:gd name="connsiteY87" fmla="*/ 657546 h 3924728"/>
              <a:gd name="connsiteX88" fmla="*/ 5198724 w 5208998"/>
              <a:gd name="connsiteY88" fmla="*/ 688368 h 3924728"/>
              <a:gd name="connsiteX89" fmla="*/ 5208998 w 5208998"/>
              <a:gd name="connsiteY89" fmla="*/ 832207 h 3924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208998" h="3924728">
                <a:moveTo>
                  <a:pt x="0" y="3924728"/>
                </a:moveTo>
                <a:cubicBezTo>
                  <a:pt x="44521" y="3921303"/>
                  <a:pt x="89217" y="3919671"/>
                  <a:pt x="133564" y="3914454"/>
                </a:cubicBezTo>
                <a:cubicBezTo>
                  <a:pt x="153503" y="3912108"/>
                  <a:pt x="185550" y="3900550"/>
                  <a:pt x="205483" y="3893906"/>
                </a:cubicBezTo>
                <a:cubicBezTo>
                  <a:pt x="226031" y="3880207"/>
                  <a:pt x="249665" y="3870272"/>
                  <a:pt x="267128" y="3852809"/>
                </a:cubicBezTo>
                <a:cubicBezTo>
                  <a:pt x="277402" y="3842535"/>
                  <a:pt x="286482" y="3830907"/>
                  <a:pt x="297951" y="3821986"/>
                </a:cubicBezTo>
                <a:cubicBezTo>
                  <a:pt x="317445" y="3806824"/>
                  <a:pt x="359596" y="3780890"/>
                  <a:pt x="359596" y="3780890"/>
                </a:cubicBezTo>
                <a:cubicBezTo>
                  <a:pt x="414386" y="3698702"/>
                  <a:pt x="342478" y="3798006"/>
                  <a:pt x="410966" y="3729519"/>
                </a:cubicBezTo>
                <a:cubicBezTo>
                  <a:pt x="419697" y="3720788"/>
                  <a:pt x="423801" y="3708339"/>
                  <a:pt x="431515" y="3698697"/>
                </a:cubicBezTo>
                <a:cubicBezTo>
                  <a:pt x="437566" y="3691133"/>
                  <a:pt x="446251" y="3685897"/>
                  <a:pt x="452063" y="3678148"/>
                </a:cubicBezTo>
                <a:cubicBezTo>
                  <a:pt x="466881" y="3658391"/>
                  <a:pt x="479461" y="3637051"/>
                  <a:pt x="493160" y="3616503"/>
                </a:cubicBezTo>
                <a:lnTo>
                  <a:pt x="513708" y="3585681"/>
                </a:lnTo>
                <a:cubicBezTo>
                  <a:pt x="538137" y="3512391"/>
                  <a:pt x="503497" y="3600997"/>
                  <a:pt x="554805" y="3524036"/>
                </a:cubicBezTo>
                <a:cubicBezTo>
                  <a:pt x="560812" y="3515025"/>
                  <a:pt x="559820" y="3502680"/>
                  <a:pt x="565079" y="3493213"/>
                </a:cubicBezTo>
                <a:cubicBezTo>
                  <a:pt x="599531" y="3431198"/>
                  <a:pt x="604519" y="3445983"/>
                  <a:pt x="626724" y="3390472"/>
                </a:cubicBezTo>
                <a:cubicBezTo>
                  <a:pt x="634768" y="3370361"/>
                  <a:pt x="637586" y="3348200"/>
                  <a:pt x="647272" y="3328827"/>
                </a:cubicBezTo>
                <a:cubicBezTo>
                  <a:pt x="654121" y="3315128"/>
                  <a:pt x="662132" y="3301950"/>
                  <a:pt x="667820" y="3287730"/>
                </a:cubicBezTo>
                <a:cubicBezTo>
                  <a:pt x="675864" y="3267619"/>
                  <a:pt x="681519" y="3246633"/>
                  <a:pt x="688369" y="3226085"/>
                </a:cubicBezTo>
                <a:lnTo>
                  <a:pt x="708917" y="3164440"/>
                </a:lnTo>
                <a:cubicBezTo>
                  <a:pt x="712342" y="3150741"/>
                  <a:pt x="715134" y="3136869"/>
                  <a:pt x="719191" y="3123344"/>
                </a:cubicBezTo>
                <a:cubicBezTo>
                  <a:pt x="719211" y="3123276"/>
                  <a:pt x="744866" y="3046321"/>
                  <a:pt x="750014" y="3030876"/>
                </a:cubicBezTo>
                <a:cubicBezTo>
                  <a:pt x="753439" y="3020602"/>
                  <a:pt x="757661" y="3010560"/>
                  <a:pt x="760288" y="3000054"/>
                </a:cubicBezTo>
                <a:cubicBezTo>
                  <a:pt x="775815" y="2937945"/>
                  <a:pt x="766097" y="2972351"/>
                  <a:pt x="791110" y="2897312"/>
                </a:cubicBezTo>
                <a:lnTo>
                  <a:pt x="821933" y="2804845"/>
                </a:lnTo>
                <a:lnTo>
                  <a:pt x="832207" y="2774022"/>
                </a:lnTo>
                <a:cubicBezTo>
                  <a:pt x="835632" y="2763748"/>
                  <a:pt x="840357" y="2753819"/>
                  <a:pt x="842481" y="2743200"/>
                </a:cubicBezTo>
                <a:cubicBezTo>
                  <a:pt x="857002" y="2670596"/>
                  <a:pt x="847234" y="2708388"/>
                  <a:pt x="873303" y="2630184"/>
                </a:cubicBezTo>
                <a:lnTo>
                  <a:pt x="893852" y="2568539"/>
                </a:lnTo>
                <a:lnTo>
                  <a:pt x="904126" y="2537717"/>
                </a:lnTo>
                <a:cubicBezTo>
                  <a:pt x="906299" y="2522509"/>
                  <a:pt x="919922" y="2423160"/>
                  <a:pt x="924674" y="2404153"/>
                </a:cubicBezTo>
                <a:cubicBezTo>
                  <a:pt x="929927" y="2383140"/>
                  <a:pt x="938373" y="2363056"/>
                  <a:pt x="945222" y="2342508"/>
                </a:cubicBezTo>
                <a:lnTo>
                  <a:pt x="955497" y="2311685"/>
                </a:lnTo>
                <a:cubicBezTo>
                  <a:pt x="958922" y="2277438"/>
                  <a:pt x="962655" y="2243220"/>
                  <a:pt x="965771" y="2208944"/>
                </a:cubicBezTo>
                <a:cubicBezTo>
                  <a:pt x="978341" y="2070671"/>
                  <a:pt x="962638" y="2125877"/>
                  <a:pt x="986319" y="2054831"/>
                </a:cubicBezTo>
                <a:cubicBezTo>
                  <a:pt x="991264" y="2010322"/>
                  <a:pt x="996619" y="1946831"/>
                  <a:pt x="1006867" y="1900719"/>
                </a:cubicBezTo>
                <a:cubicBezTo>
                  <a:pt x="1009216" y="1890147"/>
                  <a:pt x="1013717" y="1880171"/>
                  <a:pt x="1017142" y="1869897"/>
                </a:cubicBezTo>
                <a:cubicBezTo>
                  <a:pt x="1020567" y="1842499"/>
                  <a:pt x="1021631" y="1814701"/>
                  <a:pt x="1027416" y="1787703"/>
                </a:cubicBezTo>
                <a:cubicBezTo>
                  <a:pt x="1027417" y="1787698"/>
                  <a:pt x="1053100" y="1710650"/>
                  <a:pt x="1058238" y="1695236"/>
                </a:cubicBezTo>
                <a:cubicBezTo>
                  <a:pt x="1061663" y="1684962"/>
                  <a:pt x="1066388" y="1675033"/>
                  <a:pt x="1068512" y="1664413"/>
                </a:cubicBezTo>
                <a:cubicBezTo>
                  <a:pt x="1071937" y="1647290"/>
                  <a:pt x="1075916" y="1630268"/>
                  <a:pt x="1078787" y="1613043"/>
                </a:cubicBezTo>
                <a:cubicBezTo>
                  <a:pt x="1082768" y="1589156"/>
                  <a:pt x="1084312" y="1564870"/>
                  <a:pt x="1089061" y="1541124"/>
                </a:cubicBezTo>
                <a:cubicBezTo>
                  <a:pt x="1091185" y="1530504"/>
                  <a:pt x="1096708" y="1520808"/>
                  <a:pt x="1099335" y="1510301"/>
                </a:cubicBezTo>
                <a:cubicBezTo>
                  <a:pt x="1103570" y="1493360"/>
                  <a:pt x="1105374" y="1475871"/>
                  <a:pt x="1109609" y="1458930"/>
                </a:cubicBezTo>
                <a:cubicBezTo>
                  <a:pt x="1112236" y="1448424"/>
                  <a:pt x="1117256" y="1438614"/>
                  <a:pt x="1119883" y="1428108"/>
                </a:cubicBezTo>
                <a:cubicBezTo>
                  <a:pt x="1124118" y="1411167"/>
                  <a:pt x="1125562" y="1393584"/>
                  <a:pt x="1130157" y="1376737"/>
                </a:cubicBezTo>
                <a:cubicBezTo>
                  <a:pt x="1135856" y="1355840"/>
                  <a:pt x="1143856" y="1335640"/>
                  <a:pt x="1150706" y="1315092"/>
                </a:cubicBezTo>
                <a:cubicBezTo>
                  <a:pt x="1154131" y="1304818"/>
                  <a:pt x="1158856" y="1294889"/>
                  <a:pt x="1160980" y="1284270"/>
                </a:cubicBezTo>
                <a:cubicBezTo>
                  <a:pt x="1164405" y="1267146"/>
                  <a:pt x="1166659" y="1249746"/>
                  <a:pt x="1171254" y="1232899"/>
                </a:cubicBezTo>
                <a:cubicBezTo>
                  <a:pt x="1176953" y="1212002"/>
                  <a:pt x="1187554" y="1192493"/>
                  <a:pt x="1191802" y="1171254"/>
                </a:cubicBezTo>
                <a:cubicBezTo>
                  <a:pt x="1204200" y="1109263"/>
                  <a:pt x="1196553" y="1136449"/>
                  <a:pt x="1212351" y="1089061"/>
                </a:cubicBezTo>
                <a:cubicBezTo>
                  <a:pt x="1215776" y="1065088"/>
                  <a:pt x="1217876" y="1040887"/>
                  <a:pt x="1222625" y="1017141"/>
                </a:cubicBezTo>
                <a:cubicBezTo>
                  <a:pt x="1224749" y="1006522"/>
                  <a:pt x="1230272" y="996825"/>
                  <a:pt x="1232899" y="986319"/>
                </a:cubicBezTo>
                <a:cubicBezTo>
                  <a:pt x="1237134" y="969378"/>
                  <a:pt x="1239385" y="951995"/>
                  <a:pt x="1243173" y="934948"/>
                </a:cubicBezTo>
                <a:cubicBezTo>
                  <a:pt x="1246236" y="921164"/>
                  <a:pt x="1250678" y="907698"/>
                  <a:pt x="1253447" y="893852"/>
                </a:cubicBezTo>
                <a:cubicBezTo>
                  <a:pt x="1257532" y="873425"/>
                  <a:pt x="1258668" y="852417"/>
                  <a:pt x="1263721" y="832207"/>
                </a:cubicBezTo>
                <a:cubicBezTo>
                  <a:pt x="1268974" y="811194"/>
                  <a:pt x="1277420" y="791110"/>
                  <a:pt x="1284270" y="770562"/>
                </a:cubicBezTo>
                <a:cubicBezTo>
                  <a:pt x="1287695" y="760288"/>
                  <a:pt x="1291917" y="750246"/>
                  <a:pt x="1294544" y="739739"/>
                </a:cubicBezTo>
                <a:cubicBezTo>
                  <a:pt x="1301393" y="712341"/>
                  <a:pt x="1306162" y="684338"/>
                  <a:pt x="1315092" y="657546"/>
                </a:cubicBezTo>
                <a:cubicBezTo>
                  <a:pt x="1321941" y="636998"/>
                  <a:pt x="1330386" y="616914"/>
                  <a:pt x="1335640" y="595901"/>
                </a:cubicBezTo>
                <a:cubicBezTo>
                  <a:pt x="1338931" y="582736"/>
                  <a:pt x="1348820" y="538720"/>
                  <a:pt x="1356189" y="523982"/>
                </a:cubicBezTo>
                <a:cubicBezTo>
                  <a:pt x="1361711" y="512937"/>
                  <a:pt x="1369888" y="503433"/>
                  <a:pt x="1376737" y="493159"/>
                </a:cubicBezTo>
                <a:cubicBezTo>
                  <a:pt x="1382602" y="463835"/>
                  <a:pt x="1388581" y="429706"/>
                  <a:pt x="1397285" y="400692"/>
                </a:cubicBezTo>
                <a:cubicBezTo>
                  <a:pt x="1403509" y="379946"/>
                  <a:pt x="1410984" y="359595"/>
                  <a:pt x="1417834" y="339047"/>
                </a:cubicBezTo>
                <a:cubicBezTo>
                  <a:pt x="1421259" y="328773"/>
                  <a:pt x="1422101" y="317236"/>
                  <a:pt x="1428108" y="308225"/>
                </a:cubicBezTo>
                <a:cubicBezTo>
                  <a:pt x="1434957" y="297951"/>
                  <a:pt x="1443134" y="288447"/>
                  <a:pt x="1448656" y="277402"/>
                </a:cubicBezTo>
                <a:cubicBezTo>
                  <a:pt x="1465368" y="243977"/>
                  <a:pt x="1450034" y="245202"/>
                  <a:pt x="1479479" y="215757"/>
                </a:cubicBezTo>
                <a:cubicBezTo>
                  <a:pt x="1488210" y="207026"/>
                  <a:pt x="1500027" y="202058"/>
                  <a:pt x="1510301" y="195209"/>
                </a:cubicBezTo>
                <a:cubicBezTo>
                  <a:pt x="1513726" y="184935"/>
                  <a:pt x="1512917" y="172044"/>
                  <a:pt x="1520575" y="164386"/>
                </a:cubicBezTo>
                <a:cubicBezTo>
                  <a:pt x="1560406" y="124555"/>
                  <a:pt x="1593730" y="119453"/>
                  <a:pt x="1643865" y="102741"/>
                </a:cubicBezTo>
                <a:cubicBezTo>
                  <a:pt x="1677662" y="91475"/>
                  <a:pt x="1696298" y="83484"/>
                  <a:pt x="1736333" y="82193"/>
                </a:cubicBezTo>
                <a:cubicBezTo>
                  <a:pt x="1928048" y="76009"/>
                  <a:pt x="2119901" y="75344"/>
                  <a:pt x="2311685" y="71919"/>
                </a:cubicBezTo>
                <a:cubicBezTo>
                  <a:pt x="2494510" y="45802"/>
                  <a:pt x="2303595" y="75592"/>
                  <a:pt x="2424701" y="51371"/>
                </a:cubicBezTo>
                <a:cubicBezTo>
                  <a:pt x="2445128" y="47286"/>
                  <a:pt x="2465919" y="45183"/>
                  <a:pt x="2486346" y="41097"/>
                </a:cubicBezTo>
                <a:cubicBezTo>
                  <a:pt x="2535191" y="31328"/>
                  <a:pt x="2524966" y="27728"/>
                  <a:pt x="2578814" y="20548"/>
                </a:cubicBezTo>
                <a:cubicBezTo>
                  <a:pt x="2758990" y="-3475"/>
                  <a:pt x="2617333" y="23118"/>
                  <a:pt x="2732926" y="0"/>
                </a:cubicBezTo>
                <a:cubicBezTo>
                  <a:pt x="4445354" y="21540"/>
                  <a:pt x="3822458" y="-3106"/>
                  <a:pt x="4602822" y="30822"/>
                </a:cubicBezTo>
                <a:cubicBezTo>
                  <a:pt x="4647422" y="38256"/>
                  <a:pt x="4672767" y="41800"/>
                  <a:pt x="4715838" y="51371"/>
                </a:cubicBezTo>
                <a:cubicBezTo>
                  <a:pt x="4729622" y="54434"/>
                  <a:pt x="4743236" y="58220"/>
                  <a:pt x="4756935" y="61645"/>
                </a:cubicBezTo>
                <a:cubicBezTo>
                  <a:pt x="4845274" y="120538"/>
                  <a:pt x="4733499" y="49926"/>
                  <a:pt x="4818580" y="92467"/>
                </a:cubicBezTo>
                <a:cubicBezTo>
                  <a:pt x="4898247" y="132301"/>
                  <a:pt x="4802750" y="97466"/>
                  <a:pt x="4880225" y="123290"/>
                </a:cubicBezTo>
                <a:cubicBezTo>
                  <a:pt x="4890499" y="130139"/>
                  <a:pt x="4901405" y="136124"/>
                  <a:pt x="4911047" y="143838"/>
                </a:cubicBezTo>
                <a:cubicBezTo>
                  <a:pt x="4918611" y="149889"/>
                  <a:pt x="4922932" y="160054"/>
                  <a:pt x="4931596" y="164386"/>
                </a:cubicBezTo>
                <a:cubicBezTo>
                  <a:pt x="4944226" y="170701"/>
                  <a:pt x="4958993" y="171236"/>
                  <a:pt x="4972692" y="174661"/>
                </a:cubicBezTo>
                <a:cubicBezTo>
                  <a:pt x="4993240" y="188360"/>
                  <a:pt x="5016874" y="198294"/>
                  <a:pt x="5034337" y="215757"/>
                </a:cubicBezTo>
                <a:lnTo>
                  <a:pt x="5075434" y="256854"/>
                </a:lnTo>
                <a:cubicBezTo>
                  <a:pt x="5112901" y="369254"/>
                  <a:pt x="5053148" y="199006"/>
                  <a:pt x="5106256" y="318499"/>
                </a:cubicBezTo>
                <a:cubicBezTo>
                  <a:pt x="5128612" y="368799"/>
                  <a:pt x="5123285" y="375259"/>
                  <a:pt x="5137079" y="421240"/>
                </a:cubicBezTo>
                <a:cubicBezTo>
                  <a:pt x="5143303" y="441986"/>
                  <a:pt x="5157627" y="482885"/>
                  <a:pt x="5157627" y="482885"/>
                </a:cubicBezTo>
                <a:cubicBezTo>
                  <a:pt x="5164069" y="527981"/>
                  <a:pt x="5175802" y="619608"/>
                  <a:pt x="5188449" y="657546"/>
                </a:cubicBezTo>
                <a:lnTo>
                  <a:pt x="5198724" y="688368"/>
                </a:lnTo>
                <a:lnTo>
                  <a:pt x="5208998" y="832207"/>
                </a:lnTo>
              </a:path>
            </a:pathLst>
          </a:custGeom>
          <a:noFill/>
          <a:ln w="50800">
            <a:solidFill>
              <a:srgbClr val="FF0000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39">
            <a:extLst>
              <a:ext uri="{FF2B5EF4-FFF2-40B4-BE49-F238E27FC236}">
                <a16:creationId xmlns:a16="http://schemas.microsoft.com/office/drawing/2014/main" id="{D498C0E7-2861-345E-182D-59B189049386}"/>
              </a:ext>
            </a:extLst>
          </p:cNvPr>
          <p:cNvSpPr txBox="1"/>
          <p:nvPr/>
        </p:nvSpPr>
        <p:spPr>
          <a:xfrm>
            <a:off x="1802081" y="1062357"/>
            <a:ext cx="1225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FINE</a:t>
            </a:r>
          </a:p>
          <a:p>
            <a:r>
              <a:rPr lang="zh-CN" altLang="en-US" sz="2800" dirty="0"/>
              <a:t>细调</a:t>
            </a:r>
          </a:p>
        </p:txBody>
      </p: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598C45CB-9966-B835-C735-69C66F1486A4}"/>
              </a:ext>
            </a:extLst>
          </p:cNvPr>
          <p:cNvSpPr/>
          <p:nvPr/>
        </p:nvSpPr>
        <p:spPr>
          <a:xfrm>
            <a:off x="1646675" y="1043999"/>
            <a:ext cx="1323160" cy="985656"/>
          </a:xfrm>
          <a:prstGeom prst="wedgeRectCallout">
            <a:avLst>
              <a:gd name="adj1" fmla="val 76129"/>
              <a:gd name="adj2" fmla="val 154313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F2B5E73-7926-4D32-88EE-810211E15F19}"/>
              </a:ext>
            </a:extLst>
          </p:cNvPr>
          <p:cNvSpPr/>
          <p:nvPr/>
        </p:nvSpPr>
        <p:spPr>
          <a:xfrm>
            <a:off x="817021" y="4427056"/>
            <a:ext cx="1936616" cy="1771162"/>
          </a:xfrm>
          <a:custGeom>
            <a:avLst/>
            <a:gdLst>
              <a:gd name="connsiteX0" fmla="*/ 174988 w 1737088"/>
              <a:gd name="connsiteY0" fmla="*/ 0 h 2476500"/>
              <a:gd name="connsiteX1" fmla="*/ 184513 w 1737088"/>
              <a:gd name="connsiteY1" fmla="*/ 47625 h 2476500"/>
              <a:gd name="connsiteX2" fmla="*/ 165463 w 1737088"/>
              <a:gd name="connsiteY2" fmla="*/ 447675 h 2476500"/>
              <a:gd name="connsiteX3" fmla="*/ 136888 w 1737088"/>
              <a:gd name="connsiteY3" fmla="*/ 638175 h 2476500"/>
              <a:gd name="connsiteX4" fmla="*/ 127363 w 1737088"/>
              <a:gd name="connsiteY4" fmla="*/ 666750 h 2476500"/>
              <a:gd name="connsiteX5" fmla="*/ 117838 w 1737088"/>
              <a:gd name="connsiteY5" fmla="*/ 752475 h 2476500"/>
              <a:gd name="connsiteX6" fmla="*/ 108313 w 1737088"/>
              <a:gd name="connsiteY6" fmla="*/ 800100 h 2476500"/>
              <a:gd name="connsiteX7" fmla="*/ 98788 w 1737088"/>
              <a:gd name="connsiteY7" fmla="*/ 885825 h 2476500"/>
              <a:gd name="connsiteX8" fmla="*/ 79738 w 1737088"/>
              <a:gd name="connsiteY8" fmla="*/ 942975 h 2476500"/>
              <a:gd name="connsiteX9" fmla="*/ 70213 w 1737088"/>
              <a:gd name="connsiteY9" fmla="*/ 1000125 h 2476500"/>
              <a:gd name="connsiteX10" fmla="*/ 51163 w 1737088"/>
              <a:gd name="connsiteY10" fmla="*/ 1133475 h 2476500"/>
              <a:gd name="connsiteX11" fmla="*/ 32113 w 1737088"/>
              <a:gd name="connsiteY11" fmla="*/ 1181100 h 2476500"/>
              <a:gd name="connsiteX12" fmla="*/ 3538 w 1737088"/>
              <a:gd name="connsiteY12" fmla="*/ 1419225 h 2476500"/>
              <a:gd name="connsiteX13" fmla="*/ 22588 w 1737088"/>
              <a:gd name="connsiteY13" fmla="*/ 1895475 h 2476500"/>
              <a:gd name="connsiteX14" fmla="*/ 32113 w 1737088"/>
              <a:gd name="connsiteY14" fmla="*/ 1924050 h 2476500"/>
              <a:gd name="connsiteX15" fmla="*/ 51163 w 1737088"/>
              <a:gd name="connsiteY15" fmla="*/ 1990725 h 2476500"/>
              <a:gd name="connsiteX16" fmla="*/ 89263 w 1737088"/>
              <a:gd name="connsiteY16" fmla="*/ 2057400 h 2476500"/>
              <a:gd name="connsiteX17" fmla="*/ 146413 w 1737088"/>
              <a:gd name="connsiteY17" fmla="*/ 2152650 h 2476500"/>
              <a:gd name="connsiteX18" fmla="*/ 165463 w 1737088"/>
              <a:gd name="connsiteY18" fmla="*/ 2181225 h 2476500"/>
              <a:gd name="connsiteX19" fmla="*/ 194038 w 1737088"/>
              <a:gd name="connsiteY19" fmla="*/ 2209800 h 2476500"/>
              <a:gd name="connsiteX20" fmla="*/ 232138 w 1737088"/>
              <a:gd name="connsiteY20" fmla="*/ 2276475 h 2476500"/>
              <a:gd name="connsiteX21" fmla="*/ 260713 w 1737088"/>
              <a:gd name="connsiteY21" fmla="*/ 2305050 h 2476500"/>
              <a:gd name="connsiteX22" fmla="*/ 327388 w 1737088"/>
              <a:gd name="connsiteY22" fmla="*/ 2381250 h 2476500"/>
              <a:gd name="connsiteX23" fmla="*/ 355963 w 1737088"/>
              <a:gd name="connsiteY23" fmla="*/ 2409825 h 2476500"/>
              <a:gd name="connsiteX24" fmla="*/ 422638 w 1737088"/>
              <a:gd name="connsiteY24" fmla="*/ 2438400 h 2476500"/>
              <a:gd name="connsiteX25" fmla="*/ 451213 w 1737088"/>
              <a:gd name="connsiteY25" fmla="*/ 2457450 h 2476500"/>
              <a:gd name="connsiteX26" fmla="*/ 527413 w 1737088"/>
              <a:gd name="connsiteY26" fmla="*/ 2476500 h 2476500"/>
              <a:gd name="connsiteX27" fmla="*/ 841738 w 1737088"/>
              <a:gd name="connsiteY27" fmla="*/ 2466975 h 2476500"/>
              <a:gd name="connsiteX28" fmla="*/ 927463 w 1737088"/>
              <a:gd name="connsiteY28" fmla="*/ 2447925 h 2476500"/>
              <a:gd name="connsiteX29" fmla="*/ 1013188 w 1737088"/>
              <a:gd name="connsiteY29" fmla="*/ 2428875 h 2476500"/>
              <a:gd name="connsiteX30" fmla="*/ 1051288 w 1737088"/>
              <a:gd name="connsiteY30" fmla="*/ 2419350 h 2476500"/>
              <a:gd name="connsiteX31" fmla="*/ 1584688 w 1737088"/>
              <a:gd name="connsiteY31" fmla="*/ 2409825 h 2476500"/>
              <a:gd name="connsiteX32" fmla="*/ 1679938 w 1737088"/>
              <a:gd name="connsiteY32" fmla="*/ 2381250 h 2476500"/>
              <a:gd name="connsiteX33" fmla="*/ 1708513 w 1737088"/>
              <a:gd name="connsiteY33" fmla="*/ 2371725 h 2476500"/>
              <a:gd name="connsiteX34" fmla="*/ 1737088 w 1737088"/>
              <a:gd name="connsiteY34" fmla="*/ 2362200 h 247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737088" h="2476500">
                <a:moveTo>
                  <a:pt x="174988" y="0"/>
                </a:moveTo>
                <a:cubicBezTo>
                  <a:pt x="178163" y="15875"/>
                  <a:pt x="184513" y="31436"/>
                  <a:pt x="184513" y="47625"/>
                </a:cubicBezTo>
                <a:cubicBezTo>
                  <a:pt x="184513" y="399790"/>
                  <a:pt x="213365" y="303969"/>
                  <a:pt x="165463" y="447675"/>
                </a:cubicBezTo>
                <a:cubicBezTo>
                  <a:pt x="160395" y="488217"/>
                  <a:pt x="146191" y="610265"/>
                  <a:pt x="136888" y="638175"/>
                </a:cubicBezTo>
                <a:lnTo>
                  <a:pt x="127363" y="666750"/>
                </a:lnTo>
                <a:cubicBezTo>
                  <a:pt x="124188" y="695325"/>
                  <a:pt x="121904" y="724013"/>
                  <a:pt x="117838" y="752475"/>
                </a:cubicBezTo>
                <a:cubicBezTo>
                  <a:pt x="115548" y="768502"/>
                  <a:pt x="110603" y="784073"/>
                  <a:pt x="108313" y="800100"/>
                </a:cubicBezTo>
                <a:cubicBezTo>
                  <a:pt x="104247" y="828562"/>
                  <a:pt x="104427" y="857632"/>
                  <a:pt x="98788" y="885825"/>
                </a:cubicBezTo>
                <a:cubicBezTo>
                  <a:pt x="94850" y="905516"/>
                  <a:pt x="83039" y="923168"/>
                  <a:pt x="79738" y="942975"/>
                </a:cubicBezTo>
                <a:cubicBezTo>
                  <a:pt x="76563" y="962025"/>
                  <a:pt x="72765" y="980982"/>
                  <a:pt x="70213" y="1000125"/>
                </a:cubicBezTo>
                <a:cubicBezTo>
                  <a:pt x="65599" y="1034729"/>
                  <a:pt x="62554" y="1095504"/>
                  <a:pt x="51163" y="1133475"/>
                </a:cubicBezTo>
                <a:cubicBezTo>
                  <a:pt x="46250" y="1149852"/>
                  <a:pt x="38463" y="1165225"/>
                  <a:pt x="32113" y="1181100"/>
                </a:cubicBezTo>
                <a:cubicBezTo>
                  <a:pt x="11452" y="1387709"/>
                  <a:pt x="25578" y="1309023"/>
                  <a:pt x="3538" y="1419225"/>
                </a:cubicBezTo>
                <a:cubicBezTo>
                  <a:pt x="5338" y="1500208"/>
                  <a:pt x="-14048" y="1748931"/>
                  <a:pt x="22588" y="1895475"/>
                </a:cubicBezTo>
                <a:cubicBezTo>
                  <a:pt x="25023" y="1905215"/>
                  <a:pt x="29355" y="1914396"/>
                  <a:pt x="32113" y="1924050"/>
                </a:cubicBezTo>
                <a:cubicBezTo>
                  <a:pt x="39018" y="1948217"/>
                  <a:pt x="41375" y="1967887"/>
                  <a:pt x="51163" y="1990725"/>
                </a:cubicBezTo>
                <a:cubicBezTo>
                  <a:pt x="75835" y="2048292"/>
                  <a:pt x="61932" y="2009571"/>
                  <a:pt x="89263" y="2057400"/>
                </a:cubicBezTo>
                <a:cubicBezTo>
                  <a:pt x="147841" y="2159912"/>
                  <a:pt x="53210" y="2012845"/>
                  <a:pt x="146413" y="2152650"/>
                </a:cubicBezTo>
                <a:cubicBezTo>
                  <a:pt x="152763" y="2162175"/>
                  <a:pt x="157368" y="2173130"/>
                  <a:pt x="165463" y="2181225"/>
                </a:cubicBezTo>
                <a:cubicBezTo>
                  <a:pt x="174988" y="2190750"/>
                  <a:pt x="186208" y="2198839"/>
                  <a:pt x="194038" y="2209800"/>
                </a:cubicBezTo>
                <a:cubicBezTo>
                  <a:pt x="240619" y="2275014"/>
                  <a:pt x="187143" y="2222481"/>
                  <a:pt x="232138" y="2276475"/>
                </a:cubicBezTo>
                <a:cubicBezTo>
                  <a:pt x="240762" y="2286823"/>
                  <a:pt x="252443" y="2294417"/>
                  <a:pt x="260713" y="2305050"/>
                </a:cubicBezTo>
                <a:cubicBezTo>
                  <a:pt x="361310" y="2434389"/>
                  <a:pt x="251689" y="2318168"/>
                  <a:pt x="327388" y="2381250"/>
                </a:cubicBezTo>
                <a:cubicBezTo>
                  <a:pt x="337736" y="2389874"/>
                  <a:pt x="345002" y="2401995"/>
                  <a:pt x="355963" y="2409825"/>
                </a:cubicBezTo>
                <a:cubicBezTo>
                  <a:pt x="402211" y="2442859"/>
                  <a:pt x="381181" y="2417672"/>
                  <a:pt x="422638" y="2438400"/>
                </a:cubicBezTo>
                <a:cubicBezTo>
                  <a:pt x="432877" y="2443520"/>
                  <a:pt x="440455" y="2453538"/>
                  <a:pt x="451213" y="2457450"/>
                </a:cubicBezTo>
                <a:cubicBezTo>
                  <a:pt x="475818" y="2466397"/>
                  <a:pt x="527413" y="2476500"/>
                  <a:pt x="527413" y="2476500"/>
                </a:cubicBezTo>
                <a:cubicBezTo>
                  <a:pt x="632188" y="2473325"/>
                  <a:pt x="737052" y="2472343"/>
                  <a:pt x="841738" y="2466975"/>
                </a:cubicBezTo>
                <a:cubicBezTo>
                  <a:pt x="894112" y="2464289"/>
                  <a:pt x="888198" y="2459144"/>
                  <a:pt x="927463" y="2447925"/>
                </a:cubicBezTo>
                <a:cubicBezTo>
                  <a:pt x="968115" y="2436310"/>
                  <a:pt x="968994" y="2438696"/>
                  <a:pt x="1013188" y="2428875"/>
                </a:cubicBezTo>
                <a:cubicBezTo>
                  <a:pt x="1025967" y="2426035"/>
                  <a:pt x="1038204" y="2419786"/>
                  <a:pt x="1051288" y="2419350"/>
                </a:cubicBezTo>
                <a:cubicBezTo>
                  <a:pt x="1229018" y="2413426"/>
                  <a:pt x="1406888" y="2413000"/>
                  <a:pt x="1584688" y="2409825"/>
                </a:cubicBezTo>
                <a:cubicBezTo>
                  <a:pt x="1642269" y="2395430"/>
                  <a:pt x="1610369" y="2404440"/>
                  <a:pt x="1679938" y="2381250"/>
                </a:cubicBezTo>
                <a:lnTo>
                  <a:pt x="1708513" y="2371725"/>
                </a:lnTo>
                <a:lnTo>
                  <a:pt x="1737088" y="2362200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347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585" y="906662"/>
            <a:ext cx="7162800" cy="563033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仿宋" pitchFamily="49" charset="-122"/>
                <a:ea typeface="仿宋" pitchFamily="49" charset="-122"/>
              </a:rPr>
              <a:t>压控特性数据记录表格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t>20</a:t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6515" y="1628800"/>
          <a:ext cx="8775970" cy="178308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4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3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3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3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cap="none" spc="0" dirty="0">
                          <a:ln>
                            <a:noFill/>
                          </a:ln>
                          <a:effectLst/>
                        </a:rPr>
                        <a:t>压控电压</a:t>
                      </a: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U(V)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0.1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0.2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0.3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0.4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0.5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0.7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0.9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1.0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1.2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F(KHz)</a:t>
                      </a:r>
                      <a:r>
                        <a:rPr lang="zh-CN" alt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正程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0" kern="1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逆程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kern="100" cap="none" spc="0" dirty="0">
                          <a:ln>
                            <a:noFill/>
                          </a:ln>
                          <a:effectLst/>
                        </a:rPr>
                        <a:t>压控电压</a:t>
                      </a: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U(V)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1.3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1.4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1.5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1.6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1.7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0" kern="1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1.8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kern="1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……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0" kern="1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3.0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F(KHz)</a:t>
                      </a:r>
                      <a:r>
                        <a:rPr lang="zh-CN" altLang="en-US" sz="1200" b="0" kern="100" cap="none" spc="0" dirty="0">
                          <a:ln>
                            <a:noFill/>
                          </a:ln>
                          <a:effectLst/>
                        </a:rPr>
                        <a:t>正程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cap="none" spc="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0" kern="1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逆程</a:t>
                      </a: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200" b="0" kern="1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55" y="3821241"/>
            <a:ext cx="837093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结论：</a:t>
            </a:r>
            <a:endParaRPr lang="en-US" altLang="zh-CN" sz="2000" b="1" dirty="0">
              <a:solidFill>
                <a:srgbClr val="C00000"/>
              </a:solidFill>
              <a:latin typeface="仿宋" pitchFamily="49" charset="-122"/>
              <a:ea typeface="仿宋" pitchFamily="49" charset="-122"/>
            </a:endParaRPr>
          </a:p>
          <a:p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、函数发生器在</a:t>
            </a:r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100k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频段的压控频率范围是从</a:t>
            </a:r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____KHz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到</a:t>
            </a:r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____KHz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；</a:t>
            </a:r>
            <a:endParaRPr lang="en-US" altLang="zh-CN" sz="1600" b="1" dirty="0">
              <a:solidFill>
                <a:schemeClr val="tx2"/>
              </a:solidFill>
              <a:latin typeface="仿宋" pitchFamily="49" charset="-122"/>
              <a:ea typeface="仿宋" pitchFamily="49" charset="-122"/>
            </a:endParaRPr>
          </a:p>
          <a:p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3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、单调的频率压控电压范围是从</a:t>
            </a:r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____V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到</a:t>
            </a:r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____V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；</a:t>
            </a:r>
            <a:endParaRPr lang="en-US" altLang="zh-CN" sz="1600" b="1" dirty="0">
              <a:solidFill>
                <a:schemeClr val="tx2"/>
              </a:solidFill>
              <a:latin typeface="仿宋" pitchFamily="49" charset="-122"/>
              <a:ea typeface="仿宋" pitchFamily="49" charset="-122"/>
            </a:endParaRPr>
          </a:p>
          <a:p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3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、你所确立的适合本幅频特性测试系统的控制信号幅度范围是</a:t>
            </a:r>
            <a:r>
              <a:rPr lang="en-US" altLang="zh-CN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_____________</a:t>
            </a:r>
            <a:r>
              <a:rPr lang="zh-CN" altLang="en-US" sz="1600" b="1" dirty="0">
                <a:solidFill>
                  <a:schemeClr val="tx2"/>
                </a:solidFill>
                <a:latin typeface="仿宋" pitchFamily="49" charset="-122"/>
                <a:ea typeface="仿宋" pitchFamily="49" charset="-122"/>
              </a:rPr>
              <a:t>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13F5514-81BB-4579-911F-B2CDBFFCACF0}"/>
              </a:ext>
            </a:extLst>
          </p:cNvPr>
          <p:cNvSpPr txBox="1">
            <a:spLocks/>
          </p:cNvSpPr>
          <p:nvPr/>
        </p:nvSpPr>
        <p:spPr bwMode="white">
          <a:xfrm>
            <a:off x="838200" y="228601"/>
            <a:ext cx="7162800" cy="56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kern="0" dirty="0"/>
              <a:t>实验内容二数据表格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918591-8848-404E-AE60-1D7D48B4B186}"/>
              </a:ext>
            </a:extLst>
          </p:cNvPr>
          <p:cNvCxnSpPr>
            <a:endCxn id="4" idx="3"/>
          </p:cNvCxnSpPr>
          <p:nvPr/>
        </p:nvCxnSpPr>
        <p:spPr>
          <a:xfrm>
            <a:off x="1826695" y="2258870"/>
            <a:ext cx="7155790" cy="2614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57AB906-4650-4457-8FBB-E6A2429BC0C6}"/>
              </a:ext>
            </a:extLst>
          </p:cNvPr>
          <p:cNvCxnSpPr>
            <a:cxnSpLocks/>
          </p:cNvCxnSpPr>
          <p:nvPr/>
        </p:nvCxnSpPr>
        <p:spPr>
          <a:xfrm flipV="1">
            <a:off x="1826695" y="2213865"/>
            <a:ext cx="7155790" cy="30647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91C2E90-02D0-4555-B442-372F3CC8E4E0}"/>
              </a:ext>
            </a:extLst>
          </p:cNvPr>
          <p:cNvCxnSpPr/>
          <p:nvPr/>
        </p:nvCxnSpPr>
        <p:spPr>
          <a:xfrm>
            <a:off x="1826695" y="3145021"/>
            <a:ext cx="7155790" cy="2614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3F60C06-5EFA-4FFF-8BE3-3C4A213E66AB}"/>
              </a:ext>
            </a:extLst>
          </p:cNvPr>
          <p:cNvCxnSpPr>
            <a:cxnSpLocks/>
          </p:cNvCxnSpPr>
          <p:nvPr/>
        </p:nvCxnSpPr>
        <p:spPr>
          <a:xfrm flipV="1">
            <a:off x="1826695" y="3133072"/>
            <a:ext cx="7155790" cy="2734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实验内容三：三角波产生电路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499047" y="1385878"/>
            <a:ext cx="3150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波形变换方式得到三角波的电路。</a:t>
            </a:r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06915" y="863715"/>
          <a:ext cx="4974475" cy="2399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068520" imgH="2927320" progId="Visio.Drawing.11">
                  <p:embed/>
                </p:oleObj>
              </mc:Choice>
              <mc:Fallback>
                <p:oleObj name="Visio" r:id="rId2" imgW="6068520" imgH="2927320" progId="Visio.Drawing.11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06915" y="863715"/>
                        <a:ext cx="4974475" cy="2399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15624" y="2695196"/>
            <a:ext cx="3433773" cy="156966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方波发生器的</a:t>
            </a: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C</a:t>
            </a:r>
            <a:r>
              <a:rPr lang="en-US" altLang="zh-CN" baseline="-25000" dirty="0"/>
              <a:t>1</a:t>
            </a:r>
            <a:r>
              <a:rPr lang="zh-CN" altLang="en-US" dirty="0"/>
              <a:t>回路作为延迟环节，与同相端阈值电压作比较，运放输出端得到方波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93122" y="4473114"/>
            <a:ext cx="3490274" cy="120032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积分运算电路的积分环节</a:t>
            </a:r>
            <a:r>
              <a:rPr lang="en-US" altLang="zh-CN" dirty="0"/>
              <a:t>R</a:t>
            </a:r>
            <a:r>
              <a:rPr lang="en-US" altLang="zh-CN" baseline="-25000" dirty="0"/>
              <a:t>5</a:t>
            </a: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zh-CN" altLang="en-US" dirty="0"/>
              <a:t>则将方波输出</a:t>
            </a:r>
            <a:r>
              <a:rPr lang="en-US" altLang="zh-CN" dirty="0"/>
              <a:t>u</a:t>
            </a:r>
            <a:r>
              <a:rPr lang="en-US" altLang="zh-CN" baseline="-25000" dirty="0"/>
              <a:t>o1</a:t>
            </a:r>
            <a:r>
              <a:rPr lang="zh-CN" altLang="en-US" dirty="0"/>
              <a:t>转换为三角波</a:t>
            </a:r>
          </a:p>
        </p:txBody>
      </p:sp>
      <p:sp>
        <p:nvSpPr>
          <p:cNvPr id="8" name="矩形 7"/>
          <p:cNvSpPr/>
          <p:nvPr/>
        </p:nvSpPr>
        <p:spPr>
          <a:xfrm>
            <a:off x="4121950" y="3263122"/>
            <a:ext cx="503225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在实用电路中，将方波发生电路中的</a:t>
            </a:r>
            <a:r>
              <a:rPr lang="en-US" altLang="zh-CN" dirty="0"/>
              <a:t>RC</a:t>
            </a:r>
            <a:r>
              <a:rPr lang="zh-CN" altLang="en-US" dirty="0"/>
              <a:t>充、放电回路去掉，用积分运算电路来取代，既作为方波比较的延迟环节，又作为方波变三角波的积分环节，滞回比较器和积分电路的输出互为另一个电路的输入，且为了满足极性的需求，滞回比较器改为同相输入。</a:t>
            </a:r>
          </a:p>
        </p:txBody>
      </p:sp>
      <p:sp>
        <p:nvSpPr>
          <p:cNvPr id="9" name="下箭头 8"/>
          <p:cNvSpPr/>
          <p:nvPr/>
        </p:nvSpPr>
        <p:spPr>
          <a:xfrm>
            <a:off x="3562069" y="5835771"/>
            <a:ext cx="489691" cy="540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32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58" name="Picture 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24965"/>
            <a:ext cx="5067348" cy="241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三角波发生器参考电路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9" name="右大括号 8"/>
          <p:cNvSpPr/>
          <p:nvPr/>
        </p:nvSpPr>
        <p:spPr>
          <a:xfrm rot="5400000">
            <a:off x="1536896" y="2008609"/>
            <a:ext cx="120016" cy="1970688"/>
          </a:xfrm>
          <a:prstGeom prst="rightBrac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" y="3113965"/>
            <a:ext cx="2807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滞回比较器产生方波，输出幅度</a:t>
            </a:r>
            <a:r>
              <a:rPr lang="en-US" altLang="zh-CN" dirty="0"/>
              <a:t>=</a:t>
            </a:r>
            <a:r>
              <a:rPr lang="en-US" altLang="zh-CN" dirty="0">
                <a:latin typeface="宋体"/>
                <a:ea typeface="宋体"/>
              </a:rPr>
              <a:t>±</a:t>
            </a:r>
            <a:r>
              <a:rPr lang="en-US" altLang="zh-CN" dirty="0" err="1">
                <a:latin typeface="宋体"/>
                <a:ea typeface="宋体"/>
              </a:rPr>
              <a:t>V</a:t>
            </a:r>
            <a:r>
              <a:rPr lang="en-US" altLang="zh-CN" baseline="-25000" dirty="0" err="1">
                <a:latin typeface="宋体"/>
                <a:ea typeface="宋体"/>
              </a:rPr>
              <a:t>z</a:t>
            </a:r>
            <a:endParaRPr lang="zh-CN" altLang="en-US" baseline="-25000" dirty="0"/>
          </a:p>
        </p:txBody>
      </p:sp>
      <p:sp>
        <p:nvSpPr>
          <p:cNvPr id="14" name="右大括号 13"/>
          <p:cNvSpPr/>
          <p:nvPr/>
        </p:nvSpPr>
        <p:spPr>
          <a:xfrm rot="5400000">
            <a:off x="3764391" y="2319096"/>
            <a:ext cx="120016" cy="1970688"/>
          </a:xfrm>
          <a:prstGeom prst="rightBrac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839056" y="3429000"/>
            <a:ext cx="2137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积分器产生三角波</a:t>
            </a:r>
            <a:endParaRPr lang="zh-CN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03122" y="893711"/>
                <a:ext cx="3833452" cy="3414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运放</a:t>
                </a:r>
                <a:r>
                  <a:rPr lang="en-US" altLang="zh-CN" dirty="0"/>
                  <a:t>A1</a:t>
                </a:r>
                <a:r>
                  <a:rPr lang="zh-CN" altLang="en-US" dirty="0"/>
                  <a:t>的同相端电压</a:t>
                </a:r>
                <a:r>
                  <a:rPr lang="en-US" altLang="zh-CN" dirty="0"/>
                  <a:t>up</a:t>
                </a:r>
                <a:r>
                  <a:rPr lang="zh-CN" altLang="en-US" dirty="0"/>
                  <a:t>受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zh-CN" altLang="en-US" dirty="0"/>
                  <a:t>和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o</a:t>
                </a:r>
                <a:r>
                  <a:rPr lang="zh-CN" altLang="en-US" dirty="0"/>
                  <a:t>二者的反馈影响，用叠加定理来分析</a:t>
                </a:r>
                <a:endParaRPr lang="en-US" altLang="zh-CN" dirty="0"/>
              </a:p>
              <a:p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zh-CN" altLang="en-US" dirty="0"/>
                  <a:t>单独作用：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 err="1"/>
                  <a:t>uo</a:t>
                </a:r>
                <a:r>
                  <a:rPr lang="zh-CN" altLang="en-US" dirty="0"/>
                  <a:t>单独作用：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122" y="893711"/>
                <a:ext cx="3833452" cy="3414204"/>
              </a:xfrm>
              <a:prstGeom prst="rect">
                <a:avLst/>
              </a:prstGeom>
              <a:blipFill rotWithShape="1">
                <a:blip r:embed="rId3"/>
                <a:stretch>
                  <a:fillRect l="-2548" t="-1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028042" y="1882279"/>
            <a:ext cx="4347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A1</a:t>
            </a:r>
            <a:endParaRPr lang="zh-CN" altLang="en-US" sz="1600" dirty="0"/>
          </a:p>
        </p:txBody>
      </p:sp>
      <p:sp>
        <p:nvSpPr>
          <p:cNvPr id="24" name="矩形 23"/>
          <p:cNvSpPr/>
          <p:nvPr/>
        </p:nvSpPr>
        <p:spPr>
          <a:xfrm>
            <a:off x="3593049" y="1713002"/>
            <a:ext cx="4347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A2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9573" y="4284095"/>
                <a:ext cx="6566951" cy="66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i="1" smtClean="0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73" y="4284095"/>
                <a:ext cx="6566951" cy="660630"/>
              </a:xfrm>
              <a:prstGeom prst="rect">
                <a:avLst/>
              </a:prstGeom>
              <a:blipFill rotWithShape="1">
                <a:blip r:embed="rId4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62677" y="5082981"/>
                <a:ext cx="8773897" cy="1427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=0</a:t>
                </a:r>
                <a:r>
                  <a:rPr lang="zh-CN" altLang="en-US" dirty="0"/>
                  <a:t>，所以，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p</a:t>
                </a:r>
                <a:r>
                  <a:rPr lang="en-US" altLang="zh-CN" dirty="0"/>
                  <a:t>&lt;0</a:t>
                </a:r>
                <a:r>
                  <a:rPr lang="en-US" altLang="zh-CN" dirty="0">
                    <a:latin typeface="宋体"/>
                    <a:ea typeface="宋体"/>
                  </a:rPr>
                  <a:t>→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en-US" altLang="zh-CN" dirty="0"/>
                  <a:t>=-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p</a:t>
                </a:r>
                <a:r>
                  <a:rPr lang="en-US" altLang="zh-CN" dirty="0"/>
                  <a:t>&gt;0</a:t>
                </a:r>
                <a:r>
                  <a:rPr lang="en-US" altLang="zh-CN" dirty="0">
                    <a:latin typeface="宋体"/>
                    <a:ea typeface="宋体"/>
                  </a:rPr>
                  <a:t>→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en-US" altLang="zh-CN" dirty="0"/>
                  <a:t>=+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由稳压管固定，滞回比较的阈值与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o</a:t>
                </a:r>
                <a:r>
                  <a:rPr lang="zh-CN" altLang="en-US" dirty="0"/>
                  <a:t>有关，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zh-CN" altLang="en-US" dirty="0"/>
                  <a:t>翻转的临界点在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p</a:t>
                </a:r>
                <a:r>
                  <a:rPr lang="en-US" altLang="zh-CN" dirty="0"/>
                  <a:t>=0</a:t>
                </a:r>
                <a:r>
                  <a:rPr lang="zh-CN" altLang="en-US" dirty="0"/>
                  <a:t>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=0 </a:t>
                </a:r>
                <a:r>
                  <a:rPr lang="en-US" altLang="zh-CN" dirty="0">
                    <a:latin typeface="宋体"/>
                    <a:ea typeface="宋体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77" y="5082981"/>
                <a:ext cx="8773897" cy="1427827"/>
              </a:xfrm>
              <a:prstGeom prst="rect">
                <a:avLst/>
              </a:prstGeom>
              <a:blipFill rotWithShape="1">
                <a:blip r:embed="rId5"/>
                <a:stretch>
                  <a:fillRect l="-1042" t="-4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6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三角波发生器参考电路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922150" y="1898830"/>
            <a:ext cx="274530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6102170" y="1043735"/>
            <a:ext cx="0" cy="166518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6102170" y="1358769"/>
            <a:ext cx="2340260" cy="1094951"/>
            <a:chOff x="791580" y="1628799"/>
            <a:chExt cx="2340260" cy="1094951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791580" y="1628800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376645" y="1628799"/>
              <a:ext cx="0" cy="1080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1376644" y="2708799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961709" y="1643750"/>
              <a:ext cx="0" cy="1080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961711" y="1643751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2546776" y="1643750"/>
              <a:ext cx="0" cy="1080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2546775" y="2723750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5562110" y="1133745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+</a:t>
            </a:r>
            <a:r>
              <a:rPr lang="en-US" altLang="zh-CN" sz="2000" dirty="0" err="1"/>
              <a:t>U</a:t>
            </a:r>
            <a:r>
              <a:rPr lang="en-US" altLang="zh-CN" sz="2000" baseline="-25000" dirty="0" err="1"/>
              <a:t>z</a:t>
            </a:r>
            <a:endParaRPr lang="zh-CN" altLang="en-US" sz="2000" baseline="-25000" dirty="0"/>
          </a:p>
        </p:txBody>
      </p:sp>
      <p:sp>
        <p:nvSpPr>
          <p:cNvPr id="40" name="TextBox 39"/>
          <p:cNvSpPr txBox="1"/>
          <p:nvPr/>
        </p:nvSpPr>
        <p:spPr>
          <a:xfrm>
            <a:off x="5562110" y="216886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</a:t>
            </a:r>
            <a:r>
              <a:rPr lang="en-US" altLang="zh-CN" sz="2000" dirty="0" err="1"/>
              <a:t>U</a:t>
            </a:r>
            <a:r>
              <a:rPr lang="en-US" altLang="zh-CN" sz="2000" baseline="-25000" dirty="0" err="1"/>
              <a:t>z</a:t>
            </a:r>
            <a:endParaRPr lang="zh-CN" altLang="en-US" sz="2000" baseline="-25000" dirty="0"/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6102170" y="2438769"/>
            <a:ext cx="585064" cy="0"/>
          </a:xfrm>
          <a:prstGeom prst="line">
            <a:avLst/>
          </a:prstGeom>
          <a:ln w="19050">
            <a:solidFill>
              <a:srgbClr val="33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02170" y="728700"/>
            <a:ext cx="585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</a:t>
            </a:r>
            <a:r>
              <a:rPr lang="en-US" altLang="zh-CN" baseline="-25000" dirty="0"/>
              <a:t>o1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87135" y="1808820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/>
              <a:t>O</a:t>
            </a:r>
            <a:endParaRPr lang="zh-CN" altLang="en-US" sz="2000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8577445" y="1673805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49" name="直接箭头连接符 48"/>
          <p:cNvCxnSpPr/>
          <p:nvPr/>
        </p:nvCxnSpPr>
        <p:spPr>
          <a:xfrm>
            <a:off x="5922150" y="3834044"/>
            <a:ext cx="274530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6102170" y="2978949"/>
            <a:ext cx="0" cy="166518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562110" y="3068959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+U</a:t>
            </a:r>
            <a:r>
              <a:rPr lang="en-US" altLang="zh-CN" sz="2000" baseline="-25000" dirty="0"/>
              <a:t>T</a:t>
            </a:r>
            <a:endParaRPr lang="zh-CN" altLang="en-US" sz="2000" baseline="-25000" dirty="0"/>
          </a:p>
        </p:txBody>
      </p:sp>
      <p:sp>
        <p:nvSpPr>
          <p:cNvPr id="52" name="TextBox 51"/>
          <p:cNvSpPr txBox="1"/>
          <p:nvPr/>
        </p:nvSpPr>
        <p:spPr>
          <a:xfrm>
            <a:off x="5562110" y="410407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-U</a:t>
            </a:r>
            <a:r>
              <a:rPr lang="en-US" altLang="zh-CN" sz="2000" baseline="-25000" dirty="0"/>
              <a:t>T</a:t>
            </a:r>
            <a:endParaRPr lang="zh-CN" altLang="en-US" sz="2000" baseline="-25000" dirty="0"/>
          </a:p>
        </p:txBody>
      </p:sp>
      <p:cxnSp>
        <p:nvCxnSpPr>
          <p:cNvPr id="53" name="直接连接符 52"/>
          <p:cNvCxnSpPr/>
          <p:nvPr/>
        </p:nvCxnSpPr>
        <p:spPr>
          <a:xfrm flipH="1">
            <a:off x="6102171" y="4373983"/>
            <a:ext cx="585064" cy="0"/>
          </a:xfrm>
          <a:prstGeom prst="line">
            <a:avLst/>
          </a:prstGeom>
          <a:ln w="19050">
            <a:solidFill>
              <a:srgbClr val="33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102170" y="2663914"/>
            <a:ext cx="585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</a:t>
            </a:r>
            <a:r>
              <a:rPr lang="en-US" altLang="zh-CN" baseline="-25000" dirty="0" err="1"/>
              <a:t>o</a:t>
            </a:r>
            <a:endParaRPr lang="en-US" altLang="zh-CN" baseline="-25000" dirty="0"/>
          </a:p>
        </p:txBody>
      </p:sp>
      <p:sp>
        <p:nvSpPr>
          <p:cNvPr id="55" name="TextBox 54"/>
          <p:cNvSpPr txBox="1"/>
          <p:nvPr/>
        </p:nvSpPr>
        <p:spPr>
          <a:xfrm>
            <a:off x="5787135" y="3744034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/>
              <a:t>O</a:t>
            </a:r>
            <a:endParaRPr lang="zh-CN" altLang="en-US" sz="2000" i="1" dirty="0"/>
          </a:p>
        </p:txBody>
      </p:sp>
      <p:sp>
        <p:nvSpPr>
          <p:cNvPr id="56" name="TextBox 55"/>
          <p:cNvSpPr txBox="1"/>
          <p:nvPr/>
        </p:nvSpPr>
        <p:spPr>
          <a:xfrm>
            <a:off x="8577445" y="3609019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endParaRPr lang="zh-CN" altLang="en-US" sz="2000" dirty="0"/>
          </a:p>
        </p:txBody>
      </p:sp>
      <p:sp>
        <p:nvSpPr>
          <p:cNvPr id="47" name="矩形 46"/>
          <p:cNvSpPr/>
          <p:nvPr/>
        </p:nvSpPr>
        <p:spPr>
          <a:xfrm>
            <a:off x="251520" y="95372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/>
              <a:t>u</a:t>
            </a:r>
            <a:r>
              <a:rPr lang="en-US" altLang="zh-CN" baseline="-25000" dirty="0" err="1"/>
              <a:t>o</a:t>
            </a:r>
            <a:r>
              <a:rPr lang="zh-CN" altLang="en-US" dirty="0"/>
              <a:t>是</a:t>
            </a:r>
            <a:r>
              <a:rPr lang="en-US" altLang="zh-CN" dirty="0" err="1"/>
              <a:t>U</a:t>
            </a:r>
            <a:r>
              <a:rPr lang="en-US" altLang="zh-CN" baseline="-25000" dirty="0" err="1"/>
              <a:t>z</a:t>
            </a:r>
            <a:r>
              <a:rPr lang="zh-CN" altLang="en-US" dirty="0"/>
              <a:t>经</a:t>
            </a:r>
            <a:r>
              <a:rPr lang="en-US" altLang="zh-CN" dirty="0"/>
              <a:t>RC</a:t>
            </a:r>
            <a:r>
              <a:rPr lang="zh-CN" altLang="en-US" dirty="0"/>
              <a:t>积分而来的三角波，临界处的电压是其电容充电或者放电的终点，即为阈值电压</a:t>
            </a:r>
            <a:r>
              <a:rPr lang="en-US" altLang="zh-CN" dirty="0"/>
              <a:t>U</a:t>
            </a:r>
            <a:r>
              <a:rPr lang="en-US" altLang="zh-CN" baseline="-25000" dirty="0"/>
              <a:t>T</a:t>
            </a:r>
            <a:endParaRPr lang="zh-CN" altLang="en-US" baseline="-25000" dirty="0"/>
          </a:p>
        </p:txBody>
      </p:sp>
      <p:cxnSp>
        <p:nvCxnSpPr>
          <p:cNvPr id="57" name="直接连接符 56"/>
          <p:cNvCxnSpPr/>
          <p:nvPr/>
        </p:nvCxnSpPr>
        <p:spPr>
          <a:xfrm>
            <a:off x="6687234" y="2453720"/>
            <a:ext cx="1" cy="205046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7272299" y="2438890"/>
            <a:ext cx="1" cy="205046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7857365" y="2438890"/>
            <a:ext cx="1" cy="205046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6102170" y="3269014"/>
            <a:ext cx="585064" cy="1104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6687234" y="3269014"/>
            <a:ext cx="585065" cy="1104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21" name="直接连接符 56320"/>
          <p:cNvCxnSpPr/>
          <p:nvPr/>
        </p:nvCxnSpPr>
        <p:spPr>
          <a:xfrm>
            <a:off x="7294802" y="3269014"/>
            <a:ext cx="562564" cy="1104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26" name="直接连接符 56325"/>
          <p:cNvCxnSpPr/>
          <p:nvPr/>
        </p:nvCxnSpPr>
        <p:spPr>
          <a:xfrm flipV="1">
            <a:off x="7857366" y="3269014"/>
            <a:ext cx="585064" cy="1104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332" name="TextBox 56331"/>
              <p:cNvSpPr txBox="1"/>
              <p:nvPr/>
            </p:nvSpPr>
            <p:spPr>
              <a:xfrm>
                <a:off x="251520" y="2078850"/>
                <a:ext cx="4572000" cy="3993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三角波周期的计算：</a:t>
                </a:r>
                <a:endParaRPr lang="en-US" altLang="zh-CN" dirty="0"/>
              </a:p>
              <a:p>
                <a:r>
                  <a:rPr lang="zh-CN" altLang="en-US" dirty="0"/>
                  <a:t>电容正向充电的时长是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</m:oMath>
                </a14:m>
                <a:r>
                  <a:rPr lang="zh-CN" altLang="en-US" dirty="0"/>
                  <a:t>，从</a:t>
                </a:r>
                <a:r>
                  <a:rPr lang="en-US" altLang="zh-CN" dirty="0"/>
                  <a:t>-U</a:t>
                </a:r>
                <a:r>
                  <a:rPr lang="en-US" altLang="zh-CN" baseline="-25000" dirty="0"/>
                  <a:t>T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+U</a:t>
                </a:r>
                <a:r>
                  <a:rPr lang="en-US" altLang="zh-CN" baseline="-25000" dirty="0"/>
                  <a:t>T</a:t>
                </a:r>
                <a:r>
                  <a:rPr lang="zh-CN" altLang="en-US" dirty="0"/>
                  <a:t>，此时积分器输入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en-US" altLang="zh-CN" dirty="0"/>
                  <a:t>=-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，而积分初值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o</a:t>
                </a:r>
                <a:r>
                  <a:rPr lang="en-US" altLang="zh-CN" dirty="0"/>
                  <a:t>(0) = -U</a:t>
                </a:r>
                <a:r>
                  <a:rPr lang="en-US" altLang="zh-CN" baseline="-25000" dirty="0"/>
                  <a:t>T </a:t>
                </a:r>
                <a:r>
                  <a:rPr lang="zh-CN" altLang="en-US" dirty="0"/>
                  <a:t>，积分输出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6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r>
                  <a:rPr lang="en-US" altLang="zh-CN" dirty="0"/>
                  <a:t>    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𝐶</m:t>
                        </m:r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+(−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而积分的结束为</a:t>
                </a:r>
                <a:r>
                  <a:rPr lang="en-US" altLang="zh-CN" dirty="0"/>
                  <a:t>+U</a:t>
                </a:r>
                <a:r>
                  <a:rPr lang="en-US" altLang="zh-CN" baseline="-25000" dirty="0"/>
                  <a:t>T</a:t>
                </a:r>
              </a:p>
            </p:txBody>
          </p:sp>
        </mc:Choice>
        <mc:Fallback xmlns="">
          <p:sp>
            <p:nvSpPr>
              <p:cNvPr id="56332" name="TextBox 563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078850"/>
                <a:ext cx="4572000" cy="3993016"/>
              </a:xfrm>
              <a:prstGeom prst="rect">
                <a:avLst/>
              </a:prstGeom>
              <a:blipFill rotWithShape="1">
                <a:blip r:embed="rId2"/>
                <a:stretch>
                  <a:fillRect l="-2000" t="-1679" b="-2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333" name="TextBox 56332"/>
              <p:cNvSpPr txBox="1"/>
              <p:nvPr/>
            </p:nvSpPr>
            <p:spPr>
              <a:xfrm>
                <a:off x="3533666" y="5086788"/>
                <a:ext cx="5497048" cy="12330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𝑇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𝐶</m:t>
                        </m:r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𝑇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+(−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Cambria Math"/>
                  </a:rPr>
                  <a:t>     带入前述</a:t>
                </a:r>
                <a:r>
                  <a:rPr lang="en-US" altLang="zh-CN" b="0" dirty="0" err="1">
                    <a:latin typeface="Cambria Math"/>
                  </a:rPr>
                  <a:t>U</a:t>
                </a:r>
                <a:r>
                  <a:rPr lang="en-US" altLang="zh-CN" b="0" baseline="-25000" dirty="0" err="1">
                    <a:latin typeface="Cambria Math"/>
                  </a:rPr>
                  <a:t>z</a:t>
                </a:r>
                <a:r>
                  <a:rPr lang="zh-CN" altLang="en-US" b="0" dirty="0">
                    <a:latin typeface="Cambria Math"/>
                  </a:rPr>
                  <a:t>的表达式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/>
                      </a:rPr>
                      <m:t>         </m:t>
                    </m:r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4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333" name="TextBox 563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666" y="5086788"/>
                <a:ext cx="5497048" cy="1233094"/>
              </a:xfrm>
              <a:prstGeom prst="rect">
                <a:avLst/>
              </a:prstGeom>
              <a:blipFill rotWithShape="1">
                <a:blip r:embed="rId3"/>
                <a:stretch>
                  <a:fillRect l="-1661" r="-1440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007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三角波发生器参考电路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1166002" y="1943835"/>
            <a:ext cx="562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</a:t>
            </a:r>
            <a:r>
              <a:rPr lang="en-US" altLang="zh-CN" sz="1600" baseline="-25000" dirty="0"/>
              <a:t>1</a:t>
            </a:r>
            <a:endParaRPr lang="zh-CN" altLang="en-US" sz="1600" baseline="-25000" dirty="0"/>
          </a:p>
        </p:txBody>
      </p:sp>
      <p:sp>
        <p:nvSpPr>
          <p:cNvPr id="21" name="TextBox 20"/>
          <p:cNvSpPr txBox="1"/>
          <p:nvPr/>
        </p:nvSpPr>
        <p:spPr>
          <a:xfrm>
            <a:off x="3660649" y="1785301"/>
            <a:ext cx="506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</a:t>
            </a:r>
            <a:r>
              <a:rPr lang="en-US" altLang="zh-CN" sz="1600" baseline="-25000" dirty="0"/>
              <a:t>2</a:t>
            </a:r>
            <a:endParaRPr lang="zh-CN" altLang="en-US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37085" y="953725"/>
                <a:ext cx="3735415" cy="2153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综上，该电路的输出三角波参数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𝑇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085" y="953725"/>
                <a:ext cx="3735415" cy="2153603"/>
              </a:xfrm>
              <a:prstGeom prst="rect">
                <a:avLst/>
              </a:prstGeom>
              <a:blipFill rotWithShape="1">
                <a:blip r:embed="rId2"/>
                <a:stretch>
                  <a:fillRect l="-2614" t="-2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22" y="824965"/>
            <a:ext cx="5067348" cy="241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4722" y="2933945"/>
            <a:ext cx="88477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参数设计建议</a:t>
            </a:r>
            <a:r>
              <a:rPr lang="en-US" altLang="zh-CN" dirty="0"/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CN" dirty="0" err="1"/>
              <a:t>u</a:t>
            </a:r>
            <a:r>
              <a:rPr lang="en-US" altLang="zh-CN" baseline="-25000" dirty="0" err="1"/>
              <a:t>o</a:t>
            </a:r>
            <a:r>
              <a:rPr lang="zh-CN" altLang="en-US" dirty="0"/>
              <a:t>的峰峰值由前述的测试内容确定为</a:t>
            </a:r>
            <a:r>
              <a:rPr lang="en-US" altLang="zh-CN" dirty="0"/>
              <a:t>1.4~1.8V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CN" dirty="0"/>
              <a:t>u</a:t>
            </a:r>
            <a:r>
              <a:rPr lang="en-US" altLang="zh-CN" baseline="-25000" dirty="0"/>
              <a:t>o1</a:t>
            </a:r>
            <a:r>
              <a:rPr lang="en-US" altLang="zh-CN" dirty="0"/>
              <a:t> </a:t>
            </a:r>
            <a:r>
              <a:rPr lang="zh-CN" altLang="en-US" dirty="0"/>
              <a:t>的输出由稳压管确定，选定之后再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计算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R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、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R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的值</a:t>
            </a:r>
            <a:r>
              <a:rPr lang="zh-CN" altLang="en-US" dirty="0"/>
              <a:t>，为方便调整，建议</a:t>
            </a:r>
            <a:r>
              <a:rPr lang="en-US" altLang="zh-CN" dirty="0"/>
              <a:t>R2</a:t>
            </a:r>
            <a:r>
              <a:rPr lang="zh-CN" altLang="en-US" dirty="0"/>
              <a:t>选用</a:t>
            </a:r>
            <a:r>
              <a:rPr lang="en-US" altLang="zh-CN" dirty="0"/>
              <a:t>10k</a:t>
            </a:r>
            <a:r>
              <a:rPr lang="zh-CN" altLang="en-US" dirty="0"/>
              <a:t>电位器；</a:t>
            </a:r>
            <a:endParaRPr lang="en-US" altLang="zh-CN" dirty="0"/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dirty="0"/>
              <a:t>两级运放的平衡电阻及稳压管限流电阻参考取值：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  <a:r>
              <a:rPr lang="en-US" altLang="zh-CN" baseline="-25000" dirty="0"/>
              <a:t>5</a:t>
            </a:r>
            <a:r>
              <a:rPr lang="en-US" altLang="zh-CN" dirty="0"/>
              <a:t>=10kΩ</a:t>
            </a:r>
            <a:r>
              <a:rPr lang="zh-CN" altLang="zh-CN" dirty="0"/>
              <a:t>，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en-US" altLang="zh-CN" dirty="0"/>
              <a:t>=1kΩ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dirty="0"/>
              <a:t>三角波的周期是</a:t>
            </a:r>
            <a:r>
              <a:rPr lang="en-US" altLang="zh-CN" dirty="0"/>
              <a:t>2s~4s</a:t>
            </a:r>
            <a:r>
              <a:rPr lang="zh-CN" altLang="en-US" dirty="0"/>
              <a:t>是可行的，</a:t>
            </a:r>
            <a:r>
              <a:rPr lang="en-US" altLang="zh-CN" i="1" dirty="0"/>
              <a:t>R</a:t>
            </a:r>
            <a:r>
              <a:rPr lang="en-US" altLang="zh-CN" baseline="-25000" dirty="0"/>
              <a:t>7</a:t>
            </a:r>
            <a:r>
              <a:rPr lang="en-US" altLang="zh-CN" dirty="0"/>
              <a:t>=100KΩ</a:t>
            </a:r>
            <a:r>
              <a:rPr lang="zh-CN" altLang="en-US" dirty="0"/>
              <a:t>，</a:t>
            </a:r>
            <a:r>
              <a:rPr lang="en-US" altLang="zh-CN" dirty="0"/>
              <a:t>C=47</a:t>
            </a:r>
            <a:r>
              <a:rPr lang="el-GR" altLang="zh-CN" dirty="0"/>
              <a:t>μ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计算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R6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的取值；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dirty="0"/>
              <a:t>电源：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cc</a:t>
            </a:r>
            <a:r>
              <a:rPr lang="en-US" altLang="zh-CN" dirty="0"/>
              <a:t>=</a:t>
            </a:r>
            <a:r>
              <a:rPr lang="en-US" altLang="zh-CN" dirty="0">
                <a:latin typeface="宋体"/>
                <a:ea typeface="宋体"/>
              </a:rPr>
              <a:t>±</a:t>
            </a:r>
            <a:r>
              <a:rPr lang="en-US" altLang="zh-CN" dirty="0"/>
              <a:t>5V</a:t>
            </a:r>
          </a:p>
        </p:txBody>
      </p:sp>
    </p:spTree>
    <p:extLst>
      <p:ext uri="{BB962C8B-B14F-4D97-AF65-F5344CB8AC3E}">
        <p14:creationId xmlns:p14="http://schemas.microsoft.com/office/powerpoint/2010/main" val="265595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6">
            <a:extLst>
              <a:ext uri="{FF2B5EF4-FFF2-40B4-BE49-F238E27FC236}">
                <a16:creationId xmlns:a16="http://schemas.microsoft.com/office/drawing/2014/main" id="{E164F8AE-6AA4-4FE2-9F06-8893E940B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71" y="1265019"/>
            <a:ext cx="7941658" cy="3791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3821216" y="4456136"/>
            <a:ext cx="838200" cy="222251"/>
          </a:xfrm>
        </p:spPr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7DBD230D-E2A6-434B-A73E-541669A34989}"/>
              </a:ext>
            </a:extLst>
          </p:cNvPr>
          <p:cNvCxnSpPr>
            <a:cxnSpLocks/>
          </p:cNvCxnSpPr>
          <p:nvPr/>
        </p:nvCxnSpPr>
        <p:spPr>
          <a:xfrm flipV="1">
            <a:off x="2321750" y="1926552"/>
            <a:ext cx="555286" cy="52264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87" name="TextBox 7">
            <a:extLst>
              <a:ext uri="{FF2B5EF4-FFF2-40B4-BE49-F238E27FC236}">
                <a16:creationId xmlns:a16="http://schemas.microsoft.com/office/drawing/2014/main" id="{6B24CBAE-0A82-4123-8AE2-EB67C48D64CA}"/>
              </a:ext>
            </a:extLst>
          </p:cNvPr>
          <p:cNvSpPr txBox="1"/>
          <p:nvPr/>
        </p:nvSpPr>
        <p:spPr>
          <a:xfrm>
            <a:off x="2877036" y="183402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8" name="TextBox 8">
            <a:extLst>
              <a:ext uri="{FF2B5EF4-FFF2-40B4-BE49-F238E27FC236}">
                <a16:creationId xmlns:a16="http://schemas.microsoft.com/office/drawing/2014/main" id="{B48C944E-1129-4B5A-BA60-63D76DA92491}"/>
              </a:ext>
            </a:extLst>
          </p:cNvPr>
          <p:cNvSpPr txBox="1"/>
          <p:nvPr/>
        </p:nvSpPr>
        <p:spPr>
          <a:xfrm>
            <a:off x="3932928" y="128355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9" name="TextBox 9">
            <a:extLst>
              <a:ext uri="{FF2B5EF4-FFF2-40B4-BE49-F238E27FC236}">
                <a16:creationId xmlns:a16="http://schemas.microsoft.com/office/drawing/2014/main" id="{21915986-9DA7-47B7-B401-144836E889DF}"/>
              </a:ext>
            </a:extLst>
          </p:cNvPr>
          <p:cNvSpPr txBox="1"/>
          <p:nvPr/>
        </p:nvSpPr>
        <p:spPr>
          <a:xfrm>
            <a:off x="926595" y="370396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0" name="TextBox 10">
            <a:extLst>
              <a:ext uri="{FF2B5EF4-FFF2-40B4-BE49-F238E27FC236}">
                <a16:creationId xmlns:a16="http://schemas.microsoft.com/office/drawing/2014/main" id="{BFF02048-3F62-4ECC-90FF-4EE06428EC97}"/>
              </a:ext>
            </a:extLst>
          </p:cNvPr>
          <p:cNvSpPr txBox="1"/>
          <p:nvPr/>
        </p:nvSpPr>
        <p:spPr>
          <a:xfrm>
            <a:off x="3201072" y="2824771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1" name="TextBox 11">
            <a:extLst>
              <a:ext uri="{FF2B5EF4-FFF2-40B4-BE49-F238E27FC236}">
                <a16:creationId xmlns:a16="http://schemas.microsoft.com/office/drawing/2014/main" id="{3C5DADE9-9181-41F0-8873-D9E955473B0F}"/>
              </a:ext>
            </a:extLst>
          </p:cNvPr>
          <p:cNvSpPr txBox="1"/>
          <p:nvPr/>
        </p:nvSpPr>
        <p:spPr>
          <a:xfrm>
            <a:off x="5337085" y="218796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3BB717DF-F8FD-4847-9817-7C1F9E9C4B8B}"/>
              </a:ext>
            </a:extLst>
          </p:cNvPr>
          <p:cNvSpPr txBox="1"/>
          <p:nvPr/>
        </p:nvSpPr>
        <p:spPr>
          <a:xfrm>
            <a:off x="5205876" y="28247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60k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3" name="TextBox 13">
            <a:extLst>
              <a:ext uri="{FF2B5EF4-FFF2-40B4-BE49-F238E27FC236}">
                <a16:creationId xmlns:a16="http://schemas.microsoft.com/office/drawing/2014/main" id="{F07F79AA-6D01-4862-A337-415E6F8AE511}"/>
              </a:ext>
            </a:extLst>
          </p:cNvPr>
          <p:cNvSpPr txBox="1"/>
          <p:nvPr/>
        </p:nvSpPr>
        <p:spPr>
          <a:xfrm>
            <a:off x="6489270" y="4678387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4" name="TextBox 14">
            <a:extLst>
              <a:ext uri="{FF2B5EF4-FFF2-40B4-BE49-F238E27FC236}">
                <a16:creationId xmlns:a16="http://schemas.microsoft.com/office/drawing/2014/main" id="{E46AE06D-C200-4CB9-8B80-6CB62830039F}"/>
              </a:ext>
            </a:extLst>
          </p:cNvPr>
          <p:cNvSpPr txBox="1"/>
          <p:nvPr/>
        </p:nvSpPr>
        <p:spPr>
          <a:xfrm>
            <a:off x="2017197" y="5167514"/>
            <a:ext cx="5109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输出三角波周期大约</a:t>
            </a:r>
            <a:r>
              <a:rPr lang="en-US" altLang="zh-CN" sz="32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2s</a:t>
            </a:r>
            <a:endParaRPr lang="zh-CN" altLang="en-US" sz="32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5" name="TextBox 15">
            <a:extLst>
              <a:ext uri="{FF2B5EF4-FFF2-40B4-BE49-F238E27FC236}">
                <a16:creationId xmlns:a16="http://schemas.microsoft.com/office/drawing/2014/main" id="{CBA4008B-9127-41F8-BD12-B5FC19C18A03}"/>
              </a:ext>
            </a:extLst>
          </p:cNvPr>
          <p:cNvSpPr txBox="1"/>
          <p:nvPr/>
        </p:nvSpPr>
        <p:spPr>
          <a:xfrm>
            <a:off x="6480390" y="3653098"/>
            <a:ext cx="72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47µ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6" name="TextBox 16">
            <a:extLst>
              <a:ext uri="{FF2B5EF4-FFF2-40B4-BE49-F238E27FC236}">
                <a16:creationId xmlns:a16="http://schemas.microsoft.com/office/drawing/2014/main" id="{EDDBCA0B-7BA5-40D2-A445-002B0214090D}"/>
              </a:ext>
            </a:extLst>
          </p:cNvPr>
          <p:cNvSpPr txBox="1"/>
          <p:nvPr/>
        </p:nvSpPr>
        <p:spPr>
          <a:xfrm>
            <a:off x="2174958" y="3059668"/>
            <a:ext cx="9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</a:rPr>
              <a:t>LF356</a:t>
            </a:r>
            <a:endParaRPr lang="zh-CN" altLang="en-US" sz="1800" b="1" dirty="0">
              <a:solidFill>
                <a:srgbClr val="0000FF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7" name="TextBox 17">
            <a:extLst>
              <a:ext uri="{FF2B5EF4-FFF2-40B4-BE49-F238E27FC236}">
                <a16:creationId xmlns:a16="http://schemas.microsoft.com/office/drawing/2014/main" id="{A24096C6-7A2D-4C25-A906-9B23FFD1E77A}"/>
              </a:ext>
            </a:extLst>
          </p:cNvPr>
          <p:cNvSpPr txBox="1"/>
          <p:nvPr/>
        </p:nvSpPr>
        <p:spPr>
          <a:xfrm>
            <a:off x="6083927" y="2769201"/>
            <a:ext cx="9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</a:rPr>
              <a:t>OP07</a:t>
            </a:r>
            <a:endParaRPr lang="zh-CN" altLang="en-US" sz="1800" b="1" dirty="0">
              <a:solidFill>
                <a:srgbClr val="0000FF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4C758006-30E8-3232-4FA2-C3CB1B48AC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22387" y="3566431"/>
            <a:ext cx="499224" cy="270030"/>
          </a:xfrm>
          <a:prstGeom prst="rect">
            <a:avLst/>
          </a:prstGeom>
          <a:solidFill>
            <a:srgbClr val="92D050"/>
          </a:solidFill>
          <a:ln w="2540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225C9916-CE0C-F000-3631-C24ABA3CDC2B}"/>
              </a:ext>
            </a:extLst>
          </p:cNvPr>
          <p:cNvSpPr txBox="1"/>
          <p:nvPr/>
        </p:nvSpPr>
        <p:spPr>
          <a:xfrm>
            <a:off x="3932928" y="3748134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1k</a:t>
            </a:r>
            <a:endParaRPr lang="zh-CN" altLang="en-US" sz="20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3583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三角波的电平变换电路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565" y="1088741"/>
            <a:ext cx="2340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该电路输出的波形是双极性的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717617" y="781581"/>
            <a:ext cx="2295255" cy="1574817"/>
            <a:chOff x="3131840" y="625552"/>
            <a:chExt cx="2295255" cy="1181113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3131840" y="1311610"/>
              <a:ext cx="2025225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3311860" y="816555"/>
              <a:ext cx="0" cy="99011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V="1">
              <a:off x="33118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7619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42119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6620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157065" y="1080777"/>
              <a:ext cx="27003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t</a:t>
              </a:r>
              <a:endParaRPr lang="zh-CN" altLang="en-US" sz="2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11860" y="625552"/>
              <a:ext cx="315035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u</a:t>
              </a:r>
              <a:endParaRPr lang="zh-CN" altLang="en-US" sz="2000" dirty="0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71927" y="1942365"/>
            <a:ext cx="2701970" cy="12003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压控振荡器需要的是正极性，并且电压从</a:t>
            </a:r>
            <a:r>
              <a:rPr lang="en-US" altLang="zh-CN" dirty="0"/>
              <a:t>0V</a:t>
            </a:r>
            <a:r>
              <a:rPr lang="zh-CN" altLang="en-US" dirty="0"/>
              <a:t>开始递增</a:t>
            </a:r>
          </a:p>
        </p:txBody>
      </p:sp>
      <p:sp>
        <p:nvSpPr>
          <p:cNvPr id="27" name="下箭头 26"/>
          <p:cNvSpPr/>
          <p:nvPr/>
        </p:nvSpPr>
        <p:spPr>
          <a:xfrm rot="16200000">
            <a:off x="6107038" y="1534209"/>
            <a:ext cx="180021" cy="300033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6774614" y="730670"/>
            <a:ext cx="2295255" cy="1574817"/>
            <a:chOff x="3131840" y="625552"/>
            <a:chExt cx="2295255" cy="1181113"/>
          </a:xfrm>
        </p:grpSpPr>
        <p:cxnSp>
          <p:nvCxnSpPr>
            <p:cNvPr id="29" name="直接箭头连接符 28"/>
            <p:cNvCxnSpPr/>
            <p:nvPr/>
          </p:nvCxnSpPr>
          <p:spPr>
            <a:xfrm>
              <a:off x="3131840" y="1609345"/>
              <a:ext cx="2025225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3311860" y="816555"/>
              <a:ext cx="0" cy="99011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33118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37619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42119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46620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157065" y="1389255"/>
              <a:ext cx="27003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t</a:t>
              </a:r>
              <a:endParaRPr lang="zh-CN" altLang="en-US" sz="2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11860" y="625552"/>
              <a:ext cx="315035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u</a:t>
              </a:r>
              <a:endParaRPr lang="zh-CN" altLang="en-US" sz="2000" dirty="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470090" y="1096258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cxnSp>
        <p:nvCxnSpPr>
          <p:cNvPr id="39" name="直接连接符 38"/>
          <p:cNvCxnSpPr/>
          <p:nvPr/>
        </p:nvCxnSpPr>
        <p:spPr>
          <a:xfrm>
            <a:off x="3904323" y="1336284"/>
            <a:ext cx="44336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25085" y="1803948"/>
            <a:ext cx="67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-U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6966228" y="1675417"/>
            <a:ext cx="186279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6954634" y="1285373"/>
            <a:ext cx="44336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49588" y="1382320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sp>
        <p:nvSpPr>
          <p:cNvPr id="46" name="TextBox 45"/>
          <p:cNvSpPr txBox="1"/>
          <p:nvPr/>
        </p:nvSpPr>
        <p:spPr>
          <a:xfrm>
            <a:off x="6414574" y="1022280"/>
            <a:ext cx="67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2U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sp>
        <p:nvSpPr>
          <p:cNvPr id="47" name="TextBox 46"/>
          <p:cNvSpPr txBox="1"/>
          <p:nvPr/>
        </p:nvSpPr>
        <p:spPr>
          <a:xfrm>
            <a:off x="6684603" y="1951028"/>
            <a:ext cx="27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/>
              <a:t>O</a:t>
            </a:r>
            <a:endParaRPr lang="zh-CN" altLang="en-US" sz="1600" i="1" dirty="0"/>
          </a:p>
        </p:txBody>
      </p:sp>
      <p:sp>
        <p:nvSpPr>
          <p:cNvPr id="48" name="TextBox 47"/>
          <p:cNvSpPr txBox="1"/>
          <p:nvPr/>
        </p:nvSpPr>
        <p:spPr>
          <a:xfrm>
            <a:off x="3605105" y="1604959"/>
            <a:ext cx="27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/>
              <a:t>O</a:t>
            </a:r>
            <a:endParaRPr lang="zh-CN" altLang="en-US" sz="1600" i="1" dirty="0"/>
          </a:p>
        </p:txBody>
      </p:sp>
      <p:sp>
        <p:nvSpPr>
          <p:cNvPr id="49" name="TextBox 48"/>
          <p:cNvSpPr txBox="1"/>
          <p:nvPr/>
        </p:nvSpPr>
        <p:spPr>
          <a:xfrm>
            <a:off x="3614273" y="2435919"/>
            <a:ext cx="452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需要用运放设计一个电路，可以完成给波形加直流电平的功能。</a:t>
            </a:r>
            <a:endParaRPr lang="en-US" altLang="zh-CN" dirty="0"/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E8ABDA9B-3919-449E-8BBF-C3F96EF708D5}"/>
              </a:ext>
            </a:extLst>
          </p:cNvPr>
          <p:cNvSpPr txBox="1"/>
          <p:nvPr/>
        </p:nvSpPr>
        <p:spPr>
          <a:xfrm>
            <a:off x="2837980" y="6366527"/>
            <a:ext cx="3822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含直流偏移的三角波输出</a:t>
            </a: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80A2AB43-AEBA-42F4-B3D8-4E9B48B63DE7}"/>
              </a:ext>
            </a:extLst>
          </p:cNvPr>
          <p:cNvSpPr txBox="1"/>
          <p:nvPr/>
        </p:nvSpPr>
        <p:spPr>
          <a:xfrm>
            <a:off x="1115397" y="3248980"/>
            <a:ext cx="3366943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反相加法器的实现电路</a:t>
            </a:r>
          </a:p>
        </p:txBody>
      </p:sp>
      <p:sp>
        <p:nvSpPr>
          <p:cNvPr id="52" name="TextBox 12">
            <a:extLst>
              <a:ext uri="{FF2B5EF4-FFF2-40B4-BE49-F238E27FC236}">
                <a16:creationId xmlns:a16="http://schemas.microsoft.com/office/drawing/2014/main" id="{7E897363-02F4-4BDB-A480-865CE01C275B}"/>
              </a:ext>
            </a:extLst>
          </p:cNvPr>
          <p:cNvSpPr txBox="1"/>
          <p:nvPr/>
        </p:nvSpPr>
        <p:spPr>
          <a:xfrm>
            <a:off x="5219853" y="3248980"/>
            <a:ext cx="3366943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同相加法器的实现电路</a:t>
            </a: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DC45BDF-AE28-7B6C-9A05-BAE26E80A16D}"/>
              </a:ext>
            </a:extLst>
          </p:cNvPr>
          <p:cNvGrpSpPr/>
          <p:nvPr/>
        </p:nvGrpSpPr>
        <p:grpSpPr>
          <a:xfrm>
            <a:off x="377869" y="3750294"/>
            <a:ext cx="4493702" cy="2376446"/>
            <a:chOff x="377869" y="3797859"/>
            <a:chExt cx="4493702" cy="2376446"/>
          </a:xfrm>
        </p:grpSpPr>
        <p:sp>
          <p:nvSpPr>
            <p:cNvPr id="42" name="TextBox 4">
              <a:extLst>
                <a:ext uri="{FF2B5EF4-FFF2-40B4-BE49-F238E27FC236}">
                  <a16:creationId xmlns:a16="http://schemas.microsoft.com/office/drawing/2014/main" id="{AB9380FC-BDB1-46CB-9986-5479002EF2B4}"/>
                </a:ext>
              </a:extLst>
            </p:cNvPr>
            <p:cNvSpPr txBox="1"/>
            <p:nvPr/>
          </p:nvSpPr>
          <p:spPr>
            <a:xfrm>
              <a:off x="377869" y="3891244"/>
              <a:ext cx="11132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三角波输入</a:t>
              </a:r>
            </a:p>
          </p:txBody>
        </p:sp>
        <p:sp>
          <p:nvSpPr>
            <p:cNvPr id="7" name="Line 66">
              <a:extLst>
                <a:ext uri="{FF2B5EF4-FFF2-40B4-BE49-F238E27FC236}">
                  <a16:creationId xmlns:a16="http://schemas.microsoft.com/office/drawing/2014/main" id="{2E008703-32AA-49D3-F748-7E12DC53D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546" y="4874213"/>
              <a:ext cx="75" cy="13000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5">
              <a:extLst>
                <a:ext uri="{FF2B5EF4-FFF2-40B4-BE49-F238E27FC236}">
                  <a16:creationId xmlns:a16="http://schemas.microsoft.com/office/drawing/2014/main" id="{C58D6C32-2A86-A611-1522-7D0348DA2A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007" y="5348082"/>
              <a:ext cx="341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66">
              <a:extLst>
                <a:ext uri="{FF2B5EF4-FFF2-40B4-BE49-F238E27FC236}">
                  <a16:creationId xmlns:a16="http://schemas.microsoft.com/office/drawing/2014/main" id="{AFFA9561-DF0F-55C0-1C2F-B8908AE54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007" y="5348081"/>
              <a:ext cx="0" cy="824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68">
              <a:extLst>
                <a:ext uri="{FF2B5EF4-FFF2-40B4-BE49-F238E27FC236}">
                  <a16:creationId xmlns:a16="http://schemas.microsoft.com/office/drawing/2014/main" id="{24F8CB76-63B9-95BF-CB8C-625F4A09B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642" y="3871211"/>
              <a:ext cx="3962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 err="1">
                  <a:latin typeface="Times New Roman" panose="02020603050405020304" pitchFamily="18" charset="0"/>
                </a:rPr>
                <a:t>u</a:t>
              </a:r>
              <a:r>
                <a:rPr lang="en-US" altLang="zh-CN" sz="2400" baseline="-30000" dirty="0" err="1">
                  <a:latin typeface="Times New Roman" panose="02020603050405020304" pitchFamily="18" charset="0"/>
                </a:rPr>
                <a:t>i</a:t>
              </a:r>
              <a:endParaRPr lang="en-US" altLang="zh-CN" sz="2400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13" name="Line 71">
              <a:extLst>
                <a:ext uri="{FF2B5EF4-FFF2-40B4-BE49-F238E27FC236}">
                  <a16:creationId xmlns:a16="http://schemas.microsoft.com/office/drawing/2014/main" id="{10D20920-6990-D907-F53B-A9F454904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571" y="5065507"/>
              <a:ext cx="584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2">
              <a:extLst>
                <a:ext uri="{FF2B5EF4-FFF2-40B4-BE49-F238E27FC236}">
                  <a16:creationId xmlns:a16="http://schemas.microsoft.com/office/drawing/2014/main" id="{A7B226BA-ED66-C6AE-056E-3EB421CF0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186" y="4836907"/>
              <a:ext cx="12246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73">
              <a:extLst>
                <a:ext uri="{FF2B5EF4-FFF2-40B4-BE49-F238E27FC236}">
                  <a16:creationId xmlns:a16="http://schemas.microsoft.com/office/drawing/2014/main" id="{1EB73E4A-EF69-8F24-0877-068814EDC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577" y="4782932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17" name="Freeform 76">
              <a:extLst>
                <a:ext uri="{FF2B5EF4-FFF2-40B4-BE49-F238E27FC236}">
                  <a16:creationId xmlns:a16="http://schemas.microsoft.com/office/drawing/2014/main" id="{58C0E1EA-977C-5AE6-9239-16284C0B1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321" y="4638470"/>
              <a:ext cx="855662" cy="857250"/>
            </a:xfrm>
            <a:custGeom>
              <a:avLst/>
              <a:gdLst>
                <a:gd name="T0" fmla="*/ 0 w 539"/>
                <a:gd name="T1" fmla="*/ 0 h 540"/>
                <a:gd name="T2" fmla="*/ 2147483646 w 539"/>
                <a:gd name="T3" fmla="*/ 2147483646 h 540"/>
                <a:gd name="T4" fmla="*/ 0 w 539"/>
                <a:gd name="T5" fmla="*/ 2147483646 h 540"/>
                <a:gd name="T6" fmla="*/ 0 w 539"/>
                <a:gd name="T7" fmla="*/ 0 h 5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9" h="540">
                  <a:moveTo>
                    <a:pt x="0" y="0"/>
                  </a:moveTo>
                  <a:lnTo>
                    <a:pt x="539" y="270"/>
                  </a:lnTo>
                  <a:lnTo>
                    <a:pt x="0" y="54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Rectangle 77">
              <a:extLst>
                <a:ext uri="{FF2B5EF4-FFF2-40B4-BE49-F238E27FC236}">
                  <a16:creationId xmlns:a16="http://schemas.microsoft.com/office/drawing/2014/main" id="{F41FC510-CB93-A915-AF41-C0305C756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321" y="463847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–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78">
              <a:extLst>
                <a:ext uri="{FF2B5EF4-FFF2-40B4-BE49-F238E27FC236}">
                  <a16:creationId xmlns:a16="http://schemas.microsoft.com/office/drawing/2014/main" id="{DCEC4FD2-4BEA-F1DB-7460-5187B9538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508" y="5035345"/>
              <a:ext cx="3286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+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55" name="Line 84">
              <a:extLst>
                <a:ext uri="{FF2B5EF4-FFF2-40B4-BE49-F238E27FC236}">
                  <a16:creationId xmlns:a16="http://schemas.microsoft.com/office/drawing/2014/main" id="{FAC95ADA-3A4B-5BF6-AC23-621F6FC5F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008" y="4295570"/>
              <a:ext cx="0" cy="5413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85">
              <a:extLst>
                <a:ext uri="{FF2B5EF4-FFF2-40B4-BE49-F238E27FC236}">
                  <a16:creationId xmlns:a16="http://schemas.microsoft.com/office/drawing/2014/main" id="{6336A919-D296-DD56-EAAD-290255286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934" y="4295570"/>
              <a:ext cx="2381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90">
              <a:extLst>
                <a:ext uri="{FF2B5EF4-FFF2-40B4-BE49-F238E27FC236}">
                  <a16:creationId xmlns:a16="http://schemas.microsoft.com/office/drawing/2014/main" id="{86EBFD8B-7150-FA58-3BFD-CD8CEAE52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183" y="4295570"/>
              <a:ext cx="0" cy="771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79">
              <a:extLst>
                <a:ext uri="{FF2B5EF4-FFF2-40B4-BE49-F238E27FC236}">
                  <a16:creationId xmlns:a16="http://schemas.microsoft.com/office/drawing/2014/main" id="{F60FD52B-196D-E101-9DB7-5B35B4309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296" y="424159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59" name="Oval 101">
              <a:extLst>
                <a:ext uri="{FF2B5EF4-FFF2-40B4-BE49-F238E27FC236}">
                  <a16:creationId xmlns:a16="http://schemas.microsoft.com/office/drawing/2014/main" id="{91D7FC31-C5D3-7FA7-701E-18BCF80AE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771" y="5035345"/>
              <a:ext cx="77787" cy="746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0" name="Rectangle 102">
              <a:extLst>
                <a:ext uri="{FF2B5EF4-FFF2-40B4-BE49-F238E27FC236}">
                  <a16:creationId xmlns:a16="http://schemas.microsoft.com/office/drawing/2014/main" id="{9E24A0FD-97AD-8453-FFA1-4B20D52D5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5958" y="5063920"/>
              <a:ext cx="455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67DD9D79-A112-F2DE-528B-8687AB823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3921" y="486545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73">
              <a:extLst>
                <a:ext uri="{FF2B5EF4-FFF2-40B4-BE49-F238E27FC236}">
                  <a16:creationId xmlns:a16="http://schemas.microsoft.com/office/drawing/2014/main" id="{B76C7C82-43A6-3DE5-E684-235CFC4FB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615" y="424159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3" name="Line 67">
              <a:extLst>
                <a:ext uri="{FF2B5EF4-FFF2-40B4-BE49-F238E27FC236}">
                  <a16:creationId xmlns:a16="http://schemas.microsoft.com/office/drawing/2014/main" id="{9EB2F6A9-FC31-7E4B-1E3A-B8F0FE3AC7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653037" y="6172718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73">
              <a:extLst>
                <a:ext uri="{FF2B5EF4-FFF2-40B4-BE49-F238E27FC236}">
                  <a16:creationId xmlns:a16="http://schemas.microsoft.com/office/drawing/2014/main" id="{7E6E0C96-BF07-81FC-AB3B-53A369D949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22080" y="5712841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5" name="Oval 69">
              <a:extLst>
                <a:ext uri="{FF2B5EF4-FFF2-40B4-BE49-F238E27FC236}">
                  <a16:creationId xmlns:a16="http://schemas.microsoft.com/office/drawing/2014/main" id="{04E8188F-9A0E-E74B-7834-BC258587B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134" y="4258263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7240A342-F3F7-0FED-6B68-2F53CBE499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43696" y="520213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8ABA0194-90B6-C307-1545-774D52312F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543919" y="5256110"/>
              <a:ext cx="3505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3A833727-C71F-B10D-09BD-988131F5C3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88699" y="6171129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09B3CFA2-1285-37D9-7265-379AB055E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186" y="4836907"/>
              <a:ext cx="0" cy="419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AD76985-21DC-8143-5ED2-2EF682491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619" y="4799600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71" name="TextBox 8">
              <a:extLst>
                <a:ext uri="{FF2B5EF4-FFF2-40B4-BE49-F238E27FC236}">
                  <a16:creationId xmlns:a16="http://schemas.microsoft.com/office/drawing/2014/main" id="{F525D553-7F97-2679-459B-4828701B90B0}"/>
                </a:ext>
              </a:extLst>
            </p:cNvPr>
            <p:cNvSpPr txBox="1"/>
            <p:nvPr/>
          </p:nvSpPr>
          <p:spPr>
            <a:xfrm>
              <a:off x="2943717" y="5659202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2" name="TextBox 8">
              <a:extLst>
                <a:ext uri="{FF2B5EF4-FFF2-40B4-BE49-F238E27FC236}">
                  <a16:creationId xmlns:a16="http://schemas.microsoft.com/office/drawing/2014/main" id="{2F686276-221B-C5A3-7095-BF58A6638DE7}"/>
                </a:ext>
              </a:extLst>
            </p:cNvPr>
            <p:cNvSpPr txBox="1"/>
            <p:nvPr/>
          </p:nvSpPr>
          <p:spPr>
            <a:xfrm>
              <a:off x="2053319" y="3797859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EFB45F8F-FAA1-D027-B611-0B2EB02148D7}"/>
                </a:ext>
              </a:extLst>
            </p:cNvPr>
            <p:cNvSpPr txBox="1"/>
            <p:nvPr/>
          </p:nvSpPr>
          <p:spPr>
            <a:xfrm>
              <a:off x="3258347" y="3821611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4" name="TextBox 8">
              <a:extLst>
                <a:ext uri="{FF2B5EF4-FFF2-40B4-BE49-F238E27FC236}">
                  <a16:creationId xmlns:a16="http://schemas.microsoft.com/office/drawing/2014/main" id="{2DF7751C-39E6-18C4-9B99-4D20CBAD32C0}"/>
                </a:ext>
              </a:extLst>
            </p:cNvPr>
            <p:cNvSpPr txBox="1"/>
            <p:nvPr/>
          </p:nvSpPr>
          <p:spPr>
            <a:xfrm>
              <a:off x="2085359" y="4413177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5" name="TextBox 8">
              <a:extLst>
                <a:ext uri="{FF2B5EF4-FFF2-40B4-BE49-F238E27FC236}">
                  <a16:creationId xmlns:a16="http://schemas.microsoft.com/office/drawing/2014/main" id="{DDB46AE7-4627-1737-FAEC-882C6AE04710}"/>
                </a:ext>
              </a:extLst>
            </p:cNvPr>
            <p:cNvSpPr txBox="1"/>
            <p:nvPr/>
          </p:nvSpPr>
          <p:spPr>
            <a:xfrm>
              <a:off x="840003" y="4652120"/>
              <a:ext cx="710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F0000"/>
                  </a:solidFill>
                  <a:latin typeface="Calibri"/>
                  <a:ea typeface="宋体" panose="02010600030101010101" pitchFamily="2" charset="-122"/>
                </a:rPr>
                <a:t>-5V</a:t>
              </a:r>
              <a:endParaRPr lang="zh-CN" altLang="en-US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8" name="Rectangle 73">
              <a:extLst>
                <a:ext uri="{FF2B5EF4-FFF2-40B4-BE49-F238E27FC236}">
                  <a16:creationId xmlns:a16="http://schemas.microsoft.com/office/drawing/2014/main" id="{CE80401E-B574-BA3F-E11B-55B67B2F13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43696" y="5794414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53" name="TextBox 8">
              <a:extLst>
                <a:ext uri="{FF2B5EF4-FFF2-40B4-BE49-F238E27FC236}">
                  <a16:creationId xmlns:a16="http://schemas.microsoft.com/office/drawing/2014/main" id="{FD55622F-C9C2-1BB6-4CF1-CF83F91E1F01}"/>
                </a:ext>
              </a:extLst>
            </p:cNvPr>
            <p:cNvSpPr txBox="1"/>
            <p:nvPr/>
          </p:nvSpPr>
          <p:spPr>
            <a:xfrm>
              <a:off x="988081" y="5642369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0" name="TextBox 8">
              <a:extLst>
                <a:ext uri="{FF2B5EF4-FFF2-40B4-BE49-F238E27FC236}">
                  <a16:creationId xmlns:a16="http://schemas.microsoft.com/office/drawing/2014/main" id="{24528817-5E66-985B-E371-9A0227D09850}"/>
                </a:ext>
              </a:extLst>
            </p:cNvPr>
            <p:cNvSpPr txBox="1"/>
            <p:nvPr/>
          </p:nvSpPr>
          <p:spPr>
            <a:xfrm>
              <a:off x="924630" y="5042921"/>
              <a:ext cx="5673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10k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E8A40151-2752-6B2D-F9F1-37083A89460D}"/>
              </a:ext>
            </a:extLst>
          </p:cNvPr>
          <p:cNvGrpSpPr/>
          <p:nvPr/>
        </p:nvGrpSpPr>
        <p:grpSpPr>
          <a:xfrm>
            <a:off x="4808738" y="3620041"/>
            <a:ext cx="4018210" cy="2827781"/>
            <a:chOff x="4808738" y="3667606"/>
            <a:chExt cx="4018210" cy="2827781"/>
          </a:xfrm>
        </p:grpSpPr>
        <p:sp>
          <p:nvSpPr>
            <p:cNvPr id="77" name="Line 66">
              <a:extLst>
                <a:ext uri="{FF2B5EF4-FFF2-40B4-BE49-F238E27FC236}">
                  <a16:creationId xmlns:a16="http://schemas.microsoft.com/office/drawing/2014/main" id="{C718A234-C6D7-BAF6-6FBE-94572B67F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7590" y="5325770"/>
              <a:ext cx="3" cy="11572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65">
              <a:extLst>
                <a:ext uri="{FF2B5EF4-FFF2-40B4-BE49-F238E27FC236}">
                  <a16:creationId xmlns:a16="http://schemas.microsoft.com/office/drawing/2014/main" id="{89FA2CFB-8688-6994-B27C-6F87C16EB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78279" y="4682226"/>
              <a:ext cx="341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68">
              <a:extLst>
                <a:ext uri="{FF2B5EF4-FFF2-40B4-BE49-F238E27FC236}">
                  <a16:creationId xmlns:a16="http://schemas.microsoft.com/office/drawing/2014/main" id="{746460AB-D559-DBD5-47BB-4725EE862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090" y="4537558"/>
              <a:ext cx="4138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 err="1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30000" dirty="0" err="1">
                  <a:latin typeface="Times New Roman" panose="02020603050405020304" pitchFamily="18" charset="0"/>
                </a:rPr>
                <a:t>i</a:t>
              </a:r>
              <a:endParaRPr lang="en-US" altLang="zh-CN" sz="2400" b="1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80" name="Line 71">
              <a:extLst>
                <a:ext uri="{FF2B5EF4-FFF2-40B4-BE49-F238E27FC236}">
                  <a16:creationId xmlns:a16="http://schemas.microsoft.com/office/drawing/2014/main" id="{B4E57FB4-0EBB-1D90-3C01-9D160F549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7948" y="4895558"/>
              <a:ext cx="584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72">
              <a:extLst>
                <a:ext uri="{FF2B5EF4-FFF2-40B4-BE49-F238E27FC236}">
                  <a16:creationId xmlns:a16="http://schemas.microsoft.com/office/drawing/2014/main" id="{79195482-219C-B687-D8BA-E38416201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4579" y="5097100"/>
              <a:ext cx="1241767" cy="6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73">
              <a:extLst>
                <a:ext uri="{FF2B5EF4-FFF2-40B4-BE49-F238E27FC236}">
                  <a16:creationId xmlns:a16="http://schemas.microsoft.com/office/drawing/2014/main" id="{C03ADB5A-8EF3-FF34-1106-1557138B0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588" y="5038403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84" name="Freeform 76">
              <a:extLst>
                <a:ext uri="{FF2B5EF4-FFF2-40B4-BE49-F238E27FC236}">
                  <a16:creationId xmlns:a16="http://schemas.microsoft.com/office/drawing/2014/main" id="{54160659-C932-B565-B93E-5916F735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1961" y="4468522"/>
              <a:ext cx="855662" cy="857250"/>
            </a:xfrm>
            <a:custGeom>
              <a:avLst/>
              <a:gdLst>
                <a:gd name="T0" fmla="*/ 0 w 539"/>
                <a:gd name="T1" fmla="*/ 0 h 540"/>
                <a:gd name="T2" fmla="*/ 2147483646 w 539"/>
                <a:gd name="T3" fmla="*/ 2147483646 h 540"/>
                <a:gd name="T4" fmla="*/ 0 w 539"/>
                <a:gd name="T5" fmla="*/ 2147483646 h 540"/>
                <a:gd name="T6" fmla="*/ 0 w 539"/>
                <a:gd name="T7" fmla="*/ 0 h 5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9" h="540">
                  <a:moveTo>
                    <a:pt x="0" y="0"/>
                  </a:moveTo>
                  <a:lnTo>
                    <a:pt x="539" y="270"/>
                  </a:lnTo>
                  <a:lnTo>
                    <a:pt x="0" y="54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5" name="Rectangle 77">
              <a:extLst>
                <a:ext uri="{FF2B5EF4-FFF2-40B4-BE49-F238E27FC236}">
                  <a16:creationId xmlns:a16="http://schemas.microsoft.com/office/drawing/2014/main" id="{3A46893C-3BE9-BFA8-C8A1-0A4839BAB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4844" y="4459801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–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86" name="Rectangle 78">
              <a:extLst>
                <a:ext uri="{FF2B5EF4-FFF2-40B4-BE49-F238E27FC236}">
                  <a16:creationId xmlns:a16="http://schemas.microsoft.com/office/drawing/2014/main" id="{59122626-6283-E740-AEBB-DB719D72C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6885" y="4865396"/>
              <a:ext cx="3286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+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871042CA-F9E9-18F4-A194-25768775E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8279" y="4121708"/>
              <a:ext cx="1381" cy="556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214DDA64-C4CB-7FFA-A082-D19FB7249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8311" y="4125621"/>
              <a:ext cx="2381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90">
              <a:extLst>
                <a:ext uri="{FF2B5EF4-FFF2-40B4-BE49-F238E27FC236}">
                  <a16:creationId xmlns:a16="http://schemas.microsoft.com/office/drawing/2014/main" id="{8C31CFA7-1A77-4180-AC08-9BD18CB89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9560" y="4125621"/>
              <a:ext cx="0" cy="771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79">
              <a:extLst>
                <a:ext uri="{FF2B5EF4-FFF2-40B4-BE49-F238E27FC236}">
                  <a16:creationId xmlns:a16="http://schemas.microsoft.com/office/drawing/2014/main" id="{1C06164E-094E-8DCA-904A-0D95752C1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673" y="4071646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1" name="Oval 101">
              <a:extLst>
                <a:ext uri="{FF2B5EF4-FFF2-40B4-BE49-F238E27FC236}">
                  <a16:creationId xmlns:a16="http://schemas.microsoft.com/office/drawing/2014/main" id="{A15A7423-0D71-82AB-89AE-43FDCAF5A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2148" y="4865396"/>
              <a:ext cx="77787" cy="746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2" name="Rectangle 102">
              <a:extLst>
                <a:ext uri="{FF2B5EF4-FFF2-40B4-BE49-F238E27FC236}">
                  <a16:creationId xmlns:a16="http://schemas.microsoft.com/office/drawing/2014/main" id="{AB2CBA40-2204-FAD9-1E7A-981058798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1335" y="4893971"/>
              <a:ext cx="455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 err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" name="Rectangle 68">
              <a:extLst>
                <a:ext uri="{FF2B5EF4-FFF2-40B4-BE49-F238E27FC236}">
                  <a16:creationId xmlns:a16="http://schemas.microsoft.com/office/drawing/2014/main" id="{CE91F080-C10A-9696-638D-B26390306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171" y="4658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94" name="Rectangle 73">
              <a:extLst>
                <a:ext uri="{FF2B5EF4-FFF2-40B4-BE49-F238E27FC236}">
                  <a16:creationId xmlns:a16="http://schemas.microsoft.com/office/drawing/2014/main" id="{44BB8875-1AAA-AF30-9695-A665CD84A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992" y="4071646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5" name="Line 67">
              <a:extLst>
                <a:ext uri="{FF2B5EF4-FFF2-40B4-BE49-F238E27FC236}">
                  <a16:creationId xmlns:a16="http://schemas.microsoft.com/office/drawing/2014/main" id="{C2C9A6BB-EF24-EB32-7FDC-F055071AB2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627342" y="4335021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Oval 69">
              <a:extLst>
                <a:ext uri="{FF2B5EF4-FFF2-40B4-BE49-F238E27FC236}">
                  <a16:creationId xmlns:a16="http://schemas.microsoft.com/office/drawing/2014/main" id="{433CEF54-77C7-3597-9630-056928852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786" y="5053197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7" name="Rectangle 73">
              <a:extLst>
                <a:ext uri="{FF2B5EF4-FFF2-40B4-BE49-F238E27FC236}">
                  <a16:creationId xmlns:a16="http://schemas.microsoft.com/office/drawing/2014/main" id="{008F7789-BE9D-4AEA-E5A7-1BB707A277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05669" y="5588618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8" name="Line 67">
              <a:extLst>
                <a:ext uri="{FF2B5EF4-FFF2-40B4-BE49-F238E27FC236}">
                  <a16:creationId xmlns:a16="http://schemas.microsoft.com/office/drawing/2014/main" id="{32E94F0A-39F7-3537-33B6-62E5FAC795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336620" y="6493800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9" name="Oval 69">
              <a:extLst>
                <a:ext uri="{FF2B5EF4-FFF2-40B4-BE49-F238E27FC236}">
                  <a16:creationId xmlns:a16="http://schemas.microsoft.com/office/drawing/2014/main" id="{07FC05B8-12DE-AD66-BDA1-3B9C65192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8696" y="5249569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100" name="TextBox 8">
              <a:extLst>
                <a:ext uri="{FF2B5EF4-FFF2-40B4-BE49-F238E27FC236}">
                  <a16:creationId xmlns:a16="http://schemas.microsoft.com/office/drawing/2014/main" id="{E737F300-923E-3640-2161-8C5A934CEDE6}"/>
                </a:ext>
              </a:extLst>
            </p:cNvPr>
            <p:cNvSpPr txBox="1"/>
            <p:nvPr/>
          </p:nvSpPr>
          <p:spPr>
            <a:xfrm>
              <a:off x="6013898" y="3667606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1" name="TextBox 8">
              <a:extLst>
                <a:ext uri="{FF2B5EF4-FFF2-40B4-BE49-F238E27FC236}">
                  <a16:creationId xmlns:a16="http://schemas.microsoft.com/office/drawing/2014/main" id="{D5AAB26C-D113-0890-5922-D4775103BE08}"/>
                </a:ext>
              </a:extLst>
            </p:cNvPr>
            <p:cNvSpPr txBox="1"/>
            <p:nvPr/>
          </p:nvSpPr>
          <p:spPr>
            <a:xfrm>
              <a:off x="6031212" y="4678643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2" name="TextBox 8">
              <a:extLst>
                <a:ext uri="{FF2B5EF4-FFF2-40B4-BE49-F238E27FC236}">
                  <a16:creationId xmlns:a16="http://schemas.microsoft.com/office/drawing/2014/main" id="{5BA5EB1D-CB58-2EEA-6C4C-952DCFF7E604}"/>
                </a:ext>
              </a:extLst>
            </p:cNvPr>
            <p:cNvSpPr txBox="1"/>
            <p:nvPr/>
          </p:nvSpPr>
          <p:spPr>
            <a:xfrm>
              <a:off x="6028319" y="5217637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3" name="TextBox 8">
              <a:extLst>
                <a:ext uri="{FF2B5EF4-FFF2-40B4-BE49-F238E27FC236}">
                  <a16:creationId xmlns:a16="http://schemas.microsoft.com/office/drawing/2014/main" id="{DA60CC54-184D-8332-2A95-3E9CDE42216E}"/>
                </a:ext>
              </a:extLst>
            </p:cNvPr>
            <p:cNvSpPr txBox="1"/>
            <p:nvPr/>
          </p:nvSpPr>
          <p:spPr>
            <a:xfrm>
              <a:off x="4847317" y="5082673"/>
              <a:ext cx="710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F0000"/>
                  </a:solidFill>
                  <a:latin typeface="Calibri"/>
                  <a:ea typeface="宋体" panose="02010600030101010101" pitchFamily="2" charset="-122"/>
                </a:rPr>
                <a:t>+5V</a:t>
              </a:r>
              <a:endParaRPr lang="zh-CN" altLang="en-US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4" name="Line 66">
              <a:extLst>
                <a:ext uri="{FF2B5EF4-FFF2-40B4-BE49-F238E27FC236}">
                  <a16:creationId xmlns:a16="http://schemas.microsoft.com/office/drawing/2014/main" id="{12F2A74A-B36E-79AB-D1E2-6C4815115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8311" y="4121708"/>
              <a:ext cx="0" cy="211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72">
              <a:extLst>
                <a:ext uri="{FF2B5EF4-FFF2-40B4-BE49-F238E27FC236}">
                  <a16:creationId xmlns:a16="http://schemas.microsoft.com/office/drawing/2014/main" id="{CF719E94-9076-F68D-2AFA-1843DCF23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8405" y="5642369"/>
              <a:ext cx="11996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84">
              <a:extLst>
                <a:ext uri="{FF2B5EF4-FFF2-40B4-BE49-F238E27FC236}">
                  <a16:creationId xmlns:a16="http://schemas.microsoft.com/office/drawing/2014/main" id="{38717E7C-3D53-3833-047E-48E198A37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8050" y="5101032"/>
              <a:ext cx="0" cy="5413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Rectangle 73">
              <a:extLst>
                <a:ext uri="{FF2B5EF4-FFF2-40B4-BE49-F238E27FC236}">
                  <a16:creationId xmlns:a16="http://schemas.microsoft.com/office/drawing/2014/main" id="{C87871EE-CAA7-9E05-94BC-09BCF06A8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588" y="5588394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108" name="TextBox 8">
              <a:extLst>
                <a:ext uri="{FF2B5EF4-FFF2-40B4-BE49-F238E27FC236}">
                  <a16:creationId xmlns:a16="http://schemas.microsoft.com/office/drawing/2014/main" id="{1384BFA2-5FB5-76E1-3CFB-421A81CE2E94}"/>
                </a:ext>
              </a:extLst>
            </p:cNvPr>
            <p:cNvSpPr txBox="1"/>
            <p:nvPr/>
          </p:nvSpPr>
          <p:spPr>
            <a:xfrm>
              <a:off x="7195768" y="3675567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9" name="TextBox 4">
              <a:extLst>
                <a:ext uri="{FF2B5EF4-FFF2-40B4-BE49-F238E27FC236}">
                  <a16:creationId xmlns:a16="http://schemas.microsoft.com/office/drawing/2014/main" id="{AF69C08E-2AB2-DD6C-510C-B8373DAF917A}"/>
                </a:ext>
              </a:extLst>
            </p:cNvPr>
            <p:cNvSpPr txBox="1"/>
            <p:nvPr/>
          </p:nvSpPr>
          <p:spPr>
            <a:xfrm>
              <a:off x="4808738" y="4337695"/>
              <a:ext cx="11132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三角波输入</a:t>
              </a:r>
            </a:p>
          </p:txBody>
        </p:sp>
        <p:sp>
          <p:nvSpPr>
            <p:cNvPr id="51" name="Rectangle 73">
              <a:extLst>
                <a:ext uri="{FF2B5EF4-FFF2-40B4-BE49-F238E27FC236}">
                  <a16:creationId xmlns:a16="http://schemas.microsoft.com/office/drawing/2014/main" id="{4784A240-4D53-E55E-D701-AD75FED1B5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05669" y="610366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54" name="TextBox 8">
              <a:extLst>
                <a:ext uri="{FF2B5EF4-FFF2-40B4-BE49-F238E27FC236}">
                  <a16:creationId xmlns:a16="http://schemas.microsoft.com/office/drawing/2014/main" id="{04392CC3-6DC0-DAF0-B072-F237DDB7A568}"/>
                </a:ext>
              </a:extLst>
            </p:cNvPr>
            <p:cNvSpPr txBox="1"/>
            <p:nvPr/>
          </p:nvSpPr>
          <p:spPr>
            <a:xfrm>
              <a:off x="4971472" y="5975009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1" name="TextBox 8">
              <a:extLst>
                <a:ext uri="{FF2B5EF4-FFF2-40B4-BE49-F238E27FC236}">
                  <a16:creationId xmlns:a16="http://schemas.microsoft.com/office/drawing/2014/main" id="{4CDC2BD8-DB80-90AA-2CF7-C735221BC3F8}"/>
                </a:ext>
              </a:extLst>
            </p:cNvPr>
            <p:cNvSpPr txBox="1"/>
            <p:nvPr/>
          </p:nvSpPr>
          <p:spPr>
            <a:xfrm>
              <a:off x="4857797" y="5441056"/>
              <a:ext cx="583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10k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419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实验内容四检波电路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68175"/>
            <a:ext cx="8229600" cy="5330147"/>
          </a:xfrm>
        </p:spPr>
        <p:txBody>
          <a:bodyPr/>
          <a:lstStyle/>
          <a:p>
            <a:pPr marL="0" indent="0">
              <a:buClr>
                <a:schemeClr val="tx2"/>
              </a:buClr>
              <a:buNone/>
            </a:pPr>
            <a:r>
              <a:rPr lang="zh-CN" altLang="en-US" dirty="0"/>
              <a:t>    检波功能的测试，根据前面实验所得的三角波频率以及扫频频率范围，估算检波器的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/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/>
              <a:t>值，搭建检波电路，完成如下测试（</a:t>
            </a:r>
            <a:r>
              <a:rPr lang="zh-CN" altLang="en-US" dirty="0">
                <a:solidFill>
                  <a:srgbClr val="FF0000"/>
                </a:solidFill>
              </a:rPr>
              <a:t>选做</a:t>
            </a:r>
            <a:r>
              <a:rPr lang="zh-CN" altLang="en-US" dirty="0"/>
              <a:t>）：</a:t>
            </a:r>
          </a:p>
          <a:p>
            <a:pPr lvl="1"/>
            <a:r>
              <a:rPr lang="zh-CN" altLang="en-US" dirty="0"/>
              <a:t>函数发生器设置“内线性”方式、</a:t>
            </a:r>
            <a:r>
              <a:rPr lang="en-US" altLang="zh-CN" dirty="0"/>
              <a:t>100kHz</a:t>
            </a:r>
            <a:r>
              <a:rPr lang="zh-CN" altLang="en-US" dirty="0"/>
              <a:t>频段、正弦波、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pp</a:t>
            </a:r>
            <a:r>
              <a:rPr lang="en-US" altLang="zh-CN" dirty="0"/>
              <a:t>=8V</a:t>
            </a:r>
            <a:r>
              <a:rPr lang="zh-CN" altLang="en-US" dirty="0"/>
              <a:t>，送入</a:t>
            </a:r>
            <a:r>
              <a:rPr lang="zh-CN" altLang="zh-CN" dirty="0"/>
              <a:t>检波电路输入</a:t>
            </a:r>
            <a:r>
              <a:rPr lang="zh-CN" altLang="en-US" dirty="0"/>
              <a:t>端</a:t>
            </a:r>
            <a:r>
              <a:rPr lang="zh-CN" altLang="zh-CN" dirty="0"/>
              <a:t>，用示波器观察并</a:t>
            </a:r>
            <a:r>
              <a:rPr lang="zh-CN" altLang="en-US" dirty="0"/>
              <a:t>记录</a:t>
            </a:r>
            <a:r>
              <a:rPr lang="zh-CN" altLang="zh-CN" dirty="0"/>
              <a:t>检波输出波形。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74" y="4390224"/>
            <a:ext cx="2399039" cy="157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04386" y="4347898"/>
            <a:ext cx="2322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：</a:t>
            </a:r>
            <a:r>
              <a:rPr lang="en-US" altLang="zh-CN" dirty="0"/>
              <a:t>1N4148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86935" y="4914165"/>
            <a:ext cx="3555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0.047</a:t>
            </a:r>
            <a:r>
              <a:rPr lang="el-GR" altLang="zh-CN" dirty="0"/>
              <a:t>μ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86935" y="5499230"/>
            <a:ext cx="356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30k</a:t>
            </a:r>
            <a:r>
              <a:rPr lang="zh-CN" altLang="en-US" dirty="0"/>
              <a:t>或者</a:t>
            </a:r>
            <a:r>
              <a:rPr lang="en-US" altLang="zh-CN" dirty="0"/>
              <a:t>100k</a:t>
            </a:r>
            <a:r>
              <a:rPr lang="zh-CN" altLang="en-US" dirty="0"/>
              <a:t>皆可 </a:t>
            </a:r>
          </a:p>
        </p:txBody>
      </p:sp>
    </p:spTree>
    <p:extLst>
      <p:ext uri="{BB962C8B-B14F-4D97-AF65-F5344CB8AC3E}">
        <p14:creationId xmlns:p14="http://schemas.microsoft.com/office/powerpoint/2010/main" val="1986060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综合测试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033616"/>
            <a:ext cx="8229600" cy="3970184"/>
          </a:xfrm>
        </p:spPr>
        <p:txBody>
          <a:bodyPr/>
          <a:lstStyle/>
          <a:p>
            <a:pPr marL="0" indent="0">
              <a:buClr>
                <a:schemeClr val="tx2"/>
              </a:buClr>
              <a:buNone/>
            </a:pPr>
            <a:r>
              <a:rPr lang="zh-CN" altLang="en-US" dirty="0"/>
              <a:t>综合测试系统</a:t>
            </a:r>
            <a:endParaRPr lang="en-US" altLang="zh-CN" dirty="0"/>
          </a:p>
          <a:p>
            <a:pPr lvl="1"/>
            <a:r>
              <a:rPr lang="zh-CN" altLang="en-US" dirty="0"/>
              <a:t>将函数发生器、示波器和各个模块电路进行组合，构成完整的测试电路，完成以下测试：</a:t>
            </a:r>
            <a:endParaRPr lang="en-US" altLang="zh-CN" dirty="0"/>
          </a:p>
          <a:p>
            <a:pPr lvl="1"/>
            <a:r>
              <a:rPr lang="zh-CN" altLang="en-US" dirty="0"/>
              <a:t>搭建一个</a:t>
            </a:r>
            <a:r>
              <a:rPr lang="zh-CN" altLang="zh-CN" dirty="0"/>
              <a:t>中心频率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o</a:t>
            </a:r>
            <a:r>
              <a:rPr lang="en-US" altLang="zh-CN" dirty="0"/>
              <a:t>=70kHz</a:t>
            </a:r>
            <a:r>
              <a:rPr lang="zh-CN" altLang="zh-CN" dirty="0"/>
              <a:t>左右的</a:t>
            </a:r>
            <a:r>
              <a:rPr lang="en-US" altLang="zh-CN" dirty="0"/>
              <a:t>RLC</a:t>
            </a:r>
            <a:r>
              <a:rPr lang="zh-CN" altLang="en-US" dirty="0"/>
              <a:t>谐振电路</a:t>
            </a:r>
            <a:r>
              <a:rPr lang="zh-CN" altLang="zh-CN" dirty="0"/>
              <a:t>，</a:t>
            </a:r>
            <a:r>
              <a:rPr lang="zh-CN" altLang="en-US" dirty="0"/>
              <a:t>作为被测对象，测试其幅频特性，记录观测到的曲线，并利用之前测试的函数发生器的电压</a:t>
            </a:r>
            <a:r>
              <a:rPr lang="en-US" altLang="zh-CN" dirty="0"/>
              <a:t>-</a:t>
            </a:r>
            <a:r>
              <a:rPr lang="zh-CN" altLang="en-US" dirty="0"/>
              <a:t>频率关系表格，拟定横坐标，设定合适的纵坐标，估测出该</a:t>
            </a:r>
            <a:r>
              <a:rPr lang="en-US" altLang="zh-CN" dirty="0"/>
              <a:t>RLC</a:t>
            </a:r>
            <a:r>
              <a:rPr lang="zh-CN" altLang="en-US" dirty="0"/>
              <a:t>谐振电路的中心频率。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5400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175" y="1246892"/>
            <a:ext cx="4416025" cy="3930348"/>
          </a:xfrm>
        </p:spPr>
        <p:txBody>
          <a:bodyPr/>
          <a:lstStyle/>
          <a:p>
            <a:r>
              <a:rPr lang="zh-CN" altLang="zh-CN" dirty="0"/>
              <a:t>函数发生器压控频率的设定要求：</a:t>
            </a:r>
            <a:endParaRPr lang="en-US" altLang="zh-CN" dirty="0"/>
          </a:p>
          <a:p>
            <a:pPr lvl="1"/>
            <a:r>
              <a:rPr lang="zh-CN" altLang="en-US" dirty="0"/>
              <a:t>扫描</a:t>
            </a:r>
            <a:r>
              <a:rPr lang="en-US" altLang="zh-CN" dirty="0"/>
              <a:t>/</a:t>
            </a:r>
            <a:r>
              <a:rPr lang="zh-CN" altLang="en-US" dirty="0"/>
              <a:t>计数：外扫描</a:t>
            </a:r>
            <a:endParaRPr lang="en-US" altLang="zh-CN" dirty="0"/>
          </a:p>
          <a:p>
            <a:pPr lvl="1"/>
            <a:r>
              <a:rPr lang="zh-CN" altLang="zh-CN" dirty="0"/>
              <a:t>扫描宽度</a:t>
            </a:r>
            <a:r>
              <a:rPr lang="en-US" altLang="zh-CN" dirty="0"/>
              <a:t>——</a:t>
            </a:r>
            <a:r>
              <a:rPr lang="zh-CN" altLang="zh-CN" dirty="0"/>
              <a:t>顺时针到底</a:t>
            </a:r>
          </a:p>
          <a:p>
            <a:pPr lvl="1"/>
            <a:r>
              <a:rPr lang="zh-CN" altLang="zh-CN" dirty="0"/>
              <a:t>扫描速度</a:t>
            </a:r>
            <a:r>
              <a:rPr lang="en-US" altLang="zh-CN" dirty="0"/>
              <a:t>——</a:t>
            </a:r>
            <a:r>
              <a:rPr lang="zh-CN" altLang="en-US" dirty="0"/>
              <a:t>逆</a:t>
            </a:r>
            <a:r>
              <a:rPr lang="zh-CN" altLang="zh-CN" dirty="0"/>
              <a:t>时针到底</a:t>
            </a:r>
          </a:p>
          <a:p>
            <a:pPr lvl="1"/>
            <a:r>
              <a:rPr lang="en-US" altLang="zh-CN" dirty="0"/>
              <a:t>100kHz</a:t>
            </a:r>
            <a:r>
              <a:rPr lang="zh-CN" altLang="zh-CN" dirty="0"/>
              <a:t>频段</a:t>
            </a:r>
            <a:r>
              <a:rPr lang="zh-CN" altLang="en-US" dirty="0"/>
              <a:t>，频率微调逆时针到底</a:t>
            </a:r>
            <a:endParaRPr lang="zh-CN" altLang="zh-CN" dirty="0"/>
          </a:p>
          <a:p>
            <a:pPr lvl="1"/>
            <a:r>
              <a:rPr lang="zh-CN" altLang="zh-CN" dirty="0"/>
              <a:t>幅度</a:t>
            </a:r>
            <a:r>
              <a:rPr lang="en-US" altLang="zh-CN" dirty="0"/>
              <a:t>4V</a:t>
            </a:r>
            <a:r>
              <a:rPr lang="en-US" altLang="zh-CN" baseline="-25000" dirty="0"/>
              <a:t>pp</a:t>
            </a:r>
            <a:endParaRPr lang="zh-CN" altLang="zh-CN" baseline="-25000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zh-CN" dirty="0"/>
              <a:t>示波器观察：由于扫描频率低，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X-Y</a:t>
            </a:r>
            <a:r>
              <a:rPr lang="zh-CN" altLang="en-US" dirty="0"/>
              <a:t>方式下</a:t>
            </a:r>
            <a:r>
              <a:rPr lang="zh-CN" altLang="zh-CN" dirty="0"/>
              <a:t>观测</a:t>
            </a:r>
            <a:r>
              <a:rPr lang="zh-CN" altLang="en-US" dirty="0"/>
              <a:t>曲线时</a:t>
            </a:r>
            <a:r>
              <a:rPr lang="zh-CN" altLang="zh-CN" dirty="0"/>
              <a:t>，幅频特性</a:t>
            </a:r>
            <a:r>
              <a:rPr lang="zh-CN" altLang="en-US" dirty="0"/>
              <a:t>曲线以肉眼可见的速度慢速扫描出现</a:t>
            </a:r>
            <a:r>
              <a:rPr lang="zh-CN" altLang="zh-CN" dirty="0"/>
              <a:t>，</a:t>
            </a:r>
            <a:r>
              <a:rPr lang="zh-CN" altLang="en-US" dirty="0"/>
              <a:t>最好使</a:t>
            </a:r>
            <a:r>
              <a:rPr lang="zh-CN" altLang="zh-CN" dirty="0"/>
              <a:t>用示波器的</a:t>
            </a:r>
            <a:r>
              <a:rPr lang="en-US" altLang="zh-CN" dirty="0"/>
              <a:t>“</a:t>
            </a:r>
            <a:r>
              <a:rPr lang="zh-CN" altLang="zh-CN" dirty="0"/>
              <a:t>保持</a:t>
            </a:r>
            <a:r>
              <a:rPr lang="en-US" altLang="zh-CN" dirty="0"/>
              <a:t>”</a:t>
            </a:r>
            <a:r>
              <a:rPr lang="zh-CN" altLang="zh-CN" dirty="0"/>
              <a:t>功能，可以看到</a:t>
            </a:r>
            <a:r>
              <a:rPr lang="zh-CN" altLang="en-US" dirty="0"/>
              <a:t>由三角波正、逆程扫描组合而成</a:t>
            </a:r>
            <a:r>
              <a:rPr lang="zh-CN" altLang="zh-CN" dirty="0"/>
              <a:t>的幅频特性曲线。</a:t>
            </a:r>
            <a:endParaRPr lang="zh-CN" altLang="en-US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888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系统连接参考图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C7D805-F75B-4902-A94D-21A20A1DCE1F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7" b="14531"/>
          <a:stretch/>
        </p:blipFill>
        <p:spPr bwMode="auto">
          <a:xfrm>
            <a:off x="79236" y="3248981"/>
            <a:ext cx="2894383" cy="1503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" r="-223" b="1805"/>
          <a:stretch>
            <a:fillRect/>
          </a:stretch>
        </p:blipFill>
        <p:spPr bwMode="auto">
          <a:xfrm>
            <a:off x="6522861" y="1108927"/>
            <a:ext cx="2301861" cy="1350425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任意多边形 13"/>
          <p:cNvSpPr/>
          <p:nvPr/>
        </p:nvSpPr>
        <p:spPr>
          <a:xfrm>
            <a:off x="6192180" y="2255314"/>
            <a:ext cx="1808820" cy="365284"/>
          </a:xfrm>
          <a:custGeom>
            <a:avLst/>
            <a:gdLst>
              <a:gd name="connsiteX0" fmla="*/ 0 w 3419475"/>
              <a:gd name="connsiteY0" fmla="*/ 1159 h 556908"/>
              <a:gd name="connsiteX1" fmla="*/ 790575 w 3419475"/>
              <a:gd name="connsiteY1" fmla="*/ 86884 h 556908"/>
              <a:gd name="connsiteX2" fmla="*/ 2190750 w 3419475"/>
              <a:gd name="connsiteY2" fmla="*/ 553609 h 556908"/>
              <a:gd name="connsiteX3" fmla="*/ 3419475 w 3419475"/>
              <a:gd name="connsiteY3" fmla="*/ 258334 h 55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9475" h="556908">
                <a:moveTo>
                  <a:pt x="0" y="1159"/>
                </a:moveTo>
                <a:cubicBezTo>
                  <a:pt x="212725" y="-2016"/>
                  <a:pt x="425450" y="-5191"/>
                  <a:pt x="790575" y="86884"/>
                </a:cubicBezTo>
                <a:cubicBezTo>
                  <a:pt x="1155700" y="178959"/>
                  <a:pt x="1752600" y="525034"/>
                  <a:pt x="2190750" y="553609"/>
                </a:cubicBezTo>
                <a:cubicBezTo>
                  <a:pt x="2628900" y="582184"/>
                  <a:pt x="3024187" y="420259"/>
                  <a:pt x="3419475" y="25833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2562225" y="2271645"/>
            <a:ext cx="3854980" cy="1360554"/>
          </a:xfrm>
          <a:custGeom>
            <a:avLst/>
            <a:gdLst>
              <a:gd name="connsiteX0" fmla="*/ 2162175 w 2317394"/>
              <a:gd name="connsiteY0" fmla="*/ 0 h 1314450"/>
              <a:gd name="connsiteX1" fmla="*/ 2190750 w 2317394"/>
              <a:gd name="connsiteY1" fmla="*/ 504825 h 1314450"/>
              <a:gd name="connsiteX2" fmla="*/ 781050 w 2317394"/>
              <a:gd name="connsiteY2" fmla="*/ 1076325 h 1314450"/>
              <a:gd name="connsiteX3" fmla="*/ 0 w 2317394"/>
              <a:gd name="connsiteY3" fmla="*/ 1314450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7394" h="1314450">
                <a:moveTo>
                  <a:pt x="2162175" y="0"/>
                </a:moveTo>
                <a:cubicBezTo>
                  <a:pt x="2291556" y="162719"/>
                  <a:pt x="2420938" y="325438"/>
                  <a:pt x="2190750" y="504825"/>
                </a:cubicBezTo>
                <a:cubicBezTo>
                  <a:pt x="1960562" y="684213"/>
                  <a:pt x="1146175" y="941388"/>
                  <a:pt x="781050" y="1076325"/>
                </a:cubicBezTo>
                <a:cubicBezTo>
                  <a:pt x="415925" y="1211262"/>
                  <a:pt x="207962" y="1262856"/>
                  <a:pt x="0" y="131445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97947" y="5474900"/>
            <a:ext cx="732876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注意：图中红线仅表示了信号端，在每个端口连接处，都应当接地，且全系统应当共地。</a:t>
            </a:r>
          </a:p>
        </p:txBody>
      </p:sp>
      <p:pic>
        <p:nvPicPr>
          <p:cNvPr id="18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3059"/>
            <a:ext cx="4056140" cy="1936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箭头连接符 2"/>
          <p:cNvCxnSpPr/>
          <p:nvPr/>
        </p:nvCxnSpPr>
        <p:spPr>
          <a:xfrm flipV="1">
            <a:off x="926595" y="1191317"/>
            <a:ext cx="180020" cy="225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810" y="3715937"/>
            <a:ext cx="2399039" cy="157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02443" y="1270118"/>
            <a:ext cx="81009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X-Y</a:t>
            </a:r>
            <a:r>
              <a:rPr lang="zh-CN" altLang="en-US" dirty="0">
                <a:solidFill>
                  <a:schemeClr val="bg1"/>
                </a:solidFill>
              </a:rPr>
              <a:t>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575" y="2843935"/>
            <a:ext cx="1710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外扫描方式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706FD17-E345-3231-554C-D02570DBE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" r="5121"/>
          <a:stretch/>
        </p:blipFill>
        <p:spPr bwMode="auto">
          <a:xfrm>
            <a:off x="3221850" y="3648530"/>
            <a:ext cx="324036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9" name="直接箭头连接符 18"/>
          <p:cNvCxnSpPr>
            <a:cxnSpLocks/>
          </p:cNvCxnSpPr>
          <p:nvPr/>
        </p:nvCxnSpPr>
        <p:spPr>
          <a:xfrm flipV="1">
            <a:off x="2623728" y="4059070"/>
            <a:ext cx="598122" cy="25742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0B8A6D91-A95B-5341-832F-2142938B68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130" y="1444845"/>
            <a:ext cx="2568680" cy="1514570"/>
          </a:xfrm>
          <a:prstGeom prst="rect">
            <a:avLst/>
          </a:prstGeom>
        </p:spPr>
      </p:pic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47D9884-A44B-2A48-163E-6C6EE206A5EB}"/>
              </a:ext>
            </a:extLst>
          </p:cNvPr>
          <p:cNvCxnSpPr/>
          <p:nvPr/>
        </p:nvCxnSpPr>
        <p:spPr>
          <a:xfrm>
            <a:off x="3867272" y="1673805"/>
            <a:ext cx="495055" cy="108571"/>
          </a:xfrm>
          <a:prstGeom prst="line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E12EEA27-C51B-6E43-738B-7A898FEC9D17}"/>
              </a:ext>
            </a:extLst>
          </p:cNvPr>
          <p:cNvSpPr/>
          <p:nvPr/>
        </p:nvSpPr>
        <p:spPr>
          <a:xfrm>
            <a:off x="8213697" y="2302583"/>
            <a:ext cx="485030" cy="1752601"/>
          </a:xfrm>
          <a:custGeom>
            <a:avLst/>
            <a:gdLst>
              <a:gd name="connsiteX0" fmla="*/ 0 w 485030"/>
              <a:gd name="connsiteY0" fmla="*/ 0 h 1757258"/>
              <a:gd name="connsiteX1" fmla="*/ 31806 w 485030"/>
              <a:gd name="connsiteY1" fmla="*/ 119270 h 1757258"/>
              <a:gd name="connsiteX2" fmla="*/ 55660 w 485030"/>
              <a:gd name="connsiteY2" fmla="*/ 190831 h 1757258"/>
              <a:gd name="connsiteX3" fmla="*/ 63611 w 485030"/>
              <a:gd name="connsiteY3" fmla="*/ 254442 h 1757258"/>
              <a:gd name="connsiteX4" fmla="*/ 71562 w 485030"/>
              <a:gd name="connsiteY4" fmla="*/ 294198 h 1757258"/>
              <a:gd name="connsiteX5" fmla="*/ 79513 w 485030"/>
              <a:gd name="connsiteY5" fmla="*/ 318052 h 1757258"/>
              <a:gd name="connsiteX6" fmla="*/ 95416 w 485030"/>
              <a:gd name="connsiteY6" fmla="*/ 381663 h 1757258"/>
              <a:gd name="connsiteX7" fmla="*/ 111319 w 485030"/>
              <a:gd name="connsiteY7" fmla="*/ 429370 h 1757258"/>
              <a:gd name="connsiteX8" fmla="*/ 119270 w 485030"/>
              <a:gd name="connsiteY8" fmla="*/ 469127 h 1757258"/>
              <a:gd name="connsiteX9" fmla="*/ 166978 w 485030"/>
              <a:gd name="connsiteY9" fmla="*/ 620202 h 1757258"/>
              <a:gd name="connsiteX10" fmla="*/ 182880 w 485030"/>
              <a:gd name="connsiteY10" fmla="*/ 675861 h 1757258"/>
              <a:gd name="connsiteX11" fmla="*/ 206734 w 485030"/>
              <a:gd name="connsiteY11" fmla="*/ 739471 h 1757258"/>
              <a:gd name="connsiteX12" fmla="*/ 214686 w 485030"/>
              <a:gd name="connsiteY12" fmla="*/ 779228 h 1757258"/>
              <a:gd name="connsiteX13" fmla="*/ 230588 w 485030"/>
              <a:gd name="connsiteY13" fmla="*/ 818984 h 1757258"/>
              <a:gd name="connsiteX14" fmla="*/ 262393 w 485030"/>
              <a:gd name="connsiteY14" fmla="*/ 906449 h 1757258"/>
              <a:gd name="connsiteX15" fmla="*/ 270345 w 485030"/>
              <a:gd name="connsiteY15" fmla="*/ 954156 h 1757258"/>
              <a:gd name="connsiteX16" fmla="*/ 286247 w 485030"/>
              <a:gd name="connsiteY16" fmla="*/ 1001864 h 1757258"/>
              <a:gd name="connsiteX17" fmla="*/ 302150 w 485030"/>
              <a:gd name="connsiteY17" fmla="*/ 1057523 h 1757258"/>
              <a:gd name="connsiteX18" fmla="*/ 318053 w 485030"/>
              <a:gd name="connsiteY18" fmla="*/ 1105231 h 1757258"/>
              <a:gd name="connsiteX19" fmla="*/ 333955 w 485030"/>
              <a:gd name="connsiteY19" fmla="*/ 1192696 h 1757258"/>
              <a:gd name="connsiteX20" fmla="*/ 349858 w 485030"/>
              <a:gd name="connsiteY20" fmla="*/ 1248355 h 1757258"/>
              <a:gd name="connsiteX21" fmla="*/ 357809 w 485030"/>
              <a:gd name="connsiteY21" fmla="*/ 1280160 h 1757258"/>
              <a:gd name="connsiteX22" fmla="*/ 373712 w 485030"/>
              <a:gd name="connsiteY22" fmla="*/ 1311965 h 1757258"/>
              <a:gd name="connsiteX23" fmla="*/ 389614 w 485030"/>
              <a:gd name="connsiteY23" fmla="*/ 1407381 h 1757258"/>
              <a:gd name="connsiteX24" fmla="*/ 397566 w 485030"/>
              <a:gd name="connsiteY24" fmla="*/ 1455089 h 1757258"/>
              <a:gd name="connsiteX25" fmla="*/ 421420 w 485030"/>
              <a:gd name="connsiteY25" fmla="*/ 1526650 h 1757258"/>
              <a:gd name="connsiteX26" fmla="*/ 437322 w 485030"/>
              <a:gd name="connsiteY26" fmla="*/ 1622066 h 1757258"/>
              <a:gd name="connsiteX27" fmla="*/ 445273 w 485030"/>
              <a:gd name="connsiteY27" fmla="*/ 1677725 h 1757258"/>
              <a:gd name="connsiteX28" fmla="*/ 461176 w 485030"/>
              <a:gd name="connsiteY28" fmla="*/ 1709530 h 1757258"/>
              <a:gd name="connsiteX29" fmla="*/ 485030 w 485030"/>
              <a:gd name="connsiteY29" fmla="*/ 1757238 h 175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85030" h="1757258">
                <a:moveTo>
                  <a:pt x="0" y="0"/>
                </a:moveTo>
                <a:cubicBezTo>
                  <a:pt x="10602" y="39757"/>
                  <a:pt x="20285" y="79770"/>
                  <a:pt x="31806" y="119270"/>
                </a:cubicBezTo>
                <a:cubicBezTo>
                  <a:pt x="38846" y="143408"/>
                  <a:pt x="49901" y="166355"/>
                  <a:pt x="55660" y="190831"/>
                </a:cubicBezTo>
                <a:cubicBezTo>
                  <a:pt x="60554" y="211632"/>
                  <a:pt x="60362" y="233322"/>
                  <a:pt x="63611" y="254442"/>
                </a:cubicBezTo>
                <a:cubicBezTo>
                  <a:pt x="65666" y="267799"/>
                  <a:pt x="68284" y="281087"/>
                  <a:pt x="71562" y="294198"/>
                </a:cubicBezTo>
                <a:cubicBezTo>
                  <a:pt x="73595" y="302329"/>
                  <a:pt x="77308" y="309966"/>
                  <a:pt x="79513" y="318052"/>
                </a:cubicBezTo>
                <a:cubicBezTo>
                  <a:pt x="85264" y="339138"/>
                  <a:pt x="88504" y="360928"/>
                  <a:pt x="95416" y="381663"/>
                </a:cubicBezTo>
                <a:cubicBezTo>
                  <a:pt x="100717" y="397565"/>
                  <a:pt x="106908" y="413198"/>
                  <a:pt x="111319" y="429370"/>
                </a:cubicBezTo>
                <a:cubicBezTo>
                  <a:pt x="114875" y="442409"/>
                  <a:pt x="115992" y="456016"/>
                  <a:pt x="119270" y="469127"/>
                </a:cubicBezTo>
                <a:cubicBezTo>
                  <a:pt x="141085" y="556389"/>
                  <a:pt x="134802" y="507581"/>
                  <a:pt x="166978" y="620202"/>
                </a:cubicBezTo>
                <a:cubicBezTo>
                  <a:pt x="172279" y="638755"/>
                  <a:pt x="176778" y="657556"/>
                  <a:pt x="182880" y="675861"/>
                </a:cubicBezTo>
                <a:cubicBezTo>
                  <a:pt x="190041" y="697344"/>
                  <a:pt x="200074" y="717827"/>
                  <a:pt x="206734" y="739471"/>
                </a:cubicBezTo>
                <a:cubicBezTo>
                  <a:pt x="210709" y="752388"/>
                  <a:pt x="210803" y="766283"/>
                  <a:pt x="214686" y="779228"/>
                </a:cubicBezTo>
                <a:cubicBezTo>
                  <a:pt x="218787" y="792899"/>
                  <a:pt x="225710" y="805571"/>
                  <a:pt x="230588" y="818984"/>
                </a:cubicBezTo>
                <a:cubicBezTo>
                  <a:pt x="271425" y="931286"/>
                  <a:pt x="222878" y="807657"/>
                  <a:pt x="262393" y="906449"/>
                </a:cubicBezTo>
                <a:cubicBezTo>
                  <a:pt x="265044" y="922351"/>
                  <a:pt x="266435" y="938516"/>
                  <a:pt x="270345" y="954156"/>
                </a:cubicBezTo>
                <a:cubicBezTo>
                  <a:pt x="274411" y="970418"/>
                  <a:pt x="281317" y="985842"/>
                  <a:pt x="286247" y="1001864"/>
                </a:cubicBezTo>
                <a:cubicBezTo>
                  <a:pt x="291921" y="1020306"/>
                  <a:pt x="296475" y="1039081"/>
                  <a:pt x="302150" y="1057523"/>
                </a:cubicBezTo>
                <a:cubicBezTo>
                  <a:pt x="307080" y="1073545"/>
                  <a:pt x="313642" y="1089059"/>
                  <a:pt x="318053" y="1105231"/>
                </a:cubicBezTo>
                <a:cubicBezTo>
                  <a:pt x="328259" y="1142652"/>
                  <a:pt x="324864" y="1153302"/>
                  <a:pt x="333955" y="1192696"/>
                </a:cubicBezTo>
                <a:cubicBezTo>
                  <a:pt x="338294" y="1211497"/>
                  <a:pt x="344781" y="1229739"/>
                  <a:pt x="349858" y="1248355"/>
                </a:cubicBezTo>
                <a:cubicBezTo>
                  <a:pt x="352733" y="1258898"/>
                  <a:pt x="353972" y="1269928"/>
                  <a:pt x="357809" y="1280160"/>
                </a:cubicBezTo>
                <a:cubicBezTo>
                  <a:pt x="361971" y="1291258"/>
                  <a:pt x="368411" y="1301363"/>
                  <a:pt x="373712" y="1311965"/>
                </a:cubicBezTo>
                <a:lnTo>
                  <a:pt x="389614" y="1407381"/>
                </a:lnTo>
                <a:cubicBezTo>
                  <a:pt x="392264" y="1423284"/>
                  <a:pt x="391579" y="1440120"/>
                  <a:pt x="397566" y="1455089"/>
                </a:cubicBezTo>
                <a:cubicBezTo>
                  <a:pt x="410509" y="1487448"/>
                  <a:pt x="415379" y="1494431"/>
                  <a:pt x="421420" y="1526650"/>
                </a:cubicBezTo>
                <a:cubicBezTo>
                  <a:pt x="427362" y="1558342"/>
                  <a:pt x="432293" y="1590217"/>
                  <a:pt x="437322" y="1622066"/>
                </a:cubicBezTo>
                <a:cubicBezTo>
                  <a:pt x="440245" y="1640578"/>
                  <a:pt x="440342" y="1659644"/>
                  <a:pt x="445273" y="1677725"/>
                </a:cubicBezTo>
                <a:cubicBezTo>
                  <a:pt x="448392" y="1689160"/>
                  <a:pt x="456774" y="1698525"/>
                  <a:pt x="461176" y="1709530"/>
                </a:cubicBezTo>
                <a:cubicBezTo>
                  <a:pt x="481265" y="1759752"/>
                  <a:pt x="459787" y="1757238"/>
                  <a:pt x="485030" y="1757238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TextBox 5">
            <a:extLst>
              <a:ext uri="{FF2B5EF4-FFF2-40B4-BE49-F238E27FC236}">
                <a16:creationId xmlns:a16="http://schemas.microsoft.com/office/drawing/2014/main" id="{C7D84520-8609-CCAC-48B0-EFD5D4B2E355}"/>
              </a:ext>
            </a:extLst>
          </p:cNvPr>
          <p:cNvSpPr txBox="1"/>
          <p:nvPr/>
        </p:nvSpPr>
        <p:spPr>
          <a:xfrm>
            <a:off x="6757250" y="3401360"/>
            <a:ext cx="1161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1N4148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65" name="TextBox 5">
            <a:extLst>
              <a:ext uri="{FF2B5EF4-FFF2-40B4-BE49-F238E27FC236}">
                <a16:creationId xmlns:a16="http://schemas.microsoft.com/office/drawing/2014/main" id="{500A040F-7BC8-DB71-EFFA-F60233511E55}"/>
              </a:ext>
            </a:extLst>
          </p:cNvPr>
          <p:cNvSpPr txBox="1"/>
          <p:nvPr/>
        </p:nvSpPr>
        <p:spPr>
          <a:xfrm>
            <a:off x="6626785" y="4382177"/>
            <a:ext cx="1161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0.047uF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66" name="TextBox 5">
            <a:extLst>
              <a:ext uri="{FF2B5EF4-FFF2-40B4-BE49-F238E27FC236}">
                <a16:creationId xmlns:a16="http://schemas.microsoft.com/office/drawing/2014/main" id="{D92BC22D-07F6-DBA6-9BA4-E654E47E847A}"/>
              </a:ext>
            </a:extLst>
          </p:cNvPr>
          <p:cNvSpPr txBox="1"/>
          <p:nvPr/>
        </p:nvSpPr>
        <p:spPr>
          <a:xfrm>
            <a:off x="8082390" y="4980644"/>
            <a:ext cx="810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100k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71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0" name="Picture 10" descr="IMG_0558(20180103-195926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" t="8226" r="1591" b="43259"/>
          <a:stretch>
            <a:fillRect/>
          </a:stretch>
        </p:blipFill>
        <p:spPr bwMode="auto">
          <a:xfrm>
            <a:off x="679451" y="2961218"/>
            <a:ext cx="7702549" cy="233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</a:rPr>
              <a:t>电路搭建注意事项</a:t>
            </a:r>
            <a:endParaRPr lang="en-US" altLang="zh-CN" dirty="0">
              <a:latin typeface="黑体" pitchFamily="49" charset="-122"/>
            </a:endParaRPr>
          </a:p>
        </p:txBody>
      </p:sp>
      <p:sp>
        <p:nvSpPr>
          <p:cNvPr id="8" name="左大括号 7"/>
          <p:cNvSpPr/>
          <p:nvPr/>
        </p:nvSpPr>
        <p:spPr>
          <a:xfrm rot="5400000">
            <a:off x="2229288" y="1701344"/>
            <a:ext cx="383857" cy="2355709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lIns="121917" tIns="60958" rIns="121917" bIns="60958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左大括号 14"/>
          <p:cNvSpPr/>
          <p:nvPr/>
        </p:nvSpPr>
        <p:spPr>
          <a:xfrm rot="5400000">
            <a:off x="6512489" y="1749914"/>
            <a:ext cx="415063" cy="2287081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lIns="121917" tIns="60958" rIns="121917" bIns="60958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左大括号 15"/>
          <p:cNvSpPr/>
          <p:nvPr/>
        </p:nvSpPr>
        <p:spPr>
          <a:xfrm rot="5400000">
            <a:off x="4344465" y="2005359"/>
            <a:ext cx="457424" cy="1725437"/>
          </a:xfrm>
          <a:prstGeom prst="leftBrace">
            <a:avLst>
              <a:gd name="adj1" fmla="val 8333"/>
              <a:gd name="adj2" fmla="val 50794"/>
            </a:avLst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lIns="121917" tIns="60958" rIns="121917" bIns="60958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7" name="左大括号 16"/>
          <p:cNvSpPr/>
          <p:nvPr/>
        </p:nvSpPr>
        <p:spPr>
          <a:xfrm rot="16200000">
            <a:off x="2215146" y="4271456"/>
            <a:ext cx="415063" cy="2287081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lIns="121917" tIns="60958" rIns="121917" bIns="60958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左大括号 10"/>
          <p:cNvSpPr/>
          <p:nvPr/>
        </p:nvSpPr>
        <p:spPr>
          <a:xfrm rot="16200000">
            <a:off x="6512487" y="4224929"/>
            <a:ext cx="415063" cy="2287081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lIns="121917" tIns="60958" rIns="121917" bIns="60958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左大括号 11"/>
          <p:cNvSpPr/>
          <p:nvPr/>
        </p:nvSpPr>
        <p:spPr>
          <a:xfrm rot="16200000">
            <a:off x="4367290" y="4532415"/>
            <a:ext cx="415063" cy="1722151"/>
          </a:xfrm>
          <a:prstGeom prst="leftBrace">
            <a:avLst/>
          </a:prstGeom>
          <a:ln w="28575"/>
          <a:scene3d>
            <a:camera prst="orthographicFront">
              <a:rot lat="20999999" lon="299987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lIns="121917" tIns="60958" rIns="121917" bIns="60958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Rectangle 35"/>
          <p:cNvSpPr>
            <a:spLocks noChangeArrowheads="1"/>
          </p:cNvSpPr>
          <p:nvPr/>
        </p:nvSpPr>
        <p:spPr bwMode="auto">
          <a:xfrm>
            <a:off x="2076451" y="2228852"/>
            <a:ext cx="861483" cy="4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eaLnBrk="1" hangingPunct="1"/>
            <a:r>
              <a:rPr lang="zh-CN" altLang="en-US" sz="19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连通</a:t>
            </a:r>
          </a:p>
        </p:txBody>
      </p:sp>
      <p:sp>
        <p:nvSpPr>
          <p:cNvPr id="14" name="Rectangle 35"/>
          <p:cNvSpPr>
            <a:spLocks noChangeArrowheads="1"/>
          </p:cNvSpPr>
          <p:nvPr/>
        </p:nvSpPr>
        <p:spPr bwMode="auto">
          <a:xfrm>
            <a:off x="4212167" y="2254252"/>
            <a:ext cx="861484" cy="4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eaLnBrk="1" hangingPunct="1"/>
            <a:r>
              <a:rPr lang="zh-CN" altLang="en-US" sz="19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连通</a:t>
            </a:r>
          </a:p>
        </p:txBody>
      </p:sp>
      <p:sp>
        <p:nvSpPr>
          <p:cNvPr id="18" name="Rectangle 35"/>
          <p:cNvSpPr>
            <a:spLocks noChangeArrowheads="1"/>
          </p:cNvSpPr>
          <p:nvPr/>
        </p:nvSpPr>
        <p:spPr bwMode="auto">
          <a:xfrm>
            <a:off x="6390217" y="2211918"/>
            <a:ext cx="863600" cy="4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eaLnBrk="1" hangingPunct="1"/>
            <a:r>
              <a:rPr lang="zh-CN" altLang="en-US" sz="19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连通</a:t>
            </a:r>
          </a:p>
        </p:txBody>
      </p: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2076451" y="5583768"/>
            <a:ext cx="861483" cy="4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eaLnBrk="1" hangingPunct="1"/>
            <a:r>
              <a:rPr lang="zh-CN" altLang="en-US" sz="19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连通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4254501" y="5583768"/>
            <a:ext cx="861484" cy="4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eaLnBrk="1" hangingPunct="1"/>
            <a:r>
              <a:rPr lang="zh-CN" altLang="en-US" sz="19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连通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377517" y="5575300"/>
            <a:ext cx="863600" cy="4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eaLnBrk="1" hangingPunct="1"/>
            <a:r>
              <a:rPr lang="zh-CN" altLang="en-US" sz="19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连通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5331884" y="3164417"/>
            <a:ext cx="336549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3477684" y="3164417"/>
            <a:ext cx="338667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1410759" y="3776735"/>
            <a:ext cx="1331384" cy="70788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algn="ctr" eaLnBrk="1" hangingPunct="1"/>
            <a:r>
              <a:rPr lang="zh-CN" altLang="en-US" sz="19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三角波产生电路</a:t>
            </a:r>
          </a:p>
        </p:txBody>
      </p:sp>
      <p:sp>
        <p:nvSpPr>
          <p:cNvPr id="25" name="Rectangle 35"/>
          <p:cNvSpPr>
            <a:spLocks noChangeArrowheads="1"/>
          </p:cNvSpPr>
          <p:nvPr/>
        </p:nvSpPr>
        <p:spPr bwMode="auto">
          <a:xfrm>
            <a:off x="3068915" y="3519010"/>
            <a:ext cx="963025" cy="129265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/>
          <a:p>
            <a:pPr algn="ctr" eaLnBrk="1" hangingPunct="1"/>
            <a:r>
              <a:rPr lang="zh-CN" altLang="en-US" sz="19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三角波直流叠加</a:t>
            </a:r>
          </a:p>
        </p:txBody>
      </p:sp>
      <p:sp>
        <p:nvSpPr>
          <p:cNvPr id="26" name="Rectangle 35"/>
          <p:cNvSpPr>
            <a:spLocks noChangeArrowheads="1"/>
          </p:cNvSpPr>
          <p:nvPr/>
        </p:nvSpPr>
        <p:spPr bwMode="auto">
          <a:xfrm>
            <a:off x="4948886" y="3851847"/>
            <a:ext cx="1255183" cy="41549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algn="ctr" eaLnBrk="1" hangingPunct="1"/>
            <a:r>
              <a:rPr lang="zh-CN" altLang="en-US" sz="19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被测电路</a:t>
            </a:r>
          </a:p>
        </p:txBody>
      </p:sp>
      <p:sp>
        <p:nvSpPr>
          <p:cNvPr id="27" name="Rectangle 35"/>
          <p:cNvSpPr>
            <a:spLocks noChangeArrowheads="1"/>
          </p:cNvSpPr>
          <p:nvPr/>
        </p:nvSpPr>
        <p:spPr bwMode="auto">
          <a:xfrm>
            <a:off x="6597225" y="3770742"/>
            <a:ext cx="1047749" cy="70788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/>
          <a:p>
            <a:pPr algn="ctr" eaLnBrk="1" hangingPunct="1"/>
            <a:r>
              <a:rPr lang="zh-CN" altLang="en-US" sz="19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峰值检波电路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26595" y="1043735"/>
            <a:ext cx="2639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面包板布局 </a:t>
            </a:r>
          </a:p>
        </p:txBody>
      </p:sp>
    </p:spTree>
    <p:extLst>
      <p:ext uri="{BB962C8B-B14F-4D97-AF65-F5344CB8AC3E}">
        <p14:creationId xmlns:p14="http://schemas.microsoft.com/office/powerpoint/2010/main" val="53153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  <p:bldP spid="19" grpId="0"/>
      <p:bldP spid="20" grpId="0"/>
      <p:bldP spid="21" grpId="0"/>
      <p:bldP spid="23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针对本实验的进一步思考：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、假如需要构建自动的相频测试系统，应如何修正哪些功能？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、若需要加入频率标志显示，你有何方案？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139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实验器材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仪器</a:t>
            </a:r>
            <a:r>
              <a:rPr lang="en-US" altLang="zh-CN" dirty="0"/>
              <a:t>:</a:t>
            </a:r>
            <a:r>
              <a:rPr lang="zh-CN" altLang="en-US" dirty="0"/>
              <a:t>函数发生器、示波器</a:t>
            </a:r>
            <a:endParaRPr lang="en-US" altLang="zh-CN" dirty="0"/>
          </a:p>
          <a:p>
            <a:r>
              <a:rPr lang="zh-CN" altLang="en-US" dirty="0"/>
              <a:t>元件：检波管</a:t>
            </a:r>
            <a:r>
              <a:rPr lang="en-US" altLang="zh-CN" dirty="0"/>
              <a:t>1</a:t>
            </a:r>
            <a:r>
              <a:rPr lang="zh-CN" altLang="en-US" dirty="0"/>
              <a:t>支、电阻、电容多支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8155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WordArt 2"/>
          <p:cNvSpPr>
            <a:spLocks noChangeArrowheads="1" noChangeShapeType="1" noTextEdit="1"/>
          </p:cNvSpPr>
          <p:nvPr/>
        </p:nvSpPr>
        <p:spPr bwMode="gray">
          <a:xfrm>
            <a:off x="4800600" y="3200400"/>
            <a:ext cx="4191000" cy="5334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  <a:latin typeface="Arial"/>
                <a:cs typeface="Arial"/>
              </a:rPr>
              <a:t>Thank You !</a:t>
            </a:r>
            <a:endParaRPr lang="zh-CN" altLang="en-US" sz="3600" b="1" kern="10">
              <a:ln w="19050">
                <a:solidFill>
                  <a:srgbClr val="FFFF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53882" dir="2700000" algn="ctr" rotWithShape="0">
                  <a:schemeClr val="tx1">
                    <a:alpha val="50000"/>
                  </a:scheme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4767264" y="3962400"/>
            <a:ext cx="4071937" cy="381000"/>
          </a:xfrm>
          <a:noFill/>
        </p:spPr>
        <p:txBody>
          <a:bodyPr/>
          <a:lstStyle/>
          <a:p>
            <a:pPr eaLnBrk="1" hangingPunct="1"/>
            <a:r>
              <a:rPr lang="en-US" altLang="zh-CN" sz="1800" b="1">
                <a:ea typeface="宋体" pitchFamily="2" charset="-122"/>
              </a:rPr>
              <a:t>UESTC</a:t>
            </a:r>
          </a:p>
        </p:txBody>
      </p:sp>
      <p:sp>
        <p:nvSpPr>
          <p:cNvPr id="38916" name="灯片编号占位符 4"/>
          <p:cNvSpPr txBox="1">
            <a:spLocks/>
          </p:cNvSpPr>
          <p:nvPr/>
        </p:nvSpPr>
        <p:spPr bwMode="auto">
          <a:xfrm rot="10800000" flipH="1" flipV="1">
            <a:off x="5643564" y="6286501"/>
            <a:ext cx="642937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/>
            <a:fld id="{BC1B9D7F-7100-4549-B00C-314D209F660F}" type="slidenum">
              <a:rPr lang="en-US" altLang="zh-CN" sz="1800" b="1">
                <a:solidFill>
                  <a:schemeClr val="bg1"/>
                </a:solidFill>
              </a:rPr>
              <a:pPr eaLnBrk="1" hangingPunct="1"/>
              <a:t>34</a:t>
            </a:fld>
            <a:endParaRPr lang="en-US" altLang="zh-CN" sz="1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nimBg="1"/>
    </p:bldLst>
  </p:timing>
</p:sld>
</file>

<file path=ppt/theme/theme1.xml><?xml version="1.0" encoding="utf-8"?>
<a:theme xmlns:a="http://schemas.openxmlformats.org/drawingml/2006/main" name="35">
  <a:themeElements>
    <a:clrScheme name="Default Design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35</Template>
  <TotalTime>9335</TotalTime>
  <Words>2516</Words>
  <Application>Microsoft Office PowerPoint</Application>
  <PresentationFormat>全屏显示(4:3)</PresentationFormat>
  <Paragraphs>434</Paragraphs>
  <Slides>34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等线</vt:lpstr>
      <vt:lpstr>仿宋</vt:lpstr>
      <vt:lpstr>黑体</vt:lpstr>
      <vt:lpstr>华文中宋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Verdana</vt:lpstr>
      <vt:lpstr>Wingdings</vt:lpstr>
      <vt:lpstr>35</vt:lpstr>
      <vt:lpstr>Image</vt:lpstr>
      <vt:lpstr>Visio</vt:lpstr>
      <vt:lpstr>PowerPoint 演示文稿</vt:lpstr>
      <vt:lpstr>PowerPoint 演示文稿</vt:lpstr>
      <vt:lpstr>实验原理——知识回顾</vt:lpstr>
      <vt:lpstr>实验原理概述</vt:lpstr>
      <vt:lpstr>幅频特性的显示原理</vt:lpstr>
      <vt:lpstr>X-Y方式显示原理</vt:lpstr>
      <vt:lpstr>显示模式</vt:lpstr>
      <vt:lpstr>压控信号源</vt:lpstr>
      <vt:lpstr>压控振荡器波形</vt:lpstr>
      <vt:lpstr>实验原理</vt:lpstr>
      <vt:lpstr>峰值包络检波电路</vt:lpstr>
      <vt:lpstr>PowerPoint 演示文稿</vt:lpstr>
      <vt:lpstr>系统连接参考图</vt:lpstr>
      <vt:lpstr>实验内容一</vt:lpstr>
      <vt:lpstr>函数发生器扫描方式相关旋钮</vt:lpstr>
      <vt:lpstr>数据记录</vt:lpstr>
      <vt:lpstr>100kHz频段的输出波形</vt:lpstr>
      <vt:lpstr>实验内容二：测试函数发生器的压控特性</vt:lpstr>
      <vt:lpstr>实验内容二参考方案</vt:lpstr>
      <vt:lpstr>压控特性数据记录表格</vt:lpstr>
      <vt:lpstr>实验内容三：三角波产生电路</vt:lpstr>
      <vt:lpstr>三角波发生器参考电路</vt:lpstr>
      <vt:lpstr>三角波发生器参考电路</vt:lpstr>
      <vt:lpstr>三角波发生器参考电路</vt:lpstr>
      <vt:lpstr>相关问题</vt:lpstr>
      <vt:lpstr>三角波的电平变换电路</vt:lpstr>
      <vt:lpstr>实验内容四检波电路</vt:lpstr>
      <vt:lpstr>综合测试</vt:lpstr>
      <vt:lpstr>测试注意事项</vt:lpstr>
      <vt:lpstr>系统连接参考图</vt:lpstr>
      <vt:lpstr>电路搭建注意事项</vt:lpstr>
      <vt:lpstr>PowerPoint 演示文稿</vt:lpstr>
      <vt:lpstr>实验器材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电子科技大学</dc:title>
  <dc:creator>dell</dc:creator>
  <cp:lastModifiedBy>jianzhi xie</cp:lastModifiedBy>
  <cp:revision>338</cp:revision>
  <dcterms:created xsi:type="dcterms:W3CDTF">2013-03-15T01:15:38Z</dcterms:created>
  <dcterms:modified xsi:type="dcterms:W3CDTF">2023-12-21T14:57:45Z</dcterms:modified>
</cp:coreProperties>
</file>
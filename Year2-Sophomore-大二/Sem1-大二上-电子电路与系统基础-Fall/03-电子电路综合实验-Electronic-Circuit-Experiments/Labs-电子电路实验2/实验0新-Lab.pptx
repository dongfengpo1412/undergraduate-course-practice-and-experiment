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  <p:sldMasterId id="2147483863" r:id="rId2"/>
  </p:sldMasterIdLst>
  <p:notesMasterIdLst>
    <p:notesMasterId r:id="rId20"/>
  </p:notesMasterIdLst>
  <p:sldIdLst>
    <p:sldId id="301" r:id="rId3"/>
    <p:sldId id="378" r:id="rId4"/>
    <p:sldId id="373" r:id="rId5"/>
    <p:sldId id="380" r:id="rId6"/>
    <p:sldId id="374" r:id="rId7"/>
    <p:sldId id="379" r:id="rId8"/>
    <p:sldId id="385" r:id="rId9"/>
    <p:sldId id="392" r:id="rId10"/>
    <p:sldId id="386" r:id="rId11"/>
    <p:sldId id="388" r:id="rId12"/>
    <p:sldId id="389" r:id="rId13"/>
    <p:sldId id="382" r:id="rId14"/>
    <p:sldId id="403" r:id="rId15"/>
    <p:sldId id="407" r:id="rId16"/>
    <p:sldId id="408" r:id="rId17"/>
    <p:sldId id="383" r:id="rId18"/>
    <p:sldId id="409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66FF33"/>
    <a:srgbClr val="CC0066"/>
    <a:srgbClr val="DD5D23"/>
    <a:srgbClr val="FF3300"/>
    <a:srgbClr val="FF6600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 showGuides="1">
      <p:cViewPr>
        <p:scale>
          <a:sx n="84" d="100"/>
          <a:sy n="84" d="100"/>
        </p:scale>
        <p:origin x="1044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6204C45-1ABE-42DF-B0DF-DA079AC2E7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8C19A4-81E7-4CA9-AED4-B67A32D78A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641EDFE-1D55-42AA-AC41-C18EBC4BCA8A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7FA1B98-88D4-4F71-8C65-191D67734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892F7ED-7F46-4868-9A3D-9FB931128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1F7F36-0F61-479D-AE4D-C59CDE2CDA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FDC9C2-2069-4D60-A51C-CA0B280A8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1A3EBE4-B018-49AA-9107-BF7B772AB01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49AA19A9-22E1-511A-CA24-7798A4A0C3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265238" y="727075"/>
            <a:ext cx="4784725" cy="35877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1FFAB21E-B9ED-FC2B-CE97-90F4DB2A49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8E435FE6-9D5F-6449-3D4A-8C2230DC0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39813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039813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039813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039813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039813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03981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03981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03981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03981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DA1AB19-82B6-4278-AA92-4514EAC9B7EA}" type="slidenum">
              <a:rPr lang="en-US" altLang="zh-CN" sz="1100"/>
              <a:pPr/>
              <a:t>7</a:t>
            </a:fld>
            <a:endParaRPr lang="en-US" altLang="zh-CN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2FB09E60-FF89-D735-C5A2-1530B2BEDD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B85C0ECF-C868-FBC1-9C49-41FB1A95EC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D5134FB1-43C1-01B6-8606-0DE52D493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5E268D2-5F52-40A5-B30C-F1C8F3A4F0D9}" type="slidenum"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19383D3F-4EAF-ED88-6B28-EF749F5A0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2D5BBF1D-EB43-971C-2EB9-2AACD3607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EA4FA174-2D4A-BD40-0AB7-5A342BDD19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0CF2961-360F-497E-B05C-91545A6077D0}" type="slidenum"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/>
              <a:t>13</a:t>
            </a:fld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>
            <a:extLst>
              <a:ext uri="{FF2B5EF4-FFF2-40B4-BE49-F238E27FC236}">
                <a16:creationId xmlns:a16="http://schemas.microsoft.com/office/drawing/2014/main" id="{F0498078-5269-715E-272C-BB9FA290F3E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68300" y="6294438"/>
            <a:ext cx="4699000" cy="606425"/>
            <a:chOff x="232" y="3965"/>
            <a:chExt cx="2960" cy="382"/>
          </a:xfrm>
        </p:grpSpPr>
        <p:sp>
          <p:nvSpPr>
            <p:cNvPr id="3" name="Text Box 23">
              <a:extLst>
                <a:ext uri="{FF2B5EF4-FFF2-40B4-BE49-F238E27FC236}">
                  <a16:creationId xmlns:a16="http://schemas.microsoft.com/office/drawing/2014/main" id="{48FE28A5-7B65-A134-201E-4AD6D696396F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32" y="3965"/>
              <a:ext cx="2858" cy="209"/>
            </a:xfrm>
            <a:prstGeom prst="rect">
              <a:avLst/>
            </a:prstGeom>
            <a:noFill/>
            <a:ln>
              <a:noFill/>
            </a:ln>
          </p:spPr>
          <p:txBody>
            <a:bodyPr tIns="0" bIns="0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ea typeface="隶书" panose="02010509060101010101" pitchFamily="49" charset="-122"/>
                </a:rPr>
                <a:t>国家工科电工电子基础教学基地</a:t>
              </a:r>
              <a:endParaRPr kumimoji="1" lang="zh-CN" altLang="en-US" sz="2000" b="1">
                <a:solidFill>
                  <a:schemeClr val="accent2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4" name="Text Box 24">
              <a:extLst>
                <a:ext uri="{FF2B5EF4-FFF2-40B4-BE49-F238E27FC236}">
                  <a16:creationId xmlns:a16="http://schemas.microsoft.com/office/drawing/2014/main" id="{BE291271-56B0-D80E-77D0-7F91CAAB53E0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43" y="4097"/>
              <a:ext cx="2949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国</a:t>
              </a:r>
              <a:r>
                <a:rPr kumimoji="1" lang="zh-CN" altLang="en-US" sz="20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家级实验教学示范中心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037508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588001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768245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5993877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783182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11654225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72713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6837692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676311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9449883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1931568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10AA7C4-91D9-BBF5-8C8D-7B422DE59B2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925C3F9-361D-0E04-E5CB-893C0E2FEF8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DA34074-B3CA-A4BF-4CA5-77C0D321F6D2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035A185-7C68-B96B-8F74-94A5E88DBD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DF9BE5B4-2183-4528-3572-69D7AD9AA9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EB2AC4FA-57BD-38E4-ED80-AFD8BF058A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74FE4D3E-E300-1472-98FF-BE5C87EFA8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E8C28219-6070-6D12-C699-F8622254A9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E7820CBF-991F-756F-8DF6-F82E69E83E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7200830A-EEDB-F299-328B-00FCAB6D3D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28907DBC-B9F1-1EB6-0924-41F1113E20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0A52CCB5-D5F6-7123-4F8D-405FB01609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97E2FA47-4144-EF84-B3C3-DBC5FFF804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2FA233ED-8FF4-67A8-1972-42A6595776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23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23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5456F91-4B0D-0DEC-0ABF-B581C827C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4D531A52-3147-8773-650F-7562224AEF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2731071E-653C-86AA-9A8B-42E061B218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27EF9E-C953-4000-BD69-482C21F661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268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A43A28-B5F1-1312-CF17-83B9B38E53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FED731-B368-9F44-23C2-A199C12123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4D649B-ACD1-474D-98C1-99EA8E1BCC9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8C287419-F556-6B83-FF31-32C25247E89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662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6DBEBD-EE69-7559-6785-F2AE0B6226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FBF700-E167-96A3-7F2A-B82B82B21F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F2A9B4-EBC1-4630-82B8-C2DB81F7F0E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B4CA873-66FE-AF72-1BF4-18BA6F25C69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4485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5E8E2CA-2A4F-1875-78ED-485B00178A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9D34DCE-D6E6-5BC4-40C6-1AF62258FC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57D22-3B23-4BB5-B996-E80D2BB0E5B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8914204-F8F0-9596-32F9-2E38CDCECCB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822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88584C-DFF1-4BF4-449E-A06A07A330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F18FFAE-E269-1197-256E-4CD7125492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B82A-8CD3-4F9C-A221-3260E0238DA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3C259FEA-EDFA-AF02-1C76-9E451C07963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111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487C2-DA73-D104-6165-1C4CB63A7B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E65B1-F445-FB41-6A63-7CE5A90564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28ACE-940A-4B83-8DEB-D7D2675B1A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8974166-3A05-CB7A-4948-10C4722F1EF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894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9ECA3E-CC76-A9DD-5E73-6E77462465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EDD2BF-F3EC-FE91-373C-993879BA65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9720DD-B3AB-44F5-B23A-66348AAEE2B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A71373F-83F4-2B68-A6F2-97F5B20F6F2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534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510206-70BE-FA8A-6651-3084F3FEE5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EC981B-92CB-A337-71CF-7B4C0034D1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7C12F-C225-4C4D-BE49-51C65C64CEA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2CE6689F-E180-D983-FFF1-189050672D1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019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E8FF5D-572D-E1F7-7649-FA3C4F33AC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44C820-6336-6B56-3822-EFA7D1BA00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F42AD-CC9A-474A-8888-D8B973AF57E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51BA1FD-6191-28DF-617A-75C50E01663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30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47F10DD-033A-C3CB-5B28-6829891918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E2EC290-806E-846F-E5D0-41EB39EA0E1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C51FE4-6D6B-483E-961C-7DA7CBBE1FB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57C40C1-DD1F-C218-8C31-4CAFB67F080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8691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9D1DF4-49AE-25CA-C096-DBEB22935C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38F576-1698-9C2E-D58D-190320D55D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C86BF5-105A-484A-B812-F3CDD596AD1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541818F-5214-7E7D-97F1-07BD1A17786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7141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F75C5E4-C0DC-F870-CDD8-987CC22C314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14E9902-CF48-3E8E-A019-CC94B3313F5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0235CB-660E-48D0-B26A-34FF2C0467F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E3D85285-BFEB-287F-9E71-F4CACBF13B5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0804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06F41A-6AD7-7FA8-8966-B9D862F6AD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BBEA73-5DE1-6117-911A-0FD7948464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C326E1-E0AB-4445-A215-8A6EB47831B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3F1F960B-E0CC-0209-1D0E-F2A94C6A875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56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4F76634-3792-94BD-8034-30CDB94871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B66C0D-018C-4A9E-7418-963CBAC4D9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35FB5D-A5C2-4CE1-8FAE-0890DE06570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F83AD756-33B4-0D18-6C11-BB652D63B5A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546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939A13-4F32-387B-F9C3-EFE71A7380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C9C8303-FDEB-3D79-2D36-43AC9ADD32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816CC5-29B0-480D-89D7-28C06B1D763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3F0CE2F-1A16-38BF-A07B-57425867D2A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56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>
            <a:extLst>
              <a:ext uri="{FF2B5EF4-FFF2-40B4-BE49-F238E27FC236}">
                <a16:creationId xmlns:a16="http://schemas.microsoft.com/office/drawing/2014/main" id="{743969C6-A943-DEF8-C980-8D3D29F5AA1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68300" y="6294438"/>
            <a:ext cx="4699000" cy="606425"/>
            <a:chOff x="232" y="3965"/>
            <a:chExt cx="2960" cy="382"/>
          </a:xfrm>
        </p:grpSpPr>
        <p:sp>
          <p:nvSpPr>
            <p:cNvPr id="1027" name="Text Box 23">
              <a:extLst>
                <a:ext uri="{FF2B5EF4-FFF2-40B4-BE49-F238E27FC236}">
                  <a16:creationId xmlns:a16="http://schemas.microsoft.com/office/drawing/2014/main" id="{6A433838-924C-4585-B631-1B667E4BFA56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32" y="3965"/>
              <a:ext cx="2858" cy="209"/>
            </a:xfrm>
            <a:prstGeom prst="rect">
              <a:avLst/>
            </a:prstGeom>
            <a:noFill/>
            <a:ln>
              <a:noFill/>
            </a:ln>
          </p:spPr>
          <p:txBody>
            <a:bodyPr tIns="0" bIns="0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ea typeface="隶书" panose="02010509060101010101" pitchFamily="49" charset="-122"/>
                </a:rPr>
                <a:t>国家工科电工电子基础教学基地</a:t>
              </a:r>
              <a:endParaRPr kumimoji="1" lang="zh-CN" altLang="en-US" sz="2000" b="1">
                <a:solidFill>
                  <a:schemeClr val="accent2"/>
                </a:solidFill>
                <a:ea typeface="隶书" panose="02010509060101010101" pitchFamily="49" charset="-122"/>
              </a:endParaRPr>
            </a:p>
          </p:txBody>
        </p:sp>
        <p:sp>
          <p:nvSpPr>
            <p:cNvPr id="1028" name="Text Box 24">
              <a:extLst>
                <a:ext uri="{FF2B5EF4-FFF2-40B4-BE49-F238E27FC236}">
                  <a16:creationId xmlns:a16="http://schemas.microsoft.com/office/drawing/2014/main" id="{BAD0A09E-9A82-4C21-AACE-8AA3CA579581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43" y="4097"/>
              <a:ext cx="2949" cy="25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国</a:t>
              </a:r>
              <a:r>
                <a:rPr kumimoji="1" lang="zh-CN" altLang="en-US" sz="2000" b="1">
                  <a:solidFill>
                    <a:schemeClr val="accent2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家级实验教学示范中心  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FF6600"/>
          </a:solidFill>
          <a:latin typeface="Arial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55F1E6B6-D0EF-4327-BB8E-123BB60249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DBB3F653-F156-460F-BF6E-6F11376BB8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CD19C669-613F-4C62-BD1A-9D6DAE3B9BD4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301A7193-5665-FE0F-4AD7-C5E3EA801E4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90A78568-67AF-4DE9-B3FE-BBCB6A4B0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B0498810-A543-4BF3-81BB-E84275A42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C142C03E-3C5D-4D74-A45A-D4CF7A799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31655EFB-2344-4933-A377-9DF47396F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47CA051-60D2-4499-92F4-EEFCC3401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B43E8BD6-D4E5-462A-8293-426478D5F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23888D5B-FD02-42A7-B3BB-E4C16FDCC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B8D19EC2-94C2-4675-B4A3-423596908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50FCBD88-327C-446A-A27E-128A375C9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7E8E2968-5C78-0CDF-6375-E4D3DE901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EFE76CC9-86D7-297C-CF14-F678B443C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1328" name="Rectangle 16">
            <a:extLst>
              <a:ext uri="{FF2B5EF4-FFF2-40B4-BE49-F238E27FC236}">
                <a16:creationId xmlns:a16="http://schemas.microsoft.com/office/drawing/2014/main" id="{242B9E3D-8231-4513-B9DD-126A97E91C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7">
            <a:extLst>
              <a:ext uri="{FF2B5EF4-FFF2-40B4-BE49-F238E27FC236}">
                <a16:creationId xmlns:a16="http://schemas.microsoft.com/office/drawing/2014/main" id="{7AFB3448-77AC-340F-100C-E1DCB2344340}"/>
              </a:ext>
            </a:extLst>
          </p:cNvPr>
          <p:cNvGrpSpPr>
            <a:grpSpLocks/>
          </p:cNvGrpSpPr>
          <p:nvPr/>
        </p:nvGrpSpPr>
        <p:grpSpPr bwMode="auto">
          <a:xfrm>
            <a:off x="2187575" y="2492375"/>
            <a:ext cx="4716463" cy="2886075"/>
            <a:chOff x="1383" y="1706"/>
            <a:chExt cx="3357" cy="1909"/>
          </a:xfrm>
        </p:grpSpPr>
        <p:pic>
          <p:nvPicPr>
            <p:cNvPr id="6149" name="Picture 31" descr="复件 (2) IMG_0244">
              <a:extLst>
                <a:ext uri="{FF2B5EF4-FFF2-40B4-BE49-F238E27FC236}">
                  <a16:creationId xmlns:a16="http://schemas.microsoft.com/office/drawing/2014/main" id="{1A7D1F0D-5F91-7969-A07F-A0E9B94E1D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" y="2907"/>
              <a:ext cx="1316" cy="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0" name="Picture 32" descr="复件 IMG_0198">
              <a:extLst>
                <a:ext uri="{FF2B5EF4-FFF2-40B4-BE49-F238E27FC236}">
                  <a16:creationId xmlns:a16="http://schemas.microsoft.com/office/drawing/2014/main" id="{8AB283D3-0948-8981-9EA1-B3FB9BC98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3" y="2652"/>
              <a:ext cx="2058" cy="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1" name="Picture 33" descr="IMG_0207">
              <a:extLst>
                <a:ext uri="{FF2B5EF4-FFF2-40B4-BE49-F238E27FC236}">
                  <a16:creationId xmlns:a16="http://schemas.microsoft.com/office/drawing/2014/main" id="{8B90779D-04E4-F1DF-2150-B85BB7F8EA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0" y="1706"/>
              <a:ext cx="812" cy="1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2" name="Picture 34" descr="IMG_0010">
              <a:extLst>
                <a:ext uri="{FF2B5EF4-FFF2-40B4-BE49-F238E27FC236}">
                  <a16:creationId xmlns:a16="http://schemas.microsoft.com/office/drawing/2014/main" id="{41CCD877-D790-E48C-FAE8-9E0871E5EB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2090"/>
              <a:ext cx="1269" cy="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3" name="Picture 36" descr="调整大小 复件 IMG_0462">
              <a:extLst>
                <a:ext uri="{FF2B5EF4-FFF2-40B4-BE49-F238E27FC236}">
                  <a16:creationId xmlns:a16="http://schemas.microsoft.com/office/drawing/2014/main" id="{E9F6F100-D9DC-EA9E-FE97-5F6C6208A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1918"/>
              <a:ext cx="408" cy="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Rectangle 41">
            <a:extLst>
              <a:ext uri="{FF2B5EF4-FFF2-40B4-BE49-F238E27FC236}">
                <a16:creationId xmlns:a16="http://schemas.microsoft.com/office/drawing/2014/main" id="{B9859DB1-9888-4C73-8C57-BC1C9AB6A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765175"/>
            <a:ext cx="4065587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电路实验</a:t>
            </a:r>
            <a:r>
              <a:rPr lang="en-US" altLang="zh-CN" sz="4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Ⅱ》</a:t>
            </a:r>
            <a:endParaRPr lang="zh-CN" altLang="en-US" sz="4000" b="1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C9023BA-398C-4E25-87D4-ADD3DA702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1674813"/>
            <a:ext cx="2428875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学分：</a:t>
            </a:r>
            <a:r>
              <a:rPr kumimoji="1" lang="en-US" altLang="zh-CN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学分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FFE7125A-0DB0-4B62-B9F0-867376F2D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800100"/>
            <a:ext cx="3384550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课程简介：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42574019-379A-8355-B548-4A4492901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47796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电路实验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II》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是一门具有较强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实践性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的专业基础课程。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172" name="Rectangle 8">
            <a:extLst>
              <a:ext uri="{FF2B5EF4-FFF2-40B4-BE49-F238E27FC236}">
                <a16:creationId xmlns:a16="http://schemas.microsoft.com/office/drawing/2014/main" id="{D1AE1EB9-8D25-48DE-EC8C-6A61D69FD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3827463"/>
            <a:ext cx="8064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成绩构成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平时成绩（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期末成绩（</a:t>
            </a:r>
            <a:r>
              <a:rPr kumimoji="1"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kumimoji="1"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126" name="Rectangle 10">
            <a:extLst>
              <a:ext uri="{FF2B5EF4-FFF2-40B4-BE49-F238E27FC236}">
                <a16:creationId xmlns:a16="http://schemas.microsoft.com/office/drawing/2014/main" id="{E32759ED-1D02-42C9-AE1B-74473C898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013325"/>
            <a:ext cx="7086600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期末成绩：综合实验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的作品测试成绩；</a:t>
            </a:r>
          </a:p>
        </p:txBody>
      </p:sp>
      <p:sp>
        <p:nvSpPr>
          <p:cNvPr id="5127" name="Rectangle 11">
            <a:extLst>
              <a:ext uri="{FF2B5EF4-FFF2-40B4-BE49-F238E27FC236}">
                <a16:creationId xmlns:a16="http://schemas.microsoft.com/office/drawing/2014/main" id="{11A5D975-3625-4732-8892-3ED1D854E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4570413"/>
            <a:ext cx="754538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平时成绩：由考勤、实验操作完成情况和实验报告综合评定。</a:t>
            </a:r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F540B240-BA32-0AF2-F864-FDAD4301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997075"/>
            <a:ext cx="7021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电路分析与电子线路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电路实验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I》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的后续课程；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946E36E-9920-423A-B5A4-ED34F7167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509838"/>
            <a:ext cx="7165975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侧重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模拟电路的综合设计能力的训练 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玩运放！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177" name="Rectangle 5">
            <a:extLst>
              <a:ext uri="{FF2B5EF4-FFF2-40B4-BE49-F238E27FC236}">
                <a16:creationId xmlns:a16="http://schemas.microsoft.com/office/drawing/2014/main" id="{007D2DDF-1227-059F-4CEE-3D461E4E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032125"/>
            <a:ext cx="7165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强调复杂电路系统的搭建以及系统联调能力的训练。</a:t>
            </a:r>
            <a:endParaRPr kumimoji="1"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">
            <a:extLst>
              <a:ext uri="{FF2B5EF4-FFF2-40B4-BE49-F238E27FC236}">
                <a16:creationId xmlns:a16="http://schemas.microsoft.com/office/drawing/2014/main" id="{1674B04B-0DC1-4127-AA1E-D2C0CA912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660400"/>
            <a:ext cx="6467475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实验后的作业（实验报告）</a:t>
            </a:r>
          </a:p>
        </p:txBody>
      </p:sp>
      <p:sp>
        <p:nvSpPr>
          <p:cNvPr id="8195" name="Rectangle 12">
            <a:extLst>
              <a:ext uri="{FF2B5EF4-FFF2-40B4-BE49-F238E27FC236}">
                <a16:creationId xmlns:a16="http://schemas.microsoft.com/office/drawing/2014/main" id="{9B249330-C3EB-D2E5-D846-E0F7623D7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497013"/>
            <a:ext cx="8280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1. 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要求独立完成课后实验报告，实验报告具体要求如下：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6" name="Rectangle 13">
            <a:extLst>
              <a:ext uri="{FF2B5EF4-FFF2-40B4-BE49-F238E27FC236}">
                <a16:creationId xmlns:a16="http://schemas.microsoft.com/office/drawing/2014/main" id="{4A1C4B72-A449-26C7-03AF-23E7810F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94250"/>
            <a:ext cx="2773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2. 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报告提交时间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2120939-BECE-4490-A24D-F01BBA0C6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038350"/>
            <a:ext cx="4897437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每次实验报告用统一的封面（打印），模板已上传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群。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837752D8-7A6E-46BC-A25D-059D5E8E6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130550"/>
            <a:ext cx="334803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正文内容用附页。</a:t>
            </a:r>
          </a:p>
        </p:txBody>
      </p:sp>
      <p:pic>
        <p:nvPicPr>
          <p:cNvPr id="8199" name="图片 1">
            <a:extLst>
              <a:ext uri="{FF2B5EF4-FFF2-40B4-BE49-F238E27FC236}">
                <a16:creationId xmlns:a16="http://schemas.microsoft.com/office/drawing/2014/main" id="{D8DE2F80-8041-C400-62A6-5BD3F31C1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011363"/>
            <a:ext cx="2952750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Rectangle 13">
            <a:extLst>
              <a:ext uri="{FF2B5EF4-FFF2-40B4-BE49-F238E27FC236}">
                <a16:creationId xmlns:a16="http://schemas.microsoft.com/office/drawing/2014/main" id="{7066C294-1D22-8B19-3E03-BFC0E740F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427663"/>
            <a:ext cx="4967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ea typeface="楷体_GB2312" pitchFamily="49" charset="-122"/>
              </a:rPr>
              <a:t>按照约定时间准时提交！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9EBC6D46-F34D-4144-B092-CB79A282C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698875"/>
            <a:ext cx="4608512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正文内容建议设计性和综合性实验部分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6A5D4973-0BD1-9FB8-493F-E965C8518D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Ctr="1"/>
          <a:lstStyle/>
          <a:p>
            <a:pPr eaLnBrk="1" hangingPunct="1"/>
            <a:br>
              <a:rPr lang="en-US" altLang="zh-CN"/>
            </a:br>
            <a:br>
              <a:rPr lang="en-US" altLang="zh-CN"/>
            </a:br>
            <a:endParaRPr lang="en-US" altLang="zh-CN"/>
          </a:p>
        </p:txBody>
      </p:sp>
      <p:sp>
        <p:nvSpPr>
          <p:cNvPr id="49155" name="Rectangle 5">
            <a:extLst>
              <a:ext uri="{FF2B5EF4-FFF2-40B4-BE49-F238E27FC236}">
                <a16:creationId xmlns:a16="http://schemas.microsoft.com/office/drawing/2014/main" id="{CF183DF8-0C1B-4511-ACC2-EA262BADB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690563"/>
            <a:ext cx="8278813" cy="5511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2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电路实验</a:t>
            </a:r>
            <a:r>
              <a:rPr lang="en-US" altLang="zh-CN" sz="3200" b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Ⅱ 》</a:t>
            </a:r>
            <a:r>
              <a:rPr lang="zh-CN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开课内容与顺序（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学时）</a:t>
            </a:r>
            <a:endParaRPr lang="en-US" altLang="zh-CN" sz="2000" b="1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defRPr/>
            </a:pPr>
            <a:endParaRPr lang="zh-CN" altLang="en-US" sz="2000" b="1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000" b="1" dirty="0"/>
              <a:t>预备知识：运放的</a:t>
            </a:r>
            <a:r>
              <a:rPr lang="en-US" altLang="zh-CN" sz="2000" b="1" dirty="0"/>
              <a:t>SR</a:t>
            </a:r>
            <a:r>
              <a:rPr lang="zh-CN" altLang="en-US" sz="2000" b="1" dirty="0"/>
              <a:t>参数测试（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     不写实验报告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1.1 </a:t>
            </a:r>
            <a:r>
              <a:rPr lang="zh-CN" altLang="en-US" sz="2000" b="1" dirty="0"/>
              <a:t>集成运算放大器的运算应用（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</a:t>
            </a:r>
            <a:r>
              <a:rPr lang="zh-CN" altLang="en-US" sz="2000" b="1" dirty="0">
                <a:solidFill>
                  <a:srgbClr val="FF3300"/>
                </a:solidFill>
              </a:rPr>
              <a:t>交实验报告</a:t>
            </a:r>
            <a:r>
              <a:rPr lang="zh-CN" altLang="en-US" sz="2000" b="1" dirty="0"/>
              <a:t>          </a:t>
            </a: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1.2 RC</a:t>
            </a:r>
            <a:r>
              <a:rPr lang="zh-CN" altLang="en-US" sz="2000" b="1" dirty="0"/>
              <a:t>有源滤波器（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</a:t>
            </a:r>
            <a:r>
              <a:rPr lang="zh-CN" altLang="en-US" sz="2000" b="1" dirty="0">
                <a:solidFill>
                  <a:srgbClr val="FF3300"/>
                </a:solidFill>
              </a:rPr>
              <a:t>交实验报告</a:t>
            </a:r>
          </a:p>
          <a:p>
            <a:pPr>
              <a:defRPr/>
            </a:pPr>
            <a:endParaRPr lang="zh-CN" altLang="en-US" sz="2000" b="1" dirty="0"/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2.1 </a:t>
            </a:r>
            <a:r>
              <a:rPr lang="zh-CN" altLang="en-US" sz="2000" b="1" dirty="0"/>
              <a:t>文氏桥</a:t>
            </a:r>
            <a:r>
              <a:rPr lang="en-US" altLang="zh-CN" sz="2000" b="1" dirty="0"/>
              <a:t>RC</a:t>
            </a:r>
            <a:r>
              <a:rPr lang="zh-CN" altLang="en-US" sz="2000" b="1" dirty="0"/>
              <a:t>正弦波产生电路设计（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</a:t>
            </a: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2.2 </a:t>
            </a:r>
            <a:r>
              <a:rPr lang="zh-CN" altLang="en-US" sz="2000" b="1" dirty="0"/>
              <a:t>电压比较器电路设计（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                        </a:t>
            </a:r>
            <a:r>
              <a:rPr lang="zh-CN" altLang="en-US" sz="2000" b="1" dirty="0">
                <a:solidFill>
                  <a:srgbClr val="FF3300"/>
                </a:solidFill>
              </a:rPr>
              <a:t>合交</a:t>
            </a:r>
            <a:r>
              <a:rPr lang="en-US" altLang="zh-CN" sz="2000" b="1" dirty="0">
                <a:solidFill>
                  <a:srgbClr val="FF3300"/>
                </a:solidFill>
              </a:rPr>
              <a:t>1</a:t>
            </a:r>
            <a:r>
              <a:rPr lang="zh-CN" altLang="en-US" sz="2000" b="1" dirty="0">
                <a:solidFill>
                  <a:srgbClr val="FF3300"/>
                </a:solidFill>
              </a:rPr>
              <a:t>个实验报告</a:t>
            </a: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2.3 </a:t>
            </a:r>
            <a:r>
              <a:rPr lang="zh-CN" altLang="en-US" sz="2000" b="1" dirty="0"/>
              <a:t>积分器电路设计（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学时）</a:t>
            </a:r>
          </a:p>
          <a:p>
            <a:pPr>
              <a:defRPr/>
            </a:pPr>
            <a:r>
              <a:rPr lang="zh-CN" altLang="en-US" sz="2000" b="1" dirty="0"/>
              <a:t>             </a:t>
            </a: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3.1 </a:t>
            </a:r>
            <a:r>
              <a:rPr lang="zh-CN" altLang="en-US" sz="2000" b="1" dirty="0"/>
              <a:t>复合信号发生器（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学时）</a:t>
            </a:r>
            <a:r>
              <a:rPr lang="zh-CN" altLang="en-US" sz="2000" b="1" dirty="0">
                <a:solidFill>
                  <a:srgbClr val="FF3300"/>
                </a:solidFill>
              </a:rPr>
              <a:t>交实验报告</a:t>
            </a:r>
            <a:r>
              <a:rPr lang="en-US" altLang="zh-CN" sz="2000" b="1" dirty="0">
                <a:solidFill>
                  <a:srgbClr val="FF3300"/>
                </a:solidFill>
              </a:rPr>
              <a:t>+</a:t>
            </a:r>
            <a:r>
              <a:rPr lang="zh-CN" altLang="en-US" sz="2000" b="1" dirty="0">
                <a:solidFill>
                  <a:srgbClr val="FF3300"/>
                </a:solidFill>
              </a:rPr>
              <a:t>作品测试</a:t>
            </a:r>
          </a:p>
          <a:p>
            <a:pPr>
              <a:defRPr/>
            </a:pPr>
            <a:endParaRPr lang="zh-CN" altLang="en-US" sz="2000" b="1" dirty="0">
              <a:solidFill>
                <a:srgbClr val="FF3300"/>
              </a:solidFill>
            </a:endParaRP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3.2 </a:t>
            </a:r>
            <a:r>
              <a:rPr lang="zh-CN" altLang="en-US" sz="2000" b="1" dirty="0"/>
              <a:t>声光火灾报警器设计与实现（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学时）</a:t>
            </a:r>
            <a:r>
              <a:rPr lang="zh-CN" altLang="en-US" sz="2000" b="1" dirty="0">
                <a:solidFill>
                  <a:srgbClr val="FF3300"/>
                </a:solidFill>
              </a:rPr>
              <a:t>交实验报告</a:t>
            </a:r>
            <a:r>
              <a:rPr lang="en-US" altLang="zh-CN" sz="2000" b="1" dirty="0">
                <a:solidFill>
                  <a:srgbClr val="FF3300"/>
                </a:solidFill>
              </a:rPr>
              <a:t>+</a:t>
            </a:r>
            <a:r>
              <a:rPr lang="zh-CN" altLang="en-US" sz="2000" b="1" dirty="0">
                <a:solidFill>
                  <a:srgbClr val="FF3300"/>
                </a:solidFill>
              </a:rPr>
              <a:t>作品测试</a:t>
            </a:r>
          </a:p>
          <a:p>
            <a:pPr>
              <a:defRPr/>
            </a:pPr>
            <a:r>
              <a:rPr lang="zh-CN" altLang="en-US" sz="2000" b="1" dirty="0"/>
              <a:t>             </a:t>
            </a:r>
          </a:p>
          <a:p>
            <a:pPr>
              <a:defRPr/>
            </a:pPr>
            <a:r>
              <a:rPr lang="zh-CN" altLang="en-US" sz="2000" b="1" dirty="0"/>
              <a:t>实验</a:t>
            </a:r>
            <a:r>
              <a:rPr lang="en-US" altLang="zh-CN" sz="2000" b="1" dirty="0"/>
              <a:t>3.3 </a:t>
            </a:r>
            <a:r>
              <a:rPr lang="zh-CN" altLang="en-US" sz="2000" b="1" dirty="0"/>
              <a:t>幅频特性的扫频法测试系统设计与实现（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学时）</a:t>
            </a:r>
            <a:r>
              <a:rPr lang="zh-CN" altLang="en-US" sz="2000" b="1" dirty="0">
                <a:solidFill>
                  <a:srgbClr val="FF3300"/>
                </a:solidFill>
              </a:rPr>
              <a:t>交实验报告</a:t>
            </a:r>
            <a:r>
              <a:rPr lang="en-US" altLang="zh-CN" sz="2000" b="1" dirty="0">
                <a:solidFill>
                  <a:srgbClr val="FF3300"/>
                </a:solidFill>
              </a:rPr>
              <a:t>+</a:t>
            </a:r>
            <a:r>
              <a:rPr lang="zh-CN" altLang="en-US" sz="2000" b="1" dirty="0">
                <a:solidFill>
                  <a:srgbClr val="FF3300"/>
                </a:solidFill>
              </a:rPr>
              <a:t>作品测试</a:t>
            </a:r>
            <a:r>
              <a:rPr lang="zh-CN" altLang="en-US" sz="2000" b="1" dirty="0"/>
              <a:t>        </a:t>
            </a:r>
          </a:p>
          <a:p>
            <a:pPr>
              <a:defRPr/>
            </a:pPr>
            <a:r>
              <a:rPr lang="zh-CN" altLang="en-US" sz="2000" b="1" dirty="0"/>
              <a:t>仿真实验</a:t>
            </a:r>
            <a:r>
              <a:rPr lang="en-US" altLang="zh-CN" sz="2000" b="1" dirty="0"/>
              <a:t>. </a:t>
            </a:r>
            <a:r>
              <a:rPr lang="zh-CN" altLang="en-US" sz="2000" b="1" dirty="0"/>
              <a:t>有源滤波器计算机辅助设计（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学时）</a:t>
            </a:r>
          </a:p>
        </p:txBody>
      </p:sp>
      <p:pic>
        <p:nvPicPr>
          <p:cNvPr id="9220" name="Picture 6" descr="Untitled - 8">
            <a:extLst>
              <a:ext uri="{FF2B5EF4-FFF2-40B4-BE49-F238E27FC236}">
                <a16:creationId xmlns:a16="http://schemas.microsoft.com/office/drawing/2014/main" id="{E41CE95F-2601-FBC4-9BD3-14461861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60325"/>
            <a:ext cx="75882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9" name="AutoShape 7">
            <a:extLst>
              <a:ext uri="{FF2B5EF4-FFF2-40B4-BE49-F238E27FC236}">
                <a16:creationId xmlns:a16="http://schemas.microsoft.com/office/drawing/2014/main" id="{6A7F7890-E1B4-4AB8-9BCF-3C54E4F65A17}"/>
              </a:ext>
            </a:extLst>
          </p:cNvPr>
          <p:cNvSpPr>
            <a:spLocks/>
          </p:cNvSpPr>
          <p:nvPr/>
        </p:nvSpPr>
        <p:spPr bwMode="auto">
          <a:xfrm>
            <a:off x="6516688" y="2870200"/>
            <a:ext cx="73025" cy="576263"/>
          </a:xfrm>
          <a:prstGeom prst="rightBrace">
            <a:avLst>
              <a:gd name="adj1" fmla="val 657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7269F732-2A05-4276-B40A-9126F789C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765175"/>
            <a:ext cx="2879725" cy="5857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课程学习要求</a:t>
            </a:r>
          </a:p>
        </p:txBody>
      </p:sp>
      <p:sp>
        <p:nvSpPr>
          <p:cNvPr id="285703" name="Rectangle 7">
            <a:extLst>
              <a:ext uri="{FF2B5EF4-FFF2-40B4-BE49-F238E27FC236}">
                <a16:creationId xmlns:a16="http://schemas.microsoft.com/office/drawing/2014/main" id="{1CA3E7E0-5A20-C3FB-50A6-4936C03DA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000250"/>
            <a:ext cx="7704138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课前预习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建议上课前用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分钟左右的时间去明确本次课的实验的目的（明确本次实验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要验证或测试什么？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）；并尽量思考要完成该测试应该怎样进行（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拟订实验方案和步骤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</p:txBody>
      </p:sp>
      <p:sp>
        <p:nvSpPr>
          <p:cNvPr id="285704" name="Rectangle 8">
            <a:extLst>
              <a:ext uri="{FF2B5EF4-FFF2-40B4-BE49-F238E27FC236}">
                <a16:creationId xmlns:a16="http://schemas.microsoft.com/office/drawing/2014/main" id="{882D2265-8C86-A902-B000-383C9DAF7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446213"/>
            <a:ext cx="698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上课时间：提前</a:t>
            </a:r>
            <a:r>
              <a:rPr kumimoji="1" lang="en-US" altLang="zh-CN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到实验室准备上课；</a:t>
            </a:r>
            <a:endParaRPr kumimoji="1"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705" name="Rectangle 9">
            <a:extLst>
              <a:ext uri="{FF2B5EF4-FFF2-40B4-BE49-F238E27FC236}">
                <a16:creationId xmlns:a16="http://schemas.microsoft.com/office/drawing/2014/main" id="{08219DBD-9C9C-6750-6611-163087ABC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797425"/>
            <a:ext cx="75612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实验结束时：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整理实验台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（仪器电缆附件均应连接在相应的仪器上）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板凳均放回到实验桌底。</a:t>
            </a:r>
          </a:p>
        </p:txBody>
      </p:sp>
      <p:sp>
        <p:nvSpPr>
          <p:cNvPr id="285706" name="Rectangle 10">
            <a:extLst>
              <a:ext uri="{FF2B5EF4-FFF2-40B4-BE49-F238E27FC236}">
                <a16:creationId xmlns:a16="http://schemas.microsoft.com/office/drawing/2014/main" id="{5AD8BD84-395D-9741-FBAF-726AE602A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700463"/>
            <a:ext cx="77041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实验过程中：出现问题应该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独立思考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同学讨论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实在不能解决时请任课教师指导；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3" grpId="0"/>
      <p:bldP spid="285704" grpId="0"/>
      <p:bldP spid="285705" grpId="0"/>
      <p:bldP spid="2857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4" name="Rectangle 8">
            <a:extLst>
              <a:ext uri="{FF2B5EF4-FFF2-40B4-BE49-F238E27FC236}">
                <a16:creationId xmlns:a16="http://schemas.microsoft.com/office/drawing/2014/main" id="{6BCF5A21-D8BB-4C5C-9EDE-AFF3E94C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763588"/>
            <a:ext cx="5172075" cy="5794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实验课后实验台的状态</a:t>
            </a:r>
          </a:p>
        </p:txBody>
      </p:sp>
      <p:pic>
        <p:nvPicPr>
          <p:cNvPr id="11267" name="图片 5">
            <a:extLst>
              <a:ext uri="{FF2B5EF4-FFF2-40B4-BE49-F238E27FC236}">
                <a16:creationId xmlns:a16="http://schemas.microsoft.com/office/drawing/2014/main" id="{0C28B633-9D35-BE78-5DEE-C1F124F42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3238"/>
            <a:ext cx="91440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6">
            <a:extLst>
              <a:ext uri="{FF2B5EF4-FFF2-40B4-BE49-F238E27FC236}">
                <a16:creationId xmlns:a16="http://schemas.microsoft.com/office/drawing/2014/main" id="{FD2B5B12-2107-5FBC-2CD1-AAB94682C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954838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运算放大器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EFFC1F-2660-CF7E-3FA3-C770E8E0A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38" y="4113213"/>
            <a:ext cx="4257675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" name="Object 16">
            <a:extLst>
              <a:ext uri="{FF2B5EF4-FFF2-40B4-BE49-F238E27FC236}">
                <a16:creationId xmlns:a16="http://schemas.microsoft.com/office/drawing/2014/main" id="{704C61C4-6C69-5445-1ED0-DEBE8C885B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208213"/>
          <a:ext cx="338455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照片" r:id="rId5" imgW="9666667" imgH="4009524" progId="MSPhotoEd.3">
                  <p:embed/>
                </p:oleObj>
              </mc:Choice>
              <mc:Fallback>
                <p:oleObj name="Photo Editor 照片" r:id="rId5" imgW="9666667" imgH="4009524" progId="MSPhotoEd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08213"/>
                        <a:ext cx="338455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5">
            <a:extLst>
              <a:ext uri="{FF2B5EF4-FFF2-40B4-BE49-F238E27FC236}">
                <a16:creationId xmlns:a16="http://schemas.microsoft.com/office/drawing/2014/main" id="{273A379B-3AAB-F87C-ACC7-5BD99BDDC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1327150"/>
            <a:ext cx="8281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</a:pPr>
            <a:r>
              <a:rPr kumimoji="1" lang="en-US" altLang="zh-CN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集成运算放大器，简称集成运放，是一个高性能的直接耦合多级放大电路。因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首先用于信号的运算，故而得名。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47E13042-1CFE-97CC-C411-E7E7F253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2286000"/>
            <a:ext cx="417512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800"/>
              </a:lnSpc>
            </a:pP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若将集成运放看成为一个“黑盒子”，则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可等效为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双端输入、单端输出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差动放大器。</a:t>
            </a: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115209BD-6F7C-D0B8-6343-B7E6AA739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3668713"/>
            <a:ext cx="26003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16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电路符号（隐去电源端）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2E61B7-641B-9FE6-C76A-2B003FE6CC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527425"/>
            <a:ext cx="4725988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B96419B-EA8A-4C8B-9A5A-8157D6F6F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769309"/>
            <a:ext cx="4365462" cy="222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Rectangle 4">
            <a:extLst>
              <a:ext uri="{FF2B5EF4-FFF2-40B4-BE49-F238E27FC236}">
                <a16:creationId xmlns:a16="http://schemas.microsoft.com/office/drawing/2014/main" id="{FB08E915-2310-85F1-A0B4-6E6B90112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90588"/>
            <a:ext cx="77724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三、实验方法</a:t>
            </a:r>
          </a:p>
        </p:txBody>
      </p:sp>
      <p:sp>
        <p:nvSpPr>
          <p:cNvPr id="38915" name="矩形 1">
            <a:extLst>
              <a:ext uri="{FF2B5EF4-FFF2-40B4-BE49-F238E27FC236}">
                <a16:creationId xmlns:a16="http://schemas.microsoft.com/office/drawing/2014/main" id="{EF59AAEA-7D26-4C78-910D-44CE0DFC2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738" y="1022350"/>
            <a:ext cx="7680325" cy="4206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>
              <a:defRPr/>
            </a:pPr>
            <a:r>
              <a:rPr lang="en-US" altLang="zh-CN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OP07</a:t>
            </a:r>
            <a:r>
              <a:rPr lang="zh-CN" altLang="en-US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LF356</a:t>
            </a:r>
            <a:r>
              <a:rPr lang="zh-CN" altLang="en-US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TL082</a:t>
            </a:r>
            <a:r>
              <a:rPr lang="zh-CN" altLang="en-US" sz="2133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运放封装形式一样，管脚定义不同：</a:t>
            </a:r>
            <a:endParaRPr lang="zh-CN" altLang="en-US" sz="2133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916" name="矩形 8">
            <a:extLst>
              <a:ext uri="{FF2B5EF4-FFF2-40B4-BE49-F238E27FC236}">
                <a16:creationId xmlns:a16="http://schemas.microsoft.com/office/drawing/2014/main" id="{6CF00124-5EF8-4485-B1C8-0119EE16A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391" y="1776414"/>
            <a:ext cx="6684962" cy="4206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>
              <a:defRPr/>
            </a:pP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OP07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LF356</a:t>
            </a:r>
            <a:r>
              <a:rPr lang="zh-CN" altLang="en-US" sz="2133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管脚定义如下图：</a:t>
            </a:r>
            <a:endParaRPr lang="zh-CN" altLang="en-US" sz="2133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462" name="Picture 1">
            <a:extLst>
              <a:ext uri="{FF2B5EF4-FFF2-40B4-BE49-F238E27FC236}">
                <a16:creationId xmlns:a16="http://schemas.microsoft.com/office/drawing/2014/main" id="{299B86C7-F30B-AB22-19E4-E62E1CB28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2443163"/>
            <a:ext cx="1192212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0" name="矩形 8">
            <a:extLst>
              <a:ext uri="{FF2B5EF4-FFF2-40B4-BE49-F238E27FC236}">
                <a16:creationId xmlns:a16="http://schemas.microsoft.com/office/drawing/2014/main" id="{DFBFBDAD-E335-4DA5-A5D0-5CC9A8A29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0" y="4159250"/>
            <a:ext cx="3740150" cy="4206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>
              <a:defRPr/>
            </a:pPr>
            <a:r>
              <a:rPr lang="en-US" altLang="zh-CN" sz="2133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TL082</a:t>
            </a:r>
            <a:r>
              <a:rPr lang="zh-CN" altLang="en-US" sz="2133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管脚定义如下图：</a:t>
            </a:r>
            <a:endParaRPr lang="zh-CN" altLang="en-US" sz="2133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9464" name="Picture 2">
            <a:extLst>
              <a:ext uri="{FF2B5EF4-FFF2-40B4-BE49-F238E27FC236}">
                <a16:creationId xmlns:a16="http://schemas.microsoft.com/office/drawing/2014/main" id="{5A2CA01F-824C-24A6-9717-348D0795D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838" y="4075113"/>
            <a:ext cx="4545012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5" name="组合 3">
            <a:extLst>
              <a:ext uri="{FF2B5EF4-FFF2-40B4-BE49-F238E27FC236}">
                <a16:creationId xmlns:a16="http://schemas.microsoft.com/office/drawing/2014/main" id="{EF0B4618-1B12-66D1-BAD6-5CAF6470524C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4902200"/>
            <a:ext cx="1192212" cy="1182688"/>
            <a:chOff x="1085561" y="3686329"/>
            <a:chExt cx="893763" cy="887412"/>
          </a:xfrm>
        </p:grpSpPr>
        <p:pic>
          <p:nvPicPr>
            <p:cNvPr id="19466" name="Picture 1">
              <a:extLst>
                <a:ext uri="{FF2B5EF4-FFF2-40B4-BE49-F238E27FC236}">
                  <a16:creationId xmlns:a16="http://schemas.microsoft.com/office/drawing/2014/main" id="{32A61DC7-BA8F-358E-C97E-6C8D0FBC2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561" y="3686329"/>
              <a:ext cx="893763" cy="887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4" name="文本框 2">
              <a:extLst>
                <a:ext uri="{FF2B5EF4-FFF2-40B4-BE49-F238E27FC236}">
                  <a16:creationId xmlns:a16="http://schemas.microsoft.com/office/drawing/2014/main" id="{8CE5CAC4-7089-4BBC-ABE9-B36A03C4E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596" y="3884061"/>
              <a:ext cx="499841" cy="222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>
                <a:defRPr/>
              </a:pPr>
              <a:r>
                <a:rPr lang="en-US" altLang="zh-CN" sz="1333" b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TL082</a:t>
              </a:r>
              <a:endParaRPr lang="zh-CN" altLang="en-US" sz="1333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16">
            <a:extLst>
              <a:ext uri="{FF2B5EF4-FFF2-40B4-BE49-F238E27FC236}">
                <a16:creationId xmlns:a16="http://schemas.microsoft.com/office/drawing/2014/main" id="{E7F1CF2B-4A4D-DE79-7419-ED97F6ECC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8" y="3575050"/>
            <a:ext cx="250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运放工作在线性区：</a:t>
            </a:r>
            <a:endParaRPr kumimoji="1"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339" name="Object 4">
            <a:extLst>
              <a:ext uri="{FF2B5EF4-FFF2-40B4-BE49-F238E27FC236}">
                <a16:creationId xmlns:a16="http://schemas.microsoft.com/office/drawing/2014/main" id="{ADCBEF7E-A7B2-F1C9-DCCD-14B2AEA39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5388" y="1839913"/>
          <a:ext cx="335280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Photo Editor 照片" r:id="rId3" imgW="9666667" imgH="4009524" progId="MSPhotoEd.3">
                  <p:embed/>
                </p:oleObj>
              </mc:Choice>
              <mc:Fallback>
                <p:oleObj name="Photo Editor 照片" r:id="rId3" imgW="9666667" imgH="4009524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1839913"/>
                        <a:ext cx="3352800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5">
            <a:extLst>
              <a:ext uri="{FF2B5EF4-FFF2-40B4-BE49-F238E27FC236}">
                <a16:creationId xmlns:a16="http://schemas.microsoft.com/office/drawing/2014/main" id="{3E02964D-1A81-D28F-66D0-94696512C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5550" y="1436688"/>
          <a:ext cx="29718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hoto Editor 照片" r:id="rId5" imgW="9895238" imgH="8085714" progId="MSPhotoEd.3">
                  <p:embed/>
                </p:oleObj>
              </mc:Choice>
              <mc:Fallback>
                <p:oleObj name="Photo Editor 照片" r:id="rId5" imgW="9895238" imgH="8085714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436688"/>
                        <a:ext cx="2971800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11">
            <a:extLst>
              <a:ext uri="{FF2B5EF4-FFF2-40B4-BE49-F238E27FC236}">
                <a16:creationId xmlns:a16="http://schemas.microsoft.com/office/drawing/2014/main" id="{E77AA2CF-5F79-30F9-F3B5-109C2E853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1414463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O</a:t>
            </a:r>
            <a:r>
              <a:rPr kumimoji="1" lang="en-US" altLang="zh-CN" sz="2400" b="1">
                <a:solidFill>
                  <a:srgbClr val="000000"/>
                </a:solidFill>
              </a:rPr>
              <a:t>=</a:t>
            </a:r>
            <a:r>
              <a:rPr kumimoji="1" lang="en-US" altLang="zh-CN" sz="2400" b="1" i="1">
                <a:solidFill>
                  <a:srgbClr val="000000"/>
                </a:solidFill>
              </a:rPr>
              <a:t>f</a:t>
            </a:r>
            <a:r>
              <a:rPr kumimoji="1" lang="en-US" altLang="zh-CN" sz="2400" b="1">
                <a:solidFill>
                  <a:srgbClr val="000000"/>
                </a:solidFill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P</a:t>
            </a:r>
            <a:r>
              <a:rPr kumimoji="1" lang="en-US" altLang="zh-CN" sz="2400" b="1">
                <a:solidFill>
                  <a:srgbClr val="000000"/>
                </a:solidFill>
              </a:rPr>
              <a:t>-</a:t>
            </a: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</a:rPr>
              <a:t>)</a:t>
            </a:r>
          </a:p>
        </p:txBody>
      </p:sp>
      <p:grpSp>
        <p:nvGrpSpPr>
          <p:cNvPr id="14342" name="Group 7">
            <a:extLst>
              <a:ext uri="{FF2B5EF4-FFF2-40B4-BE49-F238E27FC236}">
                <a16:creationId xmlns:a16="http://schemas.microsoft.com/office/drawing/2014/main" id="{A9C79C5B-54EE-16F2-2392-21F5DBC14947}"/>
              </a:ext>
            </a:extLst>
          </p:cNvPr>
          <p:cNvGrpSpPr>
            <a:grpSpLocks/>
          </p:cNvGrpSpPr>
          <p:nvPr/>
        </p:nvGrpSpPr>
        <p:grpSpPr bwMode="auto">
          <a:xfrm>
            <a:off x="5880100" y="3271838"/>
            <a:ext cx="2587625" cy="449262"/>
            <a:chOff x="3552" y="1973"/>
            <a:chExt cx="1509" cy="283"/>
          </a:xfrm>
        </p:grpSpPr>
        <p:sp>
          <p:nvSpPr>
            <p:cNvPr id="14349" name="AutoShape 8">
              <a:extLst>
                <a:ext uri="{FF2B5EF4-FFF2-40B4-BE49-F238E27FC236}">
                  <a16:creationId xmlns:a16="http://schemas.microsoft.com/office/drawing/2014/main" id="{49658F5C-D8DC-B6F6-7824-991FB646A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973"/>
              <a:ext cx="615" cy="217"/>
            </a:xfrm>
            <a:prstGeom prst="borderCallout1">
              <a:avLst>
                <a:gd name="adj1" fmla="val 41162"/>
                <a:gd name="adj2" fmla="val -1333"/>
                <a:gd name="adj3" fmla="val -424134"/>
                <a:gd name="adj4" fmla="val -41935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饱和区</a:t>
              </a:r>
            </a:p>
          </p:txBody>
        </p:sp>
        <p:sp>
          <p:nvSpPr>
            <p:cNvPr id="14350" name="Line 9">
              <a:extLst>
                <a:ext uri="{FF2B5EF4-FFF2-40B4-BE49-F238E27FC236}">
                  <a16:creationId xmlns:a16="http://schemas.microsoft.com/office/drawing/2014/main" id="{56BE6670-6EFD-D7A5-9494-4AF6996BB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103"/>
              <a:ext cx="894" cy="1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3" name="矩形标注 10">
            <a:extLst>
              <a:ext uri="{FF2B5EF4-FFF2-40B4-BE49-F238E27FC236}">
                <a16:creationId xmlns:a16="http://schemas.microsoft.com/office/drawing/2014/main" id="{1EE9FF60-133A-4A26-0227-3E2C1DA2E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2035175"/>
            <a:ext cx="1133475" cy="369888"/>
          </a:xfrm>
          <a:prstGeom prst="wedgeRectCallout">
            <a:avLst>
              <a:gd name="adj1" fmla="val 68324"/>
              <a:gd name="adj2" fmla="val 194546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线性区</a:t>
            </a:r>
          </a:p>
        </p:txBody>
      </p:sp>
      <p:pic>
        <p:nvPicPr>
          <p:cNvPr id="12" name="Picture 2" descr="Dz070102">
            <a:extLst>
              <a:ext uri="{FF2B5EF4-FFF2-40B4-BE49-F238E27FC236}">
                <a16:creationId xmlns:a16="http://schemas.microsoft.com/office/drawing/2014/main" id="{01D9D88F-7228-8005-C728-8EC260B3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4240213"/>
            <a:ext cx="2971800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7">
            <a:extLst>
              <a:ext uri="{FF2B5EF4-FFF2-40B4-BE49-F238E27FC236}">
                <a16:creationId xmlns:a16="http://schemas.microsoft.com/office/drawing/2014/main" id="{D423A6AE-78A5-4627-E669-79A3DFE7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5099050"/>
            <a:ext cx="4754563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kumimoji="1"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工作在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线性区</a:t>
            </a:r>
            <a:r>
              <a:rPr kumimoji="1"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电路特征：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eaLnBrk="1" hangingPunct="1">
              <a:lnSpc>
                <a:spcPts val="3200"/>
              </a:lnSpc>
            </a:pP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kumimoji="1"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6" name="Text Box 6">
            <a:extLst>
              <a:ext uri="{FF2B5EF4-FFF2-40B4-BE49-F238E27FC236}">
                <a16:creationId xmlns:a16="http://schemas.microsoft.com/office/drawing/2014/main" id="{A7D6769C-3D29-70CD-2128-5F9C78B30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3956050"/>
            <a:ext cx="372745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i="1">
                <a:solidFill>
                  <a:srgbClr val="FF0000"/>
                </a:solidFill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</a:rPr>
              <a:t>P</a:t>
            </a:r>
            <a:r>
              <a:rPr kumimoji="1" lang="zh-CN" altLang="en-US" sz="2400" b="1">
                <a:solidFill>
                  <a:srgbClr val="FF0000"/>
                </a:solidFill>
              </a:rPr>
              <a:t>＝ </a:t>
            </a:r>
            <a:r>
              <a:rPr kumimoji="1" lang="en-US" altLang="zh-CN" sz="2400" b="1" i="1">
                <a:solidFill>
                  <a:srgbClr val="FF0000"/>
                </a:solidFill>
              </a:rPr>
              <a:t>u</a:t>
            </a:r>
            <a:r>
              <a:rPr kumimoji="1" lang="en-US" altLang="zh-CN" sz="2400" b="1" i="1" baseline="-25000">
                <a:solidFill>
                  <a:srgbClr val="FF0000"/>
                </a:solidFill>
              </a:rPr>
              <a:t>N</a:t>
            </a:r>
            <a:r>
              <a:rPr kumimoji="1" lang="en-US" altLang="zh-CN" sz="2400" b="1">
                <a:solidFill>
                  <a:srgbClr val="FF0000"/>
                </a:solidFill>
              </a:rPr>
              <a:t>        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</a:t>
            </a:r>
            <a:r>
              <a:rPr kumimoji="1"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  <a:endParaRPr kumimoji="1" lang="zh-CN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7" name="Text Box 6">
            <a:extLst>
              <a:ext uri="{FF2B5EF4-FFF2-40B4-BE49-F238E27FC236}">
                <a16:creationId xmlns:a16="http://schemas.microsoft.com/office/drawing/2014/main" id="{FE3CC6B4-9526-EF47-20C8-98F44CF1C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4483100"/>
            <a:ext cx="362426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i="1">
                <a:solidFill>
                  <a:srgbClr val="FF0000"/>
                </a:solidFill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</a:rPr>
              <a:t>P</a:t>
            </a:r>
            <a:r>
              <a:rPr kumimoji="1" lang="zh-CN" altLang="en-US" sz="2400" b="1">
                <a:solidFill>
                  <a:srgbClr val="FF0000"/>
                </a:solidFill>
              </a:rPr>
              <a:t>＝ </a:t>
            </a:r>
            <a:r>
              <a:rPr kumimoji="1" lang="en-US" altLang="zh-CN" sz="2400" b="1" i="1">
                <a:solidFill>
                  <a:srgbClr val="FF0000"/>
                </a:solidFill>
              </a:rPr>
              <a:t>i</a:t>
            </a:r>
            <a:r>
              <a:rPr kumimoji="1" lang="en-US" altLang="zh-CN" sz="2400" b="1" i="1" baseline="-25000">
                <a:solidFill>
                  <a:srgbClr val="FF0000"/>
                </a:solidFill>
              </a:rPr>
              <a:t>N</a:t>
            </a:r>
            <a:r>
              <a:rPr kumimoji="1" lang="en-US" altLang="zh-CN" sz="2400" b="1">
                <a:solidFill>
                  <a:srgbClr val="FF0000"/>
                </a:solidFill>
              </a:rPr>
              <a:t> </a:t>
            </a:r>
            <a:r>
              <a:rPr kumimoji="1" lang="zh-CN" altLang="en-US" sz="2400" b="1">
                <a:solidFill>
                  <a:srgbClr val="FF0000"/>
                </a:solidFill>
              </a:rPr>
              <a:t>＝</a:t>
            </a:r>
            <a:r>
              <a:rPr kumimoji="1" lang="en-US" altLang="zh-CN" sz="2400" b="1">
                <a:solidFill>
                  <a:srgbClr val="FF0000"/>
                </a:solidFill>
              </a:rPr>
              <a:t>0   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虚断路</a:t>
            </a:r>
            <a:endParaRPr kumimoji="1" lang="zh-CN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8" name="文本框 15">
            <a:extLst>
              <a:ext uri="{FF2B5EF4-FFF2-40B4-BE49-F238E27FC236}">
                <a16:creationId xmlns:a16="http://schemas.microsoft.com/office/drawing/2014/main" id="{C77BA895-4449-4518-2870-3147533EE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954838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运算放大器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6">
            <a:extLst>
              <a:ext uri="{FF2B5EF4-FFF2-40B4-BE49-F238E27FC236}">
                <a16:creationId xmlns:a16="http://schemas.microsoft.com/office/drawing/2014/main" id="{39D48B73-97E6-731D-DB89-622AC64BB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8" y="3575050"/>
            <a:ext cx="250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运放工作在饱和区：</a:t>
            </a:r>
            <a:endParaRPr kumimoji="1"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E17A5316-2F46-8C8F-6A68-1EDD45897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5388" y="1839913"/>
          <a:ext cx="335280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hoto Editor 照片" r:id="rId3" imgW="9666667" imgH="4009524" progId="MSPhotoEd.3">
                  <p:embed/>
                </p:oleObj>
              </mc:Choice>
              <mc:Fallback>
                <p:oleObj name="Photo Editor 照片" r:id="rId3" imgW="9666667" imgH="4009524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1839913"/>
                        <a:ext cx="3352800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5">
            <a:extLst>
              <a:ext uri="{FF2B5EF4-FFF2-40B4-BE49-F238E27FC236}">
                <a16:creationId xmlns:a16="http://schemas.microsoft.com/office/drawing/2014/main" id="{E6D1B668-2359-F964-7E6B-895A19A389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5550" y="1436688"/>
          <a:ext cx="29718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Photo Editor 照片" r:id="rId5" imgW="9895238" imgH="8085714" progId="MSPhotoEd.3">
                  <p:embed/>
                </p:oleObj>
              </mc:Choice>
              <mc:Fallback>
                <p:oleObj name="Photo Editor 照片" r:id="rId5" imgW="9895238" imgH="8085714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436688"/>
                        <a:ext cx="2971800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11">
            <a:extLst>
              <a:ext uri="{FF2B5EF4-FFF2-40B4-BE49-F238E27FC236}">
                <a16:creationId xmlns:a16="http://schemas.microsoft.com/office/drawing/2014/main" id="{460C9BDE-088F-E966-41B5-11730D3D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1414463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O</a:t>
            </a:r>
            <a:r>
              <a:rPr kumimoji="1" lang="en-US" altLang="zh-CN" sz="2400" b="1">
                <a:solidFill>
                  <a:srgbClr val="000000"/>
                </a:solidFill>
              </a:rPr>
              <a:t>=</a:t>
            </a:r>
            <a:r>
              <a:rPr kumimoji="1" lang="en-US" altLang="zh-CN" sz="2400" b="1" i="1">
                <a:solidFill>
                  <a:srgbClr val="000000"/>
                </a:solidFill>
              </a:rPr>
              <a:t>f</a:t>
            </a:r>
            <a:r>
              <a:rPr kumimoji="1" lang="en-US" altLang="zh-CN" sz="2400" b="1">
                <a:solidFill>
                  <a:srgbClr val="000000"/>
                </a:solidFill>
              </a:rPr>
              <a:t>(</a:t>
            </a: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P</a:t>
            </a:r>
            <a:r>
              <a:rPr kumimoji="1" lang="en-US" altLang="zh-CN" sz="2400" b="1">
                <a:solidFill>
                  <a:srgbClr val="000000"/>
                </a:solidFill>
              </a:rPr>
              <a:t>-</a:t>
            </a:r>
            <a:r>
              <a:rPr kumimoji="1" lang="en-US" altLang="zh-CN" sz="2400" b="1" i="1">
                <a:solidFill>
                  <a:srgbClr val="000000"/>
                </a:solidFill>
              </a:rPr>
              <a:t>u</a:t>
            </a:r>
            <a:r>
              <a:rPr kumimoji="1" lang="en-US" altLang="zh-CN" sz="2400" b="1" baseline="-25000">
                <a:solidFill>
                  <a:srgbClr val="000000"/>
                </a:solidFill>
              </a:rPr>
              <a:t>N</a:t>
            </a:r>
            <a:r>
              <a:rPr kumimoji="1" lang="en-US" altLang="zh-CN" sz="2400" b="1">
                <a:solidFill>
                  <a:srgbClr val="000000"/>
                </a:solidFill>
              </a:rPr>
              <a:t>)</a:t>
            </a:r>
          </a:p>
        </p:txBody>
      </p:sp>
      <p:grpSp>
        <p:nvGrpSpPr>
          <p:cNvPr id="15366" name="Group 7">
            <a:extLst>
              <a:ext uri="{FF2B5EF4-FFF2-40B4-BE49-F238E27FC236}">
                <a16:creationId xmlns:a16="http://schemas.microsoft.com/office/drawing/2014/main" id="{E7BD4F4B-A636-0503-E063-2B7253D05C1E}"/>
              </a:ext>
            </a:extLst>
          </p:cNvPr>
          <p:cNvGrpSpPr>
            <a:grpSpLocks/>
          </p:cNvGrpSpPr>
          <p:nvPr/>
        </p:nvGrpSpPr>
        <p:grpSpPr bwMode="auto">
          <a:xfrm>
            <a:off x="5880100" y="3271838"/>
            <a:ext cx="2587625" cy="449262"/>
            <a:chOff x="3552" y="1973"/>
            <a:chExt cx="1509" cy="283"/>
          </a:xfrm>
        </p:grpSpPr>
        <p:sp>
          <p:nvSpPr>
            <p:cNvPr id="15372" name="AutoShape 8">
              <a:extLst>
                <a:ext uri="{FF2B5EF4-FFF2-40B4-BE49-F238E27FC236}">
                  <a16:creationId xmlns:a16="http://schemas.microsoft.com/office/drawing/2014/main" id="{265330CA-8F52-A781-C9A2-D6B63AA28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1973"/>
              <a:ext cx="615" cy="217"/>
            </a:xfrm>
            <a:prstGeom prst="borderCallout1">
              <a:avLst>
                <a:gd name="adj1" fmla="val 41162"/>
                <a:gd name="adj2" fmla="val -1333"/>
                <a:gd name="adj3" fmla="val -424134"/>
                <a:gd name="adj4" fmla="val -41935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饱和区</a:t>
              </a:r>
            </a:p>
          </p:txBody>
        </p:sp>
        <p:sp>
          <p:nvSpPr>
            <p:cNvPr id="15373" name="Line 9">
              <a:extLst>
                <a:ext uri="{FF2B5EF4-FFF2-40B4-BE49-F238E27FC236}">
                  <a16:creationId xmlns:a16="http://schemas.microsoft.com/office/drawing/2014/main" id="{7D992F34-76CE-77BC-6002-1B0CBA09E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103"/>
              <a:ext cx="894" cy="1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7" name="矩形标注 10">
            <a:extLst>
              <a:ext uri="{FF2B5EF4-FFF2-40B4-BE49-F238E27FC236}">
                <a16:creationId xmlns:a16="http://schemas.microsoft.com/office/drawing/2014/main" id="{3D55311F-3DA6-0AF1-D95C-85E45485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2035175"/>
            <a:ext cx="1133475" cy="369888"/>
          </a:xfrm>
          <a:prstGeom prst="wedgeRectCallout">
            <a:avLst>
              <a:gd name="adj1" fmla="val 68324"/>
              <a:gd name="adj2" fmla="val 194546"/>
            </a:avLst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线性区</a:t>
            </a:r>
          </a:p>
        </p:txBody>
      </p:sp>
      <p:sp>
        <p:nvSpPr>
          <p:cNvPr id="15368" name="文本框 15">
            <a:extLst>
              <a:ext uri="{FF2B5EF4-FFF2-40B4-BE49-F238E27FC236}">
                <a16:creationId xmlns:a16="http://schemas.microsoft.com/office/drawing/2014/main" id="{50097B01-D747-861B-4921-D8E29FAC3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663575"/>
            <a:ext cx="6008688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运算放大器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33D0BA9F-F26E-2823-1DEB-824E4F3C2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4064000"/>
            <a:ext cx="6229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电路特征：集成运放处于开环或仅引入正反馈</a:t>
            </a:r>
          </a:p>
        </p:txBody>
      </p:sp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6B5BAFB2-1EDC-6EA5-A48E-8F541A3BB1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788" y="4541838"/>
          <a:ext cx="4994275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Photo Editor 照片" r:id="rId7" imgW="19323810" imgH="6066667" progId="MSPhotoEd.3">
                  <p:embed/>
                </p:oleObj>
              </mc:Choice>
              <mc:Fallback>
                <p:oleObj name="Photo Editor 照片" r:id="rId7" imgW="19323810" imgH="6066667" progId="MSPhotoEd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4541838"/>
                        <a:ext cx="4994275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">
            <a:extLst>
              <a:ext uri="{FF2B5EF4-FFF2-40B4-BE49-F238E27FC236}">
                <a16:creationId xmlns:a16="http://schemas.microsoft.com/office/drawing/2014/main" id="{131AE5A0-B4E2-4084-E20C-7211A9F3D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4606925"/>
            <a:ext cx="3121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1) </a:t>
            </a:r>
            <a:r>
              <a:rPr kumimoji="1" lang="zh-CN" altLang="en-US" sz="2000" b="1">
                <a:solidFill>
                  <a:srgbClr val="000000"/>
                </a:solidFill>
                <a:ea typeface="黑体" panose="02010609060101010101" pitchFamily="49" charset="-122"/>
              </a:rPr>
              <a:t>净输入电流为</a:t>
            </a:r>
            <a:r>
              <a:rPr kumimoji="1" lang="en-US" altLang="zh-CN" sz="2000" b="1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en-US" altLang="zh-CN" sz="2000" b="1">
                <a:ea typeface="黑体" panose="02010609060101010101" pitchFamily="49" charset="-122"/>
              </a:rPr>
              <a:t>2)</a:t>
            </a:r>
            <a:r>
              <a:rPr kumimoji="1" lang="en-US" altLang="zh-CN" sz="2000" b="1">
                <a:solidFill>
                  <a:srgbClr val="3333FF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P</a:t>
            </a:r>
            <a:r>
              <a:rPr kumimoji="1" lang="en-US" altLang="zh-CN" sz="2000" b="1">
                <a:solidFill>
                  <a:srgbClr val="3333FF"/>
                </a:solidFill>
                <a:ea typeface="黑体" panose="02010609060101010101" pitchFamily="49" charset="-122"/>
              </a:rPr>
              <a:t>&gt;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N</a:t>
            </a:r>
            <a:r>
              <a:rPr kumimoji="1" lang="zh-CN" altLang="zh-CN" sz="2000" b="1">
                <a:solidFill>
                  <a:srgbClr val="3333FF"/>
                </a:solidFill>
                <a:ea typeface="黑体" panose="02010609060101010101" pitchFamily="49" charset="-122"/>
              </a:rPr>
              <a:t>时，</a:t>
            </a:r>
            <a:r>
              <a:rPr kumimoji="1" lang="zh-CN" altLang="en-US" sz="2000" b="1">
                <a:solidFill>
                  <a:srgbClr val="3333FF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O</a:t>
            </a:r>
            <a:r>
              <a:rPr kumimoji="1" lang="zh-CN" altLang="en-US" sz="2000" b="1">
                <a:solidFill>
                  <a:srgbClr val="3333FF"/>
                </a:solidFill>
                <a:ea typeface="黑体" panose="02010609060101010101" pitchFamily="49" charset="-122"/>
              </a:rPr>
              <a:t>＝＋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OM      </a:t>
            </a:r>
          </a:p>
          <a:p>
            <a:pPr>
              <a:lnSpc>
                <a:spcPct val="120000"/>
              </a:lnSpc>
            </a:pP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     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P</a:t>
            </a:r>
            <a:r>
              <a:rPr kumimoji="1" lang="en-US" altLang="zh-CN" sz="2000" b="1">
                <a:solidFill>
                  <a:srgbClr val="3333FF"/>
                </a:solidFill>
                <a:ea typeface="黑体" panose="02010609060101010101" pitchFamily="49" charset="-122"/>
              </a:rPr>
              <a:t>&lt;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N</a:t>
            </a:r>
            <a:r>
              <a:rPr kumimoji="1" lang="zh-CN" altLang="zh-CN" sz="2000" b="1">
                <a:solidFill>
                  <a:srgbClr val="3333FF"/>
                </a:solidFill>
                <a:ea typeface="黑体" panose="02010609060101010101" pitchFamily="49" charset="-122"/>
              </a:rPr>
              <a:t>时，</a:t>
            </a:r>
            <a:r>
              <a:rPr kumimoji="1" lang="zh-CN" altLang="en-US" sz="2000" b="1">
                <a:solidFill>
                  <a:srgbClr val="3333FF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O</a:t>
            </a:r>
            <a:r>
              <a:rPr kumimoji="1" lang="zh-CN" altLang="en-US" sz="2000" b="1">
                <a:solidFill>
                  <a:srgbClr val="3333FF"/>
                </a:solidFill>
                <a:ea typeface="黑体" panose="02010609060101010101" pitchFamily="49" charset="-122"/>
              </a:rPr>
              <a:t>＝－</a:t>
            </a:r>
            <a:r>
              <a:rPr kumimoji="1" lang="en-US" altLang="zh-CN" sz="2000" b="1" i="1">
                <a:solidFill>
                  <a:srgbClr val="3333FF"/>
                </a:solidFill>
                <a:ea typeface="黑体" panose="02010609060101010101" pitchFamily="49" charset="-122"/>
              </a:rPr>
              <a:t>U</a:t>
            </a:r>
            <a:r>
              <a:rPr kumimoji="1" lang="en-US" altLang="zh-CN" sz="2000" b="1" baseline="-25000">
                <a:solidFill>
                  <a:srgbClr val="3333FF"/>
                </a:solidFill>
                <a:ea typeface="黑体" panose="02010609060101010101" pitchFamily="49" charset="-122"/>
              </a:rPr>
              <a:t>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2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4">
            <a:extLst>
              <a:ext uri="{FF2B5EF4-FFF2-40B4-BE49-F238E27FC236}">
                <a16:creationId xmlns:a16="http://schemas.microsoft.com/office/drawing/2014/main" id="{6CE428E5-DF14-FFDF-C217-338955D0A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3906838"/>
            <a:ext cx="15843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理想输出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4FC503EF-C051-4EF1-9FD3-197421D0BD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0613" y="1241425"/>
            <a:ext cx="0" cy="165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2A361D4-EEB5-4439-B0B0-57B3101CEBE4}"/>
              </a:ext>
            </a:extLst>
          </p:cNvPr>
          <p:cNvSpPr>
            <a:spLocks/>
          </p:cNvSpPr>
          <p:nvPr/>
        </p:nvSpPr>
        <p:spPr bwMode="auto">
          <a:xfrm>
            <a:off x="6170613" y="1501775"/>
            <a:ext cx="1196975" cy="1233488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8100" cap="flat" cmpd="sng" algn="ctr">
            <a:solidFill>
              <a:srgbClr val="FFC000"/>
            </a:solidFill>
            <a:prstDash val="solid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000000"/>
              </a:solidFill>
              <a:latin typeface="Calibri"/>
              <a:ea typeface="宋体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EE2DB1DD-39D7-45C4-A06B-0C845CCEB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2139950"/>
            <a:ext cx="2728912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0" name="Text Box 36">
            <a:extLst>
              <a:ext uri="{FF2B5EF4-FFF2-40B4-BE49-F238E27FC236}">
                <a16:creationId xmlns:a16="http://schemas.microsoft.com/office/drawing/2014/main" id="{158AE994-43F8-4DE3-962E-E5954C7FB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1050925"/>
            <a:ext cx="50323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4D0D0A97-3E25-46C8-93D8-B0EC03327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3950" y="1835150"/>
            <a:ext cx="292100" cy="2968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540B56-C3C0-4584-B6CA-37F5D94C4874}"/>
              </a:ext>
            </a:extLst>
          </p:cNvPr>
          <p:cNvSpPr>
            <a:spLocks/>
          </p:cNvSpPr>
          <p:nvPr/>
        </p:nvSpPr>
        <p:spPr bwMode="auto">
          <a:xfrm>
            <a:off x="7366000" y="1501775"/>
            <a:ext cx="1196975" cy="1233488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8100" cap="flat" cmpd="sng" algn="ctr">
            <a:solidFill>
              <a:srgbClr val="FFC000"/>
            </a:solidFill>
            <a:prstDash val="solid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000000"/>
              </a:solidFill>
              <a:latin typeface="Calibri"/>
              <a:ea typeface="宋体"/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1E8FBC37-275E-49EA-841D-BA10E004D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0613" y="4373563"/>
            <a:ext cx="612775" cy="3175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65AC5246-8D70-4563-86C9-7C0742BF8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3388" y="3252788"/>
            <a:ext cx="609600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654B8F74-8B23-4BFA-B7FE-24FB0BB1E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1563" y="3255963"/>
            <a:ext cx="636587" cy="3175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000000"/>
              </a:solidFill>
              <a:latin typeface="Calibri"/>
              <a:ea typeface="宋体"/>
            </a:endParaRP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FE25F459-41AB-429A-8DC3-C6D8F57C0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825" y="4111625"/>
            <a:ext cx="73183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158AF559-353D-44A8-86CE-BFCEEB5606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9338" y="4371975"/>
            <a:ext cx="596900" cy="1588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Line 46">
            <a:extLst>
              <a:ext uri="{FF2B5EF4-FFF2-40B4-BE49-F238E27FC236}">
                <a16:creationId xmlns:a16="http://schemas.microsoft.com/office/drawing/2014/main" id="{2B3D850E-0852-4662-A97A-A97026970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3388" y="3249613"/>
            <a:ext cx="9525" cy="1139825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8398C26E-24B4-4593-8241-C15559C94C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2916238"/>
            <a:ext cx="0" cy="165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Line 9">
            <a:extLst>
              <a:ext uri="{FF2B5EF4-FFF2-40B4-BE49-F238E27FC236}">
                <a16:creationId xmlns:a16="http://schemas.microsoft.com/office/drawing/2014/main" id="{67B5F3BE-9B50-492C-8113-C0DC8E65C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0" y="3814763"/>
            <a:ext cx="272891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1" name="Text Box 36">
            <a:extLst>
              <a:ext uri="{FF2B5EF4-FFF2-40B4-BE49-F238E27FC236}">
                <a16:creationId xmlns:a16="http://schemas.microsoft.com/office/drawing/2014/main" id="{6E97E3DE-DC7D-4C74-8CD1-9CCB310D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7238" y="2725738"/>
            <a:ext cx="50323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22" name="Text Box 36">
            <a:extLst>
              <a:ext uri="{FF2B5EF4-FFF2-40B4-BE49-F238E27FC236}">
                <a16:creationId xmlns:a16="http://schemas.microsoft.com/office/drawing/2014/main" id="{760ED077-FE07-457A-8AB1-E1F79EDFA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0" y="3509963"/>
            <a:ext cx="290513" cy="2968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16403" name="直接连接符 4">
            <a:extLst>
              <a:ext uri="{FF2B5EF4-FFF2-40B4-BE49-F238E27FC236}">
                <a16:creationId xmlns:a16="http://schemas.microsoft.com/office/drawing/2014/main" id="{78BCAE11-BEDD-8901-DF1F-CA9A63CEF6C7}"/>
              </a:ext>
            </a:extLst>
          </p:cNvPr>
          <p:cNvCxnSpPr>
            <a:cxnSpLocks noChangeShapeType="1"/>
            <a:endCxn id="36" idx="1"/>
          </p:cNvCxnSpPr>
          <p:nvPr/>
        </p:nvCxnSpPr>
        <p:spPr bwMode="auto">
          <a:xfrm>
            <a:off x="6783388" y="2130425"/>
            <a:ext cx="0" cy="3989388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直接连接符 63">
            <a:extLst>
              <a:ext uri="{FF2B5EF4-FFF2-40B4-BE49-F238E27FC236}">
                <a16:creationId xmlns:a16="http://schemas.microsoft.com/office/drawing/2014/main" id="{829D8B7C-7835-BAC8-E507-2CE482CC29B2}"/>
              </a:ext>
            </a:extLst>
          </p:cNvPr>
          <p:cNvCxnSpPr>
            <a:cxnSpLocks noChangeShapeType="1"/>
            <a:endCxn id="41" idx="0"/>
          </p:cNvCxnSpPr>
          <p:nvPr/>
        </p:nvCxnSpPr>
        <p:spPr bwMode="auto">
          <a:xfrm>
            <a:off x="7392988" y="2130425"/>
            <a:ext cx="15875" cy="2860675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5" name="直接连接符 64">
            <a:extLst>
              <a:ext uri="{FF2B5EF4-FFF2-40B4-BE49-F238E27FC236}">
                <a16:creationId xmlns:a16="http://schemas.microsoft.com/office/drawing/2014/main" id="{E6FFCA18-5D20-D45A-4F21-71C01F73CC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83538" y="2139950"/>
            <a:ext cx="17462" cy="3979863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Line 46">
            <a:extLst>
              <a:ext uri="{FF2B5EF4-FFF2-40B4-BE49-F238E27FC236}">
                <a16:creationId xmlns:a16="http://schemas.microsoft.com/office/drawing/2014/main" id="{F6FD66DF-DE76-4103-9015-A1B24931A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9338" y="3232150"/>
            <a:ext cx="9525" cy="1139825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7" name="Line 46">
            <a:extLst>
              <a:ext uri="{FF2B5EF4-FFF2-40B4-BE49-F238E27FC236}">
                <a16:creationId xmlns:a16="http://schemas.microsoft.com/office/drawing/2014/main" id="{0A9B684A-1F44-4EBF-9A63-6DAFA9469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713" y="3232150"/>
            <a:ext cx="14287" cy="115570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8" name="Line 16">
            <a:extLst>
              <a:ext uri="{FF2B5EF4-FFF2-40B4-BE49-F238E27FC236}">
                <a16:creationId xmlns:a16="http://schemas.microsoft.com/office/drawing/2014/main" id="{C1AF9665-6A0D-4B39-989A-DEC74212C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3538" y="3249613"/>
            <a:ext cx="609600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7A4CE80B-3AB9-4277-9581-295635AFD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2997200"/>
            <a:ext cx="61753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58A83FF2-39B1-4D8C-A512-1B9A4FDD2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8" y="5611813"/>
            <a:ext cx="1584325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lnSpc>
                <a:spcPts val="2400"/>
              </a:lnSpc>
              <a:spcBef>
                <a:spcPct val="500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zh-CN" altLang="en-US" sz="18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实际输出</a:t>
            </a:r>
          </a:p>
        </p:txBody>
      </p:sp>
      <p:sp>
        <p:nvSpPr>
          <p:cNvPr id="32" name="Line 16">
            <a:extLst>
              <a:ext uri="{FF2B5EF4-FFF2-40B4-BE49-F238E27FC236}">
                <a16:creationId xmlns:a16="http://schemas.microsoft.com/office/drawing/2014/main" id="{93DBBA13-28B3-4E91-994A-31AF2A81C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6125" y="5003800"/>
            <a:ext cx="312738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4" name="Text Box 22">
            <a:extLst>
              <a:ext uri="{FF2B5EF4-FFF2-40B4-BE49-F238E27FC236}">
                <a16:creationId xmlns:a16="http://schemas.microsoft.com/office/drawing/2014/main" id="{AB74BA39-3B54-4570-B845-1B146763C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5853113"/>
            <a:ext cx="731837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36" name="Line 46">
            <a:extLst>
              <a:ext uri="{FF2B5EF4-FFF2-40B4-BE49-F238E27FC236}">
                <a16:creationId xmlns:a16="http://schemas.microsoft.com/office/drawing/2014/main" id="{F6DCC65C-57C1-421E-A9EF-F0FA752722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3388" y="4991100"/>
            <a:ext cx="301625" cy="1128713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7" name="Line 6">
            <a:extLst>
              <a:ext uri="{FF2B5EF4-FFF2-40B4-BE49-F238E27FC236}">
                <a16:creationId xmlns:a16="http://schemas.microsoft.com/office/drawing/2014/main" id="{F882DCA2-83F4-43AB-A5B4-3509C5D3F5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0613" y="4657725"/>
            <a:ext cx="0" cy="165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72ECAA2D-6677-4D20-B569-EBD445142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5556250"/>
            <a:ext cx="2728912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2127B434-0407-47D9-B876-0913FA5D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4467225"/>
            <a:ext cx="50323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DA5FB9D4-905D-4A3A-A2B4-1B067916A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538" y="5251450"/>
            <a:ext cx="290512" cy="2968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" name="Line 46">
            <a:extLst>
              <a:ext uri="{FF2B5EF4-FFF2-40B4-BE49-F238E27FC236}">
                <a16:creationId xmlns:a16="http://schemas.microsoft.com/office/drawing/2014/main" id="{0B54DAA3-9C51-4672-B9D5-DCCD3AB4C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8863" y="4991100"/>
            <a:ext cx="277812" cy="1116013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2" name="Line 46">
            <a:extLst>
              <a:ext uri="{FF2B5EF4-FFF2-40B4-BE49-F238E27FC236}">
                <a16:creationId xmlns:a16="http://schemas.microsoft.com/office/drawing/2014/main" id="{05AA85F3-0D95-4E55-8509-1C50CAF9C1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96238" y="5018088"/>
            <a:ext cx="306387" cy="1101725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4" name="Text Box 22">
            <a:extLst>
              <a:ext uri="{FF2B5EF4-FFF2-40B4-BE49-F238E27FC236}">
                <a16:creationId xmlns:a16="http://schemas.microsoft.com/office/drawing/2014/main" id="{949A4235-5123-40E0-8723-7775D8F8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463" y="4738688"/>
            <a:ext cx="617537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51" name="Line 16">
            <a:extLst>
              <a:ext uri="{FF2B5EF4-FFF2-40B4-BE49-F238E27FC236}">
                <a16:creationId xmlns:a16="http://schemas.microsoft.com/office/drawing/2014/main" id="{E0EC6A78-25C5-43F6-B8C5-16191243A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6107113"/>
            <a:ext cx="312737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52" name="Line 46">
            <a:extLst>
              <a:ext uri="{FF2B5EF4-FFF2-40B4-BE49-F238E27FC236}">
                <a16:creationId xmlns:a16="http://schemas.microsoft.com/office/drawing/2014/main" id="{554F3D9D-5D08-49C6-A7C4-46AD459A4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6963" y="5000625"/>
            <a:ext cx="276225" cy="1116013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54" name="Line 16">
            <a:extLst>
              <a:ext uri="{FF2B5EF4-FFF2-40B4-BE49-F238E27FC236}">
                <a16:creationId xmlns:a16="http://schemas.microsoft.com/office/drawing/2014/main" id="{C26FEDB8-5822-4766-8702-B2ADBB3B8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6110288"/>
            <a:ext cx="312738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pic>
        <p:nvPicPr>
          <p:cNvPr id="16424" name="Picture 4">
            <a:extLst>
              <a:ext uri="{FF2B5EF4-FFF2-40B4-BE49-F238E27FC236}">
                <a16:creationId xmlns:a16="http://schemas.microsoft.com/office/drawing/2014/main" id="{70888D26-BB56-0C41-2642-CEF9F3F11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1190625"/>
            <a:ext cx="31908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425" name="TextBox 4">
            <a:extLst>
              <a:ext uri="{FF2B5EF4-FFF2-40B4-BE49-F238E27FC236}">
                <a16:creationId xmlns:a16="http://schemas.microsoft.com/office/drawing/2014/main" id="{64D4EE88-3352-7783-AE3D-7478E5C6C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75" y="2614613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测试电路</a:t>
            </a:r>
          </a:p>
        </p:txBody>
      </p:sp>
      <p:sp>
        <p:nvSpPr>
          <p:cNvPr id="16426" name="文本框 46">
            <a:extLst>
              <a:ext uri="{FF2B5EF4-FFF2-40B4-BE49-F238E27FC236}">
                <a16:creationId xmlns:a16="http://schemas.microsoft.com/office/drawing/2014/main" id="{E133F91F-0211-1956-2FAD-28673D73B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588" y="692150"/>
            <a:ext cx="6954837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运算放大器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37D919A-2049-44EA-9A5F-3C34A2DEBDAA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3838" y="3621713"/>
            <a:ext cx="5406478" cy="461665"/>
          </a:xfrm>
          <a:prstGeom prst="rect">
            <a:avLst/>
          </a:prstGeom>
          <a:blipFill>
            <a:blip r:embed="rId4"/>
            <a:stretch>
              <a:fillRect l="-225" b="-1315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0EC1603-05BC-4BEC-8C7F-0D684728A2E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2551" y="4112072"/>
            <a:ext cx="5406478" cy="1703030"/>
          </a:xfrm>
          <a:prstGeom prst="rect">
            <a:avLst/>
          </a:prstGeom>
          <a:blipFill>
            <a:blip r:embed="rId5"/>
            <a:stretch>
              <a:fillRect l="-101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3" name="TextBox 4">
            <a:extLst>
              <a:ext uri="{FF2B5EF4-FFF2-40B4-BE49-F238E27FC236}">
                <a16:creationId xmlns:a16="http://schemas.microsoft.com/office/drawing/2014/main" id="{2F47D2D0-7C0F-1F22-3B96-8CE63F578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049588"/>
            <a:ext cx="1223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为什么？</a:t>
            </a:r>
          </a:p>
        </p:txBody>
      </p:sp>
      <p:cxnSp>
        <p:nvCxnSpPr>
          <p:cNvPr id="46" name="直接连接符 4">
            <a:extLst>
              <a:ext uri="{FF2B5EF4-FFF2-40B4-BE49-F238E27FC236}">
                <a16:creationId xmlns:a16="http://schemas.microsoft.com/office/drawing/2014/main" id="{B677AB22-E2EA-4283-941F-C2B510A9D4B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4653" y="4146551"/>
            <a:ext cx="14288" cy="2287587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63">
            <a:extLst>
              <a:ext uri="{FF2B5EF4-FFF2-40B4-BE49-F238E27FC236}">
                <a16:creationId xmlns:a16="http://schemas.microsoft.com/office/drawing/2014/main" id="{F3EC5BB9-C5EE-4240-B859-C6975C1A9FB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23000" y="4991100"/>
            <a:ext cx="2166937" cy="0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连接符 4">
            <a:extLst>
              <a:ext uri="{FF2B5EF4-FFF2-40B4-BE49-F238E27FC236}">
                <a16:creationId xmlns:a16="http://schemas.microsoft.com/office/drawing/2014/main" id="{4954B0F6-907C-43B5-ABA0-F05FEA3282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41" y="4140201"/>
            <a:ext cx="11113" cy="2293937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63">
            <a:extLst>
              <a:ext uri="{FF2B5EF4-FFF2-40B4-BE49-F238E27FC236}">
                <a16:creationId xmlns:a16="http://schemas.microsoft.com/office/drawing/2014/main" id="{8480B87F-4F12-4277-ADD8-51015CB40E9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69025" y="6107749"/>
            <a:ext cx="2166938" cy="0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文本框 6">
            <a:extLst>
              <a:ext uri="{FF2B5EF4-FFF2-40B4-BE49-F238E27FC236}">
                <a16:creationId xmlns:a16="http://schemas.microsoft.com/office/drawing/2014/main" id="{A2740C7D-8937-419C-AF5D-A6EE00EAE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2956" y="5132071"/>
            <a:ext cx="1411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Cursor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7167">
            <a:extLst>
              <a:ext uri="{FF2B5EF4-FFF2-40B4-BE49-F238E27FC236}">
                <a16:creationId xmlns:a16="http://schemas.microsoft.com/office/drawing/2014/main" id="{E59FE939-C494-FE73-95AF-A24EC0269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836613"/>
            <a:ext cx="578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运放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OP07</a:t>
            </a:r>
            <a:r>
              <a:rPr lang="zh-CN" altLang="en-US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LF356</a:t>
            </a:r>
            <a:r>
              <a:rPr lang="zh-CN" altLang="en-US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转换速率的比较</a:t>
            </a:r>
            <a:endParaRPr lang="en-US" altLang="zh-CN" b="1">
              <a:solidFill>
                <a:srgbClr val="181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矩形 8">
            <a:extLst>
              <a:ext uri="{FF2B5EF4-FFF2-40B4-BE49-F238E27FC236}">
                <a16:creationId xmlns:a16="http://schemas.microsoft.com/office/drawing/2014/main" id="{9EB092A1-EDDF-5773-A3D0-2F58AE226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589088"/>
            <a:ext cx="6288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OP07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LF356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管脚定义完全兼容，如下图：</a:t>
            </a:r>
            <a:endParaRPr lang="zh-CN" altLang="en-US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436" name="Picture 7" descr="u=4001501687,629320479&amp;fm=21&amp;gp=0">
            <a:extLst>
              <a:ext uri="{FF2B5EF4-FFF2-40B4-BE49-F238E27FC236}">
                <a16:creationId xmlns:a16="http://schemas.microsoft.com/office/drawing/2014/main" id="{339D39F3-8942-A7D2-5BB9-FC15E3499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888" y="1989138"/>
            <a:ext cx="3159125" cy="229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">
            <a:extLst>
              <a:ext uri="{FF2B5EF4-FFF2-40B4-BE49-F238E27FC236}">
                <a16:creationId xmlns:a16="http://schemas.microsoft.com/office/drawing/2014/main" id="{B41E6C01-D107-446A-E5A8-A948E3C37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0" y="4356100"/>
            <a:ext cx="2081213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8" name="组合 20">
            <a:extLst>
              <a:ext uri="{FF2B5EF4-FFF2-40B4-BE49-F238E27FC236}">
                <a16:creationId xmlns:a16="http://schemas.microsoft.com/office/drawing/2014/main" id="{DC0DFC9A-03D7-7ACC-E09C-276A2EB52AEA}"/>
              </a:ext>
            </a:extLst>
          </p:cNvPr>
          <p:cNvGrpSpPr>
            <a:grpSpLocks/>
          </p:cNvGrpSpPr>
          <p:nvPr/>
        </p:nvGrpSpPr>
        <p:grpSpPr bwMode="auto">
          <a:xfrm>
            <a:off x="1474788" y="2019300"/>
            <a:ext cx="2174875" cy="2232025"/>
            <a:chOff x="6198592" y="945778"/>
            <a:chExt cx="2174875" cy="2232025"/>
          </a:xfrm>
        </p:grpSpPr>
        <p:sp>
          <p:nvSpPr>
            <p:cNvPr id="18440" name="Text Box 17">
              <a:extLst>
                <a:ext uri="{FF2B5EF4-FFF2-40B4-BE49-F238E27FC236}">
                  <a16:creationId xmlns:a16="http://schemas.microsoft.com/office/drawing/2014/main" id="{5D53025B-F1A2-E740-29F0-92BFEDDA4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192" y="2780928"/>
              <a:ext cx="20494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FF3300"/>
                  </a:solidFill>
                  <a:ea typeface="黑体" panose="02010609060101010101" pitchFamily="49" charset="-122"/>
                </a:rPr>
                <a:t>1       2       3       4</a:t>
              </a:r>
            </a:p>
          </p:txBody>
        </p:sp>
        <p:grpSp>
          <p:nvGrpSpPr>
            <p:cNvPr id="18441" name="Group 18">
              <a:extLst>
                <a:ext uri="{FF2B5EF4-FFF2-40B4-BE49-F238E27FC236}">
                  <a16:creationId xmlns:a16="http://schemas.microsoft.com/office/drawing/2014/main" id="{450C13C6-9C77-C950-E0B2-5F52EA2C5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8592" y="945778"/>
              <a:ext cx="2174875" cy="1863725"/>
              <a:chOff x="3959" y="704"/>
              <a:chExt cx="1370" cy="1174"/>
            </a:xfrm>
          </p:grpSpPr>
          <p:sp>
            <p:nvSpPr>
              <p:cNvPr id="18442" name="AutoShape 19">
                <a:extLst>
                  <a:ext uri="{FF2B5EF4-FFF2-40B4-BE49-F238E27FC236}">
                    <a16:creationId xmlns:a16="http://schemas.microsoft.com/office/drawing/2014/main" id="{D3CB0C8B-A218-A814-AC79-70928A385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056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3" name="AutoShape 20">
                <a:extLst>
                  <a:ext uri="{FF2B5EF4-FFF2-40B4-BE49-F238E27FC236}">
                    <a16:creationId xmlns:a16="http://schemas.microsoft.com/office/drawing/2014/main" id="{28F975BA-9827-7CE1-EB59-E6F51515C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407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4" name="AutoShape 21">
                <a:extLst>
                  <a:ext uri="{FF2B5EF4-FFF2-40B4-BE49-F238E27FC236}">
                    <a16:creationId xmlns:a16="http://schemas.microsoft.com/office/drawing/2014/main" id="{7B93423C-7018-E7B1-579D-B81867DD3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758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5" name="AutoShape 22">
                <a:extLst>
                  <a:ext uri="{FF2B5EF4-FFF2-40B4-BE49-F238E27FC236}">
                    <a16:creationId xmlns:a16="http://schemas.microsoft.com/office/drawing/2014/main" id="{40A280EB-1AFC-3C7F-8389-E6A932873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5109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6" name="AutoShape 23">
                <a:extLst>
                  <a:ext uri="{FF2B5EF4-FFF2-40B4-BE49-F238E27FC236}">
                    <a16:creationId xmlns:a16="http://schemas.microsoft.com/office/drawing/2014/main" id="{388CC6DE-0769-7077-EDDE-4C734A005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056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7" name="AutoShape 24">
                <a:extLst>
                  <a:ext uri="{FF2B5EF4-FFF2-40B4-BE49-F238E27FC236}">
                    <a16:creationId xmlns:a16="http://schemas.microsoft.com/office/drawing/2014/main" id="{2A58BA7B-9CD1-15C0-C056-07F00D42A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07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8" name="AutoShape 25">
                <a:extLst>
                  <a:ext uri="{FF2B5EF4-FFF2-40B4-BE49-F238E27FC236}">
                    <a16:creationId xmlns:a16="http://schemas.microsoft.com/office/drawing/2014/main" id="{45FF15CE-4FAA-79CE-F107-B40B8C886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758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49" name="AutoShape 26">
                <a:extLst>
                  <a:ext uri="{FF2B5EF4-FFF2-40B4-BE49-F238E27FC236}">
                    <a16:creationId xmlns:a16="http://schemas.microsoft.com/office/drawing/2014/main" id="{E219EE1B-4041-8709-8AA9-948164029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09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50" name="Text Box 27">
                <a:extLst>
                  <a:ext uri="{FF2B5EF4-FFF2-40B4-BE49-F238E27FC236}">
                    <a16:creationId xmlns:a16="http://schemas.microsoft.com/office/drawing/2014/main" id="{D7AF2359-A96C-7E9A-8942-116438469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5" y="1103"/>
                <a:ext cx="1364" cy="61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endParaRPr kumimoji="1" lang="en-US" altLang="zh-CN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60000"/>
                  </a:lnSpc>
                </a:pPr>
                <a:r>
                  <a:rPr kumimoji="1" lang="en-US" altLang="zh-CN">
                    <a:ea typeface="黑体" panose="02010609060101010101" pitchFamily="49" charset="-122"/>
                  </a:rPr>
                  <a:t>    </a:t>
                </a:r>
                <a:r>
                  <a:rPr kumimoji="1" lang="en-US" altLang="zh-CN" sz="2000">
                    <a:ea typeface="黑体" panose="02010609060101010101" pitchFamily="49" charset="-122"/>
                  </a:rPr>
                  <a:t>LF356</a:t>
                </a:r>
                <a:r>
                  <a:rPr kumimoji="1" lang="zh-CN" altLang="en-US" sz="2000">
                    <a:ea typeface="黑体" panose="02010609060101010101" pitchFamily="49" charset="-122"/>
                  </a:rPr>
                  <a:t>或</a:t>
                </a:r>
                <a:r>
                  <a:rPr kumimoji="1" lang="zh-CN" altLang="en-US"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000">
                    <a:ea typeface="黑体" panose="02010609060101010101" pitchFamily="49" charset="-122"/>
                  </a:rPr>
                  <a:t>OP07</a:t>
                </a:r>
              </a:p>
              <a:p>
                <a:pPr eaLnBrk="1" hangingPunct="1">
                  <a:lnSpc>
                    <a:spcPct val="60000"/>
                  </a:lnSpc>
                </a:pPr>
                <a:r>
                  <a:rPr kumimoji="1" lang="en-US" altLang="zh-CN">
                    <a:ea typeface="黑体" panose="02010609060101010101" pitchFamily="49" charset="-122"/>
                  </a:rPr>
                  <a:t>   </a:t>
                </a:r>
              </a:p>
            </p:txBody>
          </p:sp>
          <p:sp>
            <p:nvSpPr>
              <p:cNvPr id="18451" name="AutoShape 28">
                <a:extLst>
                  <a:ext uri="{FF2B5EF4-FFF2-40B4-BE49-F238E27FC236}">
                    <a16:creationId xmlns:a16="http://schemas.microsoft.com/office/drawing/2014/main" id="{9B5EF0E5-CBE7-BCC7-2A2D-5DC3660AE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959" y="1340"/>
                <a:ext cx="100" cy="142"/>
              </a:xfrm>
              <a:prstGeom prst="moon">
                <a:avLst>
                  <a:gd name="adj" fmla="val 875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52" name="Oval 29">
                <a:extLst>
                  <a:ext uri="{FF2B5EF4-FFF2-40B4-BE49-F238E27FC236}">
                    <a16:creationId xmlns:a16="http://schemas.microsoft.com/office/drawing/2014/main" id="{B27EE417-5DAE-9485-F5B5-68CB6FD1D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9" y="1617"/>
                <a:ext cx="50" cy="4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8453" name="Text Box 30">
                <a:extLst>
                  <a:ext uri="{FF2B5EF4-FFF2-40B4-BE49-F238E27FC236}">
                    <a16:creationId xmlns:a16="http://schemas.microsoft.com/office/drawing/2014/main" id="{9CCBBABF-18A7-800B-C8D1-5808B7ED52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3" y="704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000" b="1">
                    <a:solidFill>
                      <a:srgbClr val="FF3300"/>
                    </a:solidFill>
                    <a:ea typeface="黑体" panose="02010609060101010101" pitchFamily="49" charset="-122"/>
                  </a:rPr>
                  <a:t>8       7       6       5</a:t>
                </a:r>
              </a:p>
            </p:txBody>
          </p:sp>
        </p:grpSp>
      </p:grpSp>
      <p:sp>
        <p:nvSpPr>
          <p:cNvPr id="23" name="Rectangle 16">
            <a:extLst>
              <a:ext uri="{FF2B5EF4-FFF2-40B4-BE49-F238E27FC236}">
                <a16:creationId xmlns:a16="http://schemas.microsoft.com/office/drawing/2014/main" id="{953F14D7-D16B-4F65-AD4D-A85B3673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4505325"/>
            <a:ext cx="4716462" cy="1385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defRPr/>
            </a:pPr>
            <a:r>
              <a:rPr kumimoji="1" lang="en-US" altLang="zh-CN" sz="2000" b="1" dirty="0"/>
              <a:t>  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2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反相输入端 、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3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同相输入端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kumimoji="1" lang="zh-CN" altLang="en-US" sz="2000" b="1" dirty="0"/>
              <a:t>  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6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输出端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kumimoji="1" lang="zh-CN" altLang="en-US" sz="2000" b="1" dirty="0"/>
              <a:t>  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4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负电源端、 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7</a:t>
            </a:r>
            <a:r>
              <a:rPr kumimoji="1"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—</a:t>
            </a:r>
            <a:r>
              <a:rPr kumimoji="1"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正电源端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03">
            <a:extLst>
              <a:ext uri="{FF2B5EF4-FFF2-40B4-BE49-F238E27FC236}">
                <a16:creationId xmlns:a16="http://schemas.microsoft.com/office/drawing/2014/main" id="{FCEBBF21-1A4C-2596-22CF-F8F787848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5"/>
          <a:stretch>
            <a:fillRect/>
          </a:stretch>
        </p:blipFill>
        <p:spPr bwMode="auto">
          <a:xfrm>
            <a:off x="1970088" y="1835150"/>
            <a:ext cx="4922837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4EFCC527-71D0-BAAC-B08A-689E4E59E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63" y="2973388"/>
            <a:ext cx="1751012" cy="833437"/>
          </a:xfrm>
          <a:prstGeom prst="wedgeRoundRectCallout">
            <a:avLst>
              <a:gd name="adj1" fmla="val 71338"/>
              <a:gd name="adj2" fmla="val 123898"/>
              <a:gd name="adj3" fmla="val 16667"/>
            </a:avLst>
          </a:prstGeom>
          <a:solidFill>
            <a:srgbClr val="CAC7E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电源开关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122C5AE-8656-4495-9314-09553FB993D6}"/>
              </a:ext>
            </a:extLst>
          </p:cNvPr>
          <p:cNvCxnSpPr>
            <a:cxnSpLocks/>
          </p:cNvCxnSpPr>
          <p:nvPr/>
        </p:nvCxnSpPr>
        <p:spPr>
          <a:xfrm>
            <a:off x="3498850" y="2309813"/>
            <a:ext cx="0" cy="1354137"/>
          </a:xfrm>
          <a:prstGeom prst="line">
            <a:avLst/>
          </a:prstGeom>
          <a:ln w="76200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2">
            <a:extLst>
              <a:ext uri="{FF2B5EF4-FFF2-40B4-BE49-F238E27FC236}">
                <a16:creationId xmlns:a16="http://schemas.microsoft.com/office/drawing/2014/main" id="{68ECE91F-30C4-4CC8-A518-84F02C127046}"/>
              </a:ext>
            </a:extLst>
          </p:cNvPr>
          <p:cNvSpPr>
            <a:spLocks/>
          </p:cNvSpPr>
          <p:nvPr/>
        </p:nvSpPr>
        <p:spPr bwMode="auto">
          <a:xfrm rot="962964" flipH="1">
            <a:off x="2690813" y="4275138"/>
            <a:ext cx="374650" cy="1789112"/>
          </a:xfrm>
          <a:custGeom>
            <a:avLst/>
            <a:gdLst>
              <a:gd name="T0" fmla="*/ 0 w 205"/>
              <a:gd name="T1" fmla="*/ 2147483646 h 734"/>
              <a:gd name="T2" fmla="*/ 2147483646 w 205"/>
              <a:gd name="T3" fmla="*/ 2147483646 h 734"/>
              <a:gd name="T4" fmla="*/ 2147483646 w 205"/>
              <a:gd name="T5" fmla="*/ 2147483646 h 734"/>
              <a:gd name="T6" fmla="*/ 2147483646 w 205"/>
              <a:gd name="T7" fmla="*/ 2147483646 h 734"/>
              <a:gd name="T8" fmla="*/ 2147483646 w 205"/>
              <a:gd name="T9" fmla="*/ 2147483646 h 734"/>
              <a:gd name="T10" fmla="*/ 2147483646 w 205"/>
              <a:gd name="T11" fmla="*/ 2147483646 h 734"/>
              <a:gd name="T12" fmla="*/ 0 w 205"/>
              <a:gd name="T13" fmla="*/ 2147483646 h 7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5" h="734">
                <a:moveTo>
                  <a:pt x="0" y="54"/>
                </a:moveTo>
                <a:cubicBezTo>
                  <a:pt x="11" y="35"/>
                  <a:pt x="23" y="16"/>
                  <a:pt x="46" y="8"/>
                </a:cubicBezTo>
                <a:cubicBezTo>
                  <a:pt x="69" y="0"/>
                  <a:pt x="114" y="0"/>
                  <a:pt x="137" y="8"/>
                </a:cubicBezTo>
                <a:cubicBezTo>
                  <a:pt x="160" y="16"/>
                  <a:pt x="175" y="31"/>
                  <a:pt x="182" y="54"/>
                </a:cubicBezTo>
                <a:cubicBezTo>
                  <a:pt x="189" y="77"/>
                  <a:pt x="205" y="107"/>
                  <a:pt x="182" y="144"/>
                </a:cubicBezTo>
                <a:cubicBezTo>
                  <a:pt x="159" y="181"/>
                  <a:pt x="76" y="182"/>
                  <a:pt x="46" y="280"/>
                </a:cubicBezTo>
                <a:cubicBezTo>
                  <a:pt x="16" y="378"/>
                  <a:pt x="8" y="556"/>
                  <a:pt x="0" y="734"/>
                </a:cubicBezTo>
              </a:path>
            </a:pathLst>
          </a:custGeom>
          <a:noFill/>
          <a:ln w="6350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kumimoji="1" lang="zh-CN" altLang="en-US" sz="3733" b="1" i="1" dirty="0">
              <a:solidFill>
                <a:srgbClr val="008000"/>
              </a:solidFill>
            </a:endParaRPr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7E1C253E-568C-4FFA-9765-90289329B469}"/>
              </a:ext>
            </a:extLst>
          </p:cNvPr>
          <p:cNvSpPr>
            <a:spLocks/>
          </p:cNvSpPr>
          <p:nvPr/>
        </p:nvSpPr>
        <p:spPr bwMode="auto">
          <a:xfrm rot="730682" flipH="1">
            <a:off x="3270250" y="4306888"/>
            <a:ext cx="360363" cy="1755775"/>
          </a:xfrm>
          <a:custGeom>
            <a:avLst/>
            <a:gdLst>
              <a:gd name="T0" fmla="*/ 0 w 205"/>
              <a:gd name="T1" fmla="*/ 2147483646 h 734"/>
              <a:gd name="T2" fmla="*/ 2147483646 w 205"/>
              <a:gd name="T3" fmla="*/ 2147483646 h 734"/>
              <a:gd name="T4" fmla="*/ 2147483646 w 205"/>
              <a:gd name="T5" fmla="*/ 2147483646 h 734"/>
              <a:gd name="T6" fmla="*/ 2147483646 w 205"/>
              <a:gd name="T7" fmla="*/ 2147483646 h 734"/>
              <a:gd name="T8" fmla="*/ 2147483646 w 205"/>
              <a:gd name="T9" fmla="*/ 2147483646 h 734"/>
              <a:gd name="T10" fmla="*/ 2147483646 w 205"/>
              <a:gd name="T11" fmla="*/ 2147483646 h 734"/>
              <a:gd name="T12" fmla="*/ 0 w 205"/>
              <a:gd name="T13" fmla="*/ 2147483646 h 7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5" h="734">
                <a:moveTo>
                  <a:pt x="0" y="54"/>
                </a:moveTo>
                <a:cubicBezTo>
                  <a:pt x="11" y="35"/>
                  <a:pt x="23" y="16"/>
                  <a:pt x="46" y="8"/>
                </a:cubicBezTo>
                <a:cubicBezTo>
                  <a:pt x="69" y="0"/>
                  <a:pt x="114" y="0"/>
                  <a:pt x="137" y="8"/>
                </a:cubicBezTo>
                <a:cubicBezTo>
                  <a:pt x="160" y="16"/>
                  <a:pt x="175" y="31"/>
                  <a:pt x="182" y="54"/>
                </a:cubicBezTo>
                <a:cubicBezTo>
                  <a:pt x="189" y="77"/>
                  <a:pt x="205" y="107"/>
                  <a:pt x="182" y="144"/>
                </a:cubicBezTo>
                <a:cubicBezTo>
                  <a:pt x="159" y="181"/>
                  <a:pt x="76" y="182"/>
                  <a:pt x="46" y="280"/>
                </a:cubicBezTo>
                <a:cubicBezTo>
                  <a:pt x="16" y="378"/>
                  <a:pt x="8" y="556"/>
                  <a:pt x="0" y="734"/>
                </a:cubicBezTo>
              </a:path>
            </a:pathLst>
          </a:custGeom>
          <a:noFill/>
          <a:ln w="6350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kumimoji="1" lang="zh-CN" altLang="en-US" sz="3733" b="1" i="1">
              <a:solidFill>
                <a:srgbClr val="008000"/>
              </a:solidFill>
            </a:endParaRP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3C02B315-2736-E8FB-4748-8ED75448D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614045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7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连接面包板</a:t>
            </a:r>
          </a:p>
        </p:txBody>
      </p:sp>
      <p:sp>
        <p:nvSpPr>
          <p:cNvPr id="64" name="AutoShape 16">
            <a:extLst>
              <a:ext uri="{FF2B5EF4-FFF2-40B4-BE49-F238E27FC236}">
                <a16:creationId xmlns:a16="http://schemas.microsoft.com/office/drawing/2014/main" id="{9C16CEBC-808E-FD37-EA07-0A4F39F7E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5292725"/>
            <a:ext cx="2935288" cy="1401763"/>
          </a:xfrm>
          <a:prstGeom prst="wedgeRoundRectCallout">
            <a:avLst>
              <a:gd name="adj1" fmla="val -88227"/>
              <a:gd name="adj2" fmla="val -92148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机壳地，同大地连接，可用作公共接地端或安全接地端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3362C37-286C-4A02-E8D9-08E30966E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2930525"/>
            <a:ext cx="869950" cy="8429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95B1D5D-D048-5700-80F2-CEF2843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085975"/>
            <a:ext cx="863600" cy="1303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347C045-3F2E-DE26-6D11-238820EB5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925" y="2041525"/>
            <a:ext cx="863600" cy="8493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71" name="AutoShape 16">
            <a:extLst>
              <a:ext uri="{FF2B5EF4-FFF2-40B4-BE49-F238E27FC236}">
                <a16:creationId xmlns:a16="http://schemas.microsoft.com/office/drawing/2014/main" id="{36993065-B293-CFA1-BCEA-45913332B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422275"/>
            <a:ext cx="3621088" cy="1184275"/>
          </a:xfrm>
          <a:prstGeom prst="wedgeRoundRectCallout">
            <a:avLst>
              <a:gd name="adj1" fmla="val -24051"/>
              <a:gd name="adj2" fmla="val 8184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配置按键：</a:t>
            </a:r>
            <a:endParaRPr kumimoji="1" lang="en-US" altLang="zh-CN" sz="2000" b="1">
              <a:solidFill>
                <a:srgbClr val="0C870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CH1(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CH2(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串联</a:t>
            </a:r>
            <a:endParaRPr kumimoji="1" lang="en-US" altLang="zh-CN" sz="2000" b="1">
              <a:solidFill>
                <a:srgbClr val="0C870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SAVE/NO.1~5: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保存设置</a:t>
            </a:r>
            <a:endParaRPr kumimoji="1" lang="en-US" altLang="zh-CN" sz="2000" b="1">
              <a:solidFill>
                <a:srgbClr val="0C870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RECALL/NO.1~5: 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调出设置</a:t>
            </a:r>
          </a:p>
        </p:txBody>
      </p:sp>
      <p:sp>
        <p:nvSpPr>
          <p:cNvPr id="72" name="AutoShape 16">
            <a:extLst>
              <a:ext uri="{FF2B5EF4-FFF2-40B4-BE49-F238E27FC236}">
                <a16:creationId xmlns:a16="http://schemas.microsoft.com/office/drawing/2014/main" id="{A3914BC4-8386-2F96-C326-16E59E55C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1978025"/>
            <a:ext cx="2089150" cy="1071563"/>
          </a:xfrm>
          <a:prstGeom prst="wedgeRoundRectCallout">
            <a:avLst>
              <a:gd name="adj1" fmla="val -57977"/>
              <a:gd name="adj2" fmla="val 19759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设置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CH1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CH2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输出电压和电流（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FINE: 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细调）</a:t>
            </a:r>
          </a:p>
        </p:txBody>
      </p:sp>
      <p:sp>
        <p:nvSpPr>
          <p:cNvPr id="67" name="AutoShape 16">
            <a:extLst>
              <a:ext uri="{FF2B5EF4-FFF2-40B4-BE49-F238E27FC236}">
                <a16:creationId xmlns:a16="http://schemas.microsoft.com/office/drawing/2014/main" id="{1CD5A005-12E0-CBB7-91D8-FA3730EF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3" y="3214688"/>
            <a:ext cx="2098675" cy="698500"/>
          </a:xfrm>
          <a:prstGeom prst="wedgeRoundRectCallout">
            <a:avLst>
              <a:gd name="adj1" fmla="val -101403"/>
              <a:gd name="adj2" fmla="val 4398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通道选择及</a:t>
            </a:r>
            <a:endParaRPr kumimoji="1" lang="en-US" altLang="zh-CN" sz="2000" b="1">
              <a:solidFill>
                <a:srgbClr val="0C870E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通道开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关控制</a:t>
            </a:r>
          </a:p>
        </p:txBody>
      </p:sp>
      <p:sp>
        <p:nvSpPr>
          <p:cNvPr id="65" name="AutoShape 16">
            <a:extLst>
              <a:ext uri="{FF2B5EF4-FFF2-40B4-BE49-F238E27FC236}">
                <a16:creationId xmlns:a16="http://schemas.microsoft.com/office/drawing/2014/main" id="{DD846B19-FCF6-D4CB-C8FA-64CCC4A6B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4078288"/>
            <a:ext cx="2128838" cy="935037"/>
          </a:xfrm>
          <a:prstGeom prst="wedgeRoundRectCallout">
            <a:avLst>
              <a:gd name="adj1" fmla="val -62394"/>
              <a:gd name="adj2" fmla="val -19370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CH3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：固定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2.5V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3.3V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kumimoji="1" lang="en-US" altLang="zh-CN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kumimoji="1" lang="zh-CN" altLang="en-US" sz="2000" b="1">
                <a:solidFill>
                  <a:srgbClr val="0C870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Ｖ输出</a:t>
            </a:r>
          </a:p>
        </p:txBody>
      </p:sp>
      <p:sp>
        <p:nvSpPr>
          <p:cNvPr id="20496" name="文本框 2">
            <a:extLst>
              <a:ext uri="{FF2B5EF4-FFF2-40B4-BE49-F238E27FC236}">
                <a16:creationId xmlns:a16="http://schemas.microsoft.com/office/drawing/2014/main" id="{DDF1B3DE-4926-63E3-7680-88B179548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655638"/>
            <a:ext cx="354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直流稳压电源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8794298-8CD2-8829-6B83-53C6B7483B24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3725863"/>
            <a:ext cx="1165225" cy="571500"/>
            <a:chOff x="2786229" y="3725409"/>
            <a:chExt cx="1165745" cy="571160"/>
          </a:xfrm>
        </p:grpSpPr>
        <p:sp>
          <p:nvSpPr>
            <p:cNvPr id="20502" name="文本框 20">
              <a:extLst>
                <a:ext uri="{FF2B5EF4-FFF2-40B4-BE49-F238E27FC236}">
                  <a16:creationId xmlns:a16="http://schemas.microsoft.com/office/drawing/2014/main" id="{8933266B-A6AC-4495-057E-6C9CDE530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3441730" y="3725409"/>
              <a:ext cx="51024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</a:rPr>
                <a:t>+</a:t>
              </a:r>
              <a:endParaRPr kumimoji="1"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20503" name="文本框 20">
              <a:extLst>
                <a:ext uri="{FF2B5EF4-FFF2-40B4-BE49-F238E27FC236}">
                  <a16:creationId xmlns:a16="http://schemas.microsoft.com/office/drawing/2014/main" id="{3D1830BD-5F06-678B-5203-8E65CB846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2786229" y="3773349"/>
              <a:ext cx="51024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</a:rPr>
                <a:t>-</a:t>
              </a:r>
              <a:endParaRPr kumimoji="1" lang="zh-CN" altLang="en-US" sz="2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A73C4F0-677F-D8B4-7878-0247C1B39543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3813175"/>
            <a:ext cx="1166813" cy="571500"/>
            <a:chOff x="2786229" y="3725409"/>
            <a:chExt cx="1165745" cy="571160"/>
          </a:xfrm>
        </p:grpSpPr>
        <p:sp>
          <p:nvSpPr>
            <p:cNvPr id="20500" name="文本框 20">
              <a:extLst>
                <a:ext uri="{FF2B5EF4-FFF2-40B4-BE49-F238E27FC236}">
                  <a16:creationId xmlns:a16="http://schemas.microsoft.com/office/drawing/2014/main" id="{A13DC2B5-2D53-9AC2-E800-308785515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3441730" y="3725409"/>
              <a:ext cx="51024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</a:rPr>
                <a:t>+</a:t>
              </a:r>
              <a:endParaRPr kumimoji="1"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20501" name="文本框 20">
              <a:extLst>
                <a:ext uri="{FF2B5EF4-FFF2-40B4-BE49-F238E27FC236}">
                  <a16:creationId xmlns:a16="http://schemas.microsoft.com/office/drawing/2014/main" id="{FCCDF790-5EED-2DD7-6104-A7CD6BB73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2786229" y="3773349"/>
              <a:ext cx="51024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</a:rPr>
                <a:t>-</a:t>
              </a:r>
              <a:endParaRPr kumimoji="1"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27" name="AutoShape 16">
            <a:extLst>
              <a:ext uri="{FF2B5EF4-FFF2-40B4-BE49-F238E27FC236}">
                <a16:creationId xmlns:a16="http://schemas.microsoft.com/office/drawing/2014/main" id="{179DE553-435B-3936-D7BF-CA383740E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4724400"/>
            <a:ext cx="2652713" cy="2078038"/>
          </a:xfrm>
          <a:prstGeom prst="wedgeRoundRectCallout">
            <a:avLst>
              <a:gd name="adj1" fmla="val 55852"/>
              <a:gd name="adj2" fmla="val -50685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B05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</a:t>
            </a:r>
            <a:r>
              <a:rPr kumimoji="1" lang="zh-CN" altLang="en-US" sz="1800" b="1" i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面包板连接线</a:t>
            </a:r>
            <a:r>
              <a:rPr kumimoji="1" lang="zh-CN" altLang="en-US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两端去绝缘皮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</a:t>
            </a:r>
            <a:r>
              <a:rPr kumimoji="1" lang="zh-CN" altLang="en-US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1800" b="1" i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逆时针</a:t>
            </a:r>
            <a:r>
              <a:rPr kumimoji="1" lang="zh-CN" altLang="en-US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旋开接线柱</a:t>
            </a:r>
            <a:endParaRPr kumimoji="1" lang="en-US" altLang="zh-CN" sz="1800" b="1">
              <a:solidFill>
                <a:srgbClr val="008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</a:t>
            </a:r>
            <a:r>
              <a:rPr kumimoji="1" lang="zh-CN" altLang="en-US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连线并</a:t>
            </a:r>
            <a:r>
              <a:rPr kumimoji="1" lang="zh-CN" altLang="en-US" sz="1800" b="1" i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顺时针</a:t>
            </a:r>
            <a:r>
              <a:rPr kumimoji="1" lang="zh-CN" altLang="en-US" sz="1800" b="1">
                <a:solidFill>
                  <a:srgbClr val="008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旋紧接线柱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1" grpId="0"/>
      <p:bldP spid="64" grpId="0" animBg="1"/>
      <p:bldP spid="66" grpId="0" animBg="1"/>
      <p:bldP spid="68" grpId="0" animBg="1"/>
      <p:bldP spid="70" grpId="0" animBg="1"/>
      <p:bldP spid="71" grpId="0" animBg="1"/>
      <p:bldP spid="72" grpId="0" animBg="1"/>
      <p:bldP spid="67" grpId="0" animBg="1"/>
      <p:bldP spid="65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3">
            <a:extLst>
              <a:ext uri="{FF2B5EF4-FFF2-40B4-BE49-F238E27FC236}">
                <a16:creationId xmlns:a16="http://schemas.microsoft.com/office/drawing/2014/main" id="{E53360DD-7022-FD79-1911-702FB1FB7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5"/>
          <a:stretch>
            <a:fillRect/>
          </a:stretch>
        </p:blipFill>
        <p:spPr bwMode="auto">
          <a:xfrm>
            <a:off x="4462463" y="688975"/>
            <a:ext cx="4143375" cy="252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71">
            <a:extLst>
              <a:ext uri="{FF2B5EF4-FFF2-40B4-BE49-F238E27FC236}">
                <a16:creationId xmlns:a16="http://schemas.microsoft.com/office/drawing/2014/main" id="{D3D1A31E-BFFC-3DE3-5179-D1065AB2C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6275" y="942975"/>
            <a:ext cx="3095625" cy="363538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rgbClr val="0099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双电源的连接</a:t>
            </a:r>
          </a:p>
        </p:txBody>
      </p:sp>
      <p:sp>
        <p:nvSpPr>
          <p:cNvPr id="22532" name="Rectangle 72">
            <a:extLst>
              <a:ext uri="{FF2B5EF4-FFF2-40B4-BE49-F238E27FC236}">
                <a16:creationId xmlns:a16="http://schemas.microsoft.com/office/drawing/2014/main" id="{D00DAA72-8AA0-EDFA-A369-181066A1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pic>
        <p:nvPicPr>
          <p:cNvPr id="22533" name="Picture 73" descr="Untitled - 8">
            <a:extLst>
              <a:ext uri="{FF2B5EF4-FFF2-40B4-BE49-F238E27FC236}">
                <a16:creationId xmlns:a16="http://schemas.microsoft.com/office/drawing/2014/main" id="{2E61BCB5-4D66-5638-3923-3B35FF08B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60325"/>
            <a:ext cx="75882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 Box 74">
            <a:extLst>
              <a:ext uri="{FF2B5EF4-FFF2-40B4-BE49-F238E27FC236}">
                <a16:creationId xmlns:a16="http://schemas.microsoft.com/office/drawing/2014/main" id="{10A797AF-E719-57DE-8A42-AE87D02B7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23838"/>
            <a:ext cx="2232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</a:rPr>
              <a:t>现代电子技术实验</a:t>
            </a:r>
          </a:p>
        </p:txBody>
      </p:sp>
      <p:grpSp>
        <p:nvGrpSpPr>
          <p:cNvPr id="22535" name="Group 98">
            <a:extLst>
              <a:ext uri="{FF2B5EF4-FFF2-40B4-BE49-F238E27FC236}">
                <a16:creationId xmlns:a16="http://schemas.microsoft.com/office/drawing/2014/main" id="{CF3FBD4A-CEDE-D053-081E-2DC5330CF970}"/>
              </a:ext>
            </a:extLst>
          </p:cNvPr>
          <p:cNvGrpSpPr>
            <a:grpSpLocks/>
          </p:cNvGrpSpPr>
          <p:nvPr/>
        </p:nvGrpSpPr>
        <p:grpSpPr bwMode="auto">
          <a:xfrm>
            <a:off x="5673725" y="3840163"/>
            <a:ext cx="2182813" cy="2166937"/>
            <a:chOff x="376" y="759"/>
            <a:chExt cx="1375" cy="1365"/>
          </a:xfrm>
        </p:grpSpPr>
        <p:sp>
          <p:nvSpPr>
            <p:cNvPr id="22565" name="Text Box 99">
              <a:extLst>
                <a:ext uri="{FF2B5EF4-FFF2-40B4-BE49-F238E27FC236}">
                  <a16:creationId xmlns:a16="http://schemas.microsoft.com/office/drawing/2014/main" id="{0D664E20-385A-78CE-F743-CE431501E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" y="1874"/>
              <a:ext cx="129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1       2       3       4</a:t>
              </a:r>
            </a:p>
          </p:txBody>
        </p:sp>
        <p:grpSp>
          <p:nvGrpSpPr>
            <p:cNvPr id="22566" name="Group 100">
              <a:extLst>
                <a:ext uri="{FF2B5EF4-FFF2-40B4-BE49-F238E27FC236}">
                  <a16:creationId xmlns:a16="http://schemas.microsoft.com/office/drawing/2014/main" id="{85D9C1C5-68C7-FA7C-1816-EE2FAA9555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" y="759"/>
              <a:ext cx="1374" cy="1174"/>
              <a:chOff x="3959" y="704"/>
              <a:chExt cx="1374" cy="1174"/>
            </a:xfrm>
          </p:grpSpPr>
          <p:sp>
            <p:nvSpPr>
              <p:cNvPr id="22567" name="AutoShape 101">
                <a:extLst>
                  <a:ext uri="{FF2B5EF4-FFF2-40B4-BE49-F238E27FC236}">
                    <a16:creationId xmlns:a16="http://schemas.microsoft.com/office/drawing/2014/main" id="{4CC5CD91-9316-9721-E5FA-1FBAA2DE4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056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68" name="AutoShape 102">
                <a:extLst>
                  <a:ext uri="{FF2B5EF4-FFF2-40B4-BE49-F238E27FC236}">
                    <a16:creationId xmlns:a16="http://schemas.microsoft.com/office/drawing/2014/main" id="{DC72683D-BBAD-A576-7A2C-A1391DD54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407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69" name="AutoShape 103">
                <a:extLst>
                  <a:ext uri="{FF2B5EF4-FFF2-40B4-BE49-F238E27FC236}">
                    <a16:creationId xmlns:a16="http://schemas.microsoft.com/office/drawing/2014/main" id="{FB257FC4-5BDA-DF60-AB40-889995FBF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4758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0" name="AutoShape 104">
                <a:extLst>
                  <a:ext uri="{FF2B5EF4-FFF2-40B4-BE49-F238E27FC236}">
                    <a16:creationId xmlns:a16="http://schemas.microsoft.com/office/drawing/2014/main" id="{CE732716-55D8-6E15-90B7-BE3411BBD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5109" y="983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1" name="AutoShape 105">
                <a:extLst>
                  <a:ext uri="{FF2B5EF4-FFF2-40B4-BE49-F238E27FC236}">
                    <a16:creationId xmlns:a16="http://schemas.microsoft.com/office/drawing/2014/main" id="{6CB78F52-7C35-648A-9C93-0FE949CA6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056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2" name="AutoShape 106">
                <a:extLst>
                  <a:ext uri="{FF2B5EF4-FFF2-40B4-BE49-F238E27FC236}">
                    <a16:creationId xmlns:a16="http://schemas.microsoft.com/office/drawing/2014/main" id="{C76AE193-7C5E-3D83-E3DE-1325EEB5D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407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3" name="AutoShape 107">
                <a:extLst>
                  <a:ext uri="{FF2B5EF4-FFF2-40B4-BE49-F238E27FC236}">
                    <a16:creationId xmlns:a16="http://schemas.microsoft.com/office/drawing/2014/main" id="{1E8468AB-F047-2003-F76A-C9A3DD8CA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758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4" name="AutoShape 108">
                <a:extLst>
                  <a:ext uri="{FF2B5EF4-FFF2-40B4-BE49-F238E27FC236}">
                    <a16:creationId xmlns:a16="http://schemas.microsoft.com/office/drawing/2014/main" id="{8B95763D-D38C-8A81-735A-5FD51DB50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109" y="1758"/>
                <a:ext cx="190" cy="50"/>
              </a:xfrm>
              <a:prstGeom prst="homePlate">
                <a:avLst>
                  <a:gd name="adj" fmla="val 9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5" name="Text Box 109">
                <a:extLst>
                  <a:ext uri="{FF2B5EF4-FFF2-40B4-BE49-F238E27FC236}">
                    <a16:creationId xmlns:a16="http://schemas.microsoft.com/office/drawing/2014/main" id="{964F7E02-FFEC-ED28-B50D-345A41B4A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5" y="1127"/>
                <a:ext cx="1368" cy="56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    OP07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</a:t>
                </a:r>
              </a:p>
            </p:txBody>
          </p:sp>
          <p:sp>
            <p:nvSpPr>
              <p:cNvPr id="22576" name="AutoShape 110">
                <a:extLst>
                  <a:ext uri="{FF2B5EF4-FFF2-40B4-BE49-F238E27FC236}">
                    <a16:creationId xmlns:a16="http://schemas.microsoft.com/office/drawing/2014/main" id="{717D8201-A9A2-6F79-41FE-FBB40CAAB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959" y="1340"/>
                <a:ext cx="100" cy="142"/>
              </a:xfrm>
              <a:prstGeom prst="moon">
                <a:avLst>
                  <a:gd name="adj" fmla="val 875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7" name="Oval 111">
                <a:extLst>
                  <a:ext uri="{FF2B5EF4-FFF2-40B4-BE49-F238E27FC236}">
                    <a16:creationId xmlns:a16="http://schemas.microsoft.com/office/drawing/2014/main" id="{2FED28F1-392D-D178-2732-AD4B67F1D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9" y="1617"/>
                <a:ext cx="50" cy="4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78" name="Text Box 112">
                <a:extLst>
                  <a:ext uri="{FF2B5EF4-FFF2-40B4-BE49-F238E27FC236}">
                    <a16:creationId xmlns:a16="http://schemas.microsoft.com/office/drawing/2014/main" id="{011AD1B0-82CE-435E-ED50-4F108061DE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3" y="704"/>
                <a:ext cx="1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8       7       6       5</a:t>
                </a:r>
              </a:p>
            </p:txBody>
          </p:sp>
        </p:grpSp>
      </p:grpSp>
      <p:sp>
        <p:nvSpPr>
          <p:cNvPr id="183409" name="Freeform 113">
            <a:extLst>
              <a:ext uri="{FF2B5EF4-FFF2-40B4-BE49-F238E27FC236}">
                <a16:creationId xmlns:a16="http://schemas.microsoft.com/office/drawing/2014/main" id="{5248D841-A9A4-88A4-0BAA-000818D5C349}"/>
              </a:ext>
            </a:extLst>
          </p:cNvPr>
          <p:cNvSpPr>
            <a:spLocks/>
          </p:cNvSpPr>
          <p:nvPr/>
        </p:nvSpPr>
        <p:spPr bwMode="auto">
          <a:xfrm flipH="1">
            <a:off x="6554788" y="2906713"/>
            <a:ext cx="819150" cy="1263650"/>
          </a:xfrm>
          <a:custGeom>
            <a:avLst/>
            <a:gdLst>
              <a:gd name="T0" fmla="*/ 0 w 453"/>
              <a:gd name="T1" fmla="*/ 0 h 907"/>
              <a:gd name="T2" fmla="*/ 2147483646 w 453"/>
              <a:gd name="T3" fmla="*/ 2147483646 h 907"/>
              <a:gd name="T4" fmla="*/ 2147483646 w 453"/>
              <a:gd name="T5" fmla="*/ 2147483646 h 9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3" h="907">
                <a:moveTo>
                  <a:pt x="0" y="0"/>
                </a:moveTo>
                <a:cubicBezTo>
                  <a:pt x="53" y="128"/>
                  <a:pt x="106" y="257"/>
                  <a:pt x="181" y="408"/>
                </a:cubicBezTo>
                <a:cubicBezTo>
                  <a:pt x="256" y="559"/>
                  <a:pt x="354" y="733"/>
                  <a:pt x="453" y="90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3410" name="Group 114">
            <a:extLst>
              <a:ext uri="{FF2B5EF4-FFF2-40B4-BE49-F238E27FC236}">
                <a16:creationId xmlns:a16="http://schemas.microsoft.com/office/drawing/2014/main" id="{A24FCDBF-0E9E-50E9-1A29-B505A6AE4E4E}"/>
              </a:ext>
            </a:extLst>
          </p:cNvPr>
          <p:cNvGrpSpPr>
            <a:grpSpLocks/>
          </p:cNvGrpSpPr>
          <p:nvPr/>
        </p:nvGrpSpPr>
        <p:grpSpPr bwMode="auto">
          <a:xfrm>
            <a:off x="5878513" y="2954338"/>
            <a:ext cx="604837" cy="823912"/>
            <a:chOff x="2272" y="1843"/>
            <a:chExt cx="381" cy="453"/>
          </a:xfrm>
        </p:grpSpPr>
        <p:sp>
          <p:nvSpPr>
            <p:cNvPr id="22563" name="Line 115">
              <a:extLst>
                <a:ext uri="{FF2B5EF4-FFF2-40B4-BE49-F238E27FC236}">
                  <a16:creationId xmlns:a16="http://schemas.microsoft.com/office/drawing/2014/main" id="{C4007C5D-CA4B-8A2A-581F-ED07E9B92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2296"/>
              <a:ext cx="22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4" name="Freeform 116">
              <a:extLst>
                <a:ext uri="{FF2B5EF4-FFF2-40B4-BE49-F238E27FC236}">
                  <a16:creationId xmlns:a16="http://schemas.microsoft.com/office/drawing/2014/main" id="{378E5362-AB33-7BA9-A253-E134834AF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843"/>
              <a:ext cx="273" cy="453"/>
            </a:xfrm>
            <a:custGeom>
              <a:avLst/>
              <a:gdLst>
                <a:gd name="T0" fmla="*/ 0 w 235"/>
                <a:gd name="T1" fmla="*/ 0 h 589"/>
                <a:gd name="T2" fmla="*/ 2702 w 235"/>
                <a:gd name="T3" fmla="*/ 2 h 589"/>
                <a:gd name="T4" fmla="*/ 3386 w 235"/>
                <a:gd name="T5" fmla="*/ 5 h 589"/>
                <a:gd name="T6" fmla="*/ 3386 w 235"/>
                <a:gd name="T7" fmla="*/ 5 h 5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5" h="589">
                  <a:moveTo>
                    <a:pt x="0" y="0"/>
                  </a:moveTo>
                  <a:cubicBezTo>
                    <a:pt x="72" y="72"/>
                    <a:pt x="144" y="144"/>
                    <a:pt x="182" y="227"/>
                  </a:cubicBezTo>
                  <a:cubicBezTo>
                    <a:pt x="220" y="310"/>
                    <a:pt x="219" y="439"/>
                    <a:pt x="227" y="499"/>
                  </a:cubicBezTo>
                  <a:cubicBezTo>
                    <a:pt x="235" y="559"/>
                    <a:pt x="231" y="574"/>
                    <a:pt x="227" y="589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3414" name="Rectangle 118">
            <a:extLst>
              <a:ext uri="{FF2B5EF4-FFF2-40B4-BE49-F238E27FC236}">
                <a16:creationId xmlns:a16="http://schemas.microsoft.com/office/drawing/2014/main" id="{06BBB662-E36A-4C21-3D8C-60FC481F4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1544638"/>
            <a:ext cx="29702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</a:rPr>
              <a:t>选择“</a:t>
            </a:r>
            <a:r>
              <a:rPr lang="en-US" altLang="zh-CN" sz="1800" b="1">
                <a:solidFill>
                  <a:srgbClr val="000000"/>
                </a:solidFill>
              </a:rPr>
              <a:t>SER</a:t>
            </a:r>
            <a:r>
              <a:rPr lang="zh-CN" altLang="en-US" sz="1800" b="1">
                <a:solidFill>
                  <a:srgbClr val="000000"/>
                </a:solidFill>
              </a:rPr>
              <a:t>”，“</a:t>
            </a:r>
            <a:r>
              <a:rPr lang="en-US" altLang="zh-CN" sz="1800" b="1">
                <a:solidFill>
                  <a:srgbClr val="000000"/>
                </a:solidFill>
              </a:rPr>
              <a:t>CH1</a:t>
            </a:r>
            <a:r>
              <a:rPr lang="zh-CN" altLang="en-US" sz="1800" b="1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10B05A5-16A6-3CE2-964F-C8E494EDD9CD}"/>
              </a:ext>
            </a:extLst>
          </p:cNvPr>
          <p:cNvSpPr>
            <a:spLocks/>
          </p:cNvSpPr>
          <p:nvPr/>
        </p:nvSpPr>
        <p:spPr bwMode="auto">
          <a:xfrm>
            <a:off x="5024438" y="2933700"/>
            <a:ext cx="2622550" cy="3497263"/>
          </a:xfrm>
          <a:custGeom>
            <a:avLst/>
            <a:gdLst>
              <a:gd name="T0" fmla="*/ 381789 w 2622633"/>
              <a:gd name="T1" fmla="*/ 0 h 3496826"/>
              <a:gd name="T2" fmla="*/ 311459 w 2622633"/>
              <a:gd name="T3" fmla="*/ 412187 h 3496826"/>
              <a:gd name="T4" fmla="*/ 281318 w 2622633"/>
              <a:gd name="T5" fmla="*/ 633362 h 3496826"/>
              <a:gd name="T6" fmla="*/ 200943 w 2622633"/>
              <a:gd name="T7" fmla="*/ 945017 h 3496826"/>
              <a:gd name="T8" fmla="*/ 80375 w 2622633"/>
              <a:gd name="T9" fmla="*/ 1638701 h 3496826"/>
              <a:gd name="T10" fmla="*/ 40189 w 2622633"/>
              <a:gd name="T11" fmla="*/ 1990569 h 3496826"/>
              <a:gd name="T12" fmla="*/ 0 w 2622633"/>
              <a:gd name="T13" fmla="*/ 2563609 h 3496826"/>
              <a:gd name="T14" fmla="*/ 100471 w 2622633"/>
              <a:gd name="T15" fmla="*/ 2885318 h 3496826"/>
              <a:gd name="T16" fmla="*/ 341600 w 2622633"/>
              <a:gd name="T17" fmla="*/ 3156758 h 3496826"/>
              <a:gd name="T18" fmla="*/ 552591 w 2622633"/>
              <a:gd name="T19" fmla="*/ 3287455 h 3496826"/>
              <a:gd name="T20" fmla="*/ 1336263 w 2622633"/>
              <a:gd name="T21" fmla="*/ 3488522 h 3496826"/>
              <a:gd name="T22" fmla="*/ 1597484 w 2622633"/>
              <a:gd name="T23" fmla="*/ 3498574 h 3496826"/>
              <a:gd name="T24" fmla="*/ 1708004 w 2622633"/>
              <a:gd name="T25" fmla="*/ 3478468 h 3496826"/>
              <a:gd name="T26" fmla="*/ 2019463 w 2622633"/>
              <a:gd name="T27" fmla="*/ 3327668 h 3496826"/>
              <a:gd name="T28" fmla="*/ 2200309 w 2622633"/>
              <a:gd name="T29" fmla="*/ 3207028 h 3496826"/>
              <a:gd name="T30" fmla="*/ 2391204 w 2622633"/>
              <a:gd name="T31" fmla="*/ 3036118 h 3496826"/>
              <a:gd name="T32" fmla="*/ 2461534 w 2622633"/>
              <a:gd name="T33" fmla="*/ 2975800 h 3496826"/>
              <a:gd name="T34" fmla="*/ 2521816 w 2622633"/>
              <a:gd name="T35" fmla="*/ 2925532 h 3496826"/>
              <a:gd name="T36" fmla="*/ 2592147 w 2622633"/>
              <a:gd name="T37" fmla="*/ 2835051 h 3496826"/>
              <a:gd name="T38" fmla="*/ 2602195 w 2622633"/>
              <a:gd name="T39" fmla="*/ 2804890 h 3496826"/>
              <a:gd name="T40" fmla="*/ 2622288 w 2622633"/>
              <a:gd name="T41" fmla="*/ 2744572 h 349682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622633" h="3496826">
                <a:moveTo>
                  <a:pt x="381837" y="0"/>
                </a:moveTo>
                <a:cubicBezTo>
                  <a:pt x="358391" y="137327"/>
                  <a:pt x="330322" y="273945"/>
                  <a:pt x="311499" y="411982"/>
                </a:cubicBezTo>
                <a:cubicBezTo>
                  <a:pt x="301451" y="485670"/>
                  <a:pt x="296467" y="560228"/>
                  <a:pt x="281354" y="633046"/>
                </a:cubicBezTo>
                <a:cubicBezTo>
                  <a:pt x="259562" y="738043"/>
                  <a:pt x="221997" y="839393"/>
                  <a:pt x="200967" y="944545"/>
                </a:cubicBezTo>
                <a:cubicBezTo>
                  <a:pt x="154962" y="1174571"/>
                  <a:pt x="107023" y="1404817"/>
                  <a:pt x="80387" y="1637881"/>
                </a:cubicBezTo>
                <a:cubicBezTo>
                  <a:pt x="66989" y="1755112"/>
                  <a:pt x="51770" y="1872149"/>
                  <a:pt x="40193" y="1989573"/>
                </a:cubicBezTo>
                <a:cubicBezTo>
                  <a:pt x="10357" y="2292196"/>
                  <a:pt x="12220" y="2305698"/>
                  <a:pt x="0" y="2562329"/>
                </a:cubicBezTo>
                <a:cubicBezTo>
                  <a:pt x="28012" y="2721061"/>
                  <a:pt x="16979" y="2744703"/>
                  <a:pt x="100483" y="2883877"/>
                </a:cubicBezTo>
                <a:cubicBezTo>
                  <a:pt x="161298" y="2985236"/>
                  <a:pt x="245851" y="3084746"/>
                  <a:pt x="341644" y="3155182"/>
                </a:cubicBezTo>
                <a:cubicBezTo>
                  <a:pt x="408292" y="3204188"/>
                  <a:pt x="477064" y="3252213"/>
                  <a:pt x="552659" y="3285811"/>
                </a:cubicBezTo>
                <a:cubicBezTo>
                  <a:pt x="771696" y="3383161"/>
                  <a:pt x="1110884" y="3455011"/>
                  <a:pt x="1336431" y="3486778"/>
                </a:cubicBezTo>
                <a:cubicBezTo>
                  <a:pt x="1422729" y="3498933"/>
                  <a:pt x="1510602" y="3493477"/>
                  <a:pt x="1597688" y="3496826"/>
                </a:cubicBezTo>
                <a:cubicBezTo>
                  <a:pt x="1634532" y="3490127"/>
                  <a:pt x="1672554" y="3488142"/>
                  <a:pt x="1708220" y="3476729"/>
                </a:cubicBezTo>
                <a:cubicBezTo>
                  <a:pt x="1793226" y="3449527"/>
                  <a:pt x="1948898" y="3366473"/>
                  <a:pt x="2019719" y="3326004"/>
                </a:cubicBezTo>
                <a:cubicBezTo>
                  <a:pt x="2045660" y="3311181"/>
                  <a:pt x="2166562" y="3234216"/>
                  <a:pt x="2200589" y="3205424"/>
                </a:cubicBezTo>
                <a:cubicBezTo>
                  <a:pt x="2265778" y="3150264"/>
                  <a:pt x="2327548" y="3091182"/>
                  <a:pt x="2391508" y="3034602"/>
                </a:cubicBezTo>
                <a:cubicBezTo>
                  <a:pt x="2414637" y="3014142"/>
                  <a:pt x="2438272" y="2994259"/>
                  <a:pt x="2461846" y="2974312"/>
                </a:cubicBezTo>
                <a:cubicBezTo>
                  <a:pt x="2481816" y="2957414"/>
                  <a:pt x="2505389" y="2944167"/>
                  <a:pt x="2522136" y="2924070"/>
                </a:cubicBezTo>
                <a:cubicBezTo>
                  <a:pt x="2580109" y="2854502"/>
                  <a:pt x="2557867" y="2885546"/>
                  <a:pt x="2592475" y="2833635"/>
                </a:cubicBezTo>
                <a:cubicBezTo>
                  <a:pt x="2595824" y="2823587"/>
                  <a:pt x="2598804" y="2813407"/>
                  <a:pt x="2602523" y="2803490"/>
                </a:cubicBezTo>
                <a:cubicBezTo>
                  <a:pt x="2623864" y="2746581"/>
                  <a:pt x="2622620" y="2771946"/>
                  <a:pt x="2622620" y="274320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0" name="Group 75">
            <a:extLst>
              <a:ext uri="{FF2B5EF4-FFF2-40B4-BE49-F238E27FC236}">
                <a16:creationId xmlns:a16="http://schemas.microsoft.com/office/drawing/2014/main" id="{442FD3B3-DD06-A037-0845-53B7B73CF8A9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636838"/>
            <a:ext cx="504825" cy="1023937"/>
            <a:chOff x="793" y="1524"/>
            <a:chExt cx="318" cy="645"/>
          </a:xfrm>
        </p:grpSpPr>
        <p:sp>
          <p:nvSpPr>
            <p:cNvPr id="22559" name="Line 76">
              <a:extLst>
                <a:ext uri="{FF2B5EF4-FFF2-40B4-BE49-F238E27FC236}">
                  <a16:creationId xmlns:a16="http://schemas.microsoft.com/office/drawing/2014/main" id="{E951B623-DA57-8D1A-7CCB-080FE518B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97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77">
              <a:extLst>
                <a:ext uri="{FF2B5EF4-FFF2-40B4-BE49-F238E27FC236}">
                  <a16:creationId xmlns:a16="http://schemas.microsoft.com/office/drawing/2014/main" id="{B19E97F1-C026-AF38-7F71-2A4DE8E2B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888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78">
              <a:extLst>
                <a:ext uri="{FF2B5EF4-FFF2-40B4-BE49-F238E27FC236}">
                  <a16:creationId xmlns:a16="http://schemas.microsoft.com/office/drawing/2014/main" id="{43A5E4DD-C85B-7A70-54B1-E163C1946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15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79">
              <a:extLst>
                <a:ext uri="{FF2B5EF4-FFF2-40B4-BE49-F238E27FC236}">
                  <a16:creationId xmlns:a16="http://schemas.microsoft.com/office/drawing/2014/main" id="{1989C42C-1250-5922-7422-542E53BB2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8" y="189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41" name="Group 80">
            <a:extLst>
              <a:ext uri="{FF2B5EF4-FFF2-40B4-BE49-F238E27FC236}">
                <a16:creationId xmlns:a16="http://schemas.microsoft.com/office/drawing/2014/main" id="{00B08600-63D6-19D7-1653-E4551A107A1D}"/>
              </a:ext>
            </a:extLst>
          </p:cNvPr>
          <p:cNvGrpSpPr>
            <a:grpSpLocks/>
          </p:cNvGrpSpPr>
          <p:nvPr/>
        </p:nvGrpSpPr>
        <p:grpSpPr bwMode="auto">
          <a:xfrm>
            <a:off x="1058863" y="4229100"/>
            <a:ext cx="504825" cy="1023938"/>
            <a:chOff x="793" y="1524"/>
            <a:chExt cx="318" cy="645"/>
          </a:xfrm>
        </p:grpSpPr>
        <p:sp>
          <p:nvSpPr>
            <p:cNvPr id="22555" name="Line 81">
              <a:extLst>
                <a:ext uri="{FF2B5EF4-FFF2-40B4-BE49-F238E27FC236}">
                  <a16:creationId xmlns:a16="http://schemas.microsoft.com/office/drawing/2014/main" id="{1B94A34B-C4D9-79AC-2262-7469AB149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97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82">
              <a:extLst>
                <a:ext uri="{FF2B5EF4-FFF2-40B4-BE49-F238E27FC236}">
                  <a16:creationId xmlns:a16="http://schemas.microsoft.com/office/drawing/2014/main" id="{0D1106F0-1430-AAF0-A60E-46613FF0B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888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Line 83">
              <a:extLst>
                <a:ext uri="{FF2B5EF4-FFF2-40B4-BE49-F238E27FC236}">
                  <a16:creationId xmlns:a16="http://schemas.microsoft.com/office/drawing/2014/main" id="{0EF11CF7-3EFD-2FC6-10F3-51017AF7D4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15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84">
              <a:extLst>
                <a:ext uri="{FF2B5EF4-FFF2-40B4-BE49-F238E27FC236}">
                  <a16:creationId xmlns:a16="http://schemas.microsoft.com/office/drawing/2014/main" id="{F12005BD-ECBB-3A5A-3F9D-E5BCBDDEB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8" y="189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42" name="Freeform 85">
            <a:extLst>
              <a:ext uri="{FF2B5EF4-FFF2-40B4-BE49-F238E27FC236}">
                <a16:creationId xmlns:a16="http://schemas.microsoft.com/office/drawing/2014/main" id="{51DE5258-DB05-66B6-28E7-9E4EDE5EC77D}"/>
              </a:ext>
            </a:extLst>
          </p:cNvPr>
          <p:cNvSpPr>
            <a:spLocks/>
          </p:cNvSpPr>
          <p:nvPr/>
        </p:nvSpPr>
        <p:spPr bwMode="auto">
          <a:xfrm>
            <a:off x="1289050" y="3654425"/>
            <a:ext cx="360363" cy="576263"/>
          </a:xfrm>
          <a:custGeom>
            <a:avLst/>
            <a:gdLst>
              <a:gd name="T0" fmla="*/ 0 w 227"/>
              <a:gd name="T1" fmla="*/ 0 h 363"/>
              <a:gd name="T2" fmla="*/ 2147483646 w 227"/>
              <a:gd name="T3" fmla="*/ 2147483646 h 363"/>
              <a:gd name="T4" fmla="*/ 0 w 227"/>
              <a:gd name="T5" fmla="*/ 2147483646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7" h="363">
                <a:moveTo>
                  <a:pt x="0" y="0"/>
                </a:moveTo>
                <a:cubicBezTo>
                  <a:pt x="113" y="61"/>
                  <a:pt x="227" y="122"/>
                  <a:pt x="227" y="182"/>
                </a:cubicBezTo>
                <a:cubicBezTo>
                  <a:pt x="227" y="242"/>
                  <a:pt x="38" y="333"/>
                  <a:pt x="0" y="363"/>
                </a:cubicBezTo>
              </a:path>
            </a:pathLst>
          </a:custGeom>
          <a:noFill/>
          <a:ln w="28575" cap="flat" cmpd="sng">
            <a:solidFill>
              <a:srgbClr val="333333"/>
            </a:solidFill>
            <a:prstDash val="solid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86">
            <a:extLst>
              <a:ext uri="{FF2B5EF4-FFF2-40B4-BE49-F238E27FC236}">
                <a16:creationId xmlns:a16="http://schemas.microsoft.com/office/drawing/2014/main" id="{70D56DD1-B8CB-1A4E-4AB4-903526DFF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3338" y="2646363"/>
            <a:ext cx="172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87">
            <a:extLst>
              <a:ext uri="{FF2B5EF4-FFF2-40B4-BE49-F238E27FC236}">
                <a16:creationId xmlns:a16="http://schemas.microsoft.com/office/drawing/2014/main" id="{FB01C24B-9762-ECBE-803B-C54C70249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5238750"/>
            <a:ext cx="18716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5" name="Group 92">
            <a:extLst>
              <a:ext uri="{FF2B5EF4-FFF2-40B4-BE49-F238E27FC236}">
                <a16:creationId xmlns:a16="http://schemas.microsoft.com/office/drawing/2014/main" id="{359F815F-FF37-AECB-CF36-43A303868D94}"/>
              </a:ext>
            </a:extLst>
          </p:cNvPr>
          <p:cNvGrpSpPr>
            <a:grpSpLocks/>
          </p:cNvGrpSpPr>
          <p:nvPr/>
        </p:nvGrpSpPr>
        <p:grpSpPr bwMode="auto">
          <a:xfrm>
            <a:off x="1289050" y="4229100"/>
            <a:ext cx="2024063" cy="590550"/>
            <a:chOff x="1655" y="2341"/>
            <a:chExt cx="998" cy="372"/>
          </a:xfrm>
        </p:grpSpPr>
        <p:sp>
          <p:nvSpPr>
            <p:cNvPr id="22550" name="Line 93">
              <a:extLst>
                <a:ext uri="{FF2B5EF4-FFF2-40B4-BE49-F238E27FC236}">
                  <a16:creationId xmlns:a16="http://schemas.microsoft.com/office/drawing/2014/main" id="{B824F857-9FB0-C092-8E4C-3458ABF4D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341"/>
              <a:ext cx="907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94">
              <a:extLst>
                <a:ext uri="{FF2B5EF4-FFF2-40B4-BE49-F238E27FC236}">
                  <a16:creationId xmlns:a16="http://schemas.microsoft.com/office/drawing/2014/main" id="{ECECDA70-9EDE-723C-6D91-31D9D4A87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613"/>
              <a:ext cx="182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95">
              <a:extLst>
                <a:ext uri="{FF2B5EF4-FFF2-40B4-BE49-F238E27FC236}">
                  <a16:creationId xmlns:a16="http://schemas.microsoft.com/office/drawing/2014/main" id="{B440A7D9-9DA6-A2CE-B373-7B051659A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59"/>
              <a:ext cx="113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96">
              <a:extLst>
                <a:ext uri="{FF2B5EF4-FFF2-40B4-BE49-F238E27FC236}">
                  <a16:creationId xmlns:a16="http://schemas.microsoft.com/office/drawing/2014/main" id="{57D4A387-AFD2-779F-9DCC-9A920F308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2713"/>
              <a:ext cx="45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97">
              <a:extLst>
                <a:ext uri="{FF2B5EF4-FFF2-40B4-BE49-F238E27FC236}">
                  <a16:creationId xmlns:a16="http://schemas.microsoft.com/office/drawing/2014/main" id="{A966500F-BBD9-3FA4-DBF8-5E9AE8430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2341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" name="Text Box 120">
            <a:extLst>
              <a:ext uri="{FF2B5EF4-FFF2-40B4-BE49-F238E27FC236}">
                <a16:creationId xmlns:a16="http://schemas.microsoft.com/office/drawing/2014/main" id="{3BDFFE7D-CB36-74FF-97FC-B03C76E52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45013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5V</a:t>
            </a:r>
          </a:p>
        </p:txBody>
      </p:sp>
      <p:sp>
        <p:nvSpPr>
          <p:cNvPr id="71" name="Text Box 121">
            <a:extLst>
              <a:ext uri="{FF2B5EF4-FFF2-40B4-BE49-F238E27FC236}">
                <a16:creationId xmlns:a16="http://schemas.microsoft.com/office/drawing/2014/main" id="{44A867E0-9A98-2FCD-4F1B-169FEB661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5V</a:t>
            </a:r>
          </a:p>
        </p:txBody>
      </p:sp>
      <p:sp>
        <p:nvSpPr>
          <p:cNvPr id="72" name="Text Box 120">
            <a:extLst>
              <a:ext uri="{FF2B5EF4-FFF2-40B4-BE49-F238E27FC236}">
                <a16:creationId xmlns:a16="http://schemas.microsoft.com/office/drawing/2014/main" id="{1FD0CB2D-2AA3-6078-53CC-C53D6FCDB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5102225"/>
            <a:ext cx="717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-5V</a:t>
            </a:r>
          </a:p>
        </p:txBody>
      </p:sp>
      <p:sp>
        <p:nvSpPr>
          <p:cNvPr id="73" name="Text Box 121">
            <a:extLst>
              <a:ext uri="{FF2B5EF4-FFF2-40B4-BE49-F238E27FC236}">
                <a16:creationId xmlns:a16="http://schemas.microsoft.com/office/drawing/2014/main" id="{152C4ACF-7D1E-98CE-1C6E-9F182453D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551113"/>
            <a:ext cx="717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+5V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414" grpId="0"/>
      <p:bldP spid="70" grpId="0"/>
      <p:bldP spid="71" grpId="0"/>
      <p:bldP spid="72" grpId="0"/>
      <p:bldP spid="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03">
            <a:extLst>
              <a:ext uri="{FF2B5EF4-FFF2-40B4-BE49-F238E27FC236}">
                <a16:creationId xmlns:a16="http://schemas.microsoft.com/office/drawing/2014/main" id="{34E8113F-D8FD-5C49-4944-A0DD1C39A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5"/>
          <a:stretch>
            <a:fillRect/>
          </a:stretch>
        </p:blipFill>
        <p:spPr bwMode="auto">
          <a:xfrm>
            <a:off x="4500563" y="679450"/>
            <a:ext cx="4141787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71">
            <a:extLst>
              <a:ext uri="{FF2B5EF4-FFF2-40B4-BE49-F238E27FC236}">
                <a16:creationId xmlns:a16="http://schemas.microsoft.com/office/drawing/2014/main" id="{6E35B260-E023-FD30-FE96-82A58335A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6275" y="942975"/>
            <a:ext cx="3095625" cy="363538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rgbClr val="0099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双电源的连接</a:t>
            </a:r>
          </a:p>
        </p:txBody>
      </p:sp>
      <p:sp>
        <p:nvSpPr>
          <p:cNvPr id="23556" name="Rectangle 72">
            <a:extLst>
              <a:ext uri="{FF2B5EF4-FFF2-40B4-BE49-F238E27FC236}">
                <a16:creationId xmlns:a16="http://schemas.microsoft.com/office/drawing/2014/main" id="{FADDD212-D1A6-8114-72E5-9839C9E1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pic>
        <p:nvPicPr>
          <p:cNvPr id="23557" name="Picture 73" descr="Untitled - 8">
            <a:extLst>
              <a:ext uri="{FF2B5EF4-FFF2-40B4-BE49-F238E27FC236}">
                <a16:creationId xmlns:a16="http://schemas.microsoft.com/office/drawing/2014/main" id="{18425494-FD3B-C29D-AF89-3EE6FFB87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60325"/>
            <a:ext cx="75882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Text Box 74">
            <a:extLst>
              <a:ext uri="{FF2B5EF4-FFF2-40B4-BE49-F238E27FC236}">
                <a16:creationId xmlns:a16="http://schemas.microsoft.com/office/drawing/2014/main" id="{C5BEB331-5EB0-1E66-0DA1-A704FE47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23838"/>
            <a:ext cx="2232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</a:rPr>
              <a:t>现代电子技术实验</a:t>
            </a:r>
          </a:p>
        </p:txBody>
      </p:sp>
      <p:sp>
        <p:nvSpPr>
          <p:cNvPr id="183414" name="Rectangle 118">
            <a:extLst>
              <a:ext uri="{FF2B5EF4-FFF2-40B4-BE49-F238E27FC236}">
                <a16:creationId xmlns:a16="http://schemas.microsoft.com/office/drawing/2014/main" id="{9EE35FF7-CC80-2822-8A5E-983B3504A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1544638"/>
            <a:ext cx="29702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</a:rPr>
              <a:t>选择“</a:t>
            </a:r>
            <a:r>
              <a:rPr lang="en-US" altLang="zh-CN" sz="1800" b="1">
                <a:solidFill>
                  <a:srgbClr val="000000"/>
                </a:solidFill>
              </a:rPr>
              <a:t>SER</a:t>
            </a:r>
            <a:r>
              <a:rPr lang="zh-CN" altLang="en-US" sz="1800" b="1">
                <a:solidFill>
                  <a:srgbClr val="000000"/>
                </a:solidFill>
              </a:rPr>
              <a:t>”，“</a:t>
            </a:r>
            <a:r>
              <a:rPr lang="en-US" altLang="zh-CN" sz="1800" b="1">
                <a:solidFill>
                  <a:srgbClr val="000000"/>
                </a:solidFill>
              </a:rPr>
              <a:t>CH1</a:t>
            </a:r>
            <a:r>
              <a:rPr lang="zh-CN" altLang="en-US" sz="1800" b="1">
                <a:solidFill>
                  <a:srgbClr val="000000"/>
                </a:solidFill>
              </a:rPr>
              <a:t>”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CACA31C-22A5-C793-E9FE-E3B97CC1DEEB}"/>
              </a:ext>
            </a:extLst>
          </p:cNvPr>
          <p:cNvGrpSpPr>
            <a:grpSpLocks/>
          </p:cNvGrpSpPr>
          <p:nvPr/>
        </p:nvGrpSpPr>
        <p:grpSpPr bwMode="auto">
          <a:xfrm>
            <a:off x="4603750" y="3716338"/>
            <a:ext cx="4214813" cy="1920875"/>
            <a:chOff x="2900" y="2341"/>
            <a:chExt cx="2655" cy="1210"/>
          </a:xfrm>
        </p:grpSpPr>
        <p:sp>
          <p:nvSpPr>
            <p:cNvPr id="23589" name="Rectangle 3">
              <a:extLst>
                <a:ext uri="{FF2B5EF4-FFF2-40B4-BE49-F238E27FC236}">
                  <a16:creationId xmlns:a16="http://schemas.microsoft.com/office/drawing/2014/main" id="{2FDD88C5-D89C-5FE1-EF5A-C294819BF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2341"/>
              <a:ext cx="2655" cy="1210"/>
            </a:xfrm>
            <a:prstGeom prst="rect">
              <a:avLst/>
            </a:prstGeom>
            <a:solidFill>
              <a:srgbClr val="FFFFCC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3590" name="Line 4">
              <a:extLst>
                <a:ext uri="{FF2B5EF4-FFF2-40B4-BE49-F238E27FC236}">
                  <a16:creationId xmlns:a16="http://schemas.microsoft.com/office/drawing/2014/main" id="{BD5DA6A8-C120-2825-BD87-59DF893CB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635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5">
              <a:extLst>
                <a:ext uri="{FF2B5EF4-FFF2-40B4-BE49-F238E27FC236}">
                  <a16:creationId xmlns:a16="http://schemas.microsoft.com/office/drawing/2014/main" id="{ED3884DE-7F6C-5760-A995-7CABC7121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733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6">
              <a:extLst>
                <a:ext uri="{FF2B5EF4-FFF2-40B4-BE49-F238E27FC236}">
                  <a16:creationId xmlns:a16="http://schemas.microsoft.com/office/drawing/2014/main" id="{FFFBD7DF-267C-42E5-9A9F-A1345BE14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831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7">
              <a:extLst>
                <a:ext uri="{FF2B5EF4-FFF2-40B4-BE49-F238E27FC236}">
                  <a16:creationId xmlns:a16="http://schemas.microsoft.com/office/drawing/2014/main" id="{E3966C9C-A5EC-C277-5D9F-B63FDC7DA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453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Line 8">
              <a:extLst>
                <a:ext uri="{FF2B5EF4-FFF2-40B4-BE49-F238E27FC236}">
                  <a16:creationId xmlns:a16="http://schemas.microsoft.com/office/drawing/2014/main" id="{1D8BD61D-99F8-86D4-7A21-8D3A3D403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061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Line 9">
              <a:extLst>
                <a:ext uri="{FF2B5EF4-FFF2-40B4-BE49-F238E27FC236}">
                  <a16:creationId xmlns:a16="http://schemas.microsoft.com/office/drawing/2014/main" id="{481F2EBE-16CF-3AC9-9852-A0131E632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159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6" name="Line 10">
              <a:extLst>
                <a:ext uri="{FF2B5EF4-FFF2-40B4-BE49-F238E27FC236}">
                  <a16:creationId xmlns:a16="http://schemas.microsoft.com/office/drawing/2014/main" id="{841468C1-88D2-9BD5-CC68-45A0C74B4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257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7" name="Line 11">
              <a:extLst>
                <a:ext uri="{FF2B5EF4-FFF2-40B4-BE49-F238E27FC236}">
                  <a16:creationId xmlns:a16="http://schemas.microsoft.com/office/drawing/2014/main" id="{500EAF73-F96A-B0E5-3039-3238E837F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355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8" name="Line 12">
              <a:extLst>
                <a:ext uri="{FF2B5EF4-FFF2-40B4-BE49-F238E27FC236}">
                  <a16:creationId xmlns:a16="http://schemas.microsoft.com/office/drawing/2014/main" id="{CC48A089-5D75-E0BE-C1E3-28F8CA6EF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438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9" name="Line 13">
              <a:extLst>
                <a:ext uri="{FF2B5EF4-FFF2-40B4-BE49-F238E27FC236}">
                  <a16:creationId xmlns:a16="http://schemas.microsoft.com/office/drawing/2014/main" id="{6FAF4AEE-4AC7-8859-3456-7DABCEE20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536"/>
              <a:ext cx="26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24DE45F0-35E0-42EE-B6A2-FD55FE93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" y="2799"/>
              <a:ext cx="516" cy="29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lang="en-US" altLang="zh-CN" sz="2400" b="1">
                  <a:solidFill>
                    <a:srgbClr val="FFFFFF"/>
                  </a:solidFill>
                </a:rPr>
                <a:t>OP07</a:t>
              </a:r>
            </a:p>
          </p:txBody>
        </p:sp>
        <p:sp>
          <p:nvSpPr>
            <p:cNvPr id="23601" name="Line 15">
              <a:extLst>
                <a:ext uri="{FF2B5EF4-FFF2-40B4-BE49-F238E27FC236}">
                  <a16:creationId xmlns:a16="http://schemas.microsoft.com/office/drawing/2014/main" id="{06F73A80-1F65-6675-62A5-3AB46E008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1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Line 16">
              <a:extLst>
                <a:ext uri="{FF2B5EF4-FFF2-40B4-BE49-F238E27FC236}">
                  <a16:creationId xmlns:a16="http://schemas.microsoft.com/office/drawing/2014/main" id="{7411CDB4-BCCD-96F1-7123-C882471CA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2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3" name="Line 17">
              <a:extLst>
                <a:ext uri="{FF2B5EF4-FFF2-40B4-BE49-F238E27FC236}">
                  <a16:creationId xmlns:a16="http://schemas.microsoft.com/office/drawing/2014/main" id="{1398F17C-CC0A-18F8-6A67-4A30F8C94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4" name="Line 18">
              <a:extLst>
                <a:ext uri="{FF2B5EF4-FFF2-40B4-BE49-F238E27FC236}">
                  <a16:creationId xmlns:a16="http://schemas.microsoft.com/office/drawing/2014/main" id="{0F9CCE7E-3F46-FADD-8002-192B04A00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Line 19">
              <a:extLst>
                <a:ext uri="{FF2B5EF4-FFF2-40B4-BE49-F238E27FC236}">
                  <a16:creationId xmlns:a16="http://schemas.microsoft.com/office/drawing/2014/main" id="{5C85EE47-8B02-1B44-7384-4C08034A7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6" name="Line 20">
              <a:extLst>
                <a:ext uri="{FF2B5EF4-FFF2-40B4-BE49-F238E27FC236}">
                  <a16:creationId xmlns:a16="http://schemas.microsoft.com/office/drawing/2014/main" id="{2700E3DE-3802-9C35-4F29-18745F263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Line 21">
              <a:extLst>
                <a:ext uri="{FF2B5EF4-FFF2-40B4-BE49-F238E27FC236}">
                  <a16:creationId xmlns:a16="http://schemas.microsoft.com/office/drawing/2014/main" id="{20312C53-4002-DC2F-A107-9B540D00D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8" name="Line 22">
              <a:extLst>
                <a:ext uri="{FF2B5EF4-FFF2-40B4-BE49-F238E27FC236}">
                  <a16:creationId xmlns:a16="http://schemas.microsoft.com/office/drawing/2014/main" id="{3B6BC831-8737-A00A-9702-2C8A1BD30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9" name="Line 23">
              <a:extLst>
                <a:ext uri="{FF2B5EF4-FFF2-40B4-BE49-F238E27FC236}">
                  <a16:creationId xmlns:a16="http://schemas.microsoft.com/office/drawing/2014/main" id="{004C9A72-931C-6A4B-97AC-4FE7EA648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0" name="Line 24">
              <a:extLst>
                <a:ext uri="{FF2B5EF4-FFF2-40B4-BE49-F238E27FC236}">
                  <a16:creationId xmlns:a16="http://schemas.microsoft.com/office/drawing/2014/main" id="{F91634F5-D00E-1239-C2AC-28698E572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7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1" name="Line 25">
              <a:extLst>
                <a:ext uri="{FF2B5EF4-FFF2-40B4-BE49-F238E27FC236}">
                  <a16:creationId xmlns:a16="http://schemas.microsoft.com/office/drawing/2014/main" id="{3BF5BA10-48EC-2959-3E33-DCF7AB439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2" name="Line 26">
              <a:extLst>
                <a:ext uri="{FF2B5EF4-FFF2-40B4-BE49-F238E27FC236}">
                  <a16:creationId xmlns:a16="http://schemas.microsoft.com/office/drawing/2014/main" id="{85302F1A-E2D8-666E-C24C-FBD5E26CC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8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3" name="Line 27">
              <a:extLst>
                <a:ext uri="{FF2B5EF4-FFF2-40B4-BE49-F238E27FC236}">
                  <a16:creationId xmlns:a16="http://schemas.microsoft.com/office/drawing/2014/main" id="{C59E91BC-7E3B-06BF-0EC0-988009215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4" name="Line 28">
              <a:extLst>
                <a:ext uri="{FF2B5EF4-FFF2-40B4-BE49-F238E27FC236}">
                  <a16:creationId xmlns:a16="http://schemas.microsoft.com/office/drawing/2014/main" id="{E0A8C641-CA47-21E3-14D8-AF0D4AEFF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Line 29">
              <a:extLst>
                <a:ext uri="{FF2B5EF4-FFF2-40B4-BE49-F238E27FC236}">
                  <a16:creationId xmlns:a16="http://schemas.microsoft.com/office/drawing/2014/main" id="{46F80A86-94A5-AC5A-6C56-B84A9F0E6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30">
              <a:extLst>
                <a:ext uri="{FF2B5EF4-FFF2-40B4-BE49-F238E27FC236}">
                  <a16:creationId xmlns:a16="http://schemas.microsoft.com/office/drawing/2014/main" id="{4D2F37C1-5306-A90D-E86E-D02FEC243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Line 31">
              <a:extLst>
                <a:ext uri="{FF2B5EF4-FFF2-40B4-BE49-F238E27FC236}">
                  <a16:creationId xmlns:a16="http://schemas.microsoft.com/office/drawing/2014/main" id="{F567A61B-1EE7-2E4D-8CAF-0415135A3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1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8" name="Line 32">
              <a:extLst>
                <a:ext uri="{FF2B5EF4-FFF2-40B4-BE49-F238E27FC236}">
                  <a16:creationId xmlns:a16="http://schemas.microsoft.com/office/drawing/2014/main" id="{502CBA16-252E-7D89-A8D2-5CEA240CC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2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Line 33">
              <a:extLst>
                <a:ext uri="{FF2B5EF4-FFF2-40B4-BE49-F238E27FC236}">
                  <a16:creationId xmlns:a16="http://schemas.microsoft.com/office/drawing/2014/main" id="{BDD392DF-F0C9-8938-F161-A4B7C2768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0" name="Line 34">
              <a:extLst>
                <a:ext uri="{FF2B5EF4-FFF2-40B4-BE49-F238E27FC236}">
                  <a16:creationId xmlns:a16="http://schemas.microsoft.com/office/drawing/2014/main" id="{C9BAD3DB-8CA7-39DD-F388-5CE49753D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1" name="Line 35">
              <a:extLst>
                <a:ext uri="{FF2B5EF4-FFF2-40B4-BE49-F238E27FC236}">
                  <a16:creationId xmlns:a16="http://schemas.microsoft.com/office/drawing/2014/main" id="{67A146A3-A99A-6E2E-3DF9-EE73CBC5F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2" name="Line 36">
              <a:extLst>
                <a:ext uri="{FF2B5EF4-FFF2-40B4-BE49-F238E27FC236}">
                  <a16:creationId xmlns:a16="http://schemas.microsoft.com/office/drawing/2014/main" id="{2689A404-DBC2-8E62-80D8-AF00463C5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Line 37">
              <a:extLst>
                <a:ext uri="{FF2B5EF4-FFF2-40B4-BE49-F238E27FC236}">
                  <a16:creationId xmlns:a16="http://schemas.microsoft.com/office/drawing/2014/main" id="{4DD86168-3D18-86EF-EAF0-BB92EF73C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4" y="2341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4" name="Line 38">
              <a:extLst>
                <a:ext uri="{FF2B5EF4-FFF2-40B4-BE49-F238E27FC236}">
                  <a16:creationId xmlns:a16="http://schemas.microsoft.com/office/drawing/2014/main" id="{7D4B5D3A-9C93-B682-1A4B-3982CF35F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1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5" name="Line 39">
              <a:extLst>
                <a:ext uri="{FF2B5EF4-FFF2-40B4-BE49-F238E27FC236}">
                  <a16:creationId xmlns:a16="http://schemas.microsoft.com/office/drawing/2014/main" id="{7BF83FA5-8582-5B6F-28DD-A874F6FCE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2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6" name="Line 40">
              <a:extLst>
                <a:ext uri="{FF2B5EF4-FFF2-40B4-BE49-F238E27FC236}">
                  <a16:creationId xmlns:a16="http://schemas.microsoft.com/office/drawing/2014/main" id="{46BCF898-3726-4ADF-B2EC-0931892EB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7" name="Line 41">
              <a:extLst>
                <a:ext uri="{FF2B5EF4-FFF2-40B4-BE49-F238E27FC236}">
                  <a16:creationId xmlns:a16="http://schemas.microsoft.com/office/drawing/2014/main" id="{CE4C725D-544E-456C-6B35-F34A761A9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3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8" name="Line 42">
              <a:extLst>
                <a:ext uri="{FF2B5EF4-FFF2-40B4-BE49-F238E27FC236}">
                  <a16:creationId xmlns:a16="http://schemas.microsoft.com/office/drawing/2014/main" id="{77981E57-5682-3F6E-ECCA-47525888F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3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9" name="Line 43">
              <a:extLst>
                <a:ext uri="{FF2B5EF4-FFF2-40B4-BE49-F238E27FC236}">
                  <a16:creationId xmlns:a16="http://schemas.microsoft.com/office/drawing/2014/main" id="{71A5DF42-0962-3B0D-9D60-CF9B1329F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0" name="Line 44">
              <a:extLst>
                <a:ext uri="{FF2B5EF4-FFF2-40B4-BE49-F238E27FC236}">
                  <a16:creationId xmlns:a16="http://schemas.microsoft.com/office/drawing/2014/main" id="{6E652E27-8CBF-FC47-4EEA-97178171F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1" name="Line 45">
              <a:extLst>
                <a:ext uri="{FF2B5EF4-FFF2-40B4-BE49-F238E27FC236}">
                  <a16:creationId xmlns:a16="http://schemas.microsoft.com/office/drawing/2014/main" id="{B48D12F1-A3B7-9A3E-D615-105FC1D55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2" name="Line 46">
              <a:extLst>
                <a:ext uri="{FF2B5EF4-FFF2-40B4-BE49-F238E27FC236}">
                  <a16:creationId xmlns:a16="http://schemas.microsoft.com/office/drawing/2014/main" id="{42BE2830-2308-3236-A494-F4B0F8729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3" name="Line 47">
              <a:extLst>
                <a:ext uri="{FF2B5EF4-FFF2-40B4-BE49-F238E27FC236}">
                  <a16:creationId xmlns:a16="http://schemas.microsoft.com/office/drawing/2014/main" id="{6CF3859C-A1FB-E16B-D96C-0FA868599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7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4" name="Line 48">
              <a:extLst>
                <a:ext uri="{FF2B5EF4-FFF2-40B4-BE49-F238E27FC236}">
                  <a16:creationId xmlns:a16="http://schemas.microsoft.com/office/drawing/2014/main" id="{CE155DAA-08B9-736F-A260-726FE0067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5" name="Line 49">
              <a:extLst>
                <a:ext uri="{FF2B5EF4-FFF2-40B4-BE49-F238E27FC236}">
                  <a16:creationId xmlns:a16="http://schemas.microsoft.com/office/drawing/2014/main" id="{73166F3E-D550-1B80-2B36-53A18EEF4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8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6" name="Line 50">
              <a:extLst>
                <a:ext uri="{FF2B5EF4-FFF2-40B4-BE49-F238E27FC236}">
                  <a16:creationId xmlns:a16="http://schemas.microsoft.com/office/drawing/2014/main" id="{915AA210-0FD7-5945-3D7E-B39EC1A88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7" name="Line 51">
              <a:extLst>
                <a:ext uri="{FF2B5EF4-FFF2-40B4-BE49-F238E27FC236}">
                  <a16:creationId xmlns:a16="http://schemas.microsoft.com/office/drawing/2014/main" id="{E60CD390-3CCB-0661-931F-268F62A04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8" name="Line 52">
              <a:extLst>
                <a:ext uri="{FF2B5EF4-FFF2-40B4-BE49-F238E27FC236}">
                  <a16:creationId xmlns:a16="http://schemas.microsoft.com/office/drawing/2014/main" id="{F655A851-7656-23A5-23D0-1A3B916FB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9" name="Line 53">
              <a:extLst>
                <a:ext uri="{FF2B5EF4-FFF2-40B4-BE49-F238E27FC236}">
                  <a16:creationId xmlns:a16="http://schemas.microsoft.com/office/drawing/2014/main" id="{7480253D-2EE6-DB91-56C8-9A82A251C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0" name="Line 54">
              <a:extLst>
                <a:ext uri="{FF2B5EF4-FFF2-40B4-BE49-F238E27FC236}">
                  <a16:creationId xmlns:a16="http://schemas.microsoft.com/office/drawing/2014/main" id="{0780441F-4BE4-79C3-938D-1CF1901DA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1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1" name="Line 55">
              <a:extLst>
                <a:ext uri="{FF2B5EF4-FFF2-40B4-BE49-F238E27FC236}">
                  <a16:creationId xmlns:a16="http://schemas.microsoft.com/office/drawing/2014/main" id="{8B5BDE9A-E834-8FE4-6400-41418522D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2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2" name="Line 56">
              <a:extLst>
                <a:ext uri="{FF2B5EF4-FFF2-40B4-BE49-F238E27FC236}">
                  <a16:creationId xmlns:a16="http://schemas.microsoft.com/office/drawing/2014/main" id="{036BE329-443B-9A45-D91A-00CA53A89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3" name="Line 57">
              <a:extLst>
                <a:ext uri="{FF2B5EF4-FFF2-40B4-BE49-F238E27FC236}">
                  <a16:creationId xmlns:a16="http://schemas.microsoft.com/office/drawing/2014/main" id="{05B40CA3-1AF6-47B2-8EB7-24CC228B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4" name="Line 58">
              <a:extLst>
                <a:ext uri="{FF2B5EF4-FFF2-40B4-BE49-F238E27FC236}">
                  <a16:creationId xmlns:a16="http://schemas.microsoft.com/office/drawing/2014/main" id="{2AAD6DE4-B331-361B-C3DF-D2DC02DE5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5" name="Line 59">
              <a:extLst>
                <a:ext uri="{FF2B5EF4-FFF2-40B4-BE49-F238E27FC236}">
                  <a16:creationId xmlns:a16="http://schemas.microsoft.com/office/drawing/2014/main" id="{30FE2D85-08C7-8728-B071-75B9B7F8E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6" name="Line 60">
              <a:extLst>
                <a:ext uri="{FF2B5EF4-FFF2-40B4-BE49-F238E27FC236}">
                  <a16:creationId xmlns:a16="http://schemas.microsoft.com/office/drawing/2014/main" id="{CDA569D8-F195-989B-3A69-95589CCC5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4" y="3060"/>
              <a:ext cx="0" cy="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7" name="Line 61">
              <a:extLst>
                <a:ext uri="{FF2B5EF4-FFF2-40B4-BE49-F238E27FC236}">
                  <a16:creationId xmlns:a16="http://schemas.microsoft.com/office/drawing/2014/main" id="{C63A7B2D-29BB-2A8F-7E3A-BB1CE99DE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0" y="3229"/>
              <a:ext cx="1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8" name="AutoShape 62">
              <a:extLst>
                <a:ext uri="{FF2B5EF4-FFF2-40B4-BE49-F238E27FC236}">
                  <a16:creationId xmlns:a16="http://schemas.microsoft.com/office/drawing/2014/main" id="{55A92C27-7358-00D6-07D4-58137ABA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1" y="3093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9" name="AutoShape 63">
              <a:extLst>
                <a:ext uri="{FF2B5EF4-FFF2-40B4-BE49-F238E27FC236}">
                  <a16:creationId xmlns:a16="http://schemas.microsoft.com/office/drawing/2014/main" id="{0C192C7F-689B-1B9E-72B9-1BCAA9D01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" y="3093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0" name="AutoShape 64">
              <a:extLst>
                <a:ext uri="{FF2B5EF4-FFF2-40B4-BE49-F238E27FC236}">
                  <a16:creationId xmlns:a16="http://schemas.microsoft.com/office/drawing/2014/main" id="{06A86B9B-A37F-83F2-500B-F33CAD165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093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1" name="AutoShape 65">
              <a:extLst>
                <a:ext uri="{FF2B5EF4-FFF2-40B4-BE49-F238E27FC236}">
                  <a16:creationId xmlns:a16="http://schemas.microsoft.com/office/drawing/2014/main" id="{01831286-7301-C883-6811-B04EE8BD3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3093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2" name="AutoShape 66">
              <a:extLst>
                <a:ext uri="{FF2B5EF4-FFF2-40B4-BE49-F238E27FC236}">
                  <a16:creationId xmlns:a16="http://schemas.microsoft.com/office/drawing/2014/main" id="{C0B228CF-9BB7-BD3B-5E38-43C24511C9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691" y="2766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3" name="AutoShape 67">
              <a:extLst>
                <a:ext uri="{FF2B5EF4-FFF2-40B4-BE49-F238E27FC236}">
                  <a16:creationId xmlns:a16="http://schemas.microsoft.com/office/drawing/2014/main" id="{FBE6B7D5-034E-1F1B-A40D-6CBB6FD686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802" y="2766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4" name="AutoShape 68">
              <a:extLst>
                <a:ext uri="{FF2B5EF4-FFF2-40B4-BE49-F238E27FC236}">
                  <a16:creationId xmlns:a16="http://schemas.microsoft.com/office/drawing/2014/main" id="{B5545CF6-E4DE-1019-D218-FE36A5D5E6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09" y="2766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5" name="AutoShape 69">
              <a:extLst>
                <a:ext uri="{FF2B5EF4-FFF2-40B4-BE49-F238E27FC236}">
                  <a16:creationId xmlns:a16="http://schemas.microsoft.com/office/drawing/2014/main" id="{4ABA28A1-3829-6992-CDE1-A203EDA3B8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023" y="2766"/>
              <a:ext cx="74" cy="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582 h 21600"/>
                <a:gd name="T14" fmla="*/ 17222 w 21600"/>
                <a:gd name="T15" fmla="*/ 1701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78" name="Freeform 113">
            <a:extLst>
              <a:ext uri="{FF2B5EF4-FFF2-40B4-BE49-F238E27FC236}">
                <a16:creationId xmlns:a16="http://schemas.microsoft.com/office/drawing/2014/main" id="{C0D47E47-B442-079E-42BB-818AA97826E1}"/>
              </a:ext>
            </a:extLst>
          </p:cNvPr>
          <p:cNvSpPr>
            <a:spLocks/>
          </p:cNvSpPr>
          <p:nvPr/>
        </p:nvSpPr>
        <p:spPr bwMode="auto">
          <a:xfrm flipH="1">
            <a:off x="6084888" y="2905125"/>
            <a:ext cx="1295400" cy="890588"/>
          </a:xfrm>
          <a:custGeom>
            <a:avLst/>
            <a:gdLst>
              <a:gd name="T0" fmla="*/ 0 w 453"/>
              <a:gd name="T1" fmla="*/ 0 h 907"/>
              <a:gd name="T2" fmla="*/ 2147483646 w 453"/>
              <a:gd name="T3" fmla="*/ 2147483646 h 907"/>
              <a:gd name="T4" fmla="*/ 2147483646 w 453"/>
              <a:gd name="T5" fmla="*/ 2147483646 h 9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53" h="907">
                <a:moveTo>
                  <a:pt x="0" y="0"/>
                </a:moveTo>
                <a:cubicBezTo>
                  <a:pt x="53" y="128"/>
                  <a:pt x="106" y="257"/>
                  <a:pt x="181" y="408"/>
                </a:cubicBezTo>
                <a:cubicBezTo>
                  <a:pt x="256" y="559"/>
                  <a:pt x="354" y="733"/>
                  <a:pt x="453" y="90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9" name="Line 122">
            <a:extLst>
              <a:ext uri="{FF2B5EF4-FFF2-40B4-BE49-F238E27FC236}">
                <a16:creationId xmlns:a16="http://schemas.microsoft.com/office/drawing/2014/main" id="{650124C0-9451-5498-E030-1EE7180BC2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10463" y="4768850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0" name="Freeform 124">
            <a:extLst>
              <a:ext uri="{FF2B5EF4-FFF2-40B4-BE49-F238E27FC236}">
                <a16:creationId xmlns:a16="http://schemas.microsoft.com/office/drawing/2014/main" id="{A76B3A4E-B8FA-835B-74E5-86B5668E16BC}"/>
              </a:ext>
            </a:extLst>
          </p:cNvPr>
          <p:cNvSpPr>
            <a:spLocks/>
          </p:cNvSpPr>
          <p:nvPr/>
        </p:nvSpPr>
        <p:spPr bwMode="auto">
          <a:xfrm>
            <a:off x="5897563" y="2906713"/>
            <a:ext cx="1658937" cy="1898650"/>
          </a:xfrm>
          <a:custGeom>
            <a:avLst/>
            <a:gdLst>
              <a:gd name="T0" fmla="*/ 0 w 235"/>
              <a:gd name="T1" fmla="*/ 0 h 589"/>
              <a:gd name="T2" fmla="*/ 2147483646 w 235"/>
              <a:gd name="T3" fmla="*/ 2147483646 h 589"/>
              <a:gd name="T4" fmla="*/ 2147483646 w 235"/>
              <a:gd name="T5" fmla="*/ 2147483646 h 589"/>
              <a:gd name="T6" fmla="*/ 2147483646 w 235"/>
              <a:gd name="T7" fmla="*/ 2147483646 h 5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35" h="589">
                <a:moveTo>
                  <a:pt x="0" y="0"/>
                </a:moveTo>
                <a:cubicBezTo>
                  <a:pt x="72" y="72"/>
                  <a:pt x="144" y="144"/>
                  <a:pt x="182" y="227"/>
                </a:cubicBezTo>
                <a:cubicBezTo>
                  <a:pt x="220" y="310"/>
                  <a:pt x="219" y="439"/>
                  <a:pt x="227" y="499"/>
                </a:cubicBezTo>
                <a:cubicBezTo>
                  <a:pt x="235" y="559"/>
                  <a:pt x="231" y="574"/>
                  <a:pt x="227" y="58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1" name="任意多边形: 形状 11280">
            <a:extLst>
              <a:ext uri="{FF2B5EF4-FFF2-40B4-BE49-F238E27FC236}">
                <a16:creationId xmlns:a16="http://schemas.microsoft.com/office/drawing/2014/main" id="{A25B9C47-67BD-0FF3-9EE4-B06A66B066DC}"/>
              </a:ext>
            </a:extLst>
          </p:cNvPr>
          <p:cNvSpPr>
            <a:spLocks/>
          </p:cNvSpPr>
          <p:nvPr/>
        </p:nvSpPr>
        <p:spPr bwMode="auto">
          <a:xfrm>
            <a:off x="5370513" y="3060700"/>
            <a:ext cx="1085850" cy="3019425"/>
          </a:xfrm>
          <a:custGeom>
            <a:avLst/>
            <a:gdLst>
              <a:gd name="T0" fmla="*/ 26035 w 1130061"/>
              <a:gd name="T1" fmla="*/ 0 h 3154680"/>
              <a:gd name="T2" fmla="*/ 38509 w 1130061"/>
              <a:gd name="T3" fmla="*/ 770991 h 3154680"/>
              <a:gd name="T4" fmla="*/ 13561 w 1130061"/>
              <a:gd name="T5" fmla="*/ 1321700 h 3154680"/>
              <a:gd name="T6" fmla="*/ 82168 w 1130061"/>
              <a:gd name="T7" fmla="*/ 2270140 h 3154680"/>
              <a:gd name="T8" fmla="*/ 132065 w 1130061"/>
              <a:gd name="T9" fmla="*/ 2355807 h 3154680"/>
              <a:gd name="T10" fmla="*/ 219384 w 1130061"/>
              <a:gd name="T11" fmla="*/ 2441471 h 3154680"/>
              <a:gd name="T12" fmla="*/ 406494 w 1130061"/>
              <a:gd name="T13" fmla="*/ 2521017 h 3154680"/>
              <a:gd name="T14" fmla="*/ 593605 w 1130061"/>
              <a:gd name="T15" fmla="*/ 2533257 h 3154680"/>
              <a:gd name="T16" fmla="*/ 793189 w 1130061"/>
              <a:gd name="T17" fmla="*/ 2447591 h 3154680"/>
              <a:gd name="T18" fmla="*/ 892982 w 1130061"/>
              <a:gd name="T19" fmla="*/ 2343568 h 3154680"/>
              <a:gd name="T20" fmla="*/ 917930 w 1130061"/>
              <a:gd name="T21" fmla="*/ 2117166 h 3154680"/>
              <a:gd name="T22" fmla="*/ 899220 w 1130061"/>
              <a:gd name="T23" fmla="*/ 2086570 h 315468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30061" h="3154680">
                <a:moveTo>
                  <a:pt x="31808" y="0"/>
                </a:moveTo>
                <a:cubicBezTo>
                  <a:pt x="36888" y="320040"/>
                  <a:pt x="50012" y="640053"/>
                  <a:pt x="47048" y="960120"/>
                </a:cubicBezTo>
                <a:cubicBezTo>
                  <a:pt x="44929" y="1188936"/>
                  <a:pt x="16568" y="1417094"/>
                  <a:pt x="16568" y="1645920"/>
                </a:cubicBezTo>
                <a:cubicBezTo>
                  <a:pt x="16568" y="1998056"/>
                  <a:pt x="-55321" y="2463698"/>
                  <a:pt x="100388" y="2827020"/>
                </a:cubicBezTo>
                <a:cubicBezTo>
                  <a:pt x="116521" y="2864665"/>
                  <a:pt x="136044" y="2901495"/>
                  <a:pt x="161348" y="2933700"/>
                </a:cubicBezTo>
                <a:cubicBezTo>
                  <a:pt x="192418" y="2973244"/>
                  <a:pt x="225165" y="3014078"/>
                  <a:pt x="268028" y="3040380"/>
                </a:cubicBezTo>
                <a:cubicBezTo>
                  <a:pt x="338811" y="3083815"/>
                  <a:pt x="416061" y="3119298"/>
                  <a:pt x="496628" y="3139440"/>
                </a:cubicBezTo>
                <a:cubicBezTo>
                  <a:pt x="570717" y="3157962"/>
                  <a:pt x="649028" y="3149600"/>
                  <a:pt x="725228" y="3154680"/>
                </a:cubicBezTo>
                <a:cubicBezTo>
                  <a:pt x="829017" y="3120084"/>
                  <a:pt x="881924" y="3112411"/>
                  <a:pt x="969068" y="3048000"/>
                </a:cubicBezTo>
                <a:cubicBezTo>
                  <a:pt x="1000091" y="3025070"/>
                  <a:pt x="1063672" y="2949678"/>
                  <a:pt x="1090988" y="2918460"/>
                </a:cubicBezTo>
                <a:cubicBezTo>
                  <a:pt x="1133105" y="2749991"/>
                  <a:pt x="1137510" y="2796943"/>
                  <a:pt x="1121468" y="2636520"/>
                </a:cubicBezTo>
                <a:cubicBezTo>
                  <a:pt x="1119270" y="2614538"/>
                  <a:pt x="1112646" y="2612458"/>
                  <a:pt x="1098608" y="259842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2" name="TextBox 4">
            <a:extLst>
              <a:ext uri="{FF2B5EF4-FFF2-40B4-BE49-F238E27FC236}">
                <a16:creationId xmlns:a16="http://schemas.microsoft.com/office/drawing/2014/main" id="{6CF72B73-D0BF-9E17-808F-CEEDB9B82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049963"/>
            <a:ext cx="8283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注意：所有连线检查无误后，再按下电源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下“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”加电，同时不要把脸趴在面包板上</a:t>
            </a:r>
          </a:p>
        </p:txBody>
      </p:sp>
      <p:grpSp>
        <p:nvGrpSpPr>
          <p:cNvPr id="23566" name="Group 75">
            <a:extLst>
              <a:ext uri="{FF2B5EF4-FFF2-40B4-BE49-F238E27FC236}">
                <a16:creationId xmlns:a16="http://schemas.microsoft.com/office/drawing/2014/main" id="{FE80C2D8-4048-595A-EC02-8A9DDA737549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636838"/>
            <a:ext cx="504825" cy="1023937"/>
            <a:chOff x="793" y="1524"/>
            <a:chExt cx="318" cy="645"/>
          </a:xfrm>
        </p:grpSpPr>
        <p:sp>
          <p:nvSpPr>
            <p:cNvPr id="23585" name="Line 76">
              <a:extLst>
                <a:ext uri="{FF2B5EF4-FFF2-40B4-BE49-F238E27FC236}">
                  <a16:creationId xmlns:a16="http://schemas.microsoft.com/office/drawing/2014/main" id="{75D96CD6-6FFB-DD34-64D9-8762ACF9C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97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77">
              <a:extLst>
                <a:ext uri="{FF2B5EF4-FFF2-40B4-BE49-F238E27FC236}">
                  <a16:creationId xmlns:a16="http://schemas.microsoft.com/office/drawing/2014/main" id="{A1FB005E-D983-CEFC-2413-19A0836A4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888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78">
              <a:extLst>
                <a:ext uri="{FF2B5EF4-FFF2-40B4-BE49-F238E27FC236}">
                  <a16:creationId xmlns:a16="http://schemas.microsoft.com/office/drawing/2014/main" id="{B5513A87-8E3E-8826-0800-2970A0EA73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15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79">
              <a:extLst>
                <a:ext uri="{FF2B5EF4-FFF2-40B4-BE49-F238E27FC236}">
                  <a16:creationId xmlns:a16="http://schemas.microsoft.com/office/drawing/2014/main" id="{CBDF68FC-A452-881E-B35F-138A17A5C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8" y="189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7" name="Group 80">
            <a:extLst>
              <a:ext uri="{FF2B5EF4-FFF2-40B4-BE49-F238E27FC236}">
                <a16:creationId xmlns:a16="http://schemas.microsoft.com/office/drawing/2014/main" id="{F60D4702-CBE0-C662-98AA-2E8F58609E53}"/>
              </a:ext>
            </a:extLst>
          </p:cNvPr>
          <p:cNvGrpSpPr>
            <a:grpSpLocks/>
          </p:cNvGrpSpPr>
          <p:nvPr/>
        </p:nvGrpSpPr>
        <p:grpSpPr bwMode="auto">
          <a:xfrm>
            <a:off x="1058863" y="4229100"/>
            <a:ext cx="504825" cy="1023938"/>
            <a:chOff x="793" y="1524"/>
            <a:chExt cx="318" cy="645"/>
          </a:xfrm>
        </p:grpSpPr>
        <p:sp>
          <p:nvSpPr>
            <p:cNvPr id="23581" name="Line 81">
              <a:extLst>
                <a:ext uri="{FF2B5EF4-FFF2-40B4-BE49-F238E27FC236}">
                  <a16:creationId xmlns:a16="http://schemas.microsoft.com/office/drawing/2014/main" id="{2404BA5D-0E75-90AA-8E28-27F1990F9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97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82">
              <a:extLst>
                <a:ext uri="{FF2B5EF4-FFF2-40B4-BE49-F238E27FC236}">
                  <a16:creationId xmlns:a16="http://schemas.microsoft.com/office/drawing/2014/main" id="{03DC86BE-E66A-93B4-E16D-FECDEB8B6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888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83">
              <a:extLst>
                <a:ext uri="{FF2B5EF4-FFF2-40B4-BE49-F238E27FC236}">
                  <a16:creationId xmlns:a16="http://schemas.microsoft.com/office/drawing/2014/main" id="{91F57B6A-06C2-CCCB-1BC4-2F269C9BF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152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84">
              <a:extLst>
                <a:ext uri="{FF2B5EF4-FFF2-40B4-BE49-F238E27FC236}">
                  <a16:creationId xmlns:a16="http://schemas.microsoft.com/office/drawing/2014/main" id="{00C440AA-0602-1B36-B1C6-CB5DF9EA7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8" y="189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68" name="Freeform 85">
            <a:extLst>
              <a:ext uri="{FF2B5EF4-FFF2-40B4-BE49-F238E27FC236}">
                <a16:creationId xmlns:a16="http://schemas.microsoft.com/office/drawing/2014/main" id="{E4EBFBB7-E820-E926-A040-2059FF9FFA52}"/>
              </a:ext>
            </a:extLst>
          </p:cNvPr>
          <p:cNvSpPr>
            <a:spLocks/>
          </p:cNvSpPr>
          <p:nvPr/>
        </p:nvSpPr>
        <p:spPr bwMode="auto">
          <a:xfrm>
            <a:off x="1289050" y="3654425"/>
            <a:ext cx="360363" cy="576263"/>
          </a:xfrm>
          <a:custGeom>
            <a:avLst/>
            <a:gdLst>
              <a:gd name="T0" fmla="*/ 0 w 227"/>
              <a:gd name="T1" fmla="*/ 0 h 363"/>
              <a:gd name="T2" fmla="*/ 2147483646 w 227"/>
              <a:gd name="T3" fmla="*/ 2147483646 h 363"/>
              <a:gd name="T4" fmla="*/ 0 w 227"/>
              <a:gd name="T5" fmla="*/ 2147483646 h 3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7" h="363">
                <a:moveTo>
                  <a:pt x="0" y="0"/>
                </a:moveTo>
                <a:cubicBezTo>
                  <a:pt x="113" y="61"/>
                  <a:pt x="227" y="122"/>
                  <a:pt x="227" y="182"/>
                </a:cubicBezTo>
                <a:cubicBezTo>
                  <a:pt x="227" y="242"/>
                  <a:pt x="38" y="333"/>
                  <a:pt x="0" y="363"/>
                </a:cubicBezTo>
              </a:path>
            </a:pathLst>
          </a:custGeom>
          <a:noFill/>
          <a:ln w="28575" cap="flat" cmpd="sng">
            <a:solidFill>
              <a:srgbClr val="333333"/>
            </a:solidFill>
            <a:prstDash val="solid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86">
            <a:extLst>
              <a:ext uri="{FF2B5EF4-FFF2-40B4-BE49-F238E27FC236}">
                <a16:creationId xmlns:a16="http://schemas.microsoft.com/office/drawing/2014/main" id="{17AEC3D5-9BE3-1DFB-1606-463D71D76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3338" y="2646363"/>
            <a:ext cx="172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87">
            <a:extLst>
              <a:ext uri="{FF2B5EF4-FFF2-40B4-BE49-F238E27FC236}">
                <a16:creationId xmlns:a16="http://schemas.microsoft.com/office/drawing/2014/main" id="{F3957BD5-3E78-B39F-1FE0-A6A2A7161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5238750"/>
            <a:ext cx="18716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571" name="Group 92">
            <a:extLst>
              <a:ext uri="{FF2B5EF4-FFF2-40B4-BE49-F238E27FC236}">
                <a16:creationId xmlns:a16="http://schemas.microsoft.com/office/drawing/2014/main" id="{3664E485-0547-DDFC-C61B-A4334DBCE3B0}"/>
              </a:ext>
            </a:extLst>
          </p:cNvPr>
          <p:cNvGrpSpPr>
            <a:grpSpLocks/>
          </p:cNvGrpSpPr>
          <p:nvPr/>
        </p:nvGrpSpPr>
        <p:grpSpPr bwMode="auto">
          <a:xfrm>
            <a:off x="1289050" y="4229100"/>
            <a:ext cx="2024063" cy="590550"/>
            <a:chOff x="1655" y="2341"/>
            <a:chExt cx="998" cy="372"/>
          </a:xfrm>
        </p:grpSpPr>
        <p:sp>
          <p:nvSpPr>
            <p:cNvPr id="23576" name="Line 93">
              <a:extLst>
                <a:ext uri="{FF2B5EF4-FFF2-40B4-BE49-F238E27FC236}">
                  <a16:creationId xmlns:a16="http://schemas.microsoft.com/office/drawing/2014/main" id="{29274F74-643D-EA0A-B6BE-FCEF06B9A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341"/>
              <a:ext cx="907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Line 94">
              <a:extLst>
                <a:ext uri="{FF2B5EF4-FFF2-40B4-BE49-F238E27FC236}">
                  <a16:creationId xmlns:a16="http://schemas.microsoft.com/office/drawing/2014/main" id="{E17085EF-BA6C-5EFE-76C8-19D7C498C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613"/>
              <a:ext cx="182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95">
              <a:extLst>
                <a:ext uri="{FF2B5EF4-FFF2-40B4-BE49-F238E27FC236}">
                  <a16:creationId xmlns:a16="http://schemas.microsoft.com/office/drawing/2014/main" id="{C883F45F-05FD-2A74-753B-D1D84B945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59"/>
              <a:ext cx="113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96">
              <a:extLst>
                <a:ext uri="{FF2B5EF4-FFF2-40B4-BE49-F238E27FC236}">
                  <a16:creationId xmlns:a16="http://schemas.microsoft.com/office/drawing/2014/main" id="{EFBA1B0B-2C23-F649-68B2-7900213CD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" y="2713"/>
              <a:ext cx="45" cy="0"/>
            </a:xfrm>
            <a:prstGeom prst="line">
              <a:avLst/>
            </a:pr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97">
              <a:extLst>
                <a:ext uri="{FF2B5EF4-FFF2-40B4-BE49-F238E27FC236}">
                  <a16:creationId xmlns:a16="http://schemas.microsoft.com/office/drawing/2014/main" id="{86D6BE1D-BF9A-DEBB-D6B0-BD96581D7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2341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" name="Text Box 120">
            <a:extLst>
              <a:ext uri="{FF2B5EF4-FFF2-40B4-BE49-F238E27FC236}">
                <a16:creationId xmlns:a16="http://schemas.microsoft.com/office/drawing/2014/main" id="{8C7697F4-FF57-2DB1-3C97-C9C0A228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45013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5V</a:t>
            </a:r>
          </a:p>
        </p:txBody>
      </p:sp>
      <p:sp>
        <p:nvSpPr>
          <p:cNvPr id="124" name="Text Box 121">
            <a:extLst>
              <a:ext uri="{FF2B5EF4-FFF2-40B4-BE49-F238E27FC236}">
                <a16:creationId xmlns:a16="http://schemas.microsoft.com/office/drawing/2014/main" id="{0E9F679C-E9CE-AA5A-613F-CD5887CF8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5V</a:t>
            </a:r>
          </a:p>
        </p:txBody>
      </p:sp>
      <p:sp>
        <p:nvSpPr>
          <p:cNvPr id="125" name="Text Box 120">
            <a:extLst>
              <a:ext uri="{FF2B5EF4-FFF2-40B4-BE49-F238E27FC236}">
                <a16:creationId xmlns:a16="http://schemas.microsoft.com/office/drawing/2014/main" id="{B7B6464C-EEE8-C738-B50E-6D4227BEA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5102225"/>
            <a:ext cx="717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-5V</a:t>
            </a:r>
          </a:p>
        </p:txBody>
      </p:sp>
      <p:sp>
        <p:nvSpPr>
          <p:cNvPr id="126" name="Text Box 121">
            <a:extLst>
              <a:ext uri="{FF2B5EF4-FFF2-40B4-BE49-F238E27FC236}">
                <a16:creationId xmlns:a16="http://schemas.microsoft.com/office/drawing/2014/main" id="{1AEB0DB9-35F3-F988-98D6-791B9666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551113"/>
            <a:ext cx="717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+5V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414" grpId="0"/>
      <p:bldP spid="11282" grpId="0"/>
      <p:bldP spid="123" grpId="0"/>
      <p:bldP spid="124" grpId="0"/>
      <p:bldP spid="125" grpId="0"/>
      <p:bldP spid="1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>
            <a:extLst>
              <a:ext uri="{FF2B5EF4-FFF2-40B4-BE49-F238E27FC236}">
                <a16:creationId xmlns:a16="http://schemas.microsoft.com/office/drawing/2014/main" id="{7CEDD245-DFB7-D9BC-3E65-B97925D5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8" y="1539875"/>
            <a:ext cx="31908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9" name="TextBox 4">
            <a:extLst>
              <a:ext uri="{FF2B5EF4-FFF2-40B4-BE49-F238E27FC236}">
                <a16:creationId xmlns:a16="http://schemas.microsoft.com/office/drawing/2014/main" id="{0ECB50F4-B647-4431-476B-94B8332C4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21923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测试电路</a:t>
            </a:r>
          </a:p>
        </p:txBody>
      </p:sp>
      <p:sp>
        <p:nvSpPr>
          <p:cNvPr id="24580" name="TextBox 7167">
            <a:extLst>
              <a:ext uri="{FF2B5EF4-FFF2-40B4-BE49-F238E27FC236}">
                <a16:creationId xmlns:a16="http://schemas.microsoft.com/office/drawing/2014/main" id="{EA8B7F1E-A9B9-52B7-B7CF-1219202BD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765175"/>
            <a:ext cx="2016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en-US" altLang="zh-CN" b="1">
              <a:solidFill>
                <a:srgbClr val="181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1" name="TextBox 7167">
            <a:extLst>
              <a:ext uri="{FF2B5EF4-FFF2-40B4-BE49-F238E27FC236}">
                <a16:creationId xmlns:a16="http://schemas.microsoft.com/office/drawing/2014/main" id="{CAFDF13D-CA82-0842-6A24-9CE30B8D4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1149350"/>
            <a:ext cx="81407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比较运放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OP07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LF356(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TL082)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的转换速率，建立选择运放的基本原则。</a:t>
            </a:r>
            <a:endParaRPr lang="en-US" altLang="zh-CN" sz="2000" b="1">
              <a:solidFill>
                <a:srgbClr val="181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2" name="TextBox 7167">
            <a:extLst>
              <a:ext uri="{FF2B5EF4-FFF2-40B4-BE49-F238E27FC236}">
                <a16:creationId xmlns:a16="http://schemas.microsoft.com/office/drawing/2014/main" id="{1B8DA3A3-BD4D-4592-0A33-7C64E6DF5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3113088"/>
            <a:ext cx="44958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、运放采用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OP07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，输入频率</a:t>
            </a:r>
            <a:r>
              <a:rPr lang="en-US" altLang="zh-CN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1KHz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、峰峰值</a:t>
            </a:r>
            <a:r>
              <a:rPr lang="en-US" altLang="zh-CN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4V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的正弦信号，用示波器同时观察两路信号，并测试该运放的</a:t>
            </a:r>
            <a:r>
              <a:rPr lang="en-US" altLang="zh-CN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>
              <a:solidFill>
                <a:srgbClr val="181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8A0D3E5C-2C78-42C9-BB90-CA7834D68B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027238"/>
            <a:ext cx="0" cy="165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D12E158-BFD5-42E4-8E8C-5123800C1A28}"/>
              </a:ext>
            </a:extLst>
          </p:cNvPr>
          <p:cNvSpPr>
            <a:spLocks/>
          </p:cNvSpPr>
          <p:nvPr/>
        </p:nvSpPr>
        <p:spPr bwMode="auto">
          <a:xfrm>
            <a:off x="5867400" y="2287588"/>
            <a:ext cx="1196975" cy="1233487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8100" cap="flat" cmpd="sng" algn="ctr">
            <a:solidFill>
              <a:srgbClr val="FFC000"/>
            </a:solidFill>
            <a:prstDash val="solid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000000"/>
              </a:solidFill>
              <a:latin typeface="Calibri"/>
              <a:ea typeface="宋体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6AAAFE9E-401D-4C26-9E76-0515B2D85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5" y="2925763"/>
            <a:ext cx="272891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16" name="Text Box 36">
            <a:extLst>
              <a:ext uri="{FF2B5EF4-FFF2-40B4-BE49-F238E27FC236}">
                <a16:creationId xmlns:a16="http://schemas.microsoft.com/office/drawing/2014/main" id="{FA063F07-E64D-431E-8C72-F6D313BF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1836738"/>
            <a:ext cx="503238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7" name="Text Box 36">
            <a:extLst>
              <a:ext uri="{FF2B5EF4-FFF2-40B4-BE49-F238E27FC236}">
                <a16:creationId xmlns:a16="http://schemas.microsoft.com/office/drawing/2014/main" id="{E40ACF9C-7964-4A2F-9ED7-544C3667B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8" y="2620963"/>
            <a:ext cx="292100" cy="2968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06A56887-BFB0-427E-AB3F-1B5415E677FB}"/>
              </a:ext>
            </a:extLst>
          </p:cNvPr>
          <p:cNvSpPr>
            <a:spLocks/>
          </p:cNvSpPr>
          <p:nvPr/>
        </p:nvSpPr>
        <p:spPr bwMode="auto">
          <a:xfrm>
            <a:off x="7062788" y="2287588"/>
            <a:ext cx="1196975" cy="1233487"/>
          </a:xfrm>
          <a:custGeom>
            <a:avLst/>
            <a:gdLst>
              <a:gd name="T0" fmla="*/ 0 w 635"/>
              <a:gd name="T1" fmla="*/ 2147483647 h 899"/>
              <a:gd name="T2" fmla="*/ 2147483647 w 635"/>
              <a:gd name="T3" fmla="*/ 2147483647 h 899"/>
              <a:gd name="T4" fmla="*/ 2147483647 w 635"/>
              <a:gd name="T5" fmla="*/ 2147483647 h 899"/>
              <a:gd name="T6" fmla="*/ 2147483647 w 635"/>
              <a:gd name="T7" fmla="*/ 2147483647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899">
                <a:moveTo>
                  <a:pt x="0" y="468"/>
                </a:moveTo>
                <a:cubicBezTo>
                  <a:pt x="53" y="234"/>
                  <a:pt x="106" y="0"/>
                  <a:pt x="182" y="60"/>
                </a:cubicBezTo>
                <a:cubicBezTo>
                  <a:pt x="258" y="120"/>
                  <a:pt x="379" y="763"/>
                  <a:pt x="454" y="831"/>
                </a:cubicBezTo>
                <a:cubicBezTo>
                  <a:pt x="529" y="899"/>
                  <a:pt x="582" y="683"/>
                  <a:pt x="635" y="468"/>
                </a:cubicBezTo>
              </a:path>
            </a:pathLst>
          </a:custGeom>
          <a:noFill/>
          <a:ln w="38100" cap="flat" cmpd="sng" algn="ctr">
            <a:solidFill>
              <a:srgbClr val="FFC000"/>
            </a:solidFill>
            <a:prstDash val="solid"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000000"/>
              </a:solidFill>
              <a:latin typeface="Calibri"/>
              <a:ea typeface="宋体"/>
            </a:endParaRPr>
          </a:p>
        </p:txBody>
      </p:sp>
      <p:cxnSp>
        <p:nvCxnSpPr>
          <p:cNvPr id="24589" name="直接连接符 4">
            <a:extLst>
              <a:ext uri="{FF2B5EF4-FFF2-40B4-BE49-F238E27FC236}">
                <a16:creationId xmlns:a16="http://schemas.microsoft.com/office/drawing/2014/main" id="{04FA9C29-3A59-783D-9EB3-1914C73FF4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86525" y="3805238"/>
            <a:ext cx="14288" cy="2287587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0" name="直接连接符 63">
            <a:extLst>
              <a:ext uri="{FF2B5EF4-FFF2-40B4-BE49-F238E27FC236}">
                <a16:creationId xmlns:a16="http://schemas.microsoft.com/office/drawing/2014/main" id="{4B56CF26-9497-6D54-28C6-E22C0485966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32488" y="4635500"/>
            <a:ext cx="2166937" cy="0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14">
            <a:extLst>
              <a:ext uri="{FF2B5EF4-FFF2-40B4-BE49-F238E27FC236}">
                <a16:creationId xmlns:a16="http://schemas.microsoft.com/office/drawing/2014/main" id="{E9A7296C-4E57-4CBC-889E-9F9EEFDA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5257800"/>
            <a:ext cx="1584325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lnSpc>
                <a:spcPts val="2400"/>
              </a:lnSpc>
              <a:spcBef>
                <a:spcPct val="500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zh-CN" altLang="en-US" sz="18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实际输出</a:t>
            </a:r>
          </a:p>
        </p:txBody>
      </p:sp>
      <p:sp>
        <p:nvSpPr>
          <p:cNvPr id="37" name="Line 16">
            <a:extLst>
              <a:ext uri="{FF2B5EF4-FFF2-40B4-BE49-F238E27FC236}">
                <a16:creationId xmlns:a16="http://schemas.microsoft.com/office/drawing/2014/main" id="{D83B1EF0-D9EF-45AE-AF64-617CCAE34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613" y="4649788"/>
            <a:ext cx="312737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38" name="Text Box 22">
            <a:extLst>
              <a:ext uri="{FF2B5EF4-FFF2-40B4-BE49-F238E27FC236}">
                <a16:creationId xmlns:a16="http://schemas.microsoft.com/office/drawing/2014/main" id="{D7BCFBAE-2225-4948-95A5-D7E6174D0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499100"/>
            <a:ext cx="73183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39" name="Line 46">
            <a:extLst>
              <a:ext uri="{FF2B5EF4-FFF2-40B4-BE49-F238E27FC236}">
                <a16:creationId xmlns:a16="http://schemas.microsoft.com/office/drawing/2014/main" id="{A1ADDF38-9169-45DD-97DD-60B5D0C8FA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75" y="4637088"/>
            <a:ext cx="301625" cy="1128712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0" name="Line 6">
            <a:extLst>
              <a:ext uri="{FF2B5EF4-FFF2-40B4-BE49-F238E27FC236}">
                <a16:creationId xmlns:a16="http://schemas.microsoft.com/office/drawing/2014/main" id="{07A3DAB6-41BE-41AB-AEC5-6B64D225EF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0100" y="4303713"/>
            <a:ext cx="0" cy="165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CD7A80E9-094D-49C4-B08E-6277B638E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0575" y="5202238"/>
            <a:ext cx="272891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2" name="Text Box 36">
            <a:extLst>
              <a:ext uri="{FF2B5EF4-FFF2-40B4-BE49-F238E27FC236}">
                <a16:creationId xmlns:a16="http://schemas.microsoft.com/office/drawing/2014/main" id="{EAA688A6-20D8-425A-9C17-710932F6E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013" y="4113213"/>
            <a:ext cx="503237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43" name="Text Box 36">
            <a:extLst>
              <a:ext uri="{FF2B5EF4-FFF2-40B4-BE49-F238E27FC236}">
                <a16:creationId xmlns:a16="http://schemas.microsoft.com/office/drawing/2014/main" id="{EA05E340-89A2-4157-91C0-D4606722F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025" y="4897438"/>
            <a:ext cx="290513" cy="2968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zh-CN" sz="2000" i="1" kern="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4" name="Line 46">
            <a:extLst>
              <a:ext uri="{FF2B5EF4-FFF2-40B4-BE49-F238E27FC236}">
                <a16:creationId xmlns:a16="http://schemas.microsoft.com/office/drawing/2014/main" id="{3CC3E7FC-11F7-4972-8853-DADB82756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8350" y="4635500"/>
            <a:ext cx="277813" cy="1116013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2FCDB172-7DB6-4260-98FB-89D6F56598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05725" y="4664075"/>
            <a:ext cx="306388" cy="1101725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C7FBFC06-57E5-4994-8C11-5E82B7CBF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950" y="4384675"/>
            <a:ext cx="617538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AED337"/>
              </a:buClr>
              <a:buFont typeface="Wingdings" panose="05000000000000000000" pitchFamily="2" charset="2"/>
              <a:buChar char="v"/>
              <a:defRPr sz="2800" b="1">
                <a:solidFill>
                  <a:srgbClr val="143DA2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latinLnBrk="1">
              <a:spcBef>
                <a:spcPct val="20000"/>
              </a:spcBef>
              <a:buClr>
                <a:srgbClr val="EB592B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latinLnBrk="1"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en-US" altLang="zh-CN" sz="1800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kumimoji="1" lang="en-US" altLang="zh-CN" sz="1800" kern="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OM</a:t>
            </a:r>
          </a:p>
        </p:txBody>
      </p:sp>
      <p:sp>
        <p:nvSpPr>
          <p:cNvPr id="47" name="Line 16">
            <a:extLst>
              <a:ext uri="{FF2B5EF4-FFF2-40B4-BE49-F238E27FC236}">
                <a16:creationId xmlns:a16="http://schemas.microsoft.com/office/drawing/2014/main" id="{D43AF002-793D-4549-B352-58CD76BDE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5850" y="5751513"/>
            <a:ext cx="312738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F5633081-B41D-46B9-8B55-E970AF446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6450" y="4645025"/>
            <a:ext cx="276225" cy="1116013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49" name="Line 16">
            <a:extLst>
              <a:ext uri="{FF2B5EF4-FFF2-40B4-BE49-F238E27FC236}">
                <a16:creationId xmlns:a16="http://schemas.microsoft.com/office/drawing/2014/main" id="{D5EB7888-6D04-4E73-AB1A-C0DAA61D6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6163" y="5756275"/>
            <a:ext cx="312737" cy="0"/>
          </a:xfrm>
          <a:prstGeom prst="line">
            <a:avLst/>
          </a:prstGeom>
          <a:noFill/>
          <a:ln w="28575">
            <a:solidFill>
              <a:srgbClr val="29A89C"/>
            </a:solidFill>
            <a:round/>
            <a:headEnd/>
            <a:tailE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Text" lastClr="000000"/>
              </a:solidFill>
            </a:endParaRPr>
          </a:p>
        </p:txBody>
      </p:sp>
      <p:sp>
        <p:nvSpPr>
          <p:cNvPr id="24605" name="TextBox 7167">
            <a:extLst>
              <a:ext uri="{FF2B5EF4-FFF2-40B4-BE49-F238E27FC236}">
                <a16:creationId xmlns:a16="http://schemas.microsoft.com/office/drawing/2014/main" id="{0B6F471A-8F11-8539-FEAA-329EFC1E2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645025"/>
            <a:ext cx="47148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、将运放换成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LF356(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TL082)</a:t>
            </a:r>
            <a:r>
              <a:rPr lang="zh-CN" altLang="en-US" sz="2000" b="1">
                <a:solidFill>
                  <a:srgbClr val="1818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，重复上述过程。</a:t>
            </a:r>
            <a:endParaRPr lang="en-US" altLang="zh-CN" sz="2000" b="1">
              <a:solidFill>
                <a:srgbClr val="1818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4">
            <a:extLst>
              <a:ext uri="{FF2B5EF4-FFF2-40B4-BE49-F238E27FC236}">
                <a16:creationId xmlns:a16="http://schemas.microsoft.com/office/drawing/2014/main" id="{ED13480F-82B5-7C57-0BE3-8437F00E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692775"/>
            <a:ext cx="4541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结论：两种运放的使用特点？</a:t>
            </a:r>
          </a:p>
        </p:txBody>
      </p:sp>
      <p:cxnSp>
        <p:nvCxnSpPr>
          <p:cNvPr id="24607" name="直接连接符 4">
            <a:extLst>
              <a:ext uri="{FF2B5EF4-FFF2-40B4-BE49-F238E27FC236}">
                <a16:creationId xmlns:a16="http://schemas.microsoft.com/office/drawing/2014/main" id="{A98A8AB7-B99E-1363-916F-7548F70E8F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8625" y="3798888"/>
            <a:ext cx="11113" cy="2293937"/>
          </a:xfrm>
          <a:prstGeom prst="lin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608" name="直接连接符 63">
            <a:extLst>
              <a:ext uri="{FF2B5EF4-FFF2-40B4-BE49-F238E27FC236}">
                <a16:creationId xmlns:a16="http://schemas.microsoft.com/office/drawing/2014/main" id="{4DD44FDC-2315-0C4F-4328-6779ADB4001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80100" y="5751513"/>
            <a:ext cx="2166938" cy="0"/>
          </a:xfrm>
          <a:prstGeom prst="line">
            <a:avLst/>
          </a:prstGeom>
          <a:noFill/>
          <a:ln w="19050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09" name="文本框 6">
            <a:extLst>
              <a:ext uri="{FF2B5EF4-FFF2-40B4-BE49-F238E27FC236}">
                <a16:creationId xmlns:a16="http://schemas.microsoft.com/office/drawing/2014/main" id="{EE18D351-79BF-AD1A-133B-E34E96B8C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3656013"/>
            <a:ext cx="1411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Cursor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B809B6C-499A-40FD-954D-16027DBFB9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0" r="806" b="9270"/>
          <a:stretch/>
        </p:blipFill>
        <p:spPr>
          <a:xfrm>
            <a:off x="1619672" y="0"/>
            <a:ext cx="6048672" cy="6849233"/>
          </a:xfrm>
          <a:prstGeom prst="rect">
            <a:avLst/>
          </a:prstGeom>
        </p:spPr>
      </p:pic>
      <p:sp>
        <p:nvSpPr>
          <p:cNvPr id="3" name="文本框 6">
            <a:extLst>
              <a:ext uri="{FF2B5EF4-FFF2-40B4-BE49-F238E27FC236}">
                <a16:creationId xmlns:a16="http://schemas.microsoft.com/office/drawing/2014/main" id="{E5BF8F6F-552D-4F3F-B72A-FA3B52AFF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4" y="260648"/>
            <a:ext cx="936104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+5V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91199A6B-5356-41DB-81B1-59340640D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6237312"/>
            <a:ext cx="936104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-5V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1683612E-C062-4EBC-82BD-0DDA47F61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6165304"/>
            <a:ext cx="1026228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GND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B8F23F2D-142E-4F8B-B5C8-B65056101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293096"/>
            <a:ext cx="936104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IN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6">
            <a:extLst>
              <a:ext uri="{FF2B5EF4-FFF2-40B4-BE49-F238E27FC236}">
                <a16:creationId xmlns:a16="http://schemas.microsoft.com/office/drawing/2014/main" id="{8AB35CE7-BF86-489E-8B1E-33FF09F90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674465"/>
            <a:ext cx="936104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47412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隶书"/>
        <a:cs typeface=""/>
      </a:majorFont>
      <a:minorFont>
        <a:latin typeface="Arial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3335</TotalTime>
  <Words>1050</Words>
  <Application>Microsoft Office PowerPoint</Application>
  <PresentationFormat>全屏显示(4:3)</PresentationFormat>
  <Paragraphs>157</Paragraphs>
  <Slides>17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等线</vt:lpstr>
      <vt:lpstr>黑体</vt:lpstr>
      <vt:lpstr>楷体_GB2312</vt:lpstr>
      <vt:lpstr>隶书</vt:lpstr>
      <vt:lpstr>宋体</vt:lpstr>
      <vt:lpstr>微软雅黑</vt:lpstr>
      <vt:lpstr>微软雅黑 Light</vt:lpstr>
      <vt:lpstr>Arial</vt:lpstr>
      <vt:lpstr>Arial Black</vt:lpstr>
      <vt:lpstr>Calibri</vt:lpstr>
      <vt:lpstr>Times New Roman</vt:lpstr>
      <vt:lpstr>Wingdings</vt:lpstr>
      <vt:lpstr>Pixel</vt:lpstr>
      <vt:lpstr>1_Pixel</vt:lpstr>
      <vt:lpstr>Photo Editor 照片</vt:lpstr>
      <vt:lpstr>PowerPoint 演示文稿</vt:lpstr>
      <vt:lpstr>PowerPoint 演示文稿</vt:lpstr>
      <vt:lpstr>PowerPoint 演示文稿</vt:lpstr>
      <vt:lpstr>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双电源的连接</vt:lpstr>
      <vt:lpstr>双电源的连接</vt:lpstr>
      <vt:lpstr>PowerPoint 演示文稿</vt:lpstr>
      <vt:lpstr>PowerPoint 演示文稿</vt:lpstr>
    </vt:vector>
  </TitlesOfParts>
  <Company>2ndSpAcE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Image</dc:creator>
  <cp:lastModifiedBy>Administrator</cp:lastModifiedBy>
  <cp:revision>211</cp:revision>
  <dcterms:created xsi:type="dcterms:W3CDTF">2006-04-13T12:13:38Z</dcterms:created>
  <dcterms:modified xsi:type="dcterms:W3CDTF">2024-09-03T08:03:49Z</dcterms:modified>
</cp:coreProperties>
</file>
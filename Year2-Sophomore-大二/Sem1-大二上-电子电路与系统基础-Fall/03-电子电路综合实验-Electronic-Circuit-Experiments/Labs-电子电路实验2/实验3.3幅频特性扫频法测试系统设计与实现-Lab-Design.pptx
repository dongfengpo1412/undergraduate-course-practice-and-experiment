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12" r:id="rId2"/>
    <p:sldId id="327" r:id="rId3"/>
    <p:sldId id="320" r:id="rId4"/>
    <p:sldId id="325" r:id="rId5"/>
    <p:sldId id="317" r:id="rId6"/>
    <p:sldId id="326" r:id="rId7"/>
    <p:sldId id="334" r:id="rId8"/>
    <p:sldId id="339" r:id="rId9"/>
    <p:sldId id="336" r:id="rId10"/>
    <p:sldId id="288" r:id="rId11"/>
    <p:sldId id="290" r:id="rId12"/>
    <p:sldId id="292" r:id="rId13"/>
    <p:sldId id="340" r:id="rId14"/>
    <p:sldId id="294" r:id="rId1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隶书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隶书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隶书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隶书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隶书" pitchFamily="49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隶书" pitchFamily="49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隶书" pitchFamily="49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隶书" pitchFamily="49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隶书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2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  <a:srgbClr val="692AA2"/>
    <a:srgbClr val="FFFF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49" autoAdjust="0"/>
    <p:restoredTop sz="94830" autoAdjust="0"/>
  </p:normalViewPr>
  <p:slideViewPr>
    <p:cSldViewPr>
      <p:cViewPr varScale="1">
        <p:scale>
          <a:sx n="85" d="100"/>
          <a:sy n="85" d="100"/>
        </p:scale>
        <p:origin x="48" y="763"/>
      </p:cViewPr>
      <p:guideLst>
        <p:guide orient="horz" pos="315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2928" y="-102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79CD355-CC34-481F-A29E-7EFCD53AF1FA}" type="datetimeFigureOut">
              <a:rPr lang="zh-CN" altLang="en-US"/>
              <a:pPr>
                <a:defRPr/>
              </a:pPr>
              <a:t>2024/12/14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6B4D374-D4DA-4DAB-B295-C07961D01D2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6182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B4D374-D4DA-4DAB-B295-C07961D01D2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862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B4D374-D4DA-4DAB-B295-C07961D01D25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524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4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5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6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7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8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9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0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1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2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3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5"/>
          <p:cNvGraphicFramePr>
            <a:graphicFrameLocks noChangeAspect="1"/>
          </p:cNvGraphicFramePr>
          <p:nvPr userDrawn="1"/>
        </p:nvGraphicFramePr>
        <p:xfrm>
          <a:off x="1" y="0"/>
          <a:ext cx="4416425" cy="58779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3415873" imgH="4546032" progId="Photoshop.Image.6">
                  <p:embed/>
                </p:oleObj>
              </mc:Choice>
              <mc:Fallback>
                <p:oleObj name="Image" r:id="rId2" imgW="3415873" imgH="4546032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1" y="0"/>
                        <a:ext cx="4416425" cy="58779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reeform 68"/>
          <p:cNvSpPr>
            <a:spLocks/>
          </p:cNvSpPr>
          <p:nvPr userDrawn="1"/>
        </p:nvSpPr>
        <p:spPr bwMode="ltGray">
          <a:xfrm>
            <a:off x="2239963" y="-14817"/>
            <a:ext cx="6916737" cy="6872817"/>
          </a:xfrm>
          <a:custGeom>
            <a:avLst/>
            <a:gdLst>
              <a:gd name="T0" fmla="*/ 2147483647 w 4357"/>
              <a:gd name="T1" fmla="*/ 0 h 4330"/>
              <a:gd name="T2" fmla="*/ 2147483647 w 4357"/>
              <a:gd name="T3" fmla="*/ 2147483647 h 4330"/>
              <a:gd name="T4" fmla="*/ 2147483647 w 4357"/>
              <a:gd name="T5" fmla="*/ 2147483647 h 4330"/>
              <a:gd name="T6" fmla="*/ 2147483647 w 4357"/>
              <a:gd name="T7" fmla="*/ 2147483647 h 4330"/>
              <a:gd name="T8" fmla="*/ 2147483647 w 4357"/>
              <a:gd name="T9" fmla="*/ 2147483647 h 4330"/>
              <a:gd name="T10" fmla="*/ 2147483647 w 4357"/>
              <a:gd name="T11" fmla="*/ 2147483647 h 4330"/>
              <a:gd name="T12" fmla="*/ 0 w 4357"/>
              <a:gd name="T13" fmla="*/ 2147483647 h 4330"/>
              <a:gd name="T14" fmla="*/ 2147483647 w 4357"/>
              <a:gd name="T15" fmla="*/ 2147483647 h 4330"/>
              <a:gd name="T16" fmla="*/ 2147483647 w 4357"/>
              <a:gd name="T17" fmla="*/ 2147483647 h 4330"/>
              <a:gd name="T18" fmla="*/ 2147483647 w 4357"/>
              <a:gd name="T19" fmla="*/ 0 h 433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357" h="4330">
                <a:moveTo>
                  <a:pt x="189" y="0"/>
                </a:moveTo>
                <a:lnTo>
                  <a:pt x="561" y="181"/>
                </a:lnTo>
                <a:lnTo>
                  <a:pt x="943" y="489"/>
                </a:lnTo>
                <a:lnTo>
                  <a:pt x="1221" y="955"/>
                </a:lnTo>
                <a:lnTo>
                  <a:pt x="1413" y="1618"/>
                </a:lnTo>
                <a:lnTo>
                  <a:pt x="1290" y="2648"/>
                </a:lnTo>
                <a:lnTo>
                  <a:pt x="0" y="4330"/>
                </a:lnTo>
                <a:lnTo>
                  <a:pt x="4349" y="4330"/>
                </a:lnTo>
                <a:lnTo>
                  <a:pt x="4357" y="3"/>
                </a:lnTo>
                <a:lnTo>
                  <a:pt x="189" y="0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tx2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Freeform 66"/>
          <p:cNvSpPr>
            <a:spLocks/>
          </p:cNvSpPr>
          <p:nvPr userDrawn="1"/>
        </p:nvSpPr>
        <p:spPr bwMode="ltGray">
          <a:xfrm>
            <a:off x="0" y="4483101"/>
            <a:ext cx="4122738" cy="2368551"/>
          </a:xfrm>
          <a:custGeom>
            <a:avLst/>
            <a:gdLst>
              <a:gd name="T0" fmla="*/ 0 w 2597"/>
              <a:gd name="T1" fmla="*/ 489 h 1492"/>
              <a:gd name="T2" fmla="*/ 1328 w 2597"/>
              <a:gd name="T3" fmla="*/ 840 h 1492"/>
              <a:gd name="T4" fmla="*/ 2488 w 2597"/>
              <a:gd name="T5" fmla="*/ 0 h 1492"/>
              <a:gd name="T6" fmla="*/ 1712 w 2597"/>
              <a:gd name="T7" fmla="*/ 1124 h 1492"/>
              <a:gd name="T8" fmla="*/ 636 w 2597"/>
              <a:gd name="T9" fmla="*/ 1492 h 1492"/>
              <a:gd name="T10" fmla="*/ 1 w 2597"/>
              <a:gd name="T11" fmla="*/ 1492 h 1492"/>
              <a:gd name="T12" fmla="*/ 0 w 2597"/>
              <a:gd name="T13" fmla="*/ 489 h 1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97" h="1492">
                <a:moveTo>
                  <a:pt x="0" y="489"/>
                </a:moveTo>
                <a:cubicBezTo>
                  <a:pt x="247" y="671"/>
                  <a:pt x="632" y="920"/>
                  <a:pt x="1328" y="840"/>
                </a:cubicBezTo>
                <a:cubicBezTo>
                  <a:pt x="2024" y="760"/>
                  <a:pt x="2360" y="131"/>
                  <a:pt x="2488" y="0"/>
                </a:cubicBezTo>
                <a:cubicBezTo>
                  <a:pt x="2597" y="53"/>
                  <a:pt x="1792" y="1068"/>
                  <a:pt x="1712" y="1124"/>
                </a:cubicBezTo>
                <a:cubicBezTo>
                  <a:pt x="1632" y="1180"/>
                  <a:pt x="921" y="1431"/>
                  <a:pt x="636" y="1492"/>
                </a:cubicBezTo>
                <a:lnTo>
                  <a:pt x="1" y="1492"/>
                </a:lnTo>
                <a:lnTo>
                  <a:pt x="0" y="489"/>
                </a:ln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shade val="24314"/>
                  <a:invGamma/>
                </a:schemeClr>
              </a:gs>
              <a:gs pos="100000">
                <a:schemeClr val="bg2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>
              <a:defRPr/>
            </a:pPr>
            <a:endParaRPr lang="zh-CN" altLang="en-US" sz="1800">
              <a:ea typeface="+mn-ea"/>
            </a:endParaRPr>
          </a:p>
        </p:txBody>
      </p:sp>
      <p:sp>
        <p:nvSpPr>
          <p:cNvPr id="7" name="Freeform 67"/>
          <p:cNvSpPr>
            <a:spLocks/>
          </p:cNvSpPr>
          <p:nvPr userDrawn="1"/>
        </p:nvSpPr>
        <p:spPr bwMode="gray">
          <a:xfrm>
            <a:off x="-12700" y="4150784"/>
            <a:ext cx="4152900" cy="2707216"/>
          </a:xfrm>
          <a:custGeom>
            <a:avLst/>
            <a:gdLst>
              <a:gd name="T0" fmla="*/ 0 w 2576"/>
              <a:gd name="T1" fmla="*/ 1688 h 1688"/>
              <a:gd name="T2" fmla="*/ 0 w 2576"/>
              <a:gd name="T3" fmla="*/ 1112 h 1688"/>
              <a:gd name="T4" fmla="*/ 2576 w 2576"/>
              <a:gd name="T5" fmla="*/ 0 h 1688"/>
              <a:gd name="T6" fmla="*/ 2135 w 2576"/>
              <a:gd name="T7" fmla="*/ 826 h 1688"/>
              <a:gd name="T8" fmla="*/ 635 w 2576"/>
              <a:gd name="T9" fmla="*/ 1688 h 1688"/>
              <a:gd name="T10" fmla="*/ 0 w 2576"/>
              <a:gd name="T11" fmla="*/ 1688 h 16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76" h="1688">
                <a:moveTo>
                  <a:pt x="0" y="1688"/>
                </a:moveTo>
                <a:lnTo>
                  <a:pt x="0" y="1112"/>
                </a:lnTo>
                <a:cubicBezTo>
                  <a:pt x="1960" y="1464"/>
                  <a:pt x="2419" y="304"/>
                  <a:pt x="2576" y="0"/>
                </a:cubicBezTo>
                <a:lnTo>
                  <a:pt x="2135" y="826"/>
                </a:lnTo>
                <a:cubicBezTo>
                  <a:pt x="1618" y="1315"/>
                  <a:pt x="1286" y="1456"/>
                  <a:pt x="635" y="1688"/>
                </a:cubicBezTo>
                <a:lnTo>
                  <a:pt x="0" y="168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>
              <a:defRPr/>
            </a:pPr>
            <a:endParaRPr lang="zh-CN" altLang="en-US" sz="1800">
              <a:ea typeface="+mn-ea"/>
            </a:endParaRPr>
          </a:p>
        </p:txBody>
      </p:sp>
      <p:sp>
        <p:nvSpPr>
          <p:cNvPr id="8" name="Rectangle 69"/>
          <p:cNvSpPr>
            <a:spLocks noChangeArrowheads="1"/>
          </p:cNvSpPr>
          <p:nvPr userDrawn="1"/>
        </p:nvSpPr>
        <p:spPr bwMode="gray">
          <a:xfrm>
            <a:off x="4283968" y="3932171"/>
            <a:ext cx="4875212" cy="73124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800">
              <a:ea typeface="宋体" pitchFamily="2" charset="-122"/>
            </a:endParaRPr>
          </a:p>
        </p:txBody>
      </p:sp>
      <p:sp>
        <p:nvSpPr>
          <p:cNvPr id="9" name="Line 75"/>
          <p:cNvSpPr>
            <a:spLocks noChangeShapeType="1"/>
          </p:cNvSpPr>
          <p:nvPr userDrawn="1"/>
        </p:nvSpPr>
        <p:spPr bwMode="white">
          <a:xfrm>
            <a:off x="4297364" y="3913187"/>
            <a:ext cx="4859337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0" name="Line 70"/>
          <p:cNvSpPr>
            <a:spLocks noChangeShapeType="1"/>
          </p:cNvSpPr>
          <p:nvPr userDrawn="1"/>
        </p:nvSpPr>
        <p:spPr bwMode="white">
          <a:xfrm>
            <a:off x="4284664" y="4677139"/>
            <a:ext cx="4859337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28184" y="6266557"/>
            <a:ext cx="498054" cy="5046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883846" y="6266557"/>
            <a:ext cx="2152650" cy="52281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Freeform 71"/>
          <p:cNvSpPr>
            <a:spLocks/>
          </p:cNvSpPr>
          <p:nvPr userDrawn="1"/>
        </p:nvSpPr>
        <p:spPr bwMode="gray">
          <a:xfrm>
            <a:off x="920750" y="4101"/>
            <a:ext cx="3822700" cy="6881284"/>
          </a:xfrm>
          <a:custGeom>
            <a:avLst/>
            <a:gdLst>
              <a:gd name="T0" fmla="*/ 858 w 2408"/>
              <a:gd name="T1" fmla="*/ 0 h 4334"/>
              <a:gd name="T2" fmla="*/ 1984 w 2408"/>
              <a:gd name="T3" fmla="*/ 2582 h 4334"/>
              <a:gd name="T4" fmla="*/ 0 w 2408"/>
              <a:gd name="T5" fmla="*/ 4326 h 4334"/>
              <a:gd name="T6" fmla="*/ 1208 w 2408"/>
              <a:gd name="T7" fmla="*/ 4334 h 4334"/>
              <a:gd name="T8" fmla="*/ 2272 w 2408"/>
              <a:gd name="T9" fmla="*/ 2566 h 4334"/>
              <a:gd name="T10" fmla="*/ 998 w 2408"/>
              <a:gd name="T11" fmla="*/ 2 h 4334"/>
              <a:gd name="T12" fmla="*/ 858 w 2408"/>
              <a:gd name="T13" fmla="*/ 0 h 4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408" h="4334">
                <a:moveTo>
                  <a:pt x="858" y="0"/>
                </a:moveTo>
                <a:cubicBezTo>
                  <a:pt x="2020" y="270"/>
                  <a:pt x="2408" y="1630"/>
                  <a:pt x="1984" y="2582"/>
                </a:cubicBezTo>
                <a:cubicBezTo>
                  <a:pt x="1560" y="3534"/>
                  <a:pt x="880" y="3975"/>
                  <a:pt x="0" y="4326"/>
                </a:cubicBezTo>
                <a:lnTo>
                  <a:pt x="1208" y="4334"/>
                </a:lnTo>
                <a:cubicBezTo>
                  <a:pt x="1520" y="4078"/>
                  <a:pt x="2144" y="3342"/>
                  <a:pt x="2272" y="2566"/>
                </a:cubicBezTo>
                <a:cubicBezTo>
                  <a:pt x="2400" y="1790"/>
                  <a:pt x="2278" y="418"/>
                  <a:pt x="998" y="2"/>
                </a:cubicBezTo>
                <a:lnTo>
                  <a:pt x="858" y="0"/>
                </a:lnTo>
                <a:close/>
              </a:path>
            </a:pathLst>
          </a:custGeom>
          <a:gradFill rotWithShape="1">
            <a:gsLst>
              <a:gs pos="0">
                <a:schemeClr val="hlink">
                  <a:gamma/>
                  <a:tint val="27451"/>
                  <a:invGamma/>
                </a:schemeClr>
              </a:gs>
              <a:gs pos="100000">
                <a:schemeClr val="hlink"/>
              </a:gs>
            </a:gsLst>
            <a:lin ang="5400000" scaled="1"/>
          </a:gradFill>
          <a:ln>
            <a:noFill/>
          </a:ln>
          <a:effectLst/>
        </p:spPr>
        <p:txBody>
          <a:bodyPr/>
          <a:lstStyle/>
          <a:p>
            <a:pPr>
              <a:defRPr/>
            </a:pPr>
            <a:endParaRPr lang="zh-CN" altLang="en-US" sz="1800">
              <a:ea typeface="+mn-ea"/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724400" y="740701"/>
            <a:ext cx="4114800" cy="3069299"/>
          </a:xfrm>
        </p:spPr>
        <p:txBody>
          <a:bodyPr/>
          <a:lstStyle>
            <a:lvl1pPr algn="l">
              <a:defRPr sz="4000" b="0" i="0"/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4587974" y="3913187"/>
            <a:ext cx="4267200" cy="750227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 b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14" name="Rectangle 72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563784"/>
            <a:ext cx="2133600" cy="158749"/>
          </a:xfrm>
        </p:spPr>
        <p:txBody>
          <a:bodyPr/>
          <a:lstStyle>
            <a:lvl1pPr algn="l">
              <a:defRPr sz="1400" b="0">
                <a:latin typeface="Times New Roman" pitchFamily="18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73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551085"/>
            <a:ext cx="2895600" cy="171449"/>
          </a:xfrm>
        </p:spPr>
        <p:txBody>
          <a:bodyPr/>
          <a:lstStyle>
            <a:lvl1pPr algn="ct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7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536267"/>
            <a:ext cx="2133600" cy="186267"/>
          </a:xfrm>
        </p:spPr>
        <p:txBody>
          <a:bodyPr/>
          <a:lstStyle>
            <a:lvl1pPr algn="r">
              <a:defRPr sz="1400">
                <a:solidFill>
                  <a:schemeClr val="bg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2FD69796-C653-4CAA-ABB0-3CC9989C8D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0020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7"/>
          <p:cNvSpPr>
            <a:spLocks/>
          </p:cNvSpPr>
          <p:nvPr/>
        </p:nvSpPr>
        <p:spPr bwMode="ltGray">
          <a:xfrm>
            <a:off x="-1588" y="6413501"/>
            <a:ext cx="4205288" cy="444500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Freeform 68"/>
          <p:cNvSpPr>
            <a:spLocks/>
          </p:cNvSpPr>
          <p:nvPr/>
        </p:nvSpPr>
        <p:spPr bwMode="ltGray">
          <a:xfrm>
            <a:off x="4932364" y="6337301"/>
            <a:ext cx="4211637" cy="520700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6" name="Object 69"/>
          <p:cNvGraphicFramePr>
            <a:graphicFrameLocks noChangeAspect="1"/>
          </p:cNvGraphicFramePr>
          <p:nvPr/>
        </p:nvGraphicFramePr>
        <p:xfrm>
          <a:off x="0" y="0"/>
          <a:ext cx="9144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101587" imgH="406063" progId="Photoshop.Image.6">
                  <p:embed/>
                </p:oleObj>
              </mc:Choice>
              <mc:Fallback>
                <p:oleObj name="Image" r:id="rId2" imgW="4101587" imgH="406063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 70"/>
          <p:cNvSpPr>
            <a:spLocks/>
          </p:cNvSpPr>
          <p:nvPr/>
        </p:nvSpPr>
        <p:spPr bwMode="ltGray">
          <a:xfrm flipH="1">
            <a:off x="1" y="793751"/>
            <a:ext cx="3635375" cy="444500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8" name="Freeform 71"/>
          <p:cNvSpPr>
            <a:spLocks/>
          </p:cNvSpPr>
          <p:nvPr/>
        </p:nvSpPr>
        <p:spPr bwMode="ltGray">
          <a:xfrm>
            <a:off x="0" y="0"/>
            <a:ext cx="9144000" cy="812800"/>
          </a:xfrm>
          <a:custGeom>
            <a:avLst/>
            <a:gdLst>
              <a:gd name="T0" fmla="*/ 0 w 5760"/>
              <a:gd name="T1" fmla="*/ 512 h 512"/>
              <a:gd name="T2" fmla="*/ 5760 w 5760"/>
              <a:gd name="T3" fmla="*/ 512 h 512"/>
              <a:gd name="T4" fmla="*/ 5760 w 5760"/>
              <a:gd name="T5" fmla="*/ 0 h 512"/>
              <a:gd name="T6" fmla="*/ 2804 w 5760"/>
              <a:gd name="T7" fmla="*/ 134 h 512"/>
              <a:gd name="T8" fmla="*/ 0 w 5760"/>
              <a:gd name="T9" fmla="*/ 9 h 512"/>
              <a:gd name="T10" fmla="*/ 0 w 5760"/>
              <a:gd name="T11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>
              <a:defRPr/>
            </a:pPr>
            <a:endParaRPr lang="zh-CN" altLang="en-US" sz="1800">
              <a:ea typeface="+mn-ea"/>
            </a:endParaRPr>
          </a:p>
        </p:txBody>
      </p:sp>
      <p:sp>
        <p:nvSpPr>
          <p:cNvPr id="9" name="Freeform 72"/>
          <p:cNvSpPr>
            <a:spLocks/>
          </p:cNvSpPr>
          <p:nvPr/>
        </p:nvSpPr>
        <p:spPr bwMode="gray">
          <a:xfrm>
            <a:off x="4978400" y="800101"/>
            <a:ext cx="4165600" cy="444500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pic>
        <p:nvPicPr>
          <p:cNvPr id="10" name="图片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330" y="6363564"/>
            <a:ext cx="1620180" cy="509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0E9137-E8A8-45DE-AFA3-86166ED81C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2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55769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7"/>
          <p:cNvSpPr>
            <a:spLocks/>
          </p:cNvSpPr>
          <p:nvPr/>
        </p:nvSpPr>
        <p:spPr bwMode="ltGray">
          <a:xfrm>
            <a:off x="-1588" y="6413501"/>
            <a:ext cx="4205288" cy="444500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Freeform 68"/>
          <p:cNvSpPr>
            <a:spLocks/>
          </p:cNvSpPr>
          <p:nvPr/>
        </p:nvSpPr>
        <p:spPr bwMode="ltGray">
          <a:xfrm>
            <a:off x="4932364" y="6337301"/>
            <a:ext cx="4211637" cy="520700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6" name="Object 69"/>
          <p:cNvGraphicFramePr>
            <a:graphicFrameLocks noChangeAspect="1"/>
          </p:cNvGraphicFramePr>
          <p:nvPr/>
        </p:nvGraphicFramePr>
        <p:xfrm>
          <a:off x="0" y="0"/>
          <a:ext cx="9144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101587" imgH="406063" progId="Photoshop.Image.6">
                  <p:embed/>
                </p:oleObj>
              </mc:Choice>
              <mc:Fallback>
                <p:oleObj name="Image" r:id="rId2" imgW="4101587" imgH="406063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 70"/>
          <p:cNvSpPr>
            <a:spLocks/>
          </p:cNvSpPr>
          <p:nvPr/>
        </p:nvSpPr>
        <p:spPr bwMode="ltGray">
          <a:xfrm flipH="1">
            <a:off x="1" y="793751"/>
            <a:ext cx="3635375" cy="444500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8" name="Freeform 71"/>
          <p:cNvSpPr>
            <a:spLocks/>
          </p:cNvSpPr>
          <p:nvPr/>
        </p:nvSpPr>
        <p:spPr bwMode="ltGray">
          <a:xfrm>
            <a:off x="0" y="0"/>
            <a:ext cx="9144000" cy="812800"/>
          </a:xfrm>
          <a:custGeom>
            <a:avLst/>
            <a:gdLst>
              <a:gd name="T0" fmla="*/ 0 w 5760"/>
              <a:gd name="T1" fmla="*/ 512 h 512"/>
              <a:gd name="T2" fmla="*/ 5760 w 5760"/>
              <a:gd name="T3" fmla="*/ 512 h 512"/>
              <a:gd name="T4" fmla="*/ 5760 w 5760"/>
              <a:gd name="T5" fmla="*/ 0 h 512"/>
              <a:gd name="T6" fmla="*/ 2804 w 5760"/>
              <a:gd name="T7" fmla="*/ 134 h 512"/>
              <a:gd name="T8" fmla="*/ 0 w 5760"/>
              <a:gd name="T9" fmla="*/ 9 h 512"/>
              <a:gd name="T10" fmla="*/ 0 w 5760"/>
              <a:gd name="T11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>
              <a:defRPr/>
            </a:pPr>
            <a:endParaRPr lang="zh-CN" altLang="en-US" sz="1800">
              <a:ea typeface="+mn-ea"/>
            </a:endParaRPr>
          </a:p>
        </p:txBody>
      </p:sp>
      <p:sp>
        <p:nvSpPr>
          <p:cNvPr id="9" name="Freeform 72"/>
          <p:cNvSpPr>
            <a:spLocks/>
          </p:cNvSpPr>
          <p:nvPr/>
        </p:nvSpPr>
        <p:spPr bwMode="gray">
          <a:xfrm>
            <a:off x="4978400" y="800101"/>
            <a:ext cx="4165600" cy="444500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pic>
        <p:nvPicPr>
          <p:cNvPr id="10" name="图片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1863" y="6004985"/>
            <a:ext cx="2108200" cy="664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8292E6-A4C7-471C-AEB7-23E2B2609D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2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48501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7"/>
          <p:cNvSpPr>
            <a:spLocks/>
          </p:cNvSpPr>
          <p:nvPr/>
        </p:nvSpPr>
        <p:spPr bwMode="ltGray">
          <a:xfrm>
            <a:off x="-1588" y="6413501"/>
            <a:ext cx="4205288" cy="444500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Freeform 68"/>
          <p:cNvSpPr>
            <a:spLocks/>
          </p:cNvSpPr>
          <p:nvPr/>
        </p:nvSpPr>
        <p:spPr bwMode="ltGray">
          <a:xfrm>
            <a:off x="4932364" y="6337301"/>
            <a:ext cx="4211637" cy="520700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7" name="Object 69"/>
          <p:cNvGraphicFramePr>
            <a:graphicFrameLocks noChangeAspect="1"/>
          </p:cNvGraphicFramePr>
          <p:nvPr/>
        </p:nvGraphicFramePr>
        <p:xfrm>
          <a:off x="0" y="0"/>
          <a:ext cx="9144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101587" imgH="406063" progId="Photoshop.Image.6">
                  <p:embed/>
                </p:oleObj>
              </mc:Choice>
              <mc:Fallback>
                <p:oleObj name="Image" r:id="rId2" imgW="4101587" imgH="406063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reeform 70"/>
          <p:cNvSpPr>
            <a:spLocks/>
          </p:cNvSpPr>
          <p:nvPr/>
        </p:nvSpPr>
        <p:spPr bwMode="ltGray">
          <a:xfrm flipH="1">
            <a:off x="1" y="793751"/>
            <a:ext cx="3635375" cy="444500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Freeform 71"/>
          <p:cNvSpPr>
            <a:spLocks/>
          </p:cNvSpPr>
          <p:nvPr/>
        </p:nvSpPr>
        <p:spPr bwMode="ltGray">
          <a:xfrm>
            <a:off x="0" y="0"/>
            <a:ext cx="9144000" cy="812800"/>
          </a:xfrm>
          <a:custGeom>
            <a:avLst/>
            <a:gdLst>
              <a:gd name="T0" fmla="*/ 0 w 5760"/>
              <a:gd name="T1" fmla="*/ 512 h 512"/>
              <a:gd name="T2" fmla="*/ 5760 w 5760"/>
              <a:gd name="T3" fmla="*/ 512 h 512"/>
              <a:gd name="T4" fmla="*/ 5760 w 5760"/>
              <a:gd name="T5" fmla="*/ 0 h 512"/>
              <a:gd name="T6" fmla="*/ 2804 w 5760"/>
              <a:gd name="T7" fmla="*/ 134 h 512"/>
              <a:gd name="T8" fmla="*/ 0 w 5760"/>
              <a:gd name="T9" fmla="*/ 9 h 512"/>
              <a:gd name="T10" fmla="*/ 0 w 5760"/>
              <a:gd name="T11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>
              <a:defRPr/>
            </a:pPr>
            <a:endParaRPr lang="zh-CN" altLang="en-US" sz="1800">
              <a:ea typeface="+mn-ea"/>
            </a:endParaRPr>
          </a:p>
        </p:txBody>
      </p:sp>
      <p:sp>
        <p:nvSpPr>
          <p:cNvPr id="10" name="Freeform 72"/>
          <p:cNvSpPr>
            <a:spLocks/>
          </p:cNvSpPr>
          <p:nvPr/>
        </p:nvSpPr>
        <p:spPr bwMode="gray">
          <a:xfrm>
            <a:off x="4978400" y="800101"/>
            <a:ext cx="4165600" cy="444500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pic>
        <p:nvPicPr>
          <p:cNvPr id="11" name="图片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330" y="6336885"/>
            <a:ext cx="1620180" cy="510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7D805-F75B-4902-A94D-21A20A1DCE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3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89994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7"/>
          <p:cNvSpPr>
            <a:spLocks/>
          </p:cNvSpPr>
          <p:nvPr/>
        </p:nvSpPr>
        <p:spPr bwMode="ltGray">
          <a:xfrm>
            <a:off x="-1588" y="6413501"/>
            <a:ext cx="4205288" cy="444500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8" name="Freeform 68"/>
          <p:cNvSpPr>
            <a:spLocks/>
          </p:cNvSpPr>
          <p:nvPr/>
        </p:nvSpPr>
        <p:spPr bwMode="ltGray">
          <a:xfrm>
            <a:off x="4932364" y="6337301"/>
            <a:ext cx="4211637" cy="520700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9" name="Object 69"/>
          <p:cNvGraphicFramePr>
            <a:graphicFrameLocks noChangeAspect="1"/>
          </p:cNvGraphicFramePr>
          <p:nvPr/>
        </p:nvGraphicFramePr>
        <p:xfrm>
          <a:off x="0" y="0"/>
          <a:ext cx="9144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101587" imgH="406063" progId="Photoshop.Image.6">
                  <p:embed/>
                </p:oleObj>
              </mc:Choice>
              <mc:Fallback>
                <p:oleObj name="Image" r:id="rId2" imgW="4101587" imgH="406063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reeform 70"/>
          <p:cNvSpPr>
            <a:spLocks/>
          </p:cNvSpPr>
          <p:nvPr/>
        </p:nvSpPr>
        <p:spPr bwMode="ltGray">
          <a:xfrm flipH="1">
            <a:off x="1" y="793751"/>
            <a:ext cx="3635375" cy="444500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1" name="Freeform 71"/>
          <p:cNvSpPr>
            <a:spLocks/>
          </p:cNvSpPr>
          <p:nvPr/>
        </p:nvSpPr>
        <p:spPr bwMode="ltGray">
          <a:xfrm>
            <a:off x="0" y="0"/>
            <a:ext cx="9144000" cy="812800"/>
          </a:xfrm>
          <a:custGeom>
            <a:avLst/>
            <a:gdLst>
              <a:gd name="T0" fmla="*/ 0 w 5760"/>
              <a:gd name="T1" fmla="*/ 512 h 512"/>
              <a:gd name="T2" fmla="*/ 5760 w 5760"/>
              <a:gd name="T3" fmla="*/ 512 h 512"/>
              <a:gd name="T4" fmla="*/ 5760 w 5760"/>
              <a:gd name="T5" fmla="*/ 0 h 512"/>
              <a:gd name="T6" fmla="*/ 2804 w 5760"/>
              <a:gd name="T7" fmla="*/ 134 h 512"/>
              <a:gd name="T8" fmla="*/ 0 w 5760"/>
              <a:gd name="T9" fmla="*/ 9 h 512"/>
              <a:gd name="T10" fmla="*/ 0 w 5760"/>
              <a:gd name="T11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>
              <a:defRPr/>
            </a:pPr>
            <a:endParaRPr lang="zh-CN" altLang="en-US" sz="1800">
              <a:ea typeface="+mn-ea"/>
            </a:endParaRPr>
          </a:p>
        </p:txBody>
      </p:sp>
      <p:sp>
        <p:nvSpPr>
          <p:cNvPr id="12" name="Freeform 72"/>
          <p:cNvSpPr>
            <a:spLocks/>
          </p:cNvSpPr>
          <p:nvPr/>
        </p:nvSpPr>
        <p:spPr bwMode="gray">
          <a:xfrm>
            <a:off x="4978400" y="800101"/>
            <a:ext cx="4165600" cy="444500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pic>
        <p:nvPicPr>
          <p:cNvPr id="13" name="图片 1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315" y="6357447"/>
            <a:ext cx="1703154" cy="53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" name="灯片编号占位符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D76674-7BCF-4CEA-B359-8E6DBDAF8FE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5" name="日期占位符 8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58685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7"/>
          <p:cNvSpPr>
            <a:spLocks/>
          </p:cNvSpPr>
          <p:nvPr/>
        </p:nvSpPr>
        <p:spPr bwMode="ltGray">
          <a:xfrm>
            <a:off x="-1588" y="6413501"/>
            <a:ext cx="4205288" cy="444500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Freeform 68"/>
          <p:cNvSpPr>
            <a:spLocks/>
          </p:cNvSpPr>
          <p:nvPr/>
        </p:nvSpPr>
        <p:spPr bwMode="ltGray">
          <a:xfrm>
            <a:off x="4932364" y="6337301"/>
            <a:ext cx="4211637" cy="520700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5" name="Object 69"/>
          <p:cNvGraphicFramePr>
            <a:graphicFrameLocks noChangeAspect="1"/>
          </p:cNvGraphicFramePr>
          <p:nvPr/>
        </p:nvGraphicFramePr>
        <p:xfrm>
          <a:off x="0" y="0"/>
          <a:ext cx="9144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101587" imgH="406063" progId="Photoshop.Image.6">
                  <p:embed/>
                </p:oleObj>
              </mc:Choice>
              <mc:Fallback>
                <p:oleObj name="Image" r:id="rId2" imgW="4101587" imgH="406063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reeform 70"/>
          <p:cNvSpPr>
            <a:spLocks/>
          </p:cNvSpPr>
          <p:nvPr/>
        </p:nvSpPr>
        <p:spPr bwMode="ltGray">
          <a:xfrm flipH="1">
            <a:off x="1" y="793751"/>
            <a:ext cx="3635375" cy="444500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Freeform 71"/>
          <p:cNvSpPr>
            <a:spLocks/>
          </p:cNvSpPr>
          <p:nvPr/>
        </p:nvSpPr>
        <p:spPr bwMode="ltGray">
          <a:xfrm>
            <a:off x="0" y="0"/>
            <a:ext cx="9144000" cy="812800"/>
          </a:xfrm>
          <a:custGeom>
            <a:avLst/>
            <a:gdLst>
              <a:gd name="T0" fmla="*/ 0 w 5760"/>
              <a:gd name="T1" fmla="*/ 512 h 512"/>
              <a:gd name="T2" fmla="*/ 5760 w 5760"/>
              <a:gd name="T3" fmla="*/ 512 h 512"/>
              <a:gd name="T4" fmla="*/ 5760 w 5760"/>
              <a:gd name="T5" fmla="*/ 0 h 512"/>
              <a:gd name="T6" fmla="*/ 2804 w 5760"/>
              <a:gd name="T7" fmla="*/ 134 h 512"/>
              <a:gd name="T8" fmla="*/ 0 w 5760"/>
              <a:gd name="T9" fmla="*/ 9 h 512"/>
              <a:gd name="T10" fmla="*/ 0 w 5760"/>
              <a:gd name="T11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>
              <a:defRPr/>
            </a:pPr>
            <a:endParaRPr lang="zh-CN" altLang="en-US" sz="1800">
              <a:ea typeface="+mn-ea"/>
            </a:endParaRPr>
          </a:p>
        </p:txBody>
      </p:sp>
      <p:sp>
        <p:nvSpPr>
          <p:cNvPr id="8" name="Freeform 72"/>
          <p:cNvSpPr>
            <a:spLocks/>
          </p:cNvSpPr>
          <p:nvPr/>
        </p:nvSpPr>
        <p:spPr bwMode="gray">
          <a:xfrm>
            <a:off x="4978400" y="800101"/>
            <a:ext cx="4165600" cy="444500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pic>
        <p:nvPicPr>
          <p:cNvPr id="9" name="图片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329" y="6339048"/>
            <a:ext cx="1588837" cy="500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E831E6-0EF1-4407-99B6-168BDC42DF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507580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7"/>
          <p:cNvSpPr>
            <a:spLocks/>
          </p:cNvSpPr>
          <p:nvPr/>
        </p:nvSpPr>
        <p:spPr bwMode="ltGray">
          <a:xfrm>
            <a:off x="-1588" y="6413501"/>
            <a:ext cx="4205288" cy="444500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" name="Freeform 68"/>
          <p:cNvSpPr>
            <a:spLocks/>
          </p:cNvSpPr>
          <p:nvPr/>
        </p:nvSpPr>
        <p:spPr bwMode="ltGray">
          <a:xfrm>
            <a:off x="4932364" y="6337301"/>
            <a:ext cx="4211637" cy="520700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4" name="Object 69"/>
          <p:cNvGraphicFramePr>
            <a:graphicFrameLocks noChangeAspect="1"/>
          </p:cNvGraphicFramePr>
          <p:nvPr/>
        </p:nvGraphicFramePr>
        <p:xfrm>
          <a:off x="0" y="0"/>
          <a:ext cx="9144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101587" imgH="406063" progId="Photoshop.Image.6">
                  <p:embed/>
                </p:oleObj>
              </mc:Choice>
              <mc:Fallback>
                <p:oleObj name="Image" r:id="rId2" imgW="4101587" imgH="406063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reeform 70"/>
          <p:cNvSpPr>
            <a:spLocks/>
          </p:cNvSpPr>
          <p:nvPr/>
        </p:nvSpPr>
        <p:spPr bwMode="ltGray">
          <a:xfrm flipH="1">
            <a:off x="1" y="793751"/>
            <a:ext cx="3635375" cy="444500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Freeform 71"/>
          <p:cNvSpPr>
            <a:spLocks/>
          </p:cNvSpPr>
          <p:nvPr/>
        </p:nvSpPr>
        <p:spPr bwMode="ltGray">
          <a:xfrm>
            <a:off x="0" y="0"/>
            <a:ext cx="9144000" cy="812800"/>
          </a:xfrm>
          <a:custGeom>
            <a:avLst/>
            <a:gdLst>
              <a:gd name="T0" fmla="*/ 0 w 5760"/>
              <a:gd name="T1" fmla="*/ 512 h 512"/>
              <a:gd name="T2" fmla="*/ 5760 w 5760"/>
              <a:gd name="T3" fmla="*/ 512 h 512"/>
              <a:gd name="T4" fmla="*/ 5760 w 5760"/>
              <a:gd name="T5" fmla="*/ 0 h 512"/>
              <a:gd name="T6" fmla="*/ 2804 w 5760"/>
              <a:gd name="T7" fmla="*/ 134 h 512"/>
              <a:gd name="T8" fmla="*/ 0 w 5760"/>
              <a:gd name="T9" fmla="*/ 9 h 512"/>
              <a:gd name="T10" fmla="*/ 0 w 5760"/>
              <a:gd name="T11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>
              <a:defRPr/>
            </a:pPr>
            <a:endParaRPr lang="zh-CN" altLang="en-US" sz="1800">
              <a:ea typeface="+mn-ea"/>
            </a:endParaRPr>
          </a:p>
        </p:txBody>
      </p:sp>
      <p:sp>
        <p:nvSpPr>
          <p:cNvPr id="7" name="Freeform 72"/>
          <p:cNvSpPr>
            <a:spLocks/>
          </p:cNvSpPr>
          <p:nvPr/>
        </p:nvSpPr>
        <p:spPr bwMode="gray">
          <a:xfrm>
            <a:off x="4978400" y="800101"/>
            <a:ext cx="4165600" cy="444500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pic>
        <p:nvPicPr>
          <p:cNvPr id="8" name="图片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1863" y="6004985"/>
            <a:ext cx="2108200" cy="664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F8F566-EC0D-4ED7-B86E-3A4AFED934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97635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7"/>
          <p:cNvSpPr>
            <a:spLocks/>
          </p:cNvSpPr>
          <p:nvPr/>
        </p:nvSpPr>
        <p:spPr bwMode="ltGray">
          <a:xfrm>
            <a:off x="-1588" y="6413501"/>
            <a:ext cx="4205288" cy="444500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Freeform 68"/>
          <p:cNvSpPr>
            <a:spLocks/>
          </p:cNvSpPr>
          <p:nvPr/>
        </p:nvSpPr>
        <p:spPr bwMode="ltGray">
          <a:xfrm>
            <a:off x="4932364" y="6337301"/>
            <a:ext cx="4211637" cy="520700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7" name="Object 69"/>
          <p:cNvGraphicFramePr>
            <a:graphicFrameLocks noChangeAspect="1"/>
          </p:cNvGraphicFramePr>
          <p:nvPr/>
        </p:nvGraphicFramePr>
        <p:xfrm>
          <a:off x="0" y="0"/>
          <a:ext cx="9144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101587" imgH="406063" progId="Photoshop.Image.6">
                  <p:embed/>
                </p:oleObj>
              </mc:Choice>
              <mc:Fallback>
                <p:oleObj name="Image" r:id="rId2" imgW="4101587" imgH="406063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reeform 70"/>
          <p:cNvSpPr>
            <a:spLocks/>
          </p:cNvSpPr>
          <p:nvPr/>
        </p:nvSpPr>
        <p:spPr bwMode="ltGray">
          <a:xfrm flipH="1">
            <a:off x="1" y="793751"/>
            <a:ext cx="3635375" cy="444500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Freeform 71"/>
          <p:cNvSpPr>
            <a:spLocks/>
          </p:cNvSpPr>
          <p:nvPr/>
        </p:nvSpPr>
        <p:spPr bwMode="ltGray">
          <a:xfrm>
            <a:off x="0" y="0"/>
            <a:ext cx="9144000" cy="812800"/>
          </a:xfrm>
          <a:custGeom>
            <a:avLst/>
            <a:gdLst>
              <a:gd name="T0" fmla="*/ 0 w 5760"/>
              <a:gd name="T1" fmla="*/ 512 h 512"/>
              <a:gd name="T2" fmla="*/ 5760 w 5760"/>
              <a:gd name="T3" fmla="*/ 512 h 512"/>
              <a:gd name="T4" fmla="*/ 5760 w 5760"/>
              <a:gd name="T5" fmla="*/ 0 h 512"/>
              <a:gd name="T6" fmla="*/ 2804 w 5760"/>
              <a:gd name="T7" fmla="*/ 134 h 512"/>
              <a:gd name="T8" fmla="*/ 0 w 5760"/>
              <a:gd name="T9" fmla="*/ 9 h 512"/>
              <a:gd name="T10" fmla="*/ 0 w 5760"/>
              <a:gd name="T11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>
              <a:defRPr/>
            </a:pPr>
            <a:endParaRPr lang="zh-CN" altLang="en-US" sz="1800">
              <a:ea typeface="+mn-ea"/>
            </a:endParaRPr>
          </a:p>
        </p:txBody>
      </p:sp>
      <p:sp>
        <p:nvSpPr>
          <p:cNvPr id="10" name="Freeform 72"/>
          <p:cNvSpPr>
            <a:spLocks/>
          </p:cNvSpPr>
          <p:nvPr/>
        </p:nvSpPr>
        <p:spPr bwMode="gray">
          <a:xfrm>
            <a:off x="4978400" y="800101"/>
            <a:ext cx="4165600" cy="444500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pic>
        <p:nvPicPr>
          <p:cNvPr id="11" name="图片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1863" y="6004985"/>
            <a:ext cx="2108200" cy="664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ACE3A3-5BE3-4A0E-B426-312E7B69E4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3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23836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7"/>
          <p:cNvSpPr>
            <a:spLocks/>
          </p:cNvSpPr>
          <p:nvPr/>
        </p:nvSpPr>
        <p:spPr bwMode="ltGray">
          <a:xfrm>
            <a:off x="-1588" y="6413501"/>
            <a:ext cx="4205288" cy="444500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Freeform 68"/>
          <p:cNvSpPr>
            <a:spLocks/>
          </p:cNvSpPr>
          <p:nvPr/>
        </p:nvSpPr>
        <p:spPr bwMode="ltGray">
          <a:xfrm>
            <a:off x="4932364" y="6337301"/>
            <a:ext cx="4211637" cy="520700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7" name="Object 69"/>
          <p:cNvGraphicFramePr>
            <a:graphicFrameLocks noChangeAspect="1"/>
          </p:cNvGraphicFramePr>
          <p:nvPr/>
        </p:nvGraphicFramePr>
        <p:xfrm>
          <a:off x="0" y="0"/>
          <a:ext cx="9144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101587" imgH="406063" progId="Photoshop.Image.6">
                  <p:embed/>
                </p:oleObj>
              </mc:Choice>
              <mc:Fallback>
                <p:oleObj name="Image" r:id="rId2" imgW="4101587" imgH="406063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reeform 70"/>
          <p:cNvSpPr>
            <a:spLocks/>
          </p:cNvSpPr>
          <p:nvPr/>
        </p:nvSpPr>
        <p:spPr bwMode="ltGray">
          <a:xfrm flipH="1">
            <a:off x="1" y="793751"/>
            <a:ext cx="3635375" cy="444500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Freeform 71"/>
          <p:cNvSpPr>
            <a:spLocks/>
          </p:cNvSpPr>
          <p:nvPr/>
        </p:nvSpPr>
        <p:spPr bwMode="ltGray">
          <a:xfrm>
            <a:off x="0" y="0"/>
            <a:ext cx="9144000" cy="812800"/>
          </a:xfrm>
          <a:custGeom>
            <a:avLst/>
            <a:gdLst>
              <a:gd name="T0" fmla="*/ 0 w 5760"/>
              <a:gd name="T1" fmla="*/ 512 h 512"/>
              <a:gd name="T2" fmla="*/ 5760 w 5760"/>
              <a:gd name="T3" fmla="*/ 512 h 512"/>
              <a:gd name="T4" fmla="*/ 5760 w 5760"/>
              <a:gd name="T5" fmla="*/ 0 h 512"/>
              <a:gd name="T6" fmla="*/ 2804 w 5760"/>
              <a:gd name="T7" fmla="*/ 134 h 512"/>
              <a:gd name="T8" fmla="*/ 0 w 5760"/>
              <a:gd name="T9" fmla="*/ 9 h 512"/>
              <a:gd name="T10" fmla="*/ 0 w 5760"/>
              <a:gd name="T11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>
              <a:defRPr/>
            </a:pPr>
            <a:endParaRPr lang="zh-CN" altLang="en-US" sz="1800">
              <a:ea typeface="+mn-ea"/>
            </a:endParaRPr>
          </a:p>
        </p:txBody>
      </p:sp>
      <p:sp>
        <p:nvSpPr>
          <p:cNvPr id="10" name="Freeform 72"/>
          <p:cNvSpPr>
            <a:spLocks/>
          </p:cNvSpPr>
          <p:nvPr/>
        </p:nvSpPr>
        <p:spPr bwMode="gray">
          <a:xfrm>
            <a:off x="4978400" y="800101"/>
            <a:ext cx="4165600" cy="444500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pic>
        <p:nvPicPr>
          <p:cNvPr id="11" name="图片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1863" y="6004985"/>
            <a:ext cx="2108200" cy="664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7EC138-B105-48C9-B653-458FF6526E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3" name="日期占位符 6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1148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7"/>
          <p:cNvSpPr>
            <a:spLocks/>
          </p:cNvSpPr>
          <p:nvPr/>
        </p:nvSpPr>
        <p:spPr bwMode="ltGray">
          <a:xfrm>
            <a:off x="-1588" y="6413501"/>
            <a:ext cx="4205288" cy="444500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Freeform 68"/>
          <p:cNvSpPr>
            <a:spLocks/>
          </p:cNvSpPr>
          <p:nvPr/>
        </p:nvSpPr>
        <p:spPr bwMode="ltGray">
          <a:xfrm>
            <a:off x="4932364" y="6337301"/>
            <a:ext cx="4211637" cy="520700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6" name="Object 69"/>
          <p:cNvGraphicFramePr>
            <a:graphicFrameLocks noChangeAspect="1"/>
          </p:cNvGraphicFramePr>
          <p:nvPr/>
        </p:nvGraphicFramePr>
        <p:xfrm>
          <a:off x="0" y="0"/>
          <a:ext cx="9144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101587" imgH="406063" progId="Photoshop.Image.6">
                  <p:embed/>
                </p:oleObj>
              </mc:Choice>
              <mc:Fallback>
                <p:oleObj name="Image" r:id="rId2" imgW="4101587" imgH="406063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 70"/>
          <p:cNvSpPr>
            <a:spLocks/>
          </p:cNvSpPr>
          <p:nvPr/>
        </p:nvSpPr>
        <p:spPr bwMode="ltGray">
          <a:xfrm flipH="1">
            <a:off x="1" y="793751"/>
            <a:ext cx="3635375" cy="444500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8" name="Freeform 71"/>
          <p:cNvSpPr>
            <a:spLocks/>
          </p:cNvSpPr>
          <p:nvPr/>
        </p:nvSpPr>
        <p:spPr bwMode="ltGray">
          <a:xfrm>
            <a:off x="0" y="0"/>
            <a:ext cx="9144000" cy="812800"/>
          </a:xfrm>
          <a:custGeom>
            <a:avLst/>
            <a:gdLst>
              <a:gd name="T0" fmla="*/ 0 w 5760"/>
              <a:gd name="T1" fmla="*/ 512 h 512"/>
              <a:gd name="T2" fmla="*/ 5760 w 5760"/>
              <a:gd name="T3" fmla="*/ 512 h 512"/>
              <a:gd name="T4" fmla="*/ 5760 w 5760"/>
              <a:gd name="T5" fmla="*/ 0 h 512"/>
              <a:gd name="T6" fmla="*/ 2804 w 5760"/>
              <a:gd name="T7" fmla="*/ 134 h 512"/>
              <a:gd name="T8" fmla="*/ 0 w 5760"/>
              <a:gd name="T9" fmla="*/ 9 h 512"/>
              <a:gd name="T10" fmla="*/ 0 w 5760"/>
              <a:gd name="T11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>
              <a:defRPr/>
            </a:pPr>
            <a:endParaRPr lang="zh-CN" altLang="en-US" sz="1800">
              <a:ea typeface="+mn-ea"/>
            </a:endParaRPr>
          </a:p>
        </p:txBody>
      </p:sp>
      <p:sp>
        <p:nvSpPr>
          <p:cNvPr id="9" name="Freeform 72"/>
          <p:cNvSpPr>
            <a:spLocks/>
          </p:cNvSpPr>
          <p:nvPr/>
        </p:nvSpPr>
        <p:spPr bwMode="gray">
          <a:xfrm>
            <a:off x="4978400" y="800101"/>
            <a:ext cx="4165600" cy="444500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pic>
        <p:nvPicPr>
          <p:cNvPr id="10" name="图片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1863" y="6004985"/>
            <a:ext cx="2108200" cy="664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D041B1-3CCE-4458-9CAA-7C32A00BE85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2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73796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7"/>
          <p:cNvSpPr>
            <a:spLocks/>
          </p:cNvSpPr>
          <p:nvPr/>
        </p:nvSpPr>
        <p:spPr bwMode="ltGray">
          <a:xfrm>
            <a:off x="-1588" y="6413501"/>
            <a:ext cx="4205288" cy="444500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Freeform 68"/>
          <p:cNvSpPr>
            <a:spLocks/>
          </p:cNvSpPr>
          <p:nvPr/>
        </p:nvSpPr>
        <p:spPr bwMode="ltGray">
          <a:xfrm>
            <a:off x="4932364" y="6337301"/>
            <a:ext cx="4211637" cy="520700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6" name="Object 69"/>
          <p:cNvGraphicFramePr>
            <a:graphicFrameLocks noChangeAspect="1"/>
          </p:cNvGraphicFramePr>
          <p:nvPr/>
        </p:nvGraphicFramePr>
        <p:xfrm>
          <a:off x="0" y="0"/>
          <a:ext cx="9144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101587" imgH="406063" progId="Photoshop.Image.6">
                  <p:embed/>
                </p:oleObj>
              </mc:Choice>
              <mc:Fallback>
                <p:oleObj name="Image" r:id="rId2" imgW="4101587" imgH="406063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 70"/>
          <p:cNvSpPr>
            <a:spLocks/>
          </p:cNvSpPr>
          <p:nvPr/>
        </p:nvSpPr>
        <p:spPr bwMode="ltGray">
          <a:xfrm flipH="1">
            <a:off x="1" y="793751"/>
            <a:ext cx="3635375" cy="444500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8" name="Freeform 71"/>
          <p:cNvSpPr>
            <a:spLocks/>
          </p:cNvSpPr>
          <p:nvPr/>
        </p:nvSpPr>
        <p:spPr bwMode="ltGray">
          <a:xfrm>
            <a:off x="0" y="0"/>
            <a:ext cx="9144000" cy="812800"/>
          </a:xfrm>
          <a:custGeom>
            <a:avLst/>
            <a:gdLst>
              <a:gd name="T0" fmla="*/ 0 w 5760"/>
              <a:gd name="T1" fmla="*/ 512 h 512"/>
              <a:gd name="T2" fmla="*/ 5760 w 5760"/>
              <a:gd name="T3" fmla="*/ 512 h 512"/>
              <a:gd name="T4" fmla="*/ 5760 w 5760"/>
              <a:gd name="T5" fmla="*/ 0 h 512"/>
              <a:gd name="T6" fmla="*/ 2804 w 5760"/>
              <a:gd name="T7" fmla="*/ 134 h 512"/>
              <a:gd name="T8" fmla="*/ 0 w 5760"/>
              <a:gd name="T9" fmla="*/ 9 h 512"/>
              <a:gd name="T10" fmla="*/ 0 w 5760"/>
              <a:gd name="T11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>
              <a:defRPr/>
            </a:pPr>
            <a:endParaRPr lang="zh-CN" altLang="en-US" sz="1800">
              <a:ea typeface="+mn-ea"/>
            </a:endParaRPr>
          </a:p>
        </p:txBody>
      </p:sp>
      <p:sp>
        <p:nvSpPr>
          <p:cNvPr id="9" name="Freeform 72"/>
          <p:cNvSpPr>
            <a:spLocks/>
          </p:cNvSpPr>
          <p:nvPr/>
        </p:nvSpPr>
        <p:spPr bwMode="gray">
          <a:xfrm>
            <a:off x="4978400" y="800101"/>
            <a:ext cx="4165600" cy="444500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pic>
        <p:nvPicPr>
          <p:cNvPr id="10" name="图片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1863" y="6004985"/>
            <a:ext cx="2108200" cy="664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5943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5943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608D8B-B3D6-4FD6-965C-B83E12ADEE6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2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4719488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7"/>
          <p:cNvSpPr>
            <a:spLocks/>
          </p:cNvSpPr>
          <p:nvPr/>
        </p:nvSpPr>
        <p:spPr bwMode="ltGray">
          <a:xfrm>
            <a:off x="-1588" y="6413501"/>
            <a:ext cx="4205288" cy="444500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Freeform 68"/>
          <p:cNvSpPr>
            <a:spLocks/>
          </p:cNvSpPr>
          <p:nvPr/>
        </p:nvSpPr>
        <p:spPr bwMode="ltGray">
          <a:xfrm>
            <a:off x="4932364" y="6337301"/>
            <a:ext cx="4211637" cy="520700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6" name="Object 69"/>
          <p:cNvGraphicFramePr>
            <a:graphicFrameLocks noChangeAspect="1"/>
          </p:cNvGraphicFramePr>
          <p:nvPr/>
        </p:nvGraphicFramePr>
        <p:xfrm>
          <a:off x="0" y="0"/>
          <a:ext cx="9144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4101587" imgH="406063" progId="Photoshop.Image.6">
                  <p:embed/>
                </p:oleObj>
              </mc:Choice>
              <mc:Fallback>
                <p:oleObj name="Image" r:id="rId2" imgW="4101587" imgH="406063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 70"/>
          <p:cNvSpPr>
            <a:spLocks/>
          </p:cNvSpPr>
          <p:nvPr/>
        </p:nvSpPr>
        <p:spPr bwMode="ltGray">
          <a:xfrm flipH="1">
            <a:off x="1" y="793751"/>
            <a:ext cx="3635375" cy="444500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8" name="Freeform 71"/>
          <p:cNvSpPr>
            <a:spLocks/>
          </p:cNvSpPr>
          <p:nvPr/>
        </p:nvSpPr>
        <p:spPr bwMode="ltGray">
          <a:xfrm>
            <a:off x="0" y="0"/>
            <a:ext cx="9144000" cy="812800"/>
          </a:xfrm>
          <a:custGeom>
            <a:avLst/>
            <a:gdLst>
              <a:gd name="T0" fmla="*/ 0 w 5760"/>
              <a:gd name="T1" fmla="*/ 512 h 512"/>
              <a:gd name="T2" fmla="*/ 5760 w 5760"/>
              <a:gd name="T3" fmla="*/ 512 h 512"/>
              <a:gd name="T4" fmla="*/ 5760 w 5760"/>
              <a:gd name="T5" fmla="*/ 0 h 512"/>
              <a:gd name="T6" fmla="*/ 2804 w 5760"/>
              <a:gd name="T7" fmla="*/ 134 h 512"/>
              <a:gd name="T8" fmla="*/ 0 w 5760"/>
              <a:gd name="T9" fmla="*/ 9 h 512"/>
              <a:gd name="T10" fmla="*/ 0 w 5760"/>
              <a:gd name="T11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>
              <a:defRPr/>
            </a:pPr>
            <a:endParaRPr lang="zh-CN" altLang="en-US" sz="1800">
              <a:ea typeface="+mn-ea"/>
            </a:endParaRPr>
          </a:p>
        </p:txBody>
      </p:sp>
      <p:sp>
        <p:nvSpPr>
          <p:cNvPr id="9" name="Freeform 72"/>
          <p:cNvSpPr>
            <a:spLocks/>
          </p:cNvSpPr>
          <p:nvPr/>
        </p:nvSpPr>
        <p:spPr bwMode="gray">
          <a:xfrm>
            <a:off x="4978400" y="800101"/>
            <a:ext cx="4165600" cy="444500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pic>
        <p:nvPicPr>
          <p:cNvPr id="10" name="图片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1863" y="6004985"/>
            <a:ext cx="2108200" cy="664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8601"/>
            <a:ext cx="71628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219200"/>
            <a:ext cx="8229600" cy="4953000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C925DB-8355-4D0A-897C-1D70323E33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2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260265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67"/>
          <p:cNvSpPr>
            <a:spLocks/>
          </p:cNvSpPr>
          <p:nvPr/>
        </p:nvSpPr>
        <p:spPr bwMode="ltGray">
          <a:xfrm>
            <a:off x="-1588" y="6413501"/>
            <a:ext cx="4205288" cy="444500"/>
          </a:xfrm>
          <a:custGeom>
            <a:avLst/>
            <a:gdLst>
              <a:gd name="T0" fmla="*/ 2147483647 w 2649"/>
              <a:gd name="T1" fmla="*/ 2147483647 h 280"/>
              <a:gd name="T2" fmla="*/ 2147483647 w 2649"/>
              <a:gd name="T3" fmla="*/ 2147483647 h 280"/>
              <a:gd name="T4" fmla="*/ 2147483647 w 2649"/>
              <a:gd name="T5" fmla="*/ 0 h 280"/>
              <a:gd name="T6" fmla="*/ 0 w 2649"/>
              <a:gd name="T7" fmla="*/ 2147483647 h 280"/>
              <a:gd name="T8" fmla="*/ 2147483647 w 2649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49" h="280">
                <a:moveTo>
                  <a:pt x="2649" y="280"/>
                </a:moveTo>
                <a:cubicBezTo>
                  <a:pt x="2211" y="248"/>
                  <a:pt x="2061" y="246"/>
                  <a:pt x="1337" y="184"/>
                </a:cubicBezTo>
                <a:cubicBezTo>
                  <a:pt x="610" y="123"/>
                  <a:pt x="9" y="0"/>
                  <a:pt x="1" y="0"/>
                </a:cubicBezTo>
                <a:lnTo>
                  <a:pt x="0" y="279"/>
                </a:lnTo>
                <a:lnTo>
                  <a:pt x="2649" y="28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027" name="Freeform 68"/>
          <p:cNvSpPr>
            <a:spLocks/>
          </p:cNvSpPr>
          <p:nvPr/>
        </p:nvSpPr>
        <p:spPr bwMode="ltGray">
          <a:xfrm>
            <a:off x="4932364" y="6337301"/>
            <a:ext cx="4211637" cy="520700"/>
          </a:xfrm>
          <a:custGeom>
            <a:avLst/>
            <a:gdLst>
              <a:gd name="T0" fmla="*/ 0 w 2653"/>
              <a:gd name="T1" fmla="*/ 2147483647 h 328"/>
              <a:gd name="T2" fmla="*/ 2147483647 w 2653"/>
              <a:gd name="T3" fmla="*/ 2147483647 h 328"/>
              <a:gd name="T4" fmla="*/ 2147483647 w 2653"/>
              <a:gd name="T5" fmla="*/ 0 h 328"/>
              <a:gd name="T6" fmla="*/ 2147483647 w 2653"/>
              <a:gd name="T7" fmla="*/ 2147483647 h 328"/>
              <a:gd name="T8" fmla="*/ 0 w 2653"/>
              <a:gd name="T9" fmla="*/ 2147483647 h 3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53" h="328">
                <a:moveTo>
                  <a:pt x="0" y="328"/>
                </a:moveTo>
                <a:cubicBezTo>
                  <a:pt x="428" y="297"/>
                  <a:pt x="612" y="285"/>
                  <a:pt x="1321" y="224"/>
                </a:cubicBezTo>
                <a:cubicBezTo>
                  <a:pt x="2031" y="163"/>
                  <a:pt x="2595" y="29"/>
                  <a:pt x="2653" y="0"/>
                </a:cubicBezTo>
                <a:lnTo>
                  <a:pt x="2653" y="328"/>
                </a:lnTo>
                <a:lnTo>
                  <a:pt x="0" y="328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5" name="Object 69"/>
          <p:cNvGraphicFramePr>
            <a:graphicFrameLocks noChangeAspect="1"/>
          </p:cNvGraphicFramePr>
          <p:nvPr/>
        </p:nvGraphicFramePr>
        <p:xfrm>
          <a:off x="0" y="0"/>
          <a:ext cx="9144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4" imgW="4101587" imgH="406063" progId="Photoshop.Image.6">
                  <p:embed/>
                </p:oleObj>
              </mc:Choice>
              <mc:Fallback>
                <p:oleObj name="Image" r:id="rId14" imgW="4101587" imgH="406063" progId="Photoshop.Image.6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Freeform 70"/>
          <p:cNvSpPr>
            <a:spLocks/>
          </p:cNvSpPr>
          <p:nvPr/>
        </p:nvSpPr>
        <p:spPr bwMode="ltGray">
          <a:xfrm flipH="1">
            <a:off x="1" y="793751"/>
            <a:ext cx="3635375" cy="444500"/>
          </a:xfrm>
          <a:custGeom>
            <a:avLst/>
            <a:gdLst>
              <a:gd name="T0" fmla="*/ 0 w 2096"/>
              <a:gd name="T1" fmla="*/ 2147483647 h 280"/>
              <a:gd name="T2" fmla="*/ 2147483647 w 2096"/>
              <a:gd name="T3" fmla="*/ 2147483647 h 280"/>
              <a:gd name="T4" fmla="*/ 2147483647 w 2096"/>
              <a:gd name="T5" fmla="*/ 2147483647 h 280"/>
              <a:gd name="T6" fmla="*/ 2147483647 w 2096"/>
              <a:gd name="T7" fmla="*/ 0 h 280"/>
              <a:gd name="T8" fmla="*/ 0 w 2096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96" h="280">
                <a:moveTo>
                  <a:pt x="0" y="16"/>
                </a:moveTo>
                <a:cubicBezTo>
                  <a:pt x="352" y="48"/>
                  <a:pt x="418" y="43"/>
                  <a:pt x="1000" y="104"/>
                </a:cubicBezTo>
                <a:cubicBezTo>
                  <a:pt x="1584" y="165"/>
                  <a:pt x="2048" y="251"/>
                  <a:pt x="2096" y="280"/>
                </a:cubicBezTo>
                <a:lnTo>
                  <a:pt x="2096" y="0"/>
                </a:lnTo>
                <a:lnTo>
                  <a:pt x="0" y="16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095" name="Freeform 71"/>
          <p:cNvSpPr>
            <a:spLocks/>
          </p:cNvSpPr>
          <p:nvPr/>
        </p:nvSpPr>
        <p:spPr bwMode="ltGray">
          <a:xfrm>
            <a:off x="0" y="0"/>
            <a:ext cx="9144000" cy="812800"/>
          </a:xfrm>
          <a:custGeom>
            <a:avLst/>
            <a:gdLst>
              <a:gd name="T0" fmla="*/ 0 w 5760"/>
              <a:gd name="T1" fmla="*/ 512 h 512"/>
              <a:gd name="T2" fmla="*/ 5760 w 5760"/>
              <a:gd name="T3" fmla="*/ 512 h 512"/>
              <a:gd name="T4" fmla="*/ 5760 w 5760"/>
              <a:gd name="T5" fmla="*/ 0 h 512"/>
              <a:gd name="T6" fmla="*/ 2804 w 5760"/>
              <a:gd name="T7" fmla="*/ 134 h 512"/>
              <a:gd name="T8" fmla="*/ 0 w 5760"/>
              <a:gd name="T9" fmla="*/ 9 h 512"/>
              <a:gd name="T10" fmla="*/ 0 w 5760"/>
              <a:gd name="T11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60" h="512">
                <a:moveTo>
                  <a:pt x="0" y="512"/>
                </a:moveTo>
                <a:lnTo>
                  <a:pt x="5760" y="512"/>
                </a:lnTo>
                <a:lnTo>
                  <a:pt x="5760" y="0"/>
                </a:lnTo>
                <a:cubicBezTo>
                  <a:pt x="5554" y="37"/>
                  <a:pt x="3760" y="147"/>
                  <a:pt x="2804" y="134"/>
                </a:cubicBezTo>
                <a:cubicBezTo>
                  <a:pt x="1848" y="121"/>
                  <a:pt x="582" y="97"/>
                  <a:pt x="0" y="9"/>
                </a:cubicBezTo>
                <a:lnTo>
                  <a:pt x="0" y="512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>
              <a:defRPr/>
            </a:pPr>
            <a:endParaRPr lang="zh-CN" altLang="en-US" sz="1800">
              <a:ea typeface="+mn-ea"/>
            </a:endParaRPr>
          </a:p>
        </p:txBody>
      </p:sp>
      <p:sp>
        <p:nvSpPr>
          <p:cNvPr id="103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229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081711" y="6534345"/>
            <a:ext cx="1981200" cy="26034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bg1"/>
                </a:solidFill>
                <a:latin typeface="+mn-lt"/>
                <a:ea typeface="宋体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114800" y="6635749"/>
            <a:ext cx="838200" cy="22225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692AA2"/>
                </a:solidFill>
                <a:latin typeface="+mn-lt"/>
                <a:ea typeface="宋体" charset="-122"/>
              </a:defRPr>
            </a:lvl1pPr>
          </a:lstStyle>
          <a:p>
            <a:pPr>
              <a:defRPr/>
            </a:pPr>
            <a:fld id="{00537DD7-F901-41E9-9EDC-57190724AF9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5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838200" y="228601"/>
            <a:ext cx="7162800" cy="563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53201"/>
            <a:ext cx="1676400" cy="21801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solidFill>
                  <a:schemeClr val="bg1"/>
                </a:solidFill>
                <a:latin typeface="Verdan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6" name="Freeform 72"/>
          <p:cNvSpPr>
            <a:spLocks/>
          </p:cNvSpPr>
          <p:nvPr/>
        </p:nvSpPr>
        <p:spPr bwMode="gray">
          <a:xfrm>
            <a:off x="4978400" y="800101"/>
            <a:ext cx="4165600" cy="444500"/>
          </a:xfrm>
          <a:custGeom>
            <a:avLst/>
            <a:gdLst>
              <a:gd name="T0" fmla="*/ 0 w 2624"/>
              <a:gd name="T1" fmla="*/ 2147483647 h 280"/>
              <a:gd name="T2" fmla="*/ 2147483647 w 2624"/>
              <a:gd name="T3" fmla="*/ 2147483647 h 280"/>
              <a:gd name="T4" fmla="*/ 2147483647 w 2624"/>
              <a:gd name="T5" fmla="*/ 2147483647 h 280"/>
              <a:gd name="T6" fmla="*/ 2147483647 w 2624"/>
              <a:gd name="T7" fmla="*/ 0 h 280"/>
              <a:gd name="T8" fmla="*/ 0 w 2624"/>
              <a:gd name="T9" fmla="*/ 2147483647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24" h="280">
                <a:moveTo>
                  <a:pt x="0" y="8"/>
                </a:moveTo>
                <a:cubicBezTo>
                  <a:pt x="438" y="40"/>
                  <a:pt x="564" y="59"/>
                  <a:pt x="1288" y="120"/>
                </a:cubicBezTo>
                <a:cubicBezTo>
                  <a:pt x="2015" y="181"/>
                  <a:pt x="2616" y="280"/>
                  <a:pt x="2624" y="280"/>
                </a:cubicBezTo>
                <a:lnTo>
                  <a:pt x="2624" y="0"/>
                </a:lnTo>
                <a:lnTo>
                  <a:pt x="0" y="8"/>
                </a:lnTo>
                <a:close/>
              </a:path>
            </a:pathLst>
          </a:custGeom>
          <a:solidFill>
            <a:schemeClr val="bg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pic>
        <p:nvPicPr>
          <p:cNvPr id="14" name="图片 12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8591" y="6363564"/>
            <a:ext cx="1620180" cy="509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隶书" pitchFamily="49" charset="-122"/>
          <a:ea typeface="隶书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 b="1">
          <a:solidFill>
            <a:schemeClr val="tx2"/>
          </a:solidFill>
          <a:latin typeface="隶书" pitchFamily="49" charset="-122"/>
          <a:ea typeface="隶书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400" b="1">
          <a:solidFill>
            <a:schemeClr val="tx1"/>
          </a:solidFill>
          <a:latin typeface="Arial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200">
          <a:solidFill>
            <a:schemeClr val="tx1"/>
          </a:solidFill>
          <a:latin typeface="Arial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emf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实验原理概述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0E9137-E8A8-45DE-AFA3-86166ED81CE7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9" name="TextBox 8"/>
          <p:cNvSpPr txBox="1"/>
          <p:nvPr/>
        </p:nvSpPr>
        <p:spPr>
          <a:xfrm>
            <a:off x="296525" y="818710"/>
            <a:ext cx="522058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幅频特性体现了电压与频率的函数关系，能否直接显示出来呢？</a:t>
            </a:r>
            <a:endParaRPr lang="en-US" altLang="zh-CN" sz="2800" dirty="0"/>
          </a:p>
          <a:p>
            <a:r>
              <a:rPr lang="zh-CN" altLang="en-US" sz="2800" dirty="0">
                <a:solidFill>
                  <a:srgbClr val="3333CC"/>
                </a:solidFill>
              </a:rPr>
              <a:t>问题：</a:t>
            </a:r>
            <a:endParaRPr lang="en-US" altLang="zh-CN" sz="2800" dirty="0">
              <a:solidFill>
                <a:srgbClr val="3333CC"/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zh-CN" altLang="en-US" sz="2800" dirty="0"/>
              <a:t>频率 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zh-CN" altLang="en-US" sz="2800" dirty="0"/>
              <a:t>没法直接作为控制信号送显示电路；</a:t>
            </a:r>
            <a:endParaRPr lang="en-US" altLang="zh-CN" sz="2800" dirty="0"/>
          </a:p>
          <a:p>
            <a:r>
              <a:rPr lang="zh-CN" altLang="en-US" sz="2800" dirty="0">
                <a:solidFill>
                  <a:srgbClr val="3333CC"/>
                </a:solidFill>
              </a:rPr>
              <a:t>解决办法：</a:t>
            </a:r>
            <a:r>
              <a:rPr lang="zh-CN" altLang="en-US" sz="2800" dirty="0"/>
              <a:t>将频率的变化与一个变化的电压关联起来，二者保持变化趋势相同，即需要一个频率能自动的从低到高变化的频率源，并且受到一个自动变化的电压控制</a:t>
            </a:r>
            <a:endParaRPr lang="en-US" altLang="zh-CN" sz="2800" dirty="0"/>
          </a:p>
          <a:p>
            <a:r>
              <a:rPr lang="zh-CN" altLang="en-US" sz="2800" dirty="0"/>
              <a:t>例如，电压每变化</a:t>
            </a:r>
            <a:r>
              <a:rPr lang="en-US" altLang="zh-CN" sz="2800" dirty="0"/>
              <a:t>+</a:t>
            </a:r>
            <a:r>
              <a:rPr lang="el-GR" altLang="zh-CN" sz="2800" dirty="0">
                <a:latin typeface="Times New Roman" pitchFamily="18" charset="0"/>
                <a:ea typeface="宋体"/>
                <a:cs typeface="Times New Roman" pitchFamily="18" charset="0"/>
              </a:rPr>
              <a:t>Δ</a:t>
            </a:r>
            <a:r>
              <a:rPr lang="en-US" altLang="zh-CN" sz="2800" i="1" dirty="0">
                <a:latin typeface="Times New Roman" pitchFamily="18" charset="0"/>
                <a:ea typeface="宋体"/>
                <a:cs typeface="Times New Roman" pitchFamily="18" charset="0"/>
              </a:rPr>
              <a:t>v</a:t>
            </a:r>
            <a:r>
              <a:rPr lang="zh-CN" altLang="en-US" sz="2800" dirty="0">
                <a:ea typeface="宋体"/>
              </a:rPr>
              <a:t>，</a:t>
            </a:r>
            <a:r>
              <a:rPr lang="zh-CN" altLang="en-US" sz="2800" dirty="0"/>
              <a:t>代表着频率增加</a:t>
            </a:r>
            <a:r>
              <a:rPr lang="el-GR" altLang="zh-CN" sz="2800" dirty="0">
                <a:latin typeface="Times New Roman" pitchFamily="18" charset="0"/>
                <a:cs typeface="Times New Roman" pitchFamily="18" charset="0"/>
              </a:rPr>
              <a:t>Δ</a:t>
            </a:r>
            <a:r>
              <a:rPr lang="en-US" altLang="zh-CN" sz="2800" i="1" dirty="0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7165" y="4194085"/>
            <a:ext cx="2295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LPF</a:t>
            </a:r>
            <a:r>
              <a:rPr lang="zh-CN" altLang="en-US" dirty="0"/>
              <a:t>幅频特性</a:t>
            </a:r>
          </a:p>
        </p:txBody>
      </p:sp>
      <p:grpSp>
        <p:nvGrpSpPr>
          <p:cNvPr id="39" name="组合 38"/>
          <p:cNvGrpSpPr/>
          <p:nvPr/>
        </p:nvGrpSpPr>
        <p:grpSpPr>
          <a:xfrm>
            <a:off x="5517105" y="1358770"/>
            <a:ext cx="3555395" cy="2875385"/>
            <a:chOff x="5157065" y="2843935"/>
            <a:chExt cx="3555395" cy="2875385"/>
          </a:xfrm>
        </p:grpSpPr>
        <p:cxnSp>
          <p:nvCxnSpPr>
            <p:cNvPr id="6" name="直接箭头连接符 5"/>
            <p:cNvCxnSpPr/>
            <p:nvPr/>
          </p:nvCxnSpPr>
          <p:spPr>
            <a:xfrm>
              <a:off x="5292080" y="5409220"/>
              <a:ext cx="279031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/>
            <p:cNvCxnSpPr/>
            <p:nvPr/>
          </p:nvCxnSpPr>
          <p:spPr>
            <a:xfrm flipV="1">
              <a:off x="5472100" y="3023956"/>
              <a:ext cx="0" cy="256528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5472100" y="2843935"/>
              <a:ext cx="6300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i="1" dirty="0" err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b="1" baseline="-25000" dirty="0" err="1">
                  <a:latin typeface="Times New Roman" pitchFamily="18" charset="0"/>
                  <a:cs typeface="Times New Roman" pitchFamily="18" charset="0"/>
                </a:rPr>
                <a:t>o</a:t>
              </a:r>
              <a:endParaRPr lang="zh-CN" altLang="en-US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127395" y="5229200"/>
              <a:ext cx="5850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i="1" dirty="0">
                  <a:latin typeface="Times New Roman" pitchFamily="18" charset="0"/>
                  <a:cs typeface="Times New Roman" pitchFamily="18" charset="0"/>
                </a:rPr>
                <a:t>f</a:t>
              </a:r>
              <a:endParaRPr lang="zh-CN" altLang="en-US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" name="任意多边形 20"/>
            <p:cNvSpPr/>
            <p:nvPr/>
          </p:nvSpPr>
          <p:spPr>
            <a:xfrm>
              <a:off x="5472100" y="3499555"/>
              <a:ext cx="2294656" cy="1862667"/>
            </a:xfrm>
            <a:custGeom>
              <a:avLst/>
              <a:gdLst>
                <a:gd name="connsiteX0" fmla="*/ 0 w 3014134"/>
                <a:gd name="connsiteY0" fmla="*/ 22578 h 1862667"/>
                <a:gd name="connsiteX1" fmla="*/ 993422 w 3014134"/>
                <a:gd name="connsiteY1" fmla="*/ 33867 h 1862667"/>
                <a:gd name="connsiteX2" fmla="*/ 1501422 w 3014134"/>
                <a:gd name="connsiteY2" fmla="*/ 225778 h 1862667"/>
                <a:gd name="connsiteX3" fmla="*/ 2043289 w 3014134"/>
                <a:gd name="connsiteY3" fmla="*/ 1049867 h 1862667"/>
                <a:gd name="connsiteX4" fmla="*/ 2348089 w 3014134"/>
                <a:gd name="connsiteY4" fmla="*/ 1557867 h 1862667"/>
                <a:gd name="connsiteX5" fmla="*/ 3014134 w 3014134"/>
                <a:gd name="connsiteY5" fmla="*/ 1862667 h 1862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14134" h="1862667">
                  <a:moveTo>
                    <a:pt x="0" y="22578"/>
                  </a:moveTo>
                  <a:cubicBezTo>
                    <a:pt x="371592" y="11289"/>
                    <a:pt x="743185" y="0"/>
                    <a:pt x="993422" y="33867"/>
                  </a:cubicBezTo>
                  <a:cubicBezTo>
                    <a:pt x="1243659" y="67734"/>
                    <a:pt x="1326444" y="56445"/>
                    <a:pt x="1501422" y="225778"/>
                  </a:cubicBezTo>
                  <a:cubicBezTo>
                    <a:pt x="1676400" y="395111"/>
                    <a:pt x="1902178" y="827852"/>
                    <a:pt x="2043289" y="1049867"/>
                  </a:cubicBezTo>
                  <a:cubicBezTo>
                    <a:pt x="2184400" y="1271882"/>
                    <a:pt x="2186282" y="1422400"/>
                    <a:pt x="2348089" y="1557867"/>
                  </a:cubicBezTo>
                  <a:cubicBezTo>
                    <a:pt x="2509896" y="1693334"/>
                    <a:pt x="2762015" y="1778000"/>
                    <a:pt x="3014134" y="1862667"/>
                  </a:cubicBezTo>
                </a:path>
              </a:pathLst>
            </a:cu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5472100" y="5049180"/>
              <a:ext cx="9001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472100" y="4689140"/>
              <a:ext cx="9001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5472100" y="4329100"/>
              <a:ext cx="9001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5472100" y="3969060"/>
              <a:ext cx="9001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5472100" y="3609020"/>
              <a:ext cx="9001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5472100" y="3248980"/>
              <a:ext cx="9001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5157065" y="5319210"/>
              <a:ext cx="3150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itchFamily="18" charset="0"/>
                  <a:cs typeface="Times New Roman" pitchFamily="18" charset="0"/>
                </a:rPr>
                <a:t>O</a:t>
              </a:r>
              <a:endParaRPr lang="zh-CN" altLang="en-US" sz="2000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 flipH="1" flipV="1">
              <a:off x="5832139" y="5308420"/>
              <a:ext cx="1" cy="100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H="1" flipV="1">
              <a:off x="6192179" y="5319210"/>
              <a:ext cx="1" cy="100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flipH="1" flipV="1">
              <a:off x="6552219" y="5319210"/>
              <a:ext cx="1" cy="100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 flipV="1">
              <a:off x="6912259" y="5319210"/>
              <a:ext cx="1" cy="100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 flipH="1" flipV="1">
              <a:off x="7272299" y="5319210"/>
              <a:ext cx="1" cy="100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H="1" flipV="1">
              <a:off x="7632339" y="5319210"/>
              <a:ext cx="1" cy="100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直接箭头连接符 44"/>
          <p:cNvCxnSpPr/>
          <p:nvPr/>
        </p:nvCxnSpPr>
        <p:spPr>
          <a:xfrm>
            <a:off x="6057165" y="3744035"/>
            <a:ext cx="1575174" cy="0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22149" y="3338990"/>
            <a:ext cx="6300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zh-CN" altLang="en-US" sz="2000" dirty="0"/>
              <a:t>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57265" y="3338990"/>
            <a:ext cx="6300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i="1" dirty="0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zh-CN" altLang="en-US" sz="2000" b="1" dirty="0">
                <a:latin typeface="Times New Roman" pitchFamily="18" charset="0"/>
                <a:cs typeface="Times New Roman" pitchFamily="18" charset="0"/>
              </a:rPr>
              <a:t>高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14749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522" y="3308007"/>
            <a:ext cx="6194982" cy="250659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7855" y="974605"/>
            <a:ext cx="6712750" cy="563033"/>
          </a:xfrm>
        </p:spPr>
        <p:txBody>
          <a:bodyPr/>
          <a:lstStyle/>
          <a:p>
            <a:pPr algn="l"/>
            <a:r>
              <a:rPr lang="zh-CN" altLang="en-US" dirty="0">
                <a:solidFill>
                  <a:schemeClr val="tx1"/>
                </a:solidFill>
              </a:rPr>
              <a:t>函数发生器扫描方式相关旋钮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2E831E6-0EF1-4407-99B6-168BDC42DFBC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5" name="椭圆 4"/>
          <p:cNvSpPr/>
          <p:nvPr/>
        </p:nvSpPr>
        <p:spPr>
          <a:xfrm>
            <a:off x="4752020" y="4220302"/>
            <a:ext cx="675075" cy="14509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694230" y="5814600"/>
            <a:ext cx="1032489" cy="9001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2"/>
                </a:solidFill>
              </a:rPr>
              <a:t>扫描方式</a:t>
            </a:r>
          </a:p>
        </p:txBody>
      </p:sp>
      <p:sp>
        <p:nvSpPr>
          <p:cNvPr id="7" name="线形标注 1 6"/>
          <p:cNvSpPr/>
          <p:nvPr/>
        </p:nvSpPr>
        <p:spPr>
          <a:xfrm>
            <a:off x="5548013" y="1905542"/>
            <a:ext cx="855095" cy="900100"/>
          </a:xfrm>
          <a:prstGeom prst="borderCallout1">
            <a:avLst>
              <a:gd name="adj1" fmla="val 101731"/>
              <a:gd name="adj2" fmla="val 74789"/>
              <a:gd name="adj3" fmla="val 219336"/>
              <a:gd name="adj4" fmla="val 138639"/>
            </a:avLst>
          </a:prstGeom>
          <a:solidFill>
            <a:schemeClr val="bg1"/>
          </a:solidFill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2"/>
                </a:solidFill>
              </a:rPr>
              <a:t>扫描宽度</a:t>
            </a:r>
          </a:p>
        </p:txBody>
      </p:sp>
      <p:sp>
        <p:nvSpPr>
          <p:cNvPr id="8" name="线形标注 1 7"/>
          <p:cNvSpPr/>
          <p:nvPr/>
        </p:nvSpPr>
        <p:spPr>
          <a:xfrm>
            <a:off x="6577103" y="1905542"/>
            <a:ext cx="855095" cy="900100"/>
          </a:xfrm>
          <a:prstGeom prst="borderCallout1">
            <a:avLst>
              <a:gd name="adj1" fmla="val 101731"/>
              <a:gd name="adj2" fmla="val 77040"/>
              <a:gd name="adj3" fmla="val 215399"/>
              <a:gd name="adj4" fmla="val 118501"/>
            </a:avLst>
          </a:prstGeom>
          <a:solidFill>
            <a:schemeClr val="bg1"/>
          </a:solidFill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2"/>
                </a:solidFill>
              </a:rPr>
              <a:t>扫描速率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7699085" y="5750165"/>
            <a:ext cx="900100" cy="510056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2"/>
                </a:solidFill>
              </a:rPr>
              <a:t>输出</a:t>
            </a:r>
          </a:p>
        </p:txBody>
      </p:sp>
      <p:sp>
        <p:nvSpPr>
          <p:cNvPr id="12" name="矩形 11"/>
          <p:cNvSpPr/>
          <p:nvPr/>
        </p:nvSpPr>
        <p:spPr>
          <a:xfrm>
            <a:off x="758674" y="1686060"/>
            <a:ext cx="41584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宋体" pitchFamily="2" charset="-122"/>
                <a:ea typeface="宋体" pitchFamily="2" charset="-122"/>
              </a:rPr>
              <a:t>扫描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宋体" pitchFamily="2" charset="-122"/>
                <a:ea typeface="宋体" pitchFamily="2" charset="-122"/>
              </a:rPr>
              <a:t>宽度</a:t>
            </a:r>
            <a:r>
              <a:rPr lang="zh-CN" altLang="en-US" sz="2000" b="1" dirty="0">
                <a:latin typeface="宋体" pitchFamily="2" charset="-122"/>
                <a:ea typeface="宋体" pitchFamily="2" charset="-122"/>
              </a:rPr>
              <a:t>调节旋钮：可调节扫频输出的频率范围。</a:t>
            </a:r>
          </a:p>
        </p:txBody>
      </p:sp>
      <p:sp>
        <p:nvSpPr>
          <p:cNvPr id="13" name="矩形 12"/>
          <p:cNvSpPr/>
          <p:nvPr/>
        </p:nvSpPr>
        <p:spPr>
          <a:xfrm>
            <a:off x="758674" y="2440303"/>
            <a:ext cx="444190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宋体" pitchFamily="2" charset="-122"/>
                <a:ea typeface="宋体" pitchFamily="2" charset="-122"/>
              </a:rPr>
              <a:t>扫描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宋体" pitchFamily="2" charset="-122"/>
                <a:ea typeface="宋体" pitchFamily="2" charset="-122"/>
              </a:rPr>
              <a:t>速率</a:t>
            </a:r>
            <a:r>
              <a:rPr lang="zh-CN" altLang="en-US" sz="2000" b="1" dirty="0">
                <a:latin typeface="宋体" pitchFamily="2" charset="-122"/>
                <a:ea typeface="宋体" pitchFamily="2" charset="-122"/>
              </a:rPr>
              <a:t>调节旋钮 可以改变内扫描的时间长短。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8FBD4F2-D4E5-461F-AD46-A1F441031835}"/>
              </a:ext>
            </a:extLst>
          </p:cNvPr>
          <p:cNvSpPr txBox="1">
            <a:spLocks/>
          </p:cNvSpPr>
          <p:nvPr/>
        </p:nvSpPr>
        <p:spPr bwMode="white">
          <a:xfrm>
            <a:off x="838200" y="228601"/>
            <a:ext cx="7162800" cy="563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隶书" pitchFamily="49" charset="-122"/>
                <a:ea typeface="隶书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r>
              <a:rPr lang="zh-CN" altLang="en-US" kern="0"/>
              <a:t>实验内容一</a:t>
            </a:r>
            <a:endParaRPr lang="zh-CN" altLang="en-US" kern="0" dirty="0"/>
          </a:p>
        </p:txBody>
      </p:sp>
      <p:sp>
        <p:nvSpPr>
          <p:cNvPr id="15" name="线形标注 1 6">
            <a:extLst>
              <a:ext uri="{FF2B5EF4-FFF2-40B4-BE49-F238E27FC236}">
                <a16:creationId xmlns:a16="http://schemas.microsoft.com/office/drawing/2014/main" id="{066B90F8-96F2-43EF-91CF-DD9282A44214}"/>
              </a:ext>
            </a:extLst>
          </p:cNvPr>
          <p:cNvSpPr/>
          <p:nvPr/>
        </p:nvSpPr>
        <p:spPr>
          <a:xfrm>
            <a:off x="552934" y="3657748"/>
            <a:ext cx="1186418" cy="900100"/>
          </a:xfrm>
          <a:prstGeom prst="borderCallout1">
            <a:avLst>
              <a:gd name="adj1" fmla="val 101731"/>
              <a:gd name="adj2" fmla="val 74789"/>
              <a:gd name="adj3" fmla="val 133140"/>
              <a:gd name="adj4" fmla="val 254078"/>
            </a:avLst>
          </a:prstGeom>
          <a:solidFill>
            <a:schemeClr val="bg1"/>
          </a:solidFill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2"/>
                </a:solidFill>
              </a:rPr>
              <a:t>扫频信号频段</a:t>
            </a:r>
          </a:p>
        </p:txBody>
      </p:sp>
      <p:sp>
        <p:nvSpPr>
          <p:cNvPr id="16" name="线形标注 1 6">
            <a:extLst>
              <a:ext uri="{FF2B5EF4-FFF2-40B4-BE49-F238E27FC236}">
                <a16:creationId xmlns:a16="http://schemas.microsoft.com/office/drawing/2014/main" id="{9BC3071B-966D-4695-AE93-990C37E76467}"/>
              </a:ext>
            </a:extLst>
          </p:cNvPr>
          <p:cNvSpPr/>
          <p:nvPr/>
        </p:nvSpPr>
        <p:spPr>
          <a:xfrm>
            <a:off x="457578" y="4983295"/>
            <a:ext cx="1840211" cy="1101000"/>
          </a:xfrm>
          <a:prstGeom prst="borderCallout1">
            <a:avLst>
              <a:gd name="adj1" fmla="val 101731"/>
              <a:gd name="adj2" fmla="val 74789"/>
              <a:gd name="adj3" fmla="val -1286"/>
              <a:gd name="adj4" fmla="val 199074"/>
            </a:avLst>
          </a:prstGeom>
          <a:solidFill>
            <a:schemeClr val="bg1"/>
          </a:solidFill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2"/>
                </a:solidFill>
              </a:rPr>
              <a:t>频率微调旋钮逆时针旋到底</a:t>
            </a:r>
          </a:p>
        </p:txBody>
      </p:sp>
    </p:spTree>
    <p:extLst>
      <p:ext uri="{BB962C8B-B14F-4D97-AF65-F5344CB8AC3E}">
        <p14:creationId xmlns:p14="http://schemas.microsoft.com/office/powerpoint/2010/main" val="1965764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2" grpId="0"/>
      <p:bldP spid="13" grpId="0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实验内容二参考方案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4068087" y="6905779"/>
            <a:ext cx="838200" cy="222251"/>
          </a:xfrm>
        </p:spPr>
        <p:txBody>
          <a:bodyPr/>
          <a:lstStyle/>
          <a:p>
            <a:pPr>
              <a:defRPr/>
            </a:pPr>
            <a:fld id="{950E9137-E8A8-45DE-AFA3-86166ED81CE7}" type="slidenum">
              <a:rPr lang="en-US" altLang="zh-CN" smtClean="0"/>
              <a:t>3</a:t>
            </a:fld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2719529" y="2904335"/>
            <a:ext cx="4625340" cy="1213485"/>
          </a:xfrm>
          <a:prstGeom prst="rect">
            <a:avLst/>
          </a:prstGeom>
          <a:noFill/>
        </p:spPr>
        <p:txBody>
          <a:bodyPr/>
          <a:lstStyle/>
          <a:p>
            <a:endParaRPr lang="zh-CN" altLang="en-US"/>
          </a:p>
        </p:txBody>
      </p:sp>
      <p:pic>
        <p:nvPicPr>
          <p:cNvPr id="29" name="Picture 132" descr="IMG_00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530" y="2024388"/>
            <a:ext cx="4044041" cy="185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椭圆 35"/>
          <p:cNvSpPr/>
          <p:nvPr/>
        </p:nvSpPr>
        <p:spPr>
          <a:xfrm>
            <a:off x="5287484" y="2753925"/>
            <a:ext cx="405045" cy="967743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6190471" y="2776292"/>
            <a:ext cx="405045" cy="967743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椭圆 37"/>
          <p:cNvSpPr/>
          <p:nvPr/>
        </p:nvSpPr>
        <p:spPr>
          <a:xfrm>
            <a:off x="7270592" y="2312342"/>
            <a:ext cx="463349" cy="441583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/>
          <p:cNvSpPr/>
          <p:nvPr/>
        </p:nvSpPr>
        <p:spPr>
          <a:xfrm>
            <a:off x="7765647" y="2312343"/>
            <a:ext cx="428921" cy="441582"/>
          </a:xfrm>
          <a:prstGeom prst="ellipse">
            <a:avLst/>
          </a:prstGeom>
          <a:noFill/>
          <a:ln w="38100">
            <a:solidFill>
              <a:srgbClr val="33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5073829" y="4035706"/>
            <a:ext cx="9449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100k</a:t>
            </a:r>
            <a:r>
              <a:rPr lang="zh-CN" altLang="en-US" dirty="0"/>
              <a:t>频段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58100" y="4023817"/>
            <a:ext cx="5131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外扫描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05471" y="3983446"/>
            <a:ext cx="8112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扫描宽度顺时针旋至最大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67355" y="3969060"/>
            <a:ext cx="8547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扫描速率顺时针旋至适中</a:t>
            </a:r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AC67669F-76EE-44F2-8D98-B77775769F9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5" t="13131" r="4615" b="10558"/>
          <a:stretch/>
        </p:blipFill>
        <p:spPr>
          <a:xfrm>
            <a:off x="221315" y="2307344"/>
            <a:ext cx="3587528" cy="2280028"/>
          </a:xfrm>
          <a:prstGeom prst="rect">
            <a:avLst/>
          </a:prstGeom>
        </p:spPr>
      </p:pic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828B1202-E074-7A08-E198-769B80C5D443}"/>
              </a:ext>
            </a:extLst>
          </p:cNvPr>
          <p:cNvSpPr/>
          <p:nvPr/>
        </p:nvSpPr>
        <p:spPr>
          <a:xfrm>
            <a:off x="1404919" y="4375591"/>
            <a:ext cx="1815224" cy="1213484"/>
          </a:xfrm>
          <a:custGeom>
            <a:avLst/>
            <a:gdLst>
              <a:gd name="connsiteX0" fmla="*/ 0 w 1682885"/>
              <a:gd name="connsiteY0" fmla="*/ 0 h 1955260"/>
              <a:gd name="connsiteX1" fmla="*/ 68093 w 1682885"/>
              <a:gd name="connsiteY1" fmla="*/ 214009 h 1955260"/>
              <a:gd name="connsiteX2" fmla="*/ 136187 w 1682885"/>
              <a:gd name="connsiteY2" fmla="*/ 505839 h 1955260"/>
              <a:gd name="connsiteX3" fmla="*/ 194553 w 1682885"/>
              <a:gd name="connsiteY3" fmla="*/ 632298 h 1955260"/>
              <a:gd name="connsiteX4" fmla="*/ 204281 w 1682885"/>
              <a:gd name="connsiteY4" fmla="*/ 680936 h 1955260"/>
              <a:gd name="connsiteX5" fmla="*/ 243191 w 1682885"/>
              <a:gd name="connsiteY5" fmla="*/ 768485 h 1955260"/>
              <a:gd name="connsiteX6" fmla="*/ 282102 w 1682885"/>
              <a:gd name="connsiteY6" fmla="*/ 885217 h 1955260"/>
              <a:gd name="connsiteX7" fmla="*/ 340468 w 1682885"/>
              <a:gd name="connsiteY7" fmla="*/ 992222 h 1955260"/>
              <a:gd name="connsiteX8" fmla="*/ 379378 w 1682885"/>
              <a:gd name="connsiteY8" fmla="*/ 1108953 h 1955260"/>
              <a:gd name="connsiteX9" fmla="*/ 408561 w 1682885"/>
              <a:gd name="connsiteY9" fmla="*/ 1157592 h 1955260"/>
              <a:gd name="connsiteX10" fmla="*/ 428017 w 1682885"/>
              <a:gd name="connsiteY10" fmla="*/ 1206230 h 1955260"/>
              <a:gd name="connsiteX11" fmla="*/ 466927 w 1682885"/>
              <a:gd name="connsiteY11" fmla="*/ 1264596 h 1955260"/>
              <a:gd name="connsiteX12" fmla="*/ 505838 w 1682885"/>
              <a:gd name="connsiteY12" fmla="*/ 1342417 h 1955260"/>
              <a:gd name="connsiteX13" fmla="*/ 554476 w 1682885"/>
              <a:gd name="connsiteY13" fmla="*/ 1400783 h 1955260"/>
              <a:gd name="connsiteX14" fmla="*/ 573932 w 1682885"/>
              <a:gd name="connsiteY14" fmla="*/ 1439694 h 1955260"/>
              <a:gd name="connsiteX15" fmla="*/ 593387 w 1682885"/>
              <a:gd name="connsiteY15" fmla="*/ 1468877 h 1955260"/>
              <a:gd name="connsiteX16" fmla="*/ 632298 w 1682885"/>
              <a:gd name="connsiteY16" fmla="*/ 1546698 h 1955260"/>
              <a:gd name="connsiteX17" fmla="*/ 690664 w 1682885"/>
              <a:gd name="connsiteY17" fmla="*/ 1634247 h 1955260"/>
              <a:gd name="connsiteX18" fmla="*/ 817123 w 1682885"/>
              <a:gd name="connsiteY18" fmla="*/ 1750979 h 1955260"/>
              <a:gd name="connsiteX19" fmla="*/ 885217 w 1682885"/>
              <a:gd name="connsiteY19" fmla="*/ 1799617 h 1955260"/>
              <a:gd name="connsiteX20" fmla="*/ 1001949 w 1682885"/>
              <a:gd name="connsiteY20" fmla="*/ 1896894 h 1955260"/>
              <a:gd name="connsiteX21" fmla="*/ 1040859 w 1682885"/>
              <a:gd name="connsiteY21" fmla="*/ 1916349 h 1955260"/>
              <a:gd name="connsiteX22" fmla="*/ 1167319 w 1682885"/>
              <a:gd name="connsiteY22" fmla="*/ 1935804 h 1955260"/>
              <a:gd name="connsiteX23" fmla="*/ 1206230 w 1682885"/>
              <a:gd name="connsiteY23" fmla="*/ 1945532 h 1955260"/>
              <a:gd name="connsiteX24" fmla="*/ 1264596 w 1682885"/>
              <a:gd name="connsiteY24" fmla="*/ 1955260 h 1955260"/>
              <a:gd name="connsiteX25" fmla="*/ 1614791 w 1682885"/>
              <a:gd name="connsiteY25" fmla="*/ 1945532 h 1955260"/>
              <a:gd name="connsiteX26" fmla="*/ 1643974 w 1682885"/>
              <a:gd name="connsiteY26" fmla="*/ 1906622 h 1955260"/>
              <a:gd name="connsiteX27" fmla="*/ 1682885 w 1682885"/>
              <a:gd name="connsiteY27" fmla="*/ 1877439 h 195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682885" h="1955260">
                <a:moveTo>
                  <a:pt x="0" y="0"/>
                </a:moveTo>
                <a:cubicBezTo>
                  <a:pt x="22698" y="71336"/>
                  <a:pt x="52408" y="140810"/>
                  <a:pt x="68093" y="214009"/>
                </a:cubicBezTo>
                <a:cubicBezTo>
                  <a:pt x="82348" y="280532"/>
                  <a:pt x="116118" y="445633"/>
                  <a:pt x="136187" y="505839"/>
                </a:cubicBezTo>
                <a:cubicBezTo>
                  <a:pt x="197567" y="689977"/>
                  <a:pt x="155501" y="502124"/>
                  <a:pt x="194553" y="632298"/>
                </a:cubicBezTo>
                <a:cubicBezTo>
                  <a:pt x="199304" y="648134"/>
                  <a:pt x="199530" y="665100"/>
                  <a:pt x="204281" y="680936"/>
                </a:cubicBezTo>
                <a:cubicBezTo>
                  <a:pt x="230904" y="769680"/>
                  <a:pt x="214446" y="691833"/>
                  <a:pt x="243191" y="768485"/>
                </a:cubicBezTo>
                <a:cubicBezTo>
                  <a:pt x="257593" y="806889"/>
                  <a:pt x="261000" y="850046"/>
                  <a:pt x="282102" y="885217"/>
                </a:cubicBezTo>
                <a:cubicBezTo>
                  <a:pt x="301812" y="918068"/>
                  <a:pt x="326602" y="956566"/>
                  <a:pt x="340468" y="992222"/>
                </a:cubicBezTo>
                <a:cubicBezTo>
                  <a:pt x="355334" y="1030448"/>
                  <a:pt x="358276" y="1073783"/>
                  <a:pt x="379378" y="1108953"/>
                </a:cubicBezTo>
                <a:cubicBezTo>
                  <a:pt x="389106" y="1125166"/>
                  <a:pt x="400105" y="1140681"/>
                  <a:pt x="408561" y="1157592"/>
                </a:cubicBezTo>
                <a:cubicBezTo>
                  <a:pt x="416370" y="1173210"/>
                  <a:pt x="419655" y="1190900"/>
                  <a:pt x="428017" y="1206230"/>
                </a:cubicBezTo>
                <a:cubicBezTo>
                  <a:pt x="439214" y="1226757"/>
                  <a:pt x="455326" y="1244294"/>
                  <a:pt x="466927" y="1264596"/>
                </a:cubicBezTo>
                <a:cubicBezTo>
                  <a:pt x="481316" y="1289777"/>
                  <a:pt x="485331" y="1321909"/>
                  <a:pt x="505838" y="1342417"/>
                </a:cubicBezTo>
                <a:cubicBezTo>
                  <a:pt x="528035" y="1364615"/>
                  <a:pt x="535208" y="1369954"/>
                  <a:pt x="554476" y="1400783"/>
                </a:cubicBezTo>
                <a:cubicBezTo>
                  <a:pt x="562162" y="1413080"/>
                  <a:pt x="566737" y="1427103"/>
                  <a:pt x="573932" y="1439694"/>
                </a:cubicBezTo>
                <a:cubicBezTo>
                  <a:pt x="579732" y="1449845"/>
                  <a:pt x="587789" y="1458613"/>
                  <a:pt x="593387" y="1468877"/>
                </a:cubicBezTo>
                <a:cubicBezTo>
                  <a:pt x="607275" y="1494338"/>
                  <a:pt x="616210" y="1522567"/>
                  <a:pt x="632298" y="1546698"/>
                </a:cubicBezTo>
                <a:cubicBezTo>
                  <a:pt x="651753" y="1575881"/>
                  <a:pt x="665863" y="1609446"/>
                  <a:pt x="690664" y="1634247"/>
                </a:cubicBezTo>
                <a:cubicBezTo>
                  <a:pt x="865099" y="1808682"/>
                  <a:pt x="693468" y="1642780"/>
                  <a:pt x="817123" y="1750979"/>
                </a:cubicBezTo>
                <a:cubicBezTo>
                  <a:pt x="869704" y="1796988"/>
                  <a:pt x="820146" y="1767082"/>
                  <a:pt x="885217" y="1799617"/>
                </a:cubicBezTo>
                <a:cubicBezTo>
                  <a:pt x="920896" y="1835296"/>
                  <a:pt x="955697" y="1873768"/>
                  <a:pt x="1001949" y="1896894"/>
                </a:cubicBezTo>
                <a:cubicBezTo>
                  <a:pt x="1014919" y="1903379"/>
                  <a:pt x="1026970" y="1912182"/>
                  <a:pt x="1040859" y="1916349"/>
                </a:cubicBezTo>
                <a:cubicBezTo>
                  <a:pt x="1055335" y="1920692"/>
                  <a:pt x="1157012" y="1933930"/>
                  <a:pt x="1167319" y="1935804"/>
                </a:cubicBezTo>
                <a:cubicBezTo>
                  <a:pt x="1180473" y="1938196"/>
                  <a:pt x="1193120" y="1942910"/>
                  <a:pt x="1206230" y="1945532"/>
                </a:cubicBezTo>
                <a:cubicBezTo>
                  <a:pt x="1225571" y="1949400"/>
                  <a:pt x="1245141" y="1952017"/>
                  <a:pt x="1264596" y="1955260"/>
                </a:cubicBezTo>
                <a:lnTo>
                  <a:pt x="1614791" y="1945532"/>
                </a:lnTo>
                <a:cubicBezTo>
                  <a:pt x="1630872" y="1943470"/>
                  <a:pt x="1632510" y="1918086"/>
                  <a:pt x="1643974" y="1906622"/>
                </a:cubicBezTo>
                <a:cubicBezTo>
                  <a:pt x="1655438" y="1895158"/>
                  <a:pt x="1669915" y="1887167"/>
                  <a:pt x="1682885" y="1877439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BC134561-CDF8-9B0F-2319-E4E2AC8CB7E2}"/>
              </a:ext>
            </a:extLst>
          </p:cNvPr>
          <p:cNvSpPr/>
          <p:nvPr/>
        </p:nvSpPr>
        <p:spPr>
          <a:xfrm>
            <a:off x="2769715" y="4409538"/>
            <a:ext cx="1303283" cy="1693544"/>
          </a:xfrm>
          <a:custGeom>
            <a:avLst/>
            <a:gdLst>
              <a:gd name="connsiteX0" fmla="*/ 1303283 w 1303283"/>
              <a:gd name="connsiteY0" fmla="*/ 0 h 1693544"/>
              <a:gd name="connsiteX1" fmla="*/ 1261242 w 1303283"/>
              <a:gd name="connsiteY1" fmla="*/ 84083 h 1693544"/>
              <a:gd name="connsiteX2" fmla="*/ 1250731 w 1303283"/>
              <a:gd name="connsiteY2" fmla="*/ 178676 h 1693544"/>
              <a:gd name="connsiteX3" fmla="*/ 1229711 w 1303283"/>
              <a:gd name="connsiteY3" fmla="*/ 304800 h 1693544"/>
              <a:gd name="connsiteX4" fmla="*/ 1219200 w 1303283"/>
              <a:gd name="connsiteY4" fmla="*/ 346842 h 1693544"/>
              <a:gd name="connsiteX5" fmla="*/ 1198180 w 1303283"/>
              <a:gd name="connsiteY5" fmla="*/ 388883 h 1693544"/>
              <a:gd name="connsiteX6" fmla="*/ 1177159 w 1303283"/>
              <a:gd name="connsiteY6" fmla="*/ 493986 h 1693544"/>
              <a:gd name="connsiteX7" fmla="*/ 1156138 w 1303283"/>
              <a:gd name="connsiteY7" fmla="*/ 578069 h 1693544"/>
              <a:gd name="connsiteX8" fmla="*/ 1145628 w 1303283"/>
              <a:gd name="connsiteY8" fmla="*/ 620111 h 1693544"/>
              <a:gd name="connsiteX9" fmla="*/ 1135118 w 1303283"/>
              <a:gd name="connsiteY9" fmla="*/ 672662 h 1693544"/>
              <a:gd name="connsiteX10" fmla="*/ 1145628 w 1303283"/>
              <a:gd name="connsiteY10" fmla="*/ 767255 h 1693544"/>
              <a:gd name="connsiteX11" fmla="*/ 1124607 w 1303283"/>
              <a:gd name="connsiteY11" fmla="*/ 987973 h 1693544"/>
              <a:gd name="connsiteX12" fmla="*/ 1093076 w 1303283"/>
              <a:gd name="connsiteY12" fmla="*/ 1061545 h 1693544"/>
              <a:gd name="connsiteX13" fmla="*/ 1082566 w 1303283"/>
              <a:gd name="connsiteY13" fmla="*/ 1093076 h 1693544"/>
              <a:gd name="connsiteX14" fmla="*/ 1008993 w 1303283"/>
              <a:gd name="connsiteY14" fmla="*/ 1198180 h 1693544"/>
              <a:gd name="connsiteX15" fmla="*/ 914400 w 1303283"/>
              <a:gd name="connsiteY15" fmla="*/ 1292773 h 1693544"/>
              <a:gd name="connsiteX16" fmla="*/ 861849 w 1303283"/>
              <a:gd name="connsiteY16" fmla="*/ 1324304 h 1693544"/>
              <a:gd name="connsiteX17" fmla="*/ 798787 w 1303283"/>
              <a:gd name="connsiteY17" fmla="*/ 1366345 h 1693544"/>
              <a:gd name="connsiteX18" fmla="*/ 756745 w 1303283"/>
              <a:gd name="connsiteY18" fmla="*/ 1387366 h 1693544"/>
              <a:gd name="connsiteX19" fmla="*/ 714704 w 1303283"/>
              <a:gd name="connsiteY19" fmla="*/ 1429407 h 1693544"/>
              <a:gd name="connsiteX20" fmla="*/ 662152 w 1303283"/>
              <a:gd name="connsiteY20" fmla="*/ 1450428 h 1693544"/>
              <a:gd name="connsiteX21" fmla="*/ 546538 w 1303283"/>
              <a:gd name="connsiteY21" fmla="*/ 1555531 h 1693544"/>
              <a:gd name="connsiteX22" fmla="*/ 515007 w 1303283"/>
              <a:gd name="connsiteY22" fmla="*/ 1587062 h 1693544"/>
              <a:gd name="connsiteX23" fmla="*/ 483476 w 1303283"/>
              <a:gd name="connsiteY23" fmla="*/ 1608083 h 1693544"/>
              <a:gd name="connsiteX24" fmla="*/ 441435 w 1303283"/>
              <a:gd name="connsiteY24" fmla="*/ 1639614 h 1693544"/>
              <a:gd name="connsiteX25" fmla="*/ 399393 w 1303283"/>
              <a:gd name="connsiteY25" fmla="*/ 1660635 h 1693544"/>
              <a:gd name="connsiteX26" fmla="*/ 367862 w 1303283"/>
              <a:gd name="connsiteY26" fmla="*/ 1681655 h 1693544"/>
              <a:gd name="connsiteX27" fmla="*/ 325821 w 1303283"/>
              <a:gd name="connsiteY27" fmla="*/ 1692166 h 1693544"/>
              <a:gd name="connsiteX28" fmla="*/ 0 w 1303283"/>
              <a:gd name="connsiteY28" fmla="*/ 1692166 h 1693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303283" h="1693544">
                <a:moveTo>
                  <a:pt x="1303283" y="0"/>
                </a:moveTo>
                <a:cubicBezTo>
                  <a:pt x="1287714" y="25948"/>
                  <a:pt x="1266464" y="52752"/>
                  <a:pt x="1261242" y="84083"/>
                </a:cubicBezTo>
                <a:cubicBezTo>
                  <a:pt x="1256026" y="115376"/>
                  <a:pt x="1254666" y="147196"/>
                  <a:pt x="1250731" y="178676"/>
                </a:cubicBezTo>
                <a:cubicBezTo>
                  <a:pt x="1244464" y="228810"/>
                  <a:pt x="1240198" y="257610"/>
                  <a:pt x="1229711" y="304800"/>
                </a:cubicBezTo>
                <a:cubicBezTo>
                  <a:pt x="1226577" y="318901"/>
                  <a:pt x="1224272" y="333316"/>
                  <a:pt x="1219200" y="346842"/>
                </a:cubicBezTo>
                <a:cubicBezTo>
                  <a:pt x="1213699" y="361512"/>
                  <a:pt x="1205187" y="374869"/>
                  <a:pt x="1198180" y="388883"/>
                </a:cubicBezTo>
                <a:cubicBezTo>
                  <a:pt x="1191173" y="423917"/>
                  <a:pt x="1185824" y="459325"/>
                  <a:pt x="1177159" y="493986"/>
                </a:cubicBezTo>
                <a:lnTo>
                  <a:pt x="1156138" y="578069"/>
                </a:lnTo>
                <a:cubicBezTo>
                  <a:pt x="1152635" y="592083"/>
                  <a:pt x="1148461" y="605946"/>
                  <a:pt x="1145628" y="620111"/>
                </a:cubicBezTo>
                <a:lnTo>
                  <a:pt x="1135118" y="672662"/>
                </a:lnTo>
                <a:cubicBezTo>
                  <a:pt x="1138621" y="704193"/>
                  <a:pt x="1145628" y="735530"/>
                  <a:pt x="1145628" y="767255"/>
                </a:cubicBezTo>
                <a:cubicBezTo>
                  <a:pt x="1145628" y="821448"/>
                  <a:pt x="1138951" y="923425"/>
                  <a:pt x="1124607" y="987973"/>
                </a:cubicBezTo>
                <a:cubicBezTo>
                  <a:pt x="1117022" y="1022107"/>
                  <a:pt x="1107909" y="1026935"/>
                  <a:pt x="1093076" y="1061545"/>
                </a:cubicBezTo>
                <a:cubicBezTo>
                  <a:pt x="1088712" y="1071728"/>
                  <a:pt x="1087946" y="1083391"/>
                  <a:pt x="1082566" y="1093076"/>
                </a:cubicBezTo>
                <a:cubicBezTo>
                  <a:pt x="1075961" y="1104965"/>
                  <a:pt x="1024375" y="1181517"/>
                  <a:pt x="1008993" y="1198180"/>
                </a:cubicBezTo>
                <a:cubicBezTo>
                  <a:pt x="978747" y="1230946"/>
                  <a:pt x="952637" y="1269831"/>
                  <a:pt x="914400" y="1292773"/>
                </a:cubicBezTo>
                <a:cubicBezTo>
                  <a:pt x="896883" y="1303283"/>
                  <a:pt x="879084" y="1313337"/>
                  <a:pt x="861849" y="1324304"/>
                </a:cubicBezTo>
                <a:cubicBezTo>
                  <a:pt x="840535" y="1337867"/>
                  <a:pt x="821383" y="1355047"/>
                  <a:pt x="798787" y="1366345"/>
                </a:cubicBezTo>
                <a:cubicBezTo>
                  <a:pt x="784773" y="1373352"/>
                  <a:pt x="769280" y="1377965"/>
                  <a:pt x="756745" y="1387366"/>
                </a:cubicBezTo>
                <a:cubicBezTo>
                  <a:pt x="740890" y="1399257"/>
                  <a:pt x="731194" y="1418414"/>
                  <a:pt x="714704" y="1429407"/>
                </a:cubicBezTo>
                <a:cubicBezTo>
                  <a:pt x="699006" y="1439872"/>
                  <a:pt x="678644" y="1441265"/>
                  <a:pt x="662152" y="1450428"/>
                </a:cubicBezTo>
                <a:cubicBezTo>
                  <a:pt x="622899" y="1472236"/>
                  <a:pt x="572044" y="1530025"/>
                  <a:pt x="546538" y="1555531"/>
                </a:cubicBezTo>
                <a:cubicBezTo>
                  <a:pt x="536028" y="1566041"/>
                  <a:pt x="527374" y="1578817"/>
                  <a:pt x="515007" y="1587062"/>
                </a:cubicBezTo>
                <a:cubicBezTo>
                  <a:pt x="504497" y="1594069"/>
                  <a:pt x="493755" y="1600741"/>
                  <a:pt x="483476" y="1608083"/>
                </a:cubicBezTo>
                <a:cubicBezTo>
                  <a:pt x="469222" y="1618265"/>
                  <a:pt x="456289" y="1630330"/>
                  <a:pt x="441435" y="1639614"/>
                </a:cubicBezTo>
                <a:cubicBezTo>
                  <a:pt x="428148" y="1647918"/>
                  <a:pt x="412997" y="1652862"/>
                  <a:pt x="399393" y="1660635"/>
                </a:cubicBezTo>
                <a:cubicBezTo>
                  <a:pt x="388426" y="1666902"/>
                  <a:pt x="379472" y="1676679"/>
                  <a:pt x="367862" y="1681655"/>
                </a:cubicBezTo>
                <a:cubicBezTo>
                  <a:pt x="354585" y="1687345"/>
                  <a:pt x="340260" y="1691753"/>
                  <a:pt x="325821" y="1692166"/>
                </a:cubicBezTo>
                <a:cubicBezTo>
                  <a:pt x="217258" y="1695268"/>
                  <a:pt x="108607" y="1692166"/>
                  <a:pt x="0" y="1692166"/>
                </a:cubicBezTo>
              </a:path>
            </a:pathLst>
          </a:custGeom>
          <a:noFill/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BE2FEA71-B13A-48E0-ABF5-B0BCE335DC55}"/>
              </a:ext>
            </a:extLst>
          </p:cNvPr>
          <p:cNvSpPr/>
          <p:nvPr/>
        </p:nvSpPr>
        <p:spPr>
          <a:xfrm>
            <a:off x="3236220" y="1601778"/>
            <a:ext cx="5192919" cy="3924728"/>
          </a:xfrm>
          <a:custGeom>
            <a:avLst/>
            <a:gdLst>
              <a:gd name="connsiteX0" fmla="*/ 0 w 5208998"/>
              <a:gd name="connsiteY0" fmla="*/ 3924728 h 3924728"/>
              <a:gd name="connsiteX1" fmla="*/ 133564 w 5208998"/>
              <a:gd name="connsiteY1" fmla="*/ 3914454 h 3924728"/>
              <a:gd name="connsiteX2" fmla="*/ 205483 w 5208998"/>
              <a:gd name="connsiteY2" fmla="*/ 3893906 h 3924728"/>
              <a:gd name="connsiteX3" fmla="*/ 267128 w 5208998"/>
              <a:gd name="connsiteY3" fmla="*/ 3852809 h 3924728"/>
              <a:gd name="connsiteX4" fmla="*/ 297951 w 5208998"/>
              <a:gd name="connsiteY4" fmla="*/ 3821986 h 3924728"/>
              <a:gd name="connsiteX5" fmla="*/ 359596 w 5208998"/>
              <a:gd name="connsiteY5" fmla="*/ 3780890 h 3924728"/>
              <a:gd name="connsiteX6" fmla="*/ 410966 w 5208998"/>
              <a:gd name="connsiteY6" fmla="*/ 3729519 h 3924728"/>
              <a:gd name="connsiteX7" fmla="*/ 431515 w 5208998"/>
              <a:gd name="connsiteY7" fmla="*/ 3698697 h 3924728"/>
              <a:gd name="connsiteX8" fmla="*/ 452063 w 5208998"/>
              <a:gd name="connsiteY8" fmla="*/ 3678148 h 3924728"/>
              <a:gd name="connsiteX9" fmla="*/ 493160 w 5208998"/>
              <a:gd name="connsiteY9" fmla="*/ 3616503 h 3924728"/>
              <a:gd name="connsiteX10" fmla="*/ 513708 w 5208998"/>
              <a:gd name="connsiteY10" fmla="*/ 3585681 h 3924728"/>
              <a:gd name="connsiteX11" fmla="*/ 554805 w 5208998"/>
              <a:gd name="connsiteY11" fmla="*/ 3524036 h 3924728"/>
              <a:gd name="connsiteX12" fmla="*/ 565079 w 5208998"/>
              <a:gd name="connsiteY12" fmla="*/ 3493213 h 3924728"/>
              <a:gd name="connsiteX13" fmla="*/ 626724 w 5208998"/>
              <a:gd name="connsiteY13" fmla="*/ 3390472 h 3924728"/>
              <a:gd name="connsiteX14" fmla="*/ 647272 w 5208998"/>
              <a:gd name="connsiteY14" fmla="*/ 3328827 h 3924728"/>
              <a:gd name="connsiteX15" fmla="*/ 667820 w 5208998"/>
              <a:gd name="connsiteY15" fmla="*/ 3287730 h 3924728"/>
              <a:gd name="connsiteX16" fmla="*/ 688369 w 5208998"/>
              <a:gd name="connsiteY16" fmla="*/ 3226085 h 3924728"/>
              <a:gd name="connsiteX17" fmla="*/ 708917 w 5208998"/>
              <a:gd name="connsiteY17" fmla="*/ 3164440 h 3924728"/>
              <a:gd name="connsiteX18" fmla="*/ 719191 w 5208998"/>
              <a:gd name="connsiteY18" fmla="*/ 3123344 h 3924728"/>
              <a:gd name="connsiteX19" fmla="*/ 750014 w 5208998"/>
              <a:gd name="connsiteY19" fmla="*/ 3030876 h 3924728"/>
              <a:gd name="connsiteX20" fmla="*/ 760288 w 5208998"/>
              <a:gd name="connsiteY20" fmla="*/ 3000054 h 3924728"/>
              <a:gd name="connsiteX21" fmla="*/ 791110 w 5208998"/>
              <a:gd name="connsiteY21" fmla="*/ 2897312 h 3924728"/>
              <a:gd name="connsiteX22" fmla="*/ 821933 w 5208998"/>
              <a:gd name="connsiteY22" fmla="*/ 2804845 h 3924728"/>
              <a:gd name="connsiteX23" fmla="*/ 832207 w 5208998"/>
              <a:gd name="connsiteY23" fmla="*/ 2774022 h 3924728"/>
              <a:gd name="connsiteX24" fmla="*/ 842481 w 5208998"/>
              <a:gd name="connsiteY24" fmla="*/ 2743200 h 3924728"/>
              <a:gd name="connsiteX25" fmla="*/ 873303 w 5208998"/>
              <a:gd name="connsiteY25" fmla="*/ 2630184 h 3924728"/>
              <a:gd name="connsiteX26" fmla="*/ 893852 w 5208998"/>
              <a:gd name="connsiteY26" fmla="*/ 2568539 h 3924728"/>
              <a:gd name="connsiteX27" fmla="*/ 904126 w 5208998"/>
              <a:gd name="connsiteY27" fmla="*/ 2537717 h 3924728"/>
              <a:gd name="connsiteX28" fmla="*/ 924674 w 5208998"/>
              <a:gd name="connsiteY28" fmla="*/ 2404153 h 3924728"/>
              <a:gd name="connsiteX29" fmla="*/ 945222 w 5208998"/>
              <a:gd name="connsiteY29" fmla="*/ 2342508 h 3924728"/>
              <a:gd name="connsiteX30" fmla="*/ 955497 w 5208998"/>
              <a:gd name="connsiteY30" fmla="*/ 2311685 h 3924728"/>
              <a:gd name="connsiteX31" fmla="*/ 965771 w 5208998"/>
              <a:gd name="connsiteY31" fmla="*/ 2208944 h 3924728"/>
              <a:gd name="connsiteX32" fmla="*/ 986319 w 5208998"/>
              <a:gd name="connsiteY32" fmla="*/ 2054831 h 3924728"/>
              <a:gd name="connsiteX33" fmla="*/ 1006867 w 5208998"/>
              <a:gd name="connsiteY33" fmla="*/ 1900719 h 3924728"/>
              <a:gd name="connsiteX34" fmla="*/ 1017142 w 5208998"/>
              <a:gd name="connsiteY34" fmla="*/ 1869897 h 3924728"/>
              <a:gd name="connsiteX35" fmla="*/ 1027416 w 5208998"/>
              <a:gd name="connsiteY35" fmla="*/ 1787703 h 3924728"/>
              <a:gd name="connsiteX36" fmla="*/ 1058238 w 5208998"/>
              <a:gd name="connsiteY36" fmla="*/ 1695236 h 3924728"/>
              <a:gd name="connsiteX37" fmla="*/ 1068512 w 5208998"/>
              <a:gd name="connsiteY37" fmla="*/ 1664413 h 3924728"/>
              <a:gd name="connsiteX38" fmla="*/ 1078787 w 5208998"/>
              <a:gd name="connsiteY38" fmla="*/ 1613043 h 3924728"/>
              <a:gd name="connsiteX39" fmla="*/ 1089061 w 5208998"/>
              <a:gd name="connsiteY39" fmla="*/ 1541124 h 3924728"/>
              <a:gd name="connsiteX40" fmla="*/ 1099335 w 5208998"/>
              <a:gd name="connsiteY40" fmla="*/ 1510301 h 3924728"/>
              <a:gd name="connsiteX41" fmla="*/ 1109609 w 5208998"/>
              <a:gd name="connsiteY41" fmla="*/ 1458930 h 3924728"/>
              <a:gd name="connsiteX42" fmla="*/ 1119883 w 5208998"/>
              <a:gd name="connsiteY42" fmla="*/ 1428108 h 3924728"/>
              <a:gd name="connsiteX43" fmla="*/ 1130157 w 5208998"/>
              <a:gd name="connsiteY43" fmla="*/ 1376737 h 3924728"/>
              <a:gd name="connsiteX44" fmla="*/ 1150706 w 5208998"/>
              <a:gd name="connsiteY44" fmla="*/ 1315092 h 3924728"/>
              <a:gd name="connsiteX45" fmla="*/ 1160980 w 5208998"/>
              <a:gd name="connsiteY45" fmla="*/ 1284270 h 3924728"/>
              <a:gd name="connsiteX46" fmla="*/ 1171254 w 5208998"/>
              <a:gd name="connsiteY46" fmla="*/ 1232899 h 3924728"/>
              <a:gd name="connsiteX47" fmla="*/ 1191802 w 5208998"/>
              <a:gd name="connsiteY47" fmla="*/ 1171254 h 3924728"/>
              <a:gd name="connsiteX48" fmla="*/ 1212351 w 5208998"/>
              <a:gd name="connsiteY48" fmla="*/ 1089061 h 3924728"/>
              <a:gd name="connsiteX49" fmla="*/ 1222625 w 5208998"/>
              <a:gd name="connsiteY49" fmla="*/ 1017141 h 3924728"/>
              <a:gd name="connsiteX50" fmla="*/ 1232899 w 5208998"/>
              <a:gd name="connsiteY50" fmla="*/ 986319 h 3924728"/>
              <a:gd name="connsiteX51" fmla="*/ 1243173 w 5208998"/>
              <a:gd name="connsiteY51" fmla="*/ 934948 h 3924728"/>
              <a:gd name="connsiteX52" fmla="*/ 1253447 w 5208998"/>
              <a:gd name="connsiteY52" fmla="*/ 893852 h 3924728"/>
              <a:gd name="connsiteX53" fmla="*/ 1263721 w 5208998"/>
              <a:gd name="connsiteY53" fmla="*/ 832207 h 3924728"/>
              <a:gd name="connsiteX54" fmla="*/ 1284270 w 5208998"/>
              <a:gd name="connsiteY54" fmla="*/ 770562 h 3924728"/>
              <a:gd name="connsiteX55" fmla="*/ 1294544 w 5208998"/>
              <a:gd name="connsiteY55" fmla="*/ 739739 h 3924728"/>
              <a:gd name="connsiteX56" fmla="*/ 1315092 w 5208998"/>
              <a:gd name="connsiteY56" fmla="*/ 657546 h 3924728"/>
              <a:gd name="connsiteX57" fmla="*/ 1335640 w 5208998"/>
              <a:gd name="connsiteY57" fmla="*/ 595901 h 3924728"/>
              <a:gd name="connsiteX58" fmla="*/ 1356189 w 5208998"/>
              <a:gd name="connsiteY58" fmla="*/ 523982 h 3924728"/>
              <a:gd name="connsiteX59" fmla="*/ 1376737 w 5208998"/>
              <a:gd name="connsiteY59" fmla="*/ 493159 h 3924728"/>
              <a:gd name="connsiteX60" fmla="*/ 1397285 w 5208998"/>
              <a:gd name="connsiteY60" fmla="*/ 400692 h 3924728"/>
              <a:gd name="connsiteX61" fmla="*/ 1417834 w 5208998"/>
              <a:gd name="connsiteY61" fmla="*/ 339047 h 3924728"/>
              <a:gd name="connsiteX62" fmla="*/ 1428108 w 5208998"/>
              <a:gd name="connsiteY62" fmla="*/ 308225 h 3924728"/>
              <a:gd name="connsiteX63" fmla="*/ 1448656 w 5208998"/>
              <a:gd name="connsiteY63" fmla="*/ 277402 h 3924728"/>
              <a:gd name="connsiteX64" fmla="*/ 1479479 w 5208998"/>
              <a:gd name="connsiteY64" fmla="*/ 215757 h 3924728"/>
              <a:gd name="connsiteX65" fmla="*/ 1510301 w 5208998"/>
              <a:gd name="connsiteY65" fmla="*/ 195209 h 3924728"/>
              <a:gd name="connsiteX66" fmla="*/ 1520575 w 5208998"/>
              <a:gd name="connsiteY66" fmla="*/ 164386 h 3924728"/>
              <a:gd name="connsiteX67" fmla="*/ 1643865 w 5208998"/>
              <a:gd name="connsiteY67" fmla="*/ 102741 h 3924728"/>
              <a:gd name="connsiteX68" fmla="*/ 1736333 w 5208998"/>
              <a:gd name="connsiteY68" fmla="*/ 82193 h 3924728"/>
              <a:gd name="connsiteX69" fmla="*/ 2311685 w 5208998"/>
              <a:gd name="connsiteY69" fmla="*/ 71919 h 3924728"/>
              <a:gd name="connsiteX70" fmla="*/ 2424701 w 5208998"/>
              <a:gd name="connsiteY70" fmla="*/ 51371 h 3924728"/>
              <a:gd name="connsiteX71" fmla="*/ 2486346 w 5208998"/>
              <a:gd name="connsiteY71" fmla="*/ 41097 h 3924728"/>
              <a:gd name="connsiteX72" fmla="*/ 2578814 w 5208998"/>
              <a:gd name="connsiteY72" fmla="*/ 20548 h 3924728"/>
              <a:gd name="connsiteX73" fmla="*/ 2732926 w 5208998"/>
              <a:gd name="connsiteY73" fmla="*/ 0 h 3924728"/>
              <a:gd name="connsiteX74" fmla="*/ 4602822 w 5208998"/>
              <a:gd name="connsiteY74" fmla="*/ 30822 h 3924728"/>
              <a:gd name="connsiteX75" fmla="*/ 4715838 w 5208998"/>
              <a:gd name="connsiteY75" fmla="*/ 51371 h 3924728"/>
              <a:gd name="connsiteX76" fmla="*/ 4756935 w 5208998"/>
              <a:gd name="connsiteY76" fmla="*/ 61645 h 3924728"/>
              <a:gd name="connsiteX77" fmla="*/ 4818580 w 5208998"/>
              <a:gd name="connsiteY77" fmla="*/ 92467 h 3924728"/>
              <a:gd name="connsiteX78" fmla="*/ 4880225 w 5208998"/>
              <a:gd name="connsiteY78" fmla="*/ 123290 h 3924728"/>
              <a:gd name="connsiteX79" fmla="*/ 4911047 w 5208998"/>
              <a:gd name="connsiteY79" fmla="*/ 143838 h 3924728"/>
              <a:gd name="connsiteX80" fmla="*/ 4931596 w 5208998"/>
              <a:gd name="connsiteY80" fmla="*/ 164386 h 3924728"/>
              <a:gd name="connsiteX81" fmla="*/ 4972692 w 5208998"/>
              <a:gd name="connsiteY81" fmla="*/ 174661 h 3924728"/>
              <a:gd name="connsiteX82" fmla="*/ 5034337 w 5208998"/>
              <a:gd name="connsiteY82" fmla="*/ 215757 h 3924728"/>
              <a:gd name="connsiteX83" fmla="*/ 5075434 w 5208998"/>
              <a:gd name="connsiteY83" fmla="*/ 256854 h 3924728"/>
              <a:gd name="connsiteX84" fmla="*/ 5106256 w 5208998"/>
              <a:gd name="connsiteY84" fmla="*/ 318499 h 3924728"/>
              <a:gd name="connsiteX85" fmla="*/ 5137079 w 5208998"/>
              <a:gd name="connsiteY85" fmla="*/ 421240 h 3924728"/>
              <a:gd name="connsiteX86" fmla="*/ 5157627 w 5208998"/>
              <a:gd name="connsiteY86" fmla="*/ 482885 h 3924728"/>
              <a:gd name="connsiteX87" fmla="*/ 5188449 w 5208998"/>
              <a:gd name="connsiteY87" fmla="*/ 657546 h 3924728"/>
              <a:gd name="connsiteX88" fmla="*/ 5198724 w 5208998"/>
              <a:gd name="connsiteY88" fmla="*/ 688368 h 3924728"/>
              <a:gd name="connsiteX89" fmla="*/ 5208998 w 5208998"/>
              <a:gd name="connsiteY89" fmla="*/ 832207 h 3924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5208998" h="3924728">
                <a:moveTo>
                  <a:pt x="0" y="3924728"/>
                </a:moveTo>
                <a:cubicBezTo>
                  <a:pt x="44521" y="3921303"/>
                  <a:pt x="89217" y="3919671"/>
                  <a:pt x="133564" y="3914454"/>
                </a:cubicBezTo>
                <a:cubicBezTo>
                  <a:pt x="153503" y="3912108"/>
                  <a:pt x="185550" y="3900550"/>
                  <a:pt x="205483" y="3893906"/>
                </a:cubicBezTo>
                <a:cubicBezTo>
                  <a:pt x="226031" y="3880207"/>
                  <a:pt x="249665" y="3870272"/>
                  <a:pt x="267128" y="3852809"/>
                </a:cubicBezTo>
                <a:cubicBezTo>
                  <a:pt x="277402" y="3842535"/>
                  <a:pt x="286482" y="3830907"/>
                  <a:pt x="297951" y="3821986"/>
                </a:cubicBezTo>
                <a:cubicBezTo>
                  <a:pt x="317445" y="3806824"/>
                  <a:pt x="359596" y="3780890"/>
                  <a:pt x="359596" y="3780890"/>
                </a:cubicBezTo>
                <a:cubicBezTo>
                  <a:pt x="414386" y="3698702"/>
                  <a:pt x="342478" y="3798006"/>
                  <a:pt x="410966" y="3729519"/>
                </a:cubicBezTo>
                <a:cubicBezTo>
                  <a:pt x="419697" y="3720788"/>
                  <a:pt x="423801" y="3708339"/>
                  <a:pt x="431515" y="3698697"/>
                </a:cubicBezTo>
                <a:cubicBezTo>
                  <a:pt x="437566" y="3691133"/>
                  <a:pt x="446251" y="3685897"/>
                  <a:pt x="452063" y="3678148"/>
                </a:cubicBezTo>
                <a:cubicBezTo>
                  <a:pt x="466881" y="3658391"/>
                  <a:pt x="479461" y="3637051"/>
                  <a:pt x="493160" y="3616503"/>
                </a:cubicBezTo>
                <a:lnTo>
                  <a:pt x="513708" y="3585681"/>
                </a:lnTo>
                <a:cubicBezTo>
                  <a:pt x="538137" y="3512391"/>
                  <a:pt x="503497" y="3600997"/>
                  <a:pt x="554805" y="3524036"/>
                </a:cubicBezTo>
                <a:cubicBezTo>
                  <a:pt x="560812" y="3515025"/>
                  <a:pt x="559820" y="3502680"/>
                  <a:pt x="565079" y="3493213"/>
                </a:cubicBezTo>
                <a:cubicBezTo>
                  <a:pt x="599531" y="3431198"/>
                  <a:pt x="604519" y="3445983"/>
                  <a:pt x="626724" y="3390472"/>
                </a:cubicBezTo>
                <a:cubicBezTo>
                  <a:pt x="634768" y="3370361"/>
                  <a:pt x="637586" y="3348200"/>
                  <a:pt x="647272" y="3328827"/>
                </a:cubicBezTo>
                <a:cubicBezTo>
                  <a:pt x="654121" y="3315128"/>
                  <a:pt x="662132" y="3301950"/>
                  <a:pt x="667820" y="3287730"/>
                </a:cubicBezTo>
                <a:cubicBezTo>
                  <a:pt x="675864" y="3267619"/>
                  <a:pt x="681519" y="3246633"/>
                  <a:pt x="688369" y="3226085"/>
                </a:cubicBezTo>
                <a:lnTo>
                  <a:pt x="708917" y="3164440"/>
                </a:lnTo>
                <a:cubicBezTo>
                  <a:pt x="712342" y="3150741"/>
                  <a:pt x="715134" y="3136869"/>
                  <a:pt x="719191" y="3123344"/>
                </a:cubicBezTo>
                <a:cubicBezTo>
                  <a:pt x="719211" y="3123276"/>
                  <a:pt x="744866" y="3046321"/>
                  <a:pt x="750014" y="3030876"/>
                </a:cubicBezTo>
                <a:cubicBezTo>
                  <a:pt x="753439" y="3020602"/>
                  <a:pt x="757661" y="3010560"/>
                  <a:pt x="760288" y="3000054"/>
                </a:cubicBezTo>
                <a:cubicBezTo>
                  <a:pt x="775815" y="2937945"/>
                  <a:pt x="766097" y="2972351"/>
                  <a:pt x="791110" y="2897312"/>
                </a:cubicBezTo>
                <a:lnTo>
                  <a:pt x="821933" y="2804845"/>
                </a:lnTo>
                <a:lnTo>
                  <a:pt x="832207" y="2774022"/>
                </a:lnTo>
                <a:cubicBezTo>
                  <a:pt x="835632" y="2763748"/>
                  <a:pt x="840357" y="2753819"/>
                  <a:pt x="842481" y="2743200"/>
                </a:cubicBezTo>
                <a:cubicBezTo>
                  <a:pt x="857002" y="2670596"/>
                  <a:pt x="847234" y="2708388"/>
                  <a:pt x="873303" y="2630184"/>
                </a:cubicBezTo>
                <a:lnTo>
                  <a:pt x="893852" y="2568539"/>
                </a:lnTo>
                <a:lnTo>
                  <a:pt x="904126" y="2537717"/>
                </a:lnTo>
                <a:cubicBezTo>
                  <a:pt x="906299" y="2522509"/>
                  <a:pt x="919922" y="2423160"/>
                  <a:pt x="924674" y="2404153"/>
                </a:cubicBezTo>
                <a:cubicBezTo>
                  <a:pt x="929927" y="2383140"/>
                  <a:pt x="938373" y="2363056"/>
                  <a:pt x="945222" y="2342508"/>
                </a:cubicBezTo>
                <a:lnTo>
                  <a:pt x="955497" y="2311685"/>
                </a:lnTo>
                <a:cubicBezTo>
                  <a:pt x="958922" y="2277438"/>
                  <a:pt x="962655" y="2243220"/>
                  <a:pt x="965771" y="2208944"/>
                </a:cubicBezTo>
                <a:cubicBezTo>
                  <a:pt x="978341" y="2070671"/>
                  <a:pt x="962638" y="2125877"/>
                  <a:pt x="986319" y="2054831"/>
                </a:cubicBezTo>
                <a:cubicBezTo>
                  <a:pt x="991264" y="2010322"/>
                  <a:pt x="996619" y="1946831"/>
                  <a:pt x="1006867" y="1900719"/>
                </a:cubicBezTo>
                <a:cubicBezTo>
                  <a:pt x="1009216" y="1890147"/>
                  <a:pt x="1013717" y="1880171"/>
                  <a:pt x="1017142" y="1869897"/>
                </a:cubicBezTo>
                <a:cubicBezTo>
                  <a:pt x="1020567" y="1842499"/>
                  <a:pt x="1021631" y="1814701"/>
                  <a:pt x="1027416" y="1787703"/>
                </a:cubicBezTo>
                <a:cubicBezTo>
                  <a:pt x="1027417" y="1787698"/>
                  <a:pt x="1053100" y="1710650"/>
                  <a:pt x="1058238" y="1695236"/>
                </a:cubicBezTo>
                <a:cubicBezTo>
                  <a:pt x="1061663" y="1684962"/>
                  <a:pt x="1066388" y="1675033"/>
                  <a:pt x="1068512" y="1664413"/>
                </a:cubicBezTo>
                <a:cubicBezTo>
                  <a:pt x="1071937" y="1647290"/>
                  <a:pt x="1075916" y="1630268"/>
                  <a:pt x="1078787" y="1613043"/>
                </a:cubicBezTo>
                <a:cubicBezTo>
                  <a:pt x="1082768" y="1589156"/>
                  <a:pt x="1084312" y="1564870"/>
                  <a:pt x="1089061" y="1541124"/>
                </a:cubicBezTo>
                <a:cubicBezTo>
                  <a:pt x="1091185" y="1530504"/>
                  <a:pt x="1096708" y="1520808"/>
                  <a:pt x="1099335" y="1510301"/>
                </a:cubicBezTo>
                <a:cubicBezTo>
                  <a:pt x="1103570" y="1493360"/>
                  <a:pt x="1105374" y="1475871"/>
                  <a:pt x="1109609" y="1458930"/>
                </a:cubicBezTo>
                <a:cubicBezTo>
                  <a:pt x="1112236" y="1448424"/>
                  <a:pt x="1117256" y="1438614"/>
                  <a:pt x="1119883" y="1428108"/>
                </a:cubicBezTo>
                <a:cubicBezTo>
                  <a:pt x="1124118" y="1411167"/>
                  <a:pt x="1125562" y="1393584"/>
                  <a:pt x="1130157" y="1376737"/>
                </a:cubicBezTo>
                <a:cubicBezTo>
                  <a:pt x="1135856" y="1355840"/>
                  <a:pt x="1143856" y="1335640"/>
                  <a:pt x="1150706" y="1315092"/>
                </a:cubicBezTo>
                <a:cubicBezTo>
                  <a:pt x="1154131" y="1304818"/>
                  <a:pt x="1158856" y="1294889"/>
                  <a:pt x="1160980" y="1284270"/>
                </a:cubicBezTo>
                <a:cubicBezTo>
                  <a:pt x="1164405" y="1267146"/>
                  <a:pt x="1166659" y="1249746"/>
                  <a:pt x="1171254" y="1232899"/>
                </a:cubicBezTo>
                <a:cubicBezTo>
                  <a:pt x="1176953" y="1212002"/>
                  <a:pt x="1187554" y="1192493"/>
                  <a:pt x="1191802" y="1171254"/>
                </a:cubicBezTo>
                <a:cubicBezTo>
                  <a:pt x="1204200" y="1109263"/>
                  <a:pt x="1196553" y="1136449"/>
                  <a:pt x="1212351" y="1089061"/>
                </a:cubicBezTo>
                <a:cubicBezTo>
                  <a:pt x="1215776" y="1065088"/>
                  <a:pt x="1217876" y="1040887"/>
                  <a:pt x="1222625" y="1017141"/>
                </a:cubicBezTo>
                <a:cubicBezTo>
                  <a:pt x="1224749" y="1006522"/>
                  <a:pt x="1230272" y="996825"/>
                  <a:pt x="1232899" y="986319"/>
                </a:cubicBezTo>
                <a:cubicBezTo>
                  <a:pt x="1237134" y="969378"/>
                  <a:pt x="1239385" y="951995"/>
                  <a:pt x="1243173" y="934948"/>
                </a:cubicBezTo>
                <a:cubicBezTo>
                  <a:pt x="1246236" y="921164"/>
                  <a:pt x="1250678" y="907698"/>
                  <a:pt x="1253447" y="893852"/>
                </a:cubicBezTo>
                <a:cubicBezTo>
                  <a:pt x="1257532" y="873425"/>
                  <a:pt x="1258668" y="852417"/>
                  <a:pt x="1263721" y="832207"/>
                </a:cubicBezTo>
                <a:cubicBezTo>
                  <a:pt x="1268974" y="811194"/>
                  <a:pt x="1277420" y="791110"/>
                  <a:pt x="1284270" y="770562"/>
                </a:cubicBezTo>
                <a:cubicBezTo>
                  <a:pt x="1287695" y="760288"/>
                  <a:pt x="1291917" y="750246"/>
                  <a:pt x="1294544" y="739739"/>
                </a:cubicBezTo>
                <a:cubicBezTo>
                  <a:pt x="1301393" y="712341"/>
                  <a:pt x="1306162" y="684338"/>
                  <a:pt x="1315092" y="657546"/>
                </a:cubicBezTo>
                <a:cubicBezTo>
                  <a:pt x="1321941" y="636998"/>
                  <a:pt x="1330386" y="616914"/>
                  <a:pt x="1335640" y="595901"/>
                </a:cubicBezTo>
                <a:cubicBezTo>
                  <a:pt x="1338931" y="582736"/>
                  <a:pt x="1348820" y="538720"/>
                  <a:pt x="1356189" y="523982"/>
                </a:cubicBezTo>
                <a:cubicBezTo>
                  <a:pt x="1361711" y="512937"/>
                  <a:pt x="1369888" y="503433"/>
                  <a:pt x="1376737" y="493159"/>
                </a:cubicBezTo>
                <a:cubicBezTo>
                  <a:pt x="1382602" y="463835"/>
                  <a:pt x="1388581" y="429706"/>
                  <a:pt x="1397285" y="400692"/>
                </a:cubicBezTo>
                <a:cubicBezTo>
                  <a:pt x="1403509" y="379946"/>
                  <a:pt x="1410984" y="359595"/>
                  <a:pt x="1417834" y="339047"/>
                </a:cubicBezTo>
                <a:cubicBezTo>
                  <a:pt x="1421259" y="328773"/>
                  <a:pt x="1422101" y="317236"/>
                  <a:pt x="1428108" y="308225"/>
                </a:cubicBezTo>
                <a:cubicBezTo>
                  <a:pt x="1434957" y="297951"/>
                  <a:pt x="1443134" y="288447"/>
                  <a:pt x="1448656" y="277402"/>
                </a:cubicBezTo>
                <a:cubicBezTo>
                  <a:pt x="1465368" y="243977"/>
                  <a:pt x="1450034" y="245202"/>
                  <a:pt x="1479479" y="215757"/>
                </a:cubicBezTo>
                <a:cubicBezTo>
                  <a:pt x="1488210" y="207026"/>
                  <a:pt x="1500027" y="202058"/>
                  <a:pt x="1510301" y="195209"/>
                </a:cubicBezTo>
                <a:cubicBezTo>
                  <a:pt x="1513726" y="184935"/>
                  <a:pt x="1512917" y="172044"/>
                  <a:pt x="1520575" y="164386"/>
                </a:cubicBezTo>
                <a:cubicBezTo>
                  <a:pt x="1560406" y="124555"/>
                  <a:pt x="1593730" y="119453"/>
                  <a:pt x="1643865" y="102741"/>
                </a:cubicBezTo>
                <a:cubicBezTo>
                  <a:pt x="1677662" y="91475"/>
                  <a:pt x="1696298" y="83484"/>
                  <a:pt x="1736333" y="82193"/>
                </a:cubicBezTo>
                <a:cubicBezTo>
                  <a:pt x="1928048" y="76009"/>
                  <a:pt x="2119901" y="75344"/>
                  <a:pt x="2311685" y="71919"/>
                </a:cubicBezTo>
                <a:cubicBezTo>
                  <a:pt x="2494510" y="45802"/>
                  <a:pt x="2303595" y="75592"/>
                  <a:pt x="2424701" y="51371"/>
                </a:cubicBezTo>
                <a:cubicBezTo>
                  <a:pt x="2445128" y="47286"/>
                  <a:pt x="2465919" y="45183"/>
                  <a:pt x="2486346" y="41097"/>
                </a:cubicBezTo>
                <a:cubicBezTo>
                  <a:pt x="2535191" y="31328"/>
                  <a:pt x="2524966" y="27728"/>
                  <a:pt x="2578814" y="20548"/>
                </a:cubicBezTo>
                <a:cubicBezTo>
                  <a:pt x="2758990" y="-3475"/>
                  <a:pt x="2617333" y="23118"/>
                  <a:pt x="2732926" y="0"/>
                </a:cubicBezTo>
                <a:cubicBezTo>
                  <a:pt x="4445354" y="21540"/>
                  <a:pt x="3822458" y="-3106"/>
                  <a:pt x="4602822" y="30822"/>
                </a:cubicBezTo>
                <a:cubicBezTo>
                  <a:pt x="4647422" y="38256"/>
                  <a:pt x="4672767" y="41800"/>
                  <a:pt x="4715838" y="51371"/>
                </a:cubicBezTo>
                <a:cubicBezTo>
                  <a:pt x="4729622" y="54434"/>
                  <a:pt x="4743236" y="58220"/>
                  <a:pt x="4756935" y="61645"/>
                </a:cubicBezTo>
                <a:cubicBezTo>
                  <a:pt x="4845274" y="120538"/>
                  <a:pt x="4733499" y="49926"/>
                  <a:pt x="4818580" y="92467"/>
                </a:cubicBezTo>
                <a:cubicBezTo>
                  <a:pt x="4898247" y="132301"/>
                  <a:pt x="4802750" y="97466"/>
                  <a:pt x="4880225" y="123290"/>
                </a:cubicBezTo>
                <a:cubicBezTo>
                  <a:pt x="4890499" y="130139"/>
                  <a:pt x="4901405" y="136124"/>
                  <a:pt x="4911047" y="143838"/>
                </a:cubicBezTo>
                <a:cubicBezTo>
                  <a:pt x="4918611" y="149889"/>
                  <a:pt x="4922932" y="160054"/>
                  <a:pt x="4931596" y="164386"/>
                </a:cubicBezTo>
                <a:cubicBezTo>
                  <a:pt x="4944226" y="170701"/>
                  <a:pt x="4958993" y="171236"/>
                  <a:pt x="4972692" y="174661"/>
                </a:cubicBezTo>
                <a:cubicBezTo>
                  <a:pt x="4993240" y="188360"/>
                  <a:pt x="5016874" y="198294"/>
                  <a:pt x="5034337" y="215757"/>
                </a:cubicBezTo>
                <a:lnTo>
                  <a:pt x="5075434" y="256854"/>
                </a:lnTo>
                <a:cubicBezTo>
                  <a:pt x="5112901" y="369254"/>
                  <a:pt x="5053148" y="199006"/>
                  <a:pt x="5106256" y="318499"/>
                </a:cubicBezTo>
                <a:cubicBezTo>
                  <a:pt x="5128612" y="368799"/>
                  <a:pt x="5123285" y="375259"/>
                  <a:pt x="5137079" y="421240"/>
                </a:cubicBezTo>
                <a:cubicBezTo>
                  <a:pt x="5143303" y="441986"/>
                  <a:pt x="5157627" y="482885"/>
                  <a:pt x="5157627" y="482885"/>
                </a:cubicBezTo>
                <a:cubicBezTo>
                  <a:pt x="5164069" y="527981"/>
                  <a:pt x="5175802" y="619608"/>
                  <a:pt x="5188449" y="657546"/>
                </a:cubicBezTo>
                <a:lnTo>
                  <a:pt x="5198724" y="688368"/>
                </a:lnTo>
                <a:lnTo>
                  <a:pt x="5208998" y="832207"/>
                </a:lnTo>
              </a:path>
            </a:pathLst>
          </a:custGeom>
          <a:noFill/>
          <a:ln w="50800">
            <a:solidFill>
              <a:srgbClr val="FF0000"/>
            </a:solidFill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39">
            <a:extLst>
              <a:ext uri="{FF2B5EF4-FFF2-40B4-BE49-F238E27FC236}">
                <a16:creationId xmlns:a16="http://schemas.microsoft.com/office/drawing/2014/main" id="{D498C0E7-2861-345E-182D-59B189049386}"/>
              </a:ext>
            </a:extLst>
          </p:cNvPr>
          <p:cNvSpPr txBox="1"/>
          <p:nvPr/>
        </p:nvSpPr>
        <p:spPr>
          <a:xfrm>
            <a:off x="1802081" y="1062357"/>
            <a:ext cx="12251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FINE</a:t>
            </a:r>
          </a:p>
          <a:p>
            <a:r>
              <a:rPr lang="zh-CN" altLang="en-US" sz="2800" dirty="0"/>
              <a:t>细调</a:t>
            </a:r>
          </a:p>
        </p:txBody>
      </p:sp>
      <p:sp>
        <p:nvSpPr>
          <p:cNvPr id="15" name="对话气泡: 矩形 14">
            <a:extLst>
              <a:ext uri="{FF2B5EF4-FFF2-40B4-BE49-F238E27FC236}">
                <a16:creationId xmlns:a16="http://schemas.microsoft.com/office/drawing/2014/main" id="{598C45CB-9966-B835-C735-69C66F1486A4}"/>
              </a:ext>
            </a:extLst>
          </p:cNvPr>
          <p:cNvSpPr/>
          <p:nvPr/>
        </p:nvSpPr>
        <p:spPr>
          <a:xfrm>
            <a:off x="1646675" y="1043999"/>
            <a:ext cx="1323160" cy="985656"/>
          </a:xfrm>
          <a:prstGeom prst="wedgeRectCallout">
            <a:avLst>
              <a:gd name="adj1" fmla="val 76129"/>
              <a:gd name="adj2" fmla="val 154313"/>
            </a:avLst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FF2B5E73-7926-4D32-88EE-810211E15F19}"/>
              </a:ext>
            </a:extLst>
          </p:cNvPr>
          <p:cNvSpPr/>
          <p:nvPr/>
        </p:nvSpPr>
        <p:spPr>
          <a:xfrm>
            <a:off x="817021" y="4427056"/>
            <a:ext cx="1936616" cy="1771162"/>
          </a:xfrm>
          <a:custGeom>
            <a:avLst/>
            <a:gdLst>
              <a:gd name="connsiteX0" fmla="*/ 174988 w 1737088"/>
              <a:gd name="connsiteY0" fmla="*/ 0 h 2476500"/>
              <a:gd name="connsiteX1" fmla="*/ 184513 w 1737088"/>
              <a:gd name="connsiteY1" fmla="*/ 47625 h 2476500"/>
              <a:gd name="connsiteX2" fmla="*/ 165463 w 1737088"/>
              <a:gd name="connsiteY2" fmla="*/ 447675 h 2476500"/>
              <a:gd name="connsiteX3" fmla="*/ 136888 w 1737088"/>
              <a:gd name="connsiteY3" fmla="*/ 638175 h 2476500"/>
              <a:gd name="connsiteX4" fmla="*/ 127363 w 1737088"/>
              <a:gd name="connsiteY4" fmla="*/ 666750 h 2476500"/>
              <a:gd name="connsiteX5" fmla="*/ 117838 w 1737088"/>
              <a:gd name="connsiteY5" fmla="*/ 752475 h 2476500"/>
              <a:gd name="connsiteX6" fmla="*/ 108313 w 1737088"/>
              <a:gd name="connsiteY6" fmla="*/ 800100 h 2476500"/>
              <a:gd name="connsiteX7" fmla="*/ 98788 w 1737088"/>
              <a:gd name="connsiteY7" fmla="*/ 885825 h 2476500"/>
              <a:gd name="connsiteX8" fmla="*/ 79738 w 1737088"/>
              <a:gd name="connsiteY8" fmla="*/ 942975 h 2476500"/>
              <a:gd name="connsiteX9" fmla="*/ 70213 w 1737088"/>
              <a:gd name="connsiteY9" fmla="*/ 1000125 h 2476500"/>
              <a:gd name="connsiteX10" fmla="*/ 51163 w 1737088"/>
              <a:gd name="connsiteY10" fmla="*/ 1133475 h 2476500"/>
              <a:gd name="connsiteX11" fmla="*/ 32113 w 1737088"/>
              <a:gd name="connsiteY11" fmla="*/ 1181100 h 2476500"/>
              <a:gd name="connsiteX12" fmla="*/ 3538 w 1737088"/>
              <a:gd name="connsiteY12" fmla="*/ 1419225 h 2476500"/>
              <a:gd name="connsiteX13" fmla="*/ 22588 w 1737088"/>
              <a:gd name="connsiteY13" fmla="*/ 1895475 h 2476500"/>
              <a:gd name="connsiteX14" fmla="*/ 32113 w 1737088"/>
              <a:gd name="connsiteY14" fmla="*/ 1924050 h 2476500"/>
              <a:gd name="connsiteX15" fmla="*/ 51163 w 1737088"/>
              <a:gd name="connsiteY15" fmla="*/ 1990725 h 2476500"/>
              <a:gd name="connsiteX16" fmla="*/ 89263 w 1737088"/>
              <a:gd name="connsiteY16" fmla="*/ 2057400 h 2476500"/>
              <a:gd name="connsiteX17" fmla="*/ 146413 w 1737088"/>
              <a:gd name="connsiteY17" fmla="*/ 2152650 h 2476500"/>
              <a:gd name="connsiteX18" fmla="*/ 165463 w 1737088"/>
              <a:gd name="connsiteY18" fmla="*/ 2181225 h 2476500"/>
              <a:gd name="connsiteX19" fmla="*/ 194038 w 1737088"/>
              <a:gd name="connsiteY19" fmla="*/ 2209800 h 2476500"/>
              <a:gd name="connsiteX20" fmla="*/ 232138 w 1737088"/>
              <a:gd name="connsiteY20" fmla="*/ 2276475 h 2476500"/>
              <a:gd name="connsiteX21" fmla="*/ 260713 w 1737088"/>
              <a:gd name="connsiteY21" fmla="*/ 2305050 h 2476500"/>
              <a:gd name="connsiteX22" fmla="*/ 327388 w 1737088"/>
              <a:gd name="connsiteY22" fmla="*/ 2381250 h 2476500"/>
              <a:gd name="connsiteX23" fmla="*/ 355963 w 1737088"/>
              <a:gd name="connsiteY23" fmla="*/ 2409825 h 2476500"/>
              <a:gd name="connsiteX24" fmla="*/ 422638 w 1737088"/>
              <a:gd name="connsiteY24" fmla="*/ 2438400 h 2476500"/>
              <a:gd name="connsiteX25" fmla="*/ 451213 w 1737088"/>
              <a:gd name="connsiteY25" fmla="*/ 2457450 h 2476500"/>
              <a:gd name="connsiteX26" fmla="*/ 527413 w 1737088"/>
              <a:gd name="connsiteY26" fmla="*/ 2476500 h 2476500"/>
              <a:gd name="connsiteX27" fmla="*/ 841738 w 1737088"/>
              <a:gd name="connsiteY27" fmla="*/ 2466975 h 2476500"/>
              <a:gd name="connsiteX28" fmla="*/ 927463 w 1737088"/>
              <a:gd name="connsiteY28" fmla="*/ 2447925 h 2476500"/>
              <a:gd name="connsiteX29" fmla="*/ 1013188 w 1737088"/>
              <a:gd name="connsiteY29" fmla="*/ 2428875 h 2476500"/>
              <a:gd name="connsiteX30" fmla="*/ 1051288 w 1737088"/>
              <a:gd name="connsiteY30" fmla="*/ 2419350 h 2476500"/>
              <a:gd name="connsiteX31" fmla="*/ 1584688 w 1737088"/>
              <a:gd name="connsiteY31" fmla="*/ 2409825 h 2476500"/>
              <a:gd name="connsiteX32" fmla="*/ 1679938 w 1737088"/>
              <a:gd name="connsiteY32" fmla="*/ 2381250 h 2476500"/>
              <a:gd name="connsiteX33" fmla="*/ 1708513 w 1737088"/>
              <a:gd name="connsiteY33" fmla="*/ 2371725 h 2476500"/>
              <a:gd name="connsiteX34" fmla="*/ 1737088 w 1737088"/>
              <a:gd name="connsiteY34" fmla="*/ 2362200 h 247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737088" h="2476500">
                <a:moveTo>
                  <a:pt x="174988" y="0"/>
                </a:moveTo>
                <a:cubicBezTo>
                  <a:pt x="178163" y="15875"/>
                  <a:pt x="184513" y="31436"/>
                  <a:pt x="184513" y="47625"/>
                </a:cubicBezTo>
                <a:cubicBezTo>
                  <a:pt x="184513" y="399790"/>
                  <a:pt x="213365" y="303969"/>
                  <a:pt x="165463" y="447675"/>
                </a:cubicBezTo>
                <a:cubicBezTo>
                  <a:pt x="160395" y="488217"/>
                  <a:pt x="146191" y="610265"/>
                  <a:pt x="136888" y="638175"/>
                </a:cubicBezTo>
                <a:lnTo>
                  <a:pt x="127363" y="666750"/>
                </a:lnTo>
                <a:cubicBezTo>
                  <a:pt x="124188" y="695325"/>
                  <a:pt x="121904" y="724013"/>
                  <a:pt x="117838" y="752475"/>
                </a:cubicBezTo>
                <a:cubicBezTo>
                  <a:pt x="115548" y="768502"/>
                  <a:pt x="110603" y="784073"/>
                  <a:pt x="108313" y="800100"/>
                </a:cubicBezTo>
                <a:cubicBezTo>
                  <a:pt x="104247" y="828562"/>
                  <a:pt x="104427" y="857632"/>
                  <a:pt x="98788" y="885825"/>
                </a:cubicBezTo>
                <a:cubicBezTo>
                  <a:pt x="94850" y="905516"/>
                  <a:pt x="83039" y="923168"/>
                  <a:pt x="79738" y="942975"/>
                </a:cubicBezTo>
                <a:cubicBezTo>
                  <a:pt x="76563" y="962025"/>
                  <a:pt x="72765" y="980982"/>
                  <a:pt x="70213" y="1000125"/>
                </a:cubicBezTo>
                <a:cubicBezTo>
                  <a:pt x="65599" y="1034729"/>
                  <a:pt x="62554" y="1095504"/>
                  <a:pt x="51163" y="1133475"/>
                </a:cubicBezTo>
                <a:cubicBezTo>
                  <a:pt x="46250" y="1149852"/>
                  <a:pt x="38463" y="1165225"/>
                  <a:pt x="32113" y="1181100"/>
                </a:cubicBezTo>
                <a:cubicBezTo>
                  <a:pt x="11452" y="1387709"/>
                  <a:pt x="25578" y="1309023"/>
                  <a:pt x="3538" y="1419225"/>
                </a:cubicBezTo>
                <a:cubicBezTo>
                  <a:pt x="5338" y="1500208"/>
                  <a:pt x="-14048" y="1748931"/>
                  <a:pt x="22588" y="1895475"/>
                </a:cubicBezTo>
                <a:cubicBezTo>
                  <a:pt x="25023" y="1905215"/>
                  <a:pt x="29355" y="1914396"/>
                  <a:pt x="32113" y="1924050"/>
                </a:cubicBezTo>
                <a:cubicBezTo>
                  <a:pt x="39018" y="1948217"/>
                  <a:pt x="41375" y="1967887"/>
                  <a:pt x="51163" y="1990725"/>
                </a:cubicBezTo>
                <a:cubicBezTo>
                  <a:pt x="75835" y="2048292"/>
                  <a:pt x="61932" y="2009571"/>
                  <a:pt x="89263" y="2057400"/>
                </a:cubicBezTo>
                <a:cubicBezTo>
                  <a:pt x="147841" y="2159912"/>
                  <a:pt x="53210" y="2012845"/>
                  <a:pt x="146413" y="2152650"/>
                </a:cubicBezTo>
                <a:cubicBezTo>
                  <a:pt x="152763" y="2162175"/>
                  <a:pt x="157368" y="2173130"/>
                  <a:pt x="165463" y="2181225"/>
                </a:cubicBezTo>
                <a:cubicBezTo>
                  <a:pt x="174988" y="2190750"/>
                  <a:pt x="186208" y="2198839"/>
                  <a:pt x="194038" y="2209800"/>
                </a:cubicBezTo>
                <a:cubicBezTo>
                  <a:pt x="240619" y="2275014"/>
                  <a:pt x="187143" y="2222481"/>
                  <a:pt x="232138" y="2276475"/>
                </a:cubicBezTo>
                <a:cubicBezTo>
                  <a:pt x="240762" y="2286823"/>
                  <a:pt x="252443" y="2294417"/>
                  <a:pt x="260713" y="2305050"/>
                </a:cubicBezTo>
                <a:cubicBezTo>
                  <a:pt x="361310" y="2434389"/>
                  <a:pt x="251689" y="2318168"/>
                  <a:pt x="327388" y="2381250"/>
                </a:cubicBezTo>
                <a:cubicBezTo>
                  <a:pt x="337736" y="2389874"/>
                  <a:pt x="345002" y="2401995"/>
                  <a:pt x="355963" y="2409825"/>
                </a:cubicBezTo>
                <a:cubicBezTo>
                  <a:pt x="402211" y="2442859"/>
                  <a:pt x="381181" y="2417672"/>
                  <a:pt x="422638" y="2438400"/>
                </a:cubicBezTo>
                <a:cubicBezTo>
                  <a:pt x="432877" y="2443520"/>
                  <a:pt x="440455" y="2453538"/>
                  <a:pt x="451213" y="2457450"/>
                </a:cubicBezTo>
                <a:cubicBezTo>
                  <a:pt x="475818" y="2466397"/>
                  <a:pt x="527413" y="2476500"/>
                  <a:pt x="527413" y="2476500"/>
                </a:cubicBezTo>
                <a:cubicBezTo>
                  <a:pt x="632188" y="2473325"/>
                  <a:pt x="737052" y="2472343"/>
                  <a:pt x="841738" y="2466975"/>
                </a:cubicBezTo>
                <a:cubicBezTo>
                  <a:pt x="894112" y="2464289"/>
                  <a:pt x="888198" y="2459144"/>
                  <a:pt x="927463" y="2447925"/>
                </a:cubicBezTo>
                <a:cubicBezTo>
                  <a:pt x="968115" y="2436310"/>
                  <a:pt x="968994" y="2438696"/>
                  <a:pt x="1013188" y="2428875"/>
                </a:cubicBezTo>
                <a:cubicBezTo>
                  <a:pt x="1025967" y="2426035"/>
                  <a:pt x="1038204" y="2419786"/>
                  <a:pt x="1051288" y="2419350"/>
                </a:cubicBezTo>
                <a:cubicBezTo>
                  <a:pt x="1229018" y="2413426"/>
                  <a:pt x="1406888" y="2413000"/>
                  <a:pt x="1584688" y="2409825"/>
                </a:cubicBezTo>
                <a:cubicBezTo>
                  <a:pt x="1642269" y="2395430"/>
                  <a:pt x="1610369" y="2404440"/>
                  <a:pt x="1679938" y="2381250"/>
                </a:cubicBezTo>
                <a:lnTo>
                  <a:pt x="1708513" y="2371725"/>
                </a:lnTo>
                <a:lnTo>
                  <a:pt x="1737088" y="2362200"/>
                </a:ln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9347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实验内容三：三角波产生电路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0E9137-E8A8-45DE-AFA3-86166ED81CE7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5" name="TextBox 4"/>
          <p:cNvSpPr txBox="1"/>
          <p:nvPr/>
        </p:nvSpPr>
        <p:spPr>
          <a:xfrm>
            <a:off x="499047" y="1385878"/>
            <a:ext cx="31503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波形变换方式得到三角波的电路。</a:t>
            </a:r>
            <a:endParaRPr lang="en-US" altLang="zh-CN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806915" y="863715"/>
          <a:ext cx="4974475" cy="23994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068520" imgH="2927320" progId="Visio.Drawing.11">
                  <p:embed/>
                </p:oleObj>
              </mc:Choice>
              <mc:Fallback>
                <p:oleObj name="Visio" r:id="rId2" imgW="6068520" imgH="2927320" progId="Visio.Drawing.11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06915" y="863715"/>
                        <a:ext cx="4974475" cy="23994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215624" y="2695196"/>
            <a:ext cx="3433773" cy="1569660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方波发生器的</a:t>
            </a:r>
            <a:r>
              <a:rPr lang="en-US" altLang="zh-CN" dirty="0"/>
              <a:t>R</a:t>
            </a:r>
            <a:r>
              <a:rPr lang="en-US" altLang="zh-CN" baseline="-25000" dirty="0"/>
              <a:t>3</a:t>
            </a:r>
            <a:r>
              <a:rPr lang="en-US" altLang="zh-CN" dirty="0"/>
              <a:t>C</a:t>
            </a:r>
            <a:r>
              <a:rPr lang="en-US" altLang="zh-CN" baseline="-25000" dirty="0"/>
              <a:t>1</a:t>
            </a:r>
            <a:r>
              <a:rPr lang="zh-CN" altLang="en-US" dirty="0"/>
              <a:t>回路作为延迟环节，与同相端阈值电压作比较，运放输出端得到方波</a:t>
            </a:r>
            <a:endParaRPr lang="en-US" altLang="zh-CN" dirty="0"/>
          </a:p>
        </p:txBody>
      </p:sp>
      <p:sp>
        <p:nvSpPr>
          <p:cNvPr id="7" name="矩形 6"/>
          <p:cNvSpPr/>
          <p:nvPr/>
        </p:nvSpPr>
        <p:spPr>
          <a:xfrm>
            <a:off x="193122" y="4473114"/>
            <a:ext cx="3490274" cy="1200329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积分运算电路的积分环节</a:t>
            </a:r>
            <a:r>
              <a:rPr lang="en-US" altLang="zh-CN" dirty="0"/>
              <a:t>R</a:t>
            </a:r>
            <a:r>
              <a:rPr lang="en-US" altLang="zh-CN" baseline="-25000" dirty="0"/>
              <a:t>5</a:t>
            </a:r>
            <a:r>
              <a:rPr lang="en-US" altLang="zh-CN" dirty="0"/>
              <a:t>C</a:t>
            </a:r>
            <a:r>
              <a:rPr lang="en-US" altLang="zh-CN" baseline="-25000" dirty="0"/>
              <a:t>2</a:t>
            </a:r>
            <a:r>
              <a:rPr lang="zh-CN" altLang="en-US" dirty="0"/>
              <a:t>则将方波输出</a:t>
            </a:r>
            <a:r>
              <a:rPr lang="en-US" altLang="zh-CN" dirty="0"/>
              <a:t>u</a:t>
            </a:r>
            <a:r>
              <a:rPr lang="en-US" altLang="zh-CN" baseline="-25000" dirty="0"/>
              <a:t>o1</a:t>
            </a:r>
            <a:r>
              <a:rPr lang="zh-CN" altLang="en-US" dirty="0"/>
              <a:t>转换为三角波</a:t>
            </a:r>
          </a:p>
        </p:txBody>
      </p:sp>
      <p:sp>
        <p:nvSpPr>
          <p:cNvPr id="8" name="矩形 7"/>
          <p:cNvSpPr/>
          <p:nvPr/>
        </p:nvSpPr>
        <p:spPr>
          <a:xfrm>
            <a:off x="4121950" y="3263122"/>
            <a:ext cx="503225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在实用电路中，将方波发生电路中的</a:t>
            </a:r>
            <a:r>
              <a:rPr lang="en-US" altLang="zh-CN" dirty="0"/>
              <a:t>RC</a:t>
            </a:r>
            <a:r>
              <a:rPr lang="zh-CN" altLang="en-US" dirty="0"/>
              <a:t>充、放电回路去掉，用积分运算电路来取代，既作为方波比较的延迟环节，又作为方波变三角波的积分环节，滞回比较器和积分电路的输出互为另一个电路的输入，且为了满足极性的需求，滞回比较器改为同相输入。</a:t>
            </a:r>
          </a:p>
        </p:txBody>
      </p:sp>
      <p:sp>
        <p:nvSpPr>
          <p:cNvPr id="9" name="下箭头 8"/>
          <p:cNvSpPr/>
          <p:nvPr/>
        </p:nvSpPr>
        <p:spPr>
          <a:xfrm>
            <a:off x="3562069" y="5835771"/>
            <a:ext cx="489691" cy="5400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8328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58" name="Picture 8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824965"/>
            <a:ext cx="5067348" cy="2419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560" y="-1005328"/>
            <a:ext cx="7162800" cy="563033"/>
          </a:xfrm>
        </p:spPr>
        <p:txBody>
          <a:bodyPr/>
          <a:lstStyle/>
          <a:p>
            <a:r>
              <a:rPr lang="zh-CN" altLang="en-US" dirty="0"/>
              <a:t>三角波发生器参考电路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2E831E6-0EF1-4407-99B6-168BDC42DFBC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9" name="右大括号 8"/>
          <p:cNvSpPr/>
          <p:nvPr/>
        </p:nvSpPr>
        <p:spPr>
          <a:xfrm rot="5400000">
            <a:off x="1536896" y="2008609"/>
            <a:ext cx="120016" cy="1970688"/>
          </a:xfrm>
          <a:prstGeom prst="rightBrac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" y="3113965"/>
            <a:ext cx="28072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滞回比较器产生方波，输出幅度</a:t>
            </a:r>
            <a:r>
              <a:rPr lang="en-US" altLang="zh-CN" dirty="0"/>
              <a:t>=</a:t>
            </a:r>
            <a:r>
              <a:rPr lang="en-US" altLang="zh-CN" dirty="0">
                <a:latin typeface="宋体"/>
                <a:ea typeface="宋体"/>
              </a:rPr>
              <a:t>±</a:t>
            </a:r>
            <a:r>
              <a:rPr lang="en-US" altLang="zh-CN" dirty="0" err="1">
                <a:latin typeface="宋体"/>
                <a:ea typeface="宋体"/>
              </a:rPr>
              <a:t>V</a:t>
            </a:r>
            <a:r>
              <a:rPr lang="en-US" altLang="zh-CN" baseline="-25000" dirty="0" err="1">
                <a:latin typeface="宋体"/>
                <a:ea typeface="宋体"/>
              </a:rPr>
              <a:t>z</a:t>
            </a:r>
            <a:endParaRPr lang="zh-CN" altLang="en-US" baseline="-25000" dirty="0"/>
          </a:p>
        </p:txBody>
      </p:sp>
      <p:sp>
        <p:nvSpPr>
          <p:cNvPr id="14" name="右大括号 13"/>
          <p:cNvSpPr/>
          <p:nvPr/>
        </p:nvSpPr>
        <p:spPr>
          <a:xfrm rot="5400000">
            <a:off x="3764391" y="2319096"/>
            <a:ext cx="120016" cy="1970688"/>
          </a:xfrm>
          <a:prstGeom prst="rightBrac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2839056" y="3429000"/>
            <a:ext cx="21379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积分器产生三角波</a:t>
            </a:r>
            <a:endParaRPr lang="zh-CN" altLang="en-US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203122" y="893711"/>
                <a:ext cx="3833452" cy="3414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运放</a:t>
                </a:r>
                <a:r>
                  <a:rPr lang="en-US" altLang="zh-CN" dirty="0"/>
                  <a:t>A1</a:t>
                </a:r>
                <a:r>
                  <a:rPr lang="zh-CN" altLang="en-US" dirty="0"/>
                  <a:t>的同相端电压</a:t>
                </a:r>
                <a:r>
                  <a:rPr lang="en-US" altLang="zh-CN" dirty="0"/>
                  <a:t>up</a:t>
                </a:r>
                <a:r>
                  <a:rPr lang="zh-CN" altLang="en-US" dirty="0"/>
                  <a:t>受</a:t>
                </a:r>
                <a:r>
                  <a:rPr lang="en-US" altLang="zh-CN" dirty="0"/>
                  <a:t>u</a:t>
                </a:r>
                <a:r>
                  <a:rPr lang="en-US" altLang="zh-CN" baseline="-25000" dirty="0"/>
                  <a:t>o1</a:t>
                </a:r>
                <a:r>
                  <a:rPr lang="zh-CN" altLang="en-US" dirty="0"/>
                  <a:t>和</a:t>
                </a:r>
                <a:r>
                  <a:rPr lang="en-US" altLang="zh-CN" dirty="0" err="1"/>
                  <a:t>u</a:t>
                </a:r>
                <a:r>
                  <a:rPr lang="en-US" altLang="zh-CN" baseline="-25000" dirty="0" err="1"/>
                  <a:t>o</a:t>
                </a:r>
                <a:r>
                  <a:rPr lang="zh-CN" altLang="en-US" dirty="0"/>
                  <a:t>二者的反馈影响，用叠加定理来分析</a:t>
                </a:r>
                <a:endParaRPr lang="en-US" altLang="zh-CN" dirty="0"/>
              </a:p>
              <a:p>
                <a:r>
                  <a:rPr lang="en-US" altLang="zh-CN" dirty="0"/>
                  <a:t>u</a:t>
                </a:r>
                <a:r>
                  <a:rPr lang="en-US" altLang="zh-CN" baseline="-25000" dirty="0"/>
                  <a:t>o1</a:t>
                </a:r>
                <a:r>
                  <a:rPr lang="zh-CN" altLang="en-US" dirty="0"/>
                  <a:t>单独作用：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𝑝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𝑜</m:t>
                          </m:r>
                          <m:r>
                            <a:rPr lang="en-US" altLang="zh-CN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 err="1"/>
                  <a:t>uo</a:t>
                </a:r>
                <a:r>
                  <a:rPr lang="zh-CN" altLang="en-US" dirty="0"/>
                  <a:t>单独作用：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𝑝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𝑜</m:t>
                          </m:r>
                        </m:sub>
                      </m:sSub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3122" y="893711"/>
                <a:ext cx="3833452" cy="3414204"/>
              </a:xfrm>
              <a:prstGeom prst="rect">
                <a:avLst/>
              </a:prstGeom>
              <a:blipFill rotWithShape="1">
                <a:blip r:embed="rId3"/>
                <a:stretch>
                  <a:fillRect l="-2548" t="-19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1028042" y="1882279"/>
            <a:ext cx="43473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/>
              <a:t>A1</a:t>
            </a:r>
            <a:endParaRPr lang="zh-CN" altLang="en-US" sz="1600" dirty="0"/>
          </a:p>
        </p:txBody>
      </p:sp>
      <p:sp>
        <p:nvSpPr>
          <p:cNvPr id="24" name="矩形 23"/>
          <p:cNvSpPr/>
          <p:nvPr/>
        </p:nvSpPr>
        <p:spPr>
          <a:xfrm>
            <a:off x="3593049" y="1713002"/>
            <a:ext cx="43473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/>
              <a:t>A2</a:t>
            </a:r>
            <a:endParaRPr lang="zh-CN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09573" y="4284095"/>
                <a:ext cx="6566951" cy="660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𝑝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𝑜</m:t>
                        </m:r>
                        <m:r>
                          <a:rPr lang="en-US" altLang="zh-CN" i="1">
                            <a:latin typeface="Cambria Math"/>
                          </a:rPr>
                          <m:t>1</m:t>
                        </m:r>
                      </m:sub>
                    </m:sSub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dirty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𝑜</m:t>
                        </m:r>
                      </m:sub>
                    </m:sSub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𝑜</m:t>
                        </m:r>
                      </m:sub>
                    </m:sSub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i="1" smtClean="0">
                        <a:latin typeface="Cambria Math"/>
                      </a:rPr>
                      <m:t>±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𝑧</m:t>
                        </m:r>
                      </m:sub>
                    </m:sSub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73" y="4284095"/>
                <a:ext cx="6566951" cy="660630"/>
              </a:xfrm>
              <a:prstGeom prst="rect">
                <a:avLst/>
              </a:prstGeom>
              <a:blipFill rotWithShape="1">
                <a:blip r:embed="rId4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62677" y="5082981"/>
                <a:ext cx="8773897" cy="14278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𝑝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dirty="0"/>
                  <a:t>=0</a:t>
                </a:r>
                <a:r>
                  <a:rPr lang="zh-CN" altLang="en-US" dirty="0"/>
                  <a:t>，所以，</a:t>
                </a:r>
                <a:r>
                  <a:rPr lang="en-US" altLang="zh-CN" dirty="0"/>
                  <a:t>u</a:t>
                </a:r>
                <a:r>
                  <a:rPr lang="en-US" altLang="zh-CN" baseline="-25000" dirty="0"/>
                  <a:t>p</a:t>
                </a:r>
                <a:r>
                  <a:rPr lang="en-US" altLang="zh-CN" dirty="0"/>
                  <a:t>&lt;0</a:t>
                </a:r>
                <a:r>
                  <a:rPr lang="en-US" altLang="zh-CN" dirty="0">
                    <a:latin typeface="宋体"/>
                    <a:ea typeface="宋体"/>
                  </a:rPr>
                  <a:t>→</a:t>
                </a:r>
                <a:r>
                  <a:rPr lang="en-US" altLang="zh-CN" dirty="0"/>
                  <a:t>u</a:t>
                </a:r>
                <a:r>
                  <a:rPr lang="en-US" altLang="zh-CN" baseline="-25000" dirty="0"/>
                  <a:t>o1</a:t>
                </a:r>
                <a:r>
                  <a:rPr lang="en-US" altLang="zh-CN" dirty="0"/>
                  <a:t>=-</a:t>
                </a:r>
                <a:r>
                  <a:rPr lang="en-US" altLang="zh-CN" dirty="0" err="1"/>
                  <a:t>U</a:t>
                </a:r>
                <a:r>
                  <a:rPr lang="en-US" altLang="zh-CN" baseline="-25000" dirty="0" err="1"/>
                  <a:t>z</a:t>
                </a:r>
                <a:r>
                  <a:rPr lang="zh-CN" altLang="en-US" dirty="0"/>
                  <a:t>；</a:t>
                </a:r>
                <a:r>
                  <a:rPr lang="en-US" altLang="zh-CN" dirty="0"/>
                  <a:t>u</a:t>
                </a:r>
                <a:r>
                  <a:rPr lang="en-US" altLang="zh-CN" baseline="-25000" dirty="0"/>
                  <a:t>p</a:t>
                </a:r>
                <a:r>
                  <a:rPr lang="en-US" altLang="zh-CN" dirty="0"/>
                  <a:t>&gt;0</a:t>
                </a:r>
                <a:r>
                  <a:rPr lang="en-US" altLang="zh-CN" dirty="0">
                    <a:latin typeface="宋体"/>
                    <a:ea typeface="宋体"/>
                  </a:rPr>
                  <a:t>→</a:t>
                </a:r>
                <a:r>
                  <a:rPr lang="en-US" altLang="zh-CN" dirty="0"/>
                  <a:t>u</a:t>
                </a:r>
                <a:r>
                  <a:rPr lang="en-US" altLang="zh-CN" baseline="-25000" dirty="0"/>
                  <a:t>o1</a:t>
                </a:r>
                <a:r>
                  <a:rPr lang="en-US" altLang="zh-CN" dirty="0"/>
                  <a:t>=+</a:t>
                </a:r>
                <a:r>
                  <a:rPr lang="en-US" altLang="zh-CN" dirty="0" err="1"/>
                  <a:t>U</a:t>
                </a:r>
                <a:r>
                  <a:rPr lang="en-US" altLang="zh-CN" baseline="-25000" dirty="0" err="1"/>
                  <a:t>z</a:t>
                </a:r>
                <a:r>
                  <a:rPr lang="zh-CN" altLang="en-US" dirty="0"/>
                  <a:t>，</a:t>
                </a:r>
                <a:r>
                  <a:rPr lang="en-US" altLang="zh-CN" dirty="0" err="1"/>
                  <a:t>U</a:t>
                </a:r>
                <a:r>
                  <a:rPr lang="en-US" altLang="zh-CN" baseline="-25000" dirty="0" err="1"/>
                  <a:t>z</a:t>
                </a:r>
                <a:r>
                  <a:rPr lang="zh-CN" altLang="en-US" dirty="0"/>
                  <a:t>由稳压管固定，滞回比较的阈值与</a:t>
                </a:r>
                <a:r>
                  <a:rPr lang="en-US" altLang="zh-CN" dirty="0" err="1"/>
                  <a:t>u</a:t>
                </a:r>
                <a:r>
                  <a:rPr lang="en-US" altLang="zh-CN" baseline="-25000" dirty="0" err="1"/>
                  <a:t>o</a:t>
                </a:r>
                <a:r>
                  <a:rPr lang="zh-CN" altLang="en-US" dirty="0"/>
                  <a:t>有关，</a:t>
                </a:r>
                <a:r>
                  <a:rPr lang="en-US" altLang="zh-CN" dirty="0"/>
                  <a:t>u</a:t>
                </a:r>
                <a:r>
                  <a:rPr lang="en-US" altLang="zh-CN" baseline="-25000" dirty="0"/>
                  <a:t>o1</a:t>
                </a:r>
                <a:r>
                  <a:rPr lang="zh-CN" altLang="en-US" dirty="0"/>
                  <a:t>翻转的临界点在</a:t>
                </a:r>
                <a:r>
                  <a:rPr lang="en-US" altLang="zh-CN" dirty="0"/>
                  <a:t>u</a:t>
                </a:r>
                <a:r>
                  <a:rPr lang="en-US" altLang="zh-CN" baseline="-25000" dirty="0"/>
                  <a:t>p</a:t>
                </a:r>
                <a:r>
                  <a:rPr lang="en-US" altLang="zh-CN" dirty="0"/>
                  <a:t>=0</a:t>
                </a:r>
                <a:r>
                  <a:rPr lang="zh-CN" altLang="en-US" dirty="0"/>
                  <a:t>，可得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𝑜</m:t>
                        </m:r>
                      </m:sub>
                    </m:sSub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i="1">
                        <a:latin typeface="Cambria Math"/>
                      </a:rPr>
                      <m:t>±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𝑧</m:t>
                        </m:r>
                      </m:sub>
                    </m:sSub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dirty="0"/>
                  <a:t>=0 </a:t>
                </a:r>
                <a:r>
                  <a:rPr lang="en-US" altLang="zh-CN" dirty="0">
                    <a:latin typeface="宋体"/>
                    <a:ea typeface="宋体"/>
                  </a:rPr>
                  <a:t>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±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𝑧</m:t>
                        </m:r>
                      </m:sub>
                    </m:sSub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77" y="5082981"/>
                <a:ext cx="8773897" cy="1427827"/>
              </a:xfrm>
              <a:prstGeom prst="rect">
                <a:avLst/>
              </a:prstGeom>
              <a:blipFill rotWithShape="1">
                <a:blip r:embed="rId5"/>
                <a:stretch>
                  <a:fillRect l="-1042" t="-47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765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4" grpId="0" animBg="1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6555" y="-655680"/>
            <a:ext cx="7162800" cy="563033"/>
          </a:xfrm>
        </p:spPr>
        <p:txBody>
          <a:bodyPr/>
          <a:lstStyle/>
          <a:p>
            <a:r>
              <a:rPr lang="zh-CN" altLang="en-US" dirty="0"/>
              <a:t>三角波发生器参考电路</a:t>
            </a: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5922150" y="1898830"/>
            <a:ext cx="2745305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V="1">
            <a:off x="6102170" y="1043735"/>
            <a:ext cx="0" cy="166518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组合 40"/>
          <p:cNvGrpSpPr/>
          <p:nvPr/>
        </p:nvGrpSpPr>
        <p:grpSpPr>
          <a:xfrm>
            <a:off x="6102170" y="1358769"/>
            <a:ext cx="2340260" cy="1094951"/>
            <a:chOff x="791580" y="1628799"/>
            <a:chExt cx="2340260" cy="1094951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791580" y="1628800"/>
              <a:ext cx="585065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1376645" y="1628799"/>
              <a:ext cx="0" cy="10800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1376644" y="2708799"/>
              <a:ext cx="585065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1961709" y="1643750"/>
              <a:ext cx="0" cy="10800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1961711" y="1643751"/>
              <a:ext cx="585065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2546776" y="1643750"/>
              <a:ext cx="0" cy="10800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>
              <a:off x="2546775" y="2723750"/>
              <a:ext cx="585065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>
          <a:xfrm>
            <a:off x="5562110" y="1133745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+</a:t>
            </a:r>
            <a:r>
              <a:rPr lang="en-US" altLang="zh-CN" sz="2000" dirty="0" err="1"/>
              <a:t>U</a:t>
            </a:r>
            <a:r>
              <a:rPr lang="en-US" altLang="zh-CN" sz="2000" baseline="-25000" dirty="0" err="1"/>
              <a:t>z</a:t>
            </a:r>
            <a:endParaRPr lang="zh-CN" altLang="en-US" sz="2000" baseline="-25000" dirty="0"/>
          </a:p>
        </p:txBody>
      </p:sp>
      <p:sp>
        <p:nvSpPr>
          <p:cNvPr id="40" name="TextBox 39"/>
          <p:cNvSpPr txBox="1"/>
          <p:nvPr/>
        </p:nvSpPr>
        <p:spPr>
          <a:xfrm>
            <a:off x="5562110" y="2168860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-</a:t>
            </a:r>
            <a:r>
              <a:rPr lang="en-US" altLang="zh-CN" sz="2000" dirty="0" err="1"/>
              <a:t>U</a:t>
            </a:r>
            <a:r>
              <a:rPr lang="en-US" altLang="zh-CN" sz="2000" baseline="-25000" dirty="0" err="1"/>
              <a:t>z</a:t>
            </a:r>
            <a:endParaRPr lang="zh-CN" altLang="en-US" sz="2000" baseline="-25000" dirty="0"/>
          </a:p>
        </p:txBody>
      </p:sp>
      <p:cxnSp>
        <p:nvCxnSpPr>
          <p:cNvPr id="39" name="直接连接符 38"/>
          <p:cNvCxnSpPr/>
          <p:nvPr/>
        </p:nvCxnSpPr>
        <p:spPr>
          <a:xfrm flipH="1">
            <a:off x="6102170" y="2438769"/>
            <a:ext cx="585064" cy="0"/>
          </a:xfrm>
          <a:prstGeom prst="line">
            <a:avLst/>
          </a:prstGeom>
          <a:ln w="19050">
            <a:solidFill>
              <a:srgbClr val="3333C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102170" y="728700"/>
            <a:ext cx="585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u</a:t>
            </a:r>
            <a:r>
              <a:rPr lang="en-US" altLang="zh-CN" baseline="-25000" dirty="0"/>
              <a:t>o1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87135" y="1808820"/>
            <a:ext cx="2700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/>
              <a:t>O</a:t>
            </a:r>
            <a:endParaRPr lang="zh-CN" altLang="en-US" sz="2000" i="1" dirty="0"/>
          </a:p>
        </p:txBody>
      </p:sp>
      <p:sp>
        <p:nvSpPr>
          <p:cNvPr id="46" name="TextBox 45"/>
          <p:cNvSpPr txBox="1"/>
          <p:nvPr/>
        </p:nvSpPr>
        <p:spPr>
          <a:xfrm>
            <a:off x="8577445" y="1673805"/>
            <a:ext cx="2700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</a:t>
            </a:r>
            <a:endParaRPr lang="zh-CN" altLang="en-US" sz="2000" dirty="0"/>
          </a:p>
        </p:txBody>
      </p:sp>
      <p:cxnSp>
        <p:nvCxnSpPr>
          <p:cNvPr id="49" name="直接箭头连接符 48"/>
          <p:cNvCxnSpPr/>
          <p:nvPr/>
        </p:nvCxnSpPr>
        <p:spPr>
          <a:xfrm>
            <a:off x="5922150" y="3834044"/>
            <a:ext cx="2745305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 flipV="1">
            <a:off x="6102170" y="2978949"/>
            <a:ext cx="0" cy="166518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562110" y="3068959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+U</a:t>
            </a:r>
            <a:r>
              <a:rPr lang="en-US" altLang="zh-CN" sz="2000" baseline="-25000" dirty="0"/>
              <a:t>T</a:t>
            </a:r>
            <a:endParaRPr lang="zh-CN" altLang="en-US" sz="2000" baseline="-25000" dirty="0"/>
          </a:p>
        </p:txBody>
      </p:sp>
      <p:sp>
        <p:nvSpPr>
          <p:cNvPr id="52" name="TextBox 51"/>
          <p:cNvSpPr txBox="1"/>
          <p:nvPr/>
        </p:nvSpPr>
        <p:spPr>
          <a:xfrm>
            <a:off x="5562110" y="4104074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-U</a:t>
            </a:r>
            <a:r>
              <a:rPr lang="en-US" altLang="zh-CN" sz="2000" baseline="-25000" dirty="0"/>
              <a:t>T</a:t>
            </a:r>
            <a:endParaRPr lang="zh-CN" altLang="en-US" sz="2000" baseline="-25000" dirty="0"/>
          </a:p>
        </p:txBody>
      </p:sp>
      <p:cxnSp>
        <p:nvCxnSpPr>
          <p:cNvPr id="53" name="直接连接符 52"/>
          <p:cNvCxnSpPr/>
          <p:nvPr/>
        </p:nvCxnSpPr>
        <p:spPr>
          <a:xfrm flipH="1">
            <a:off x="6102171" y="4373983"/>
            <a:ext cx="585064" cy="0"/>
          </a:xfrm>
          <a:prstGeom prst="line">
            <a:avLst/>
          </a:prstGeom>
          <a:ln w="19050">
            <a:solidFill>
              <a:srgbClr val="3333C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102170" y="2663914"/>
            <a:ext cx="585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u</a:t>
            </a:r>
            <a:r>
              <a:rPr lang="en-US" altLang="zh-CN" baseline="-25000" dirty="0" err="1"/>
              <a:t>o</a:t>
            </a:r>
            <a:endParaRPr lang="en-US" altLang="zh-CN" baseline="-25000" dirty="0"/>
          </a:p>
        </p:txBody>
      </p:sp>
      <p:sp>
        <p:nvSpPr>
          <p:cNvPr id="55" name="TextBox 54"/>
          <p:cNvSpPr txBox="1"/>
          <p:nvPr/>
        </p:nvSpPr>
        <p:spPr>
          <a:xfrm>
            <a:off x="5787135" y="3744034"/>
            <a:ext cx="2700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/>
              <a:t>O</a:t>
            </a:r>
            <a:endParaRPr lang="zh-CN" altLang="en-US" sz="2000" i="1" dirty="0"/>
          </a:p>
        </p:txBody>
      </p:sp>
      <p:sp>
        <p:nvSpPr>
          <p:cNvPr id="56" name="TextBox 55"/>
          <p:cNvSpPr txBox="1"/>
          <p:nvPr/>
        </p:nvSpPr>
        <p:spPr>
          <a:xfrm>
            <a:off x="8577445" y="3609019"/>
            <a:ext cx="2700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</a:t>
            </a:r>
            <a:endParaRPr lang="zh-CN" altLang="en-US" sz="2000" dirty="0"/>
          </a:p>
        </p:txBody>
      </p:sp>
      <p:sp>
        <p:nvSpPr>
          <p:cNvPr id="47" name="矩形 46"/>
          <p:cNvSpPr/>
          <p:nvPr/>
        </p:nvSpPr>
        <p:spPr>
          <a:xfrm>
            <a:off x="251520" y="953725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 err="1"/>
              <a:t>u</a:t>
            </a:r>
            <a:r>
              <a:rPr lang="en-US" altLang="zh-CN" baseline="-25000" dirty="0" err="1"/>
              <a:t>o</a:t>
            </a:r>
            <a:r>
              <a:rPr lang="zh-CN" altLang="en-US" dirty="0"/>
              <a:t>是</a:t>
            </a:r>
            <a:r>
              <a:rPr lang="en-US" altLang="zh-CN" dirty="0" err="1"/>
              <a:t>U</a:t>
            </a:r>
            <a:r>
              <a:rPr lang="en-US" altLang="zh-CN" baseline="-25000" dirty="0" err="1"/>
              <a:t>z</a:t>
            </a:r>
            <a:r>
              <a:rPr lang="zh-CN" altLang="en-US" dirty="0"/>
              <a:t>经</a:t>
            </a:r>
            <a:r>
              <a:rPr lang="en-US" altLang="zh-CN" dirty="0"/>
              <a:t>RC</a:t>
            </a:r>
            <a:r>
              <a:rPr lang="zh-CN" altLang="en-US" dirty="0"/>
              <a:t>积分而来的三角波，临界处的电压是其电容充电或者放电的终点，即为阈值电压</a:t>
            </a:r>
            <a:r>
              <a:rPr lang="en-US" altLang="zh-CN" dirty="0"/>
              <a:t>U</a:t>
            </a:r>
            <a:r>
              <a:rPr lang="en-US" altLang="zh-CN" baseline="-25000" dirty="0"/>
              <a:t>T</a:t>
            </a:r>
            <a:endParaRPr lang="zh-CN" altLang="en-US" baseline="-25000" dirty="0"/>
          </a:p>
        </p:txBody>
      </p:sp>
      <p:cxnSp>
        <p:nvCxnSpPr>
          <p:cNvPr id="57" name="直接连接符 56"/>
          <p:cNvCxnSpPr/>
          <p:nvPr/>
        </p:nvCxnSpPr>
        <p:spPr>
          <a:xfrm>
            <a:off x="6687234" y="2453720"/>
            <a:ext cx="1" cy="2050464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7272299" y="2438890"/>
            <a:ext cx="1" cy="2050464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7857365" y="2438890"/>
            <a:ext cx="1" cy="2050464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6102170" y="3269014"/>
            <a:ext cx="585064" cy="110496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 flipV="1">
            <a:off x="6687234" y="3269014"/>
            <a:ext cx="585065" cy="110496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21" name="直接连接符 56320"/>
          <p:cNvCxnSpPr/>
          <p:nvPr/>
        </p:nvCxnSpPr>
        <p:spPr>
          <a:xfrm>
            <a:off x="7294802" y="3269014"/>
            <a:ext cx="562564" cy="110496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26" name="直接连接符 56325"/>
          <p:cNvCxnSpPr/>
          <p:nvPr/>
        </p:nvCxnSpPr>
        <p:spPr>
          <a:xfrm flipV="1">
            <a:off x="7857366" y="3269014"/>
            <a:ext cx="585064" cy="11049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332" name="TextBox 56331"/>
              <p:cNvSpPr txBox="1"/>
              <p:nvPr/>
            </p:nvSpPr>
            <p:spPr>
              <a:xfrm>
                <a:off x="251520" y="2078850"/>
                <a:ext cx="4572000" cy="3993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三角波周期的计算：</a:t>
                </a:r>
                <a:endParaRPr lang="en-US" altLang="zh-CN" dirty="0"/>
              </a:p>
              <a:p>
                <a:r>
                  <a:rPr lang="zh-CN" altLang="en-US" dirty="0"/>
                  <a:t>电容正向充电的时长是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altLang="zh-CN" b="0" i="1" smtClean="0">
                        <a:latin typeface="Cambria Math"/>
                      </a:rPr>
                      <m:t>𝑇</m:t>
                    </m:r>
                  </m:oMath>
                </a14:m>
                <a:r>
                  <a:rPr lang="zh-CN" altLang="en-US" dirty="0"/>
                  <a:t>，从</a:t>
                </a:r>
                <a:r>
                  <a:rPr lang="en-US" altLang="zh-CN" dirty="0"/>
                  <a:t>-U</a:t>
                </a:r>
                <a:r>
                  <a:rPr lang="en-US" altLang="zh-CN" baseline="-25000" dirty="0"/>
                  <a:t>T</a:t>
                </a:r>
                <a:r>
                  <a:rPr lang="zh-CN" altLang="en-US" dirty="0"/>
                  <a:t>到</a:t>
                </a:r>
                <a:r>
                  <a:rPr lang="en-US" altLang="zh-CN" dirty="0"/>
                  <a:t>+U</a:t>
                </a:r>
                <a:r>
                  <a:rPr lang="en-US" altLang="zh-CN" baseline="-25000" dirty="0"/>
                  <a:t>T</a:t>
                </a:r>
                <a:r>
                  <a:rPr lang="zh-CN" altLang="en-US" dirty="0"/>
                  <a:t>，此时积分器输入</a:t>
                </a:r>
                <a:r>
                  <a:rPr lang="en-US" altLang="zh-CN" dirty="0"/>
                  <a:t>u</a:t>
                </a:r>
                <a:r>
                  <a:rPr lang="en-US" altLang="zh-CN" baseline="-25000" dirty="0"/>
                  <a:t>o1</a:t>
                </a:r>
                <a:r>
                  <a:rPr lang="en-US" altLang="zh-CN" dirty="0"/>
                  <a:t>=-</a:t>
                </a:r>
                <a:r>
                  <a:rPr lang="en-US" altLang="zh-CN" dirty="0" err="1"/>
                  <a:t>U</a:t>
                </a:r>
                <a:r>
                  <a:rPr lang="en-US" altLang="zh-CN" baseline="-25000" dirty="0" err="1"/>
                  <a:t>z</a:t>
                </a:r>
                <a:r>
                  <a:rPr lang="zh-CN" altLang="en-US" dirty="0"/>
                  <a:t>，而积分初值</a:t>
                </a:r>
                <a:r>
                  <a:rPr lang="en-US" altLang="zh-CN" dirty="0" err="1"/>
                  <a:t>u</a:t>
                </a:r>
                <a:r>
                  <a:rPr lang="en-US" altLang="zh-CN" baseline="-25000" dirty="0" err="1"/>
                  <a:t>o</a:t>
                </a:r>
                <a:r>
                  <a:rPr lang="en-US" altLang="zh-CN" dirty="0"/>
                  <a:t>(0) = -U</a:t>
                </a:r>
                <a:r>
                  <a:rPr lang="en-US" altLang="zh-CN" baseline="-25000" dirty="0"/>
                  <a:t>T </a:t>
                </a:r>
                <a:r>
                  <a:rPr lang="zh-CN" altLang="en-US" dirty="0"/>
                  <a:t>，积分输出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US" altLang="zh-CN" b="0" i="1" smtClean="0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/>
                            </a:rPr>
                            <m:t>𝐶</m:t>
                          </m:r>
                        </m:den>
                      </m:f>
                      <m:nary>
                        <m:nary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/>
                                        </a:rPr>
                                        <m:t>𝑧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/>
                                    </a:rPr>
                                    <m:t>6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b="0" i="1" smtClean="0">
                              <a:latin typeface="Cambria Math"/>
                            </a:rPr>
                            <m:t>𝑑𝑡</m:t>
                          </m:r>
                        </m:e>
                      </m:nary>
                      <m:r>
                        <a:rPr lang="en-US" altLang="zh-CN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b="0" dirty="0"/>
              </a:p>
              <a:p>
                <a:r>
                  <a:rPr lang="en-US" altLang="zh-CN" dirty="0"/>
                  <a:t>    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𝑧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6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/>
                          </a:rPr>
                          <m:t>𝐶</m:t>
                        </m:r>
                      </m:den>
                    </m:f>
                    <m:r>
                      <a:rPr lang="en-US" altLang="zh-CN" i="1">
                        <a:latin typeface="Cambria Math"/>
                        <a:ea typeface="Cambria Math"/>
                      </a:rPr>
                      <m:t>∙</m:t>
                    </m:r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/>
                            <a:ea typeface="Cambria Math"/>
                          </a:rPr>
                          <m:t>𝑇</m:t>
                        </m:r>
                      </m:num>
                      <m:den>
                        <m:r>
                          <a:rPr lang="en-US" altLang="zh-CN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den>
                    </m:f>
                    <m:r>
                      <a:rPr lang="en-US" altLang="zh-CN" b="0" i="1" smtClean="0">
                        <a:latin typeface="Cambria Math"/>
                        <a:ea typeface="Cambria Math"/>
                      </a:rPr>
                      <m:t>+(−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  <a:ea typeface="Cambria Math"/>
                          </a:rPr>
                          <m:t>𝑈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  <a:ea typeface="Cambria Math"/>
                          </a:rPr>
                          <m:t>𝑇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而积分的结束为</a:t>
                </a:r>
                <a:r>
                  <a:rPr lang="en-US" altLang="zh-CN" dirty="0"/>
                  <a:t>+U</a:t>
                </a:r>
                <a:r>
                  <a:rPr lang="en-US" altLang="zh-CN" baseline="-25000" dirty="0"/>
                  <a:t>T</a:t>
                </a:r>
              </a:p>
            </p:txBody>
          </p:sp>
        </mc:Choice>
        <mc:Fallback xmlns="">
          <p:sp>
            <p:nvSpPr>
              <p:cNvPr id="56332" name="TextBox 563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2078850"/>
                <a:ext cx="4572000" cy="3993016"/>
              </a:xfrm>
              <a:prstGeom prst="rect">
                <a:avLst/>
              </a:prstGeom>
              <a:blipFill rotWithShape="1">
                <a:blip r:embed="rId2"/>
                <a:stretch>
                  <a:fillRect l="-2000" t="-1679" b="-27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333" name="TextBox 56332"/>
              <p:cNvSpPr txBox="1"/>
              <p:nvPr/>
            </p:nvSpPr>
            <p:spPr>
              <a:xfrm>
                <a:off x="3533666" y="5086788"/>
                <a:ext cx="5497048" cy="123309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/>
                          </a:rPr>
                          <m:t>𝑇</m:t>
                        </m:r>
                      </m:sub>
                    </m:sSub>
                    <m:r>
                      <m:rPr>
                        <m:nor/>
                      </m:rPr>
                      <a:rPr lang="en-US" altLang="zh-CN" dirty="0"/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𝑧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6</m:t>
                            </m:r>
                          </m:sub>
                        </m:sSub>
                        <m:r>
                          <a:rPr lang="en-US" altLang="zh-CN" i="1">
                            <a:latin typeface="Cambria Math"/>
                          </a:rPr>
                          <m:t>𝐶</m:t>
                        </m:r>
                      </m:den>
                    </m:f>
                    <m:r>
                      <a:rPr lang="en-US" altLang="zh-CN" i="1">
                        <a:latin typeface="Cambria Math"/>
                        <a:ea typeface="Cambria Math"/>
                      </a:rPr>
                      <m:t>∙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/>
                            <a:ea typeface="Cambria Math"/>
                          </a:rPr>
                          <m:t>𝑇</m:t>
                        </m:r>
                      </m:num>
                      <m:den>
                        <m:r>
                          <a:rPr lang="en-US" altLang="zh-CN" i="1">
                            <a:latin typeface="Cambria Math"/>
                            <a:ea typeface="Cambria Math"/>
                          </a:rPr>
                          <m:t>2</m:t>
                        </m:r>
                      </m:den>
                    </m:f>
                    <m:r>
                      <a:rPr lang="en-US" altLang="zh-CN" i="1">
                        <a:latin typeface="Cambria Math"/>
                        <a:ea typeface="Cambria Math"/>
                      </a:rPr>
                      <m:t>+(−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  <a:ea typeface="Cambria Math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  <a:ea typeface="Cambria Math"/>
                          </a:rPr>
                          <m:t>𝑇</m:t>
                        </m:r>
                      </m:sub>
                    </m:sSub>
                    <m:r>
                      <a:rPr lang="en-US" altLang="zh-CN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zh-CN" altLang="en-US" b="0" dirty="0">
                    <a:latin typeface="Cambria Math"/>
                  </a:rPr>
                  <a:t>     带入前述</a:t>
                </a:r>
                <a:r>
                  <a:rPr lang="en-US" altLang="zh-CN" b="0" dirty="0" err="1">
                    <a:latin typeface="Cambria Math"/>
                  </a:rPr>
                  <a:t>U</a:t>
                </a:r>
                <a:r>
                  <a:rPr lang="en-US" altLang="zh-CN" b="0" baseline="-25000" dirty="0" err="1">
                    <a:latin typeface="Cambria Math"/>
                  </a:rPr>
                  <a:t>z</a:t>
                </a:r>
                <a:r>
                  <a:rPr lang="zh-CN" altLang="en-US" b="0" dirty="0">
                    <a:latin typeface="Cambria Math"/>
                  </a:rPr>
                  <a:t>的表达式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/>
                      </a:rPr>
                      <m:t>         </m:t>
                    </m:r>
                    <m:r>
                      <a:rPr lang="en-US" altLang="zh-CN" b="0" i="1" smtClean="0">
                        <a:latin typeface="Cambria Math"/>
                      </a:rPr>
                      <m:t>𝑇</m:t>
                    </m:r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/>
                          </a:rPr>
                          <m:t>4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6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/>
                          </a:rPr>
                          <m:t>𝐶</m:t>
                        </m:r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6333" name="TextBox 563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3666" y="5086788"/>
                <a:ext cx="5497048" cy="1233094"/>
              </a:xfrm>
              <a:prstGeom prst="rect">
                <a:avLst/>
              </a:prstGeom>
              <a:blipFill rotWithShape="1">
                <a:blip r:embed="rId3"/>
                <a:stretch>
                  <a:fillRect l="-1661" r="-1440"/>
                </a:stretch>
              </a:blipFill>
              <a:ln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3007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三角波发生器参考电路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2E831E6-0EF1-4407-99B6-168BDC42DFBC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18" name="TextBox 17"/>
          <p:cNvSpPr txBox="1"/>
          <p:nvPr/>
        </p:nvSpPr>
        <p:spPr>
          <a:xfrm>
            <a:off x="1166002" y="1943835"/>
            <a:ext cx="5625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A</a:t>
            </a:r>
            <a:r>
              <a:rPr lang="en-US" altLang="zh-CN" sz="1600" baseline="-25000" dirty="0"/>
              <a:t>1</a:t>
            </a:r>
            <a:endParaRPr lang="zh-CN" altLang="en-US" sz="1600" baseline="-25000" dirty="0"/>
          </a:p>
        </p:txBody>
      </p:sp>
      <p:sp>
        <p:nvSpPr>
          <p:cNvPr id="21" name="TextBox 20"/>
          <p:cNvSpPr txBox="1"/>
          <p:nvPr/>
        </p:nvSpPr>
        <p:spPr>
          <a:xfrm>
            <a:off x="3660649" y="1785301"/>
            <a:ext cx="5063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A</a:t>
            </a:r>
            <a:r>
              <a:rPr lang="en-US" altLang="zh-CN" sz="1600" baseline="-25000" dirty="0"/>
              <a:t>2</a:t>
            </a:r>
            <a:endParaRPr lang="zh-CN" altLang="en-US" sz="1600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337085" y="953725"/>
                <a:ext cx="3735415" cy="21536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综上，该电路的输出三角波参数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𝑢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±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𝑧</m:t>
                        </m:r>
                      </m:sub>
                    </m:sSub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/>
                        </a:rPr>
                        <m:t>𝑇</m:t>
                      </m:r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/>
                            </a:rPr>
                            <m:t>4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6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/>
                            </a:rPr>
                            <m:t>𝐶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7085" y="953725"/>
                <a:ext cx="3735415" cy="2153603"/>
              </a:xfrm>
              <a:prstGeom prst="rect">
                <a:avLst/>
              </a:prstGeom>
              <a:blipFill rotWithShape="1">
                <a:blip r:embed="rId2"/>
                <a:stretch>
                  <a:fillRect l="-2614" t="-22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8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22" y="824965"/>
            <a:ext cx="5067348" cy="2419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34722" y="2933945"/>
            <a:ext cx="884776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参数设计建议</a:t>
            </a:r>
            <a:r>
              <a:rPr lang="en-US" altLang="zh-CN" dirty="0"/>
              <a:t>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altLang="zh-CN" dirty="0" err="1"/>
              <a:t>u</a:t>
            </a:r>
            <a:r>
              <a:rPr lang="en-US" altLang="zh-CN" baseline="-25000" dirty="0" err="1"/>
              <a:t>o</a:t>
            </a:r>
            <a:r>
              <a:rPr lang="zh-CN" altLang="en-US" dirty="0"/>
              <a:t>的峰峰值由前述的测试内容确定为</a:t>
            </a:r>
            <a:r>
              <a:rPr lang="en-US" altLang="zh-CN" dirty="0"/>
              <a:t>1.4~1.8V</a:t>
            </a:r>
            <a:r>
              <a:rPr lang="zh-CN" altLang="en-US" dirty="0"/>
              <a:t>；</a:t>
            </a:r>
            <a:endParaRPr lang="en-US" altLang="zh-CN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altLang="zh-CN" dirty="0"/>
              <a:t>u</a:t>
            </a:r>
            <a:r>
              <a:rPr lang="en-US" altLang="zh-CN" baseline="-25000" dirty="0"/>
              <a:t>o1</a:t>
            </a:r>
            <a:r>
              <a:rPr lang="en-US" altLang="zh-CN" dirty="0"/>
              <a:t> </a:t>
            </a:r>
            <a:r>
              <a:rPr lang="zh-CN" altLang="en-US" dirty="0"/>
              <a:t>的输出由稳压管确定，选定之后再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计算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R</a:t>
            </a:r>
            <a:r>
              <a:rPr lang="en-US" altLang="zh-CN" baseline="-25000" dirty="0">
                <a:solidFill>
                  <a:schemeClr val="accent5">
                    <a:lumMod val="50000"/>
                  </a:schemeClr>
                </a:solidFill>
              </a:rPr>
              <a:t>1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、 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R</a:t>
            </a:r>
            <a:r>
              <a:rPr lang="en-US" altLang="zh-CN" baseline="-25000" dirty="0">
                <a:solidFill>
                  <a:schemeClr val="accent5">
                    <a:lumMod val="5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的值</a:t>
            </a:r>
            <a:r>
              <a:rPr lang="zh-CN" altLang="en-US" dirty="0"/>
              <a:t>，为方便调整，建议</a:t>
            </a:r>
            <a:r>
              <a:rPr lang="en-US" altLang="zh-CN" dirty="0"/>
              <a:t>R2</a:t>
            </a:r>
            <a:r>
              <a:rPr lang="zh-CN" altLang="en-US" dirty="0"/>
              <a:t>选用</a:t>
            </a:r>
            <a:r>
              <a:rPr lang="en-US" altLang="zh-CN" dirty="0"/>
              <a:t>10k</a:t>
            </a:r>
            <a:r>
              <a:rPr lang="zh-CN" altLang="en-US" dirty="0"/>
              <a:t>电位器；</a:t>
            </a:r>
            <a:endParaRPr lang="en-US" altLang="zh-CN" dirty="0"/>
          </a:p>
          <a:p>
            <a:pPr marL="342900" indent="-342900">
              <a:buFont typeface="Arial" pitchFamily="34" charset="0"/>
              <a:buChar char="•"/>
            </a:pPr>
            <a:r>
              <a:rPr lang="zh-CN" altLang="en-US" dirty="0"/>
              <a:t>两级运放的平衡电阻及稳压管限流电阻参考取值：</a:t>
            </a:r>
            <a:r>
              <a:rPr lang="en-US" altLang="zh-CN" i="1" dirty="0"/>
              <a:t>R</a:t>
            </a:r>
            <a:r>
              <a:rPr lang="en-US" altLang="zh-CN" baseline="-25000" dirty="0"/>
              <a:t>3</a:t>
            </a:r>
            <a:r>
              <a:rPr lang="en-US" altLang="zh-CN" dirty="0"/>
              <a:t>=</a:t>
            </a:r>
            <a:r>
              <a:rPr lang="en-US" altLang="zh-CN" i="1" dirty="0"/>
              <a:t>R</a:t>
            </a:r>
            <a:r>
              <a:rPr lang="en-US" altLang="zh-CN" baseline="-25000" dirty="0"/>
              <a:t>5</a:t>
            </a:r>
            <a:r>
              <a:rPr lang="en-US" altLang="zh-CN" dirty="0"/>
              <a:t>=10kΩ</a:t>
            </a:r>
            <a:r>
              <a:rPr lang="zh-CN" altLang="zh-CN" dirty="0"/>
              <a:t>，</a:t>
            </a:r>
            <a:r>
              <a:rPr lang="en-US" altLang="zh-CN" i="1" dirty="0"/>
              <a:t>R</a:t>
            </a:r>
            <a:r>
              <a:rPr lang="en-US" altLang="zh-CN" baseline="-25000" dirty="0"/>
              <a:t>4</a:t>
            </a:r>
            <a:r>
              <a:rPr lang="en-US" altLang="zh-CN" dirty="0"/>
              <a:t>=1kΩ</a:t>
            </a:r>
            <a:r>
              <a:rPr lang="zh-CN" altLang="en-US" dirty="0"/>
              <a:t>；</a:t>
            </a:r>
            <a:endParaRPr lang="en-US" altLang="zh-CN" dirty="0"/>
          </a:p>
          <a:p>
            <a:pPr marL="342900" indent="-342900">
              <a:buFont typeface="Arial" pitchFamily="34" charset="0"/>
              <a:buChar char="•"/>
            </a:pPr>
            <a:r>
              <a:rPr lang="zh-CN" altLang="en-US" dirty="0"/>
              <a:t>三角波的周期是</a:t>
            </a:r>
            <a:r>
              <a:rPr lang="en-US" altLang="zh-CN" dirty="0"/>
              <a:t>2s~4s</a:t>
            </a:r>
            <a:r>
              <a:rPr lang="zh-CN" altLang="en-US" dirty="0"/>
              <a:t>是可行的，</a:t>
            </a:r>
            <a:r>
              <a:rPr lang="en-US" altLang="zh-CN" i="1" dirty="0"/>
              <a:t>R</a:t>
            </a:r>
            <a:r>
              <a:rPr lang="en-US" altLang="zh-CN" baseline="-25000" dirty="0"/>
              <a:t>7</a:t>
            </a:r>
            <a:r>
              <a:rPr lang="en-US" altLang="zh-CN" dirty="0"/>
              <a:t>=100KΩ</a:t>
            </a:r>
            <a:r>
              <a:rPr lang="zh-CN" altLang="en-US" dirty="0"/>
              <a:t>，</a:t>
            </a:r>
            <a:r>
              <a:rPr lang="en-US" altLang="zh-CN" dirty="0"/>
              <a:t>C=47</a:t>
            </a:r>
            <a:r>
              <a:rPr lang="el-GR" altLang="zh-CN" dirty="0"/>
              <a:t>μ</a:t>
            </a:r>
            <a:r>
              <a:rPr lang="en-US" altLang="zh-CN" dirty="0"/>
              <a:t>F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计算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R6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的取值；</a:t>
            </a:r>
            <a:endParaRPr lang="en-US" altLang="zh-CN" dirty="0">
              <a:solidFill>
                <a:schemeClr val="accent5">
                  <a:lumMod val="50000"/>
                </a:schemeClr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zh-CN" altLang="en-US" dirty="0"/>
              <a:t>电源：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cc</a:t>
            </a:r>
            <a:r>
              <a:rPr lang="en-US" altLang="zh-CN" dirty="0"/>
              <a:t>=</a:t>
            </a:r>
            <a:r>
              <a:rPr lang="en-US" altLang="zh-CN" dirty="0">
                <a:latin typeface="宋体"/>
                <a:ea typeface="宋体"/>
              </a:rPr>
              <a:t>±</a:t>
            </a:r>
            <a:r>
              <a:rPr lang="en-US" altLang="zh-CN" dirty="0"/>
              <a:t>5V</a:t>
            </a:r>
          </a:p>
        </p:txBody>
      </p:sp>
    </p:spTree>
    <p:extLst>
      <p:ext uri="{BB962C8B-B14F-4D97-AF65-F5344CB8AC3E}">
        <p14:creationId xmlns:p14="http://schemas.microsoft.com/office/powerpoint/2010/main" val="2655953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86">
            <a:extLst>
              <a:ext uri="{FF2B5EF4-FFF2-40B4-BE49-F238E27FC236}">
                <a16:creationId xmlns:a16="http://schemas.microsoft.com/office/drawing/2014/main" id="{E164F8AE-6AA4-4FE2-9F06-8893E940B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71" y="1265019"/>
            <a:ext cx="7941658" cy="3791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相关问题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3821216" y="4456136"/>
            <a:ext cx="838200" cy="222251"/>
          </a:xfrm>
        </p:spPr>
        <p:txBody>
          <a:bodyPr/>
          <a:lstStyle/>
          <a:p>
            <a:pPr>
              <a:defRPr/>
            </a:pPr>
            <a:fld id="{B2E831E6-0EF1-4407-99B6-168BDC42DFBC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7DBD230D-E2A6-434B-A73E-541669A34989}"/>
              </a:ext>
            </a:extLst>
          </p:cNvPr>
          <p:cNvCxnSpPr>
            <a:cxnSpLocks/>
          </p:cNvCxnSpPr>
          <p:nvPr/>
        </p:nvCxnSpPr>
        <p:spPr>
          <a:xfrm flipV="1">
            <a:off x="2321750" y="1926552"/>
            <a:ext cx="555286" cy="52264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sp>
        <p:nvSpPr>
          <p:cNvPr id="87" name="TextBox 7">
            <a:extLst>
              <a:ext uri="{FF2B5EF4-FFF2-40B4-BE49-F238E27FC236}">
                <a16:creationId xmlns:a16="http://schemas.microsoft.com/office/drawing/2014/main" id="{6B24CBAE-0A82-4123-8AE2-EB67C48D64CA}"/>
              </a:ext>
            </a:extLst>
          </p:cNvPr>
          <p:cNvSpPr txBox="1"/>
          <p:nvPr/>
        </p:nvSpPr>
        <p:spPr>
          <a:xfrm>
            <a:off x="2877036" y="1834026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rPr>
              <a:t>10k</a:t>
            </a:r>
            <a:endParaRPr lang="zh-CN" altLang="en-US" sz="2000" b="1" dirty="0">
              <a:solidFill>
                <a:srgbClr val="F79646">
                  <a:lumMod val="50000"/>
                </a:srgb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88" name="TextBox 8">
            <a:extLst>
              <a:ext uri="{FF2B5EF4-FFF2-40B4-BE49-F238E27FC236}">
                <a16:creationId xmlns:a16="http://schemas.microsoft.com/office/drawing/2014/main" id="{B48C944E-1129-4B5A-BA60-63D76DA92491}"/>
              </a:ext>
            </a:extLst>
          </p:cNvPr>
          <p:cNvSpPr txBox="1"/>
          <p:nvPr/>
        </p:nvSpPr>
        <p:spPr>
          <a:xfrm>
            <a:off x="3932928" y="1283556"/>
            <a:ext cx="50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rPr>
              <a:t>1k</a:t>
            </a:r>
            <a:endParaRPr lang="zh-CN" altLang="en-US" sz="2000" b="1" dirty="0">
              <a:solidFill>
                <a:srgbClr val="F79646">
                  <a:lumMod val="50000"/>
                </a:srgb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89" name="TextBox 9">
            <a:extLst>
              <a:ext uri="{FF2B5EF4-FFF2-40B4-BE49-F238E27FC236}">
                <a16:creationId xmlns:a16="http://schemas.microsoft.com/office/drawing/2014/main" id="{21915986-9DA7-47B7-B401-144836E889DF}"/>
              </a:ext>
            </a:extLst>
          </p:cNvPr>
          <p:cNvSpPr txBox="1"/>
          <p:nvPr/>
        </p:nvSpPr>
        <p:spPr>
          <a:xfrm>
            <a:off x="926595" y="3703965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rPr>
              <a:t>10k</a:t>
            </a:r>
            <a:endParaRPr lang="zh-CN" altLang="en-US" sz="2000" b="1" dirty="0">
              <a:solidFill>
                <a:srgbClr val="F79646">
                  <a:lumMod val="50000"/>
                </a:srgb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90" name="TextBox 10">
            <a:extLst>
              <a:ext uri="{FF2B5EF4-FFF2-40B4-BE49-F238E27FC236}">
                <a16:creationId xmlns:a16="http://schemas.microsoft.com/office/drawing/2014/main" id="{BFF02048-3F62-4ECC-90FF-4EE06428EC97}"/>
              </a:ext>
            </a:extLst>
          </p:cNvPr>
          <p:cNvSpPr txBox="1"/>
          <p:nvPr/>
        </p:nvSpPr>
        <p:spPr>
          <a:xfrm>
            <a:off x="3201072" y="2824771"/>
            <a:ext cx="50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rPr>
              <a:t>1k</a:t>
            </a:r>
            <a:endParaRPr lang="zh-CN" altLang="en-US" sz="2000" b="1" dirty="0">
              <a:solidFill>
                <a:srgbClr val="F79646">
                  <a:lumMod val="50000"/>
                </a:srgb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91" name="TextBox 11">
            <a:extLst>
              <a:ext uri="{FF2B5EF4-FFF2-40B4-BE49-F238E27FC236}">
                <a16:creationId xmlns:a16="http://schemas.microsoft.com/office/drawing/2014/main" id="{3C5DADE9-9181-41F0-8873-D9E955473B0F}"/>
              </a:ext>
            </a:extLst>
          </p:cNvPr>
          <p:cNvSpPr txBox="1"/>
          <p:nvPr/>
        </p:nvSpPr>
        <p:spPr>
          <a:xfrm>
            <a:off x="5337085" y="2187969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rPr>
              <a:t>10k</a:t>
            </a:r>
            <a:endParaRPr lang="zh-CN" altLang="en-US" sz="2000" b="1" dirty="0">
              <a:solidFill>
                <a:srgbClr val="F79646">
                  <a:lumMod val="50000"/>
                </a:srgb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92" name="TextBox 12">
            <a:extLst>
              <a:ext uri="{FF2B5EF4-FFF2-40B4-BE49-F238E27FC236}">
                <a16:creationId xmlns:a16="http://schemas.microsoft.com/office/drawing/2014/main" id="{3BB717DF-F8FD-4847-9817-7C1F9E9C4B8B}"/>
              </a:ext>
            </a:extLst>
          </p:cNvPr>
          <p:cNvSpPr txBox="1"/>
          <p:nvPr/>
        </p:nvSpPr>
        <p:spPr>
          <a:xfrm>
            <a:off x="5205876" y="2824771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rPr>
              <a:t>60k</a:t>
            </a:r>
            <a:endParaRPr lang="zh-CN" altLang="en-US" sz="2000" b="1" dirty="0">
              <a:solidFill>
                <a:srgbClr val="F79646">
                  <a:lumMod val="50000"/>
                </a:srgb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93" name="TextBox 13">
            <a:extLst>
              <a:ext uri="{FF2B5EF4-FFF2-40B4-BE49-F238E27FC236}">
                <a16:creationId xmlns:a16="http://schemas.microsoft.com/office/drawing/2014/main" id="{F07F79AA-6D01-4862-A337-415E6F8AE511}"/>
              </a:ext>
            </a:extLst>
          </p:cNvPr>
          <p:cNvSpPr txBox="1"/>
          <p:nvPr/>
        </p:nvSpPr>
        <p:spPr>
          <a:xfrm>
            <a:off x="6489270" y="4678387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rPr>
              <a:t>100k</a:t>
            </a:r>
            <a:endParaRPr lang="zh-CN" altLang="en-US" sz="2000" b="1" dirty="0">
              <a:solidFill>
                <a:srgbClr val="F79646">
                  <a:lumMod val="50000"/>
                </a:srgb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94" name="TextBox 14">
            <a:extLst>
              <a:ext uri="{FF2B5EF4-FFF2-40B4-BE49-F238E27FC236}">
                <a16:creationId xmlns:a16="http://schemas.microsoft.com/office/drawing/2014/main" id="{E46AE06D-C200-4CB9-8B80-6CB62830039F}"/>
              </a:ext>
            </a:extLst>
          </p:cNvPr>
          <p:cNvSpPr txBox="1"/>
          <p:nvPr/>
        </p:nvSpPr>
        <p:spPr>
          <a:xfrm>
            <a:off x="2017197" y="5167514"/>
            <a:ext cx="51096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输出三角波周期大约</a:t>
            </a:r>
            <a:r>
              <a:rPr lang="en-US" altLang="zh-CN" sz="3200" b="1" dirty="0">
                <a:solidFill>
                  <a:prstClr val="black"/>
                </a:solidFill>
                <a:latin typeface="Calibri"/>
                <a:ea typeface="宋体" panose="02010600030101010101" pitchFamily="2" charset="-122"/>
              </a:rPr>
              <a:t>2s</a:t>
            </a:r>
            <a:endParaRPr lang="zh-CN" altLang="en-US" sz="3200" b="1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95" name="TextBox 15">
            <a:extLst>
              <a:ext uri="{FF2B5EF4-FFF2-40B4-BE49-F238E27FC236}">
                <a16:creationId xmlns:a16="http://schemas.microsoft.com/office/drawing/2014/main" id="{CBA4008B-9127-41F8-BD12-B5FC19C18A03}"/>
              </a:ext>
            </a:extLst>
          </p:cNvPr>
          <p:cNvSpPr txBox="1"/>
          <p:nvPr/>
        </p:nvSpPr>
        <p:spPr>
          <a:xfrm>
            <a:off x="6480390" y="3653098"/>
            <a:ext cx="728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rPr>
              <a:t>47µ</a:t>
            </a:r>
            <a:endParaRPr lang="zh-CN" altLang="en-US" sz="2000" b="1" dirty="0">
              <a:solidFill>
                <a:srgbClr val="F79646">
                  <a:lumMod val="50000"/>
                </a:srgbClr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96" name="TextBox 16">
            <a:extLst>
              <a:ext uri="{FF2B5EF4-FFF2-40B4-BE49-F238E27FC236}">
                <a16:creationId xmlns:a16="http://schemas.microsoft.com/office/drawing/2014/main" id="{EDDBCA0B-7BA5-40D2-A445-002B0214090D}"/>
              </a:ext>
            </a:extLst>
          </p:cNvPr>
          <p:cNvSpPr txBox="1"/>
          <p:nvPr/>
        </p:nvSpPr>
        <p:spPr>
          <a:xfrm>
            <a:off x="2174958" y="3059668"/>
            <a:ext cx="9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rgbClr val="0000FF"/>
                </a:solidFill>
                <a:latin typeface="Calibri"/>
                <a:ea typeface="宋体" panose="02010600030101010101" pitchFamily="2" charset="-122"/>
              </a:rPr>
              <a:t>LF356</a:t>
            </a:r>
            <a:endParaRPr lang="zh-CN" altLang="en-US" sz="1800" b="1" dirty="0">
              <a:solidFill>
                <a:srgbClr val="0000FF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97" name="TextBox 17">
            <a:extLst>
              <a:ext uri="{FF2B5EF4-FFF2-40B4-BE49-F238E27FC236}">
                <a16:creationId xmlns:a16="http://schemas.microsoft.com/office/drawing/2014/main" id="{A24096C6-7A2D-4C25-A906-9B23FFD1E77A}"/>
              </a:ext>
            </a:extLst>
          </p:cNvPr>
          <p:cNvSpPr txBox="1"/>
          <p:nvPr/>
        </p:nvSpPr>
        <p:spPr>
          <a:xfrm>
            <a:off x="6083927" y="2769201"/>
            <a:ext cx="9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rgbClr val="0000FF"/>
                </a:solidFill>
                <a:latin typeface="Calibri"/>
                <a:ea typeface="宋体" panose="02010600030101010101" pitchFamily="2" charset="-122"/>
              </a:rPr>
              <a:t>OP07</a:t>
            </a:r>
            <a:endParaRPr lang="zh-CN" altLang="en-US" sz="1800" b="1" dirty="0">
              <a:solidFill>
                <a:srgbClr val="0000FF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4" name="Rectangle 73">
            <a:extLst>
              <a:ext uri="{FF2B5EF4-FFF2-40B4-BE49-F238E27FC236}">
                <a16:creationId xmlns:a16="http://schemas.microsoft.com/office/drawing/2014/main" id="{4C758006-30E8-3232-4FA2-C3CB1B48ACE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322387" y="3566431"/>
            <a:ext cx="499224" cy="270030"/>
          </a:xfrm>
          <a:prstGeom prst="rect">
            <a:avLst/>
          </a:prstGeom>
          <a:solidFill>
            <a:srgbClr val="92D050"/>
          </a:solidFill>
          <a:ln w="25400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0"/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225C9916-CE0C-F000-3631-C24ABA3CDC2B}"/>
              </a:ext>
            </a:extLst>
          </p:cNvPr>
          <p:cNvSpPr txBox="1"/>
          <p:nvPr/>
        </p:nvSpPr>
        <p:spPr>
          <a:xfrm>
            <a:off x="3932928" y="3748134"/>
            <a:ext cx="504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FF0000"/>
                </a:solidFill>
                <a:latin typeface="Calibri"/>
                <a:ea typeface="宋体" panose="02010600030101010101" pitchFamily="2" charset="-122"/>
              </a:rPr>
              <a:t>1k</a:t>
            </a:r>
            <a:endParaRPr lang="zh-CN" altLang="en-US" sz="2000" b="1" dirty="0">
              <a:solidFill>
                <a:srgbClr val="FF0000"/>
              </a:solidFill>
              <a:latin typeface="Calibri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3583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56616" y="-1447864"/>
            <a:ext cx="7162800" cy="563033"/>
          </a:xfrm>
        </p:spPr>
        <p:txBody>
          <a:bodyPr/>
          <a:lstStyle/>
          <a:p>
            <a:r>
              <a:rPr lang="zh-CN" altLang="en-US" dirty="0"/>
              <a:t>三角波的电平变换电路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6565" y="1088741"/>
            <a:ext cx="23402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该电路输出的波形是双极性的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3717617" y="781581"/>
            <a:ext cx="2295255" cy="1574817"/>
            <a:chOff x="3131840" y="625552"/>
            <a:chExt cx="2295255" cy="1181113"/>
          </a:xfrm>
        </p:grpSpPr>
        <p:cxnSp>
          <p:nvCxnSpPr>
            <p:cNvPr id="6" name="直接箭头连接符 5"/>
            <p:cNvCxnSpPr/>
            <p:nvPr/>
          </p:nvCxnSpPr>
          <p:spPr>
            <a:xfrm>
              <a:off x="3131840" y="1311610"/>
              <a:ext cx="2025225" cy="0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/>
            <p:cNvCxnSpPr/>
            <p:nvPr/>
          </p:nvCxnSpPr>
          <p:spPr>
            <a:xfrm flipV="1">
              <a:off x="3311860" y="816555"/>
              <a:ext cx="0" cy="990110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 flipV="1">
              <a:off x="3311860" y="1041580"/>
              <a:ext cx="450050" cy="585066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3761910" y="1041580"/>
              <a:ext cx="450050" cy="585066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V="1">
              <a:off x="4211960" y="1041580"/>
              <a:ext cx="450050" cy="585066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4662010" y="1041580"/>
              <a:ext cx="450050" cy="585066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5157065" y="1080777"/>
              <a:ext cx="27003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t</a:t>
              </a:r>
              <a:endParaRPr lang="zh-CN" altLang="en-US" sz="2000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311860" y="625552"/>
              <a:ext cx="315035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u</a:t>
              </a:r>
              <a:endParaRPr lang="zh-CN" altLang="en-US" sz="2000" dirty="0"/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671927" y="1942365"/>
            <a:ext cx="2701970" cy="120032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压控振荡器需要的是正极性，并且电压从</a:t>
            </a:r>
            <a:r>
              <a:rPr lang="en-US" altLang="zh-CN" dirty="0"/>
              <a:t>0V</a:t>
            </a:r>
            <a:r>
              <a:rPr lang="zh-CN" altLang="en-US" dirty="0"/>
              <a:t>开始递增</a:t>
            </a:r>
          </a:p>
        </p:txBody>
      </p:sp>
      <p:sp>
        <p:nvSpPr>
          <p:cNvPr id="27" name="下箭头 26"/>
          <p:cNvSpPr/>
          <p:nvPr/>
        </p:nvSpPr>
        <p:spPr>
          <a:xfrm rot="16200000">
            <a:off x="6107038" y="1534209"/>
            <a:ext cx="180021" cy="300033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8" name="组合 27"/>
          <p:cNvGrpSpPr/>
          <p:nvPr/>
        </p:nvGrpSpPr>
        <p:grpSpPr>
          <a:xfrm>
            <a:off x="6774614" y="730670"/>
            <a:ext cx="2295255" cy="1574817"/>
            <a:chOff x="3131840" y="625552"/>
            <a:chExt cx="2295255" cy="1181113"/>
          </a:xfrm>
        </p:grpSpPr>
        <p:cxnSp>
          <p:nvCxnSpPr>
            <p:cNvPr id="29" name="直接箭头连接符 28"/>
            <p:cNvCxnSpPr/>
            <p:nvPr/>
          </p:nvCxnSpPr>
          <p:spPr>
            <a:xfrm>
              <a:off x="3131840" y="1609345"/>
              <a:ext cx="2025225" cy="0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/>
            <p:nvPr/>
          </p:nvCxnSpPr>
          <p:spPr>
            <a:xfrm flipV="1">
              <a:off x="3311860" y="816555"/>
              <a:ext cx="0" cy="990110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V="1">
              <a:off x="3311860" y="1041580"/>
              <a:ext cx="450050" cy="585066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>
              <a:off x="3761910" y="1041580"/>
              <a:ext cx="450050" cy="585066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V="1">
              <a:off x="4211960" y="1041580"/>
              <a:ext cx="450050" cy="585066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4662010" y="1041580"/>
              <a:ext cx="450050" cy="585066"/>
            </a:xfrm>
            <a:prstGeom prst="line">
              <a:avLst/>
            </a:prstGeom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5157065" y="1389255"/>
              <a:ext cx="270030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t</a:t>
              </a:r>
              <a:endParaRPr lang="zh-CN" altLang="en-US" sz="2000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311860" y="625552"/>
              <a:ext cx="315035" cy="300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/>
                <a:t>u</a:t>
              </a:r>
              <a:endParaRPr lang="zh-CN" altLang="en-US" sz="2000" dirty="0"/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3470090" y="1096258"/>
            <a:ext cx="540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U</a:t>
            </a:r>
            <a:r>
              <a:rPr lang="en-US" altLang="zh-CN" sz="1800" baseline="-25000" dirty="0"/>
              <a:t>m</a:t>
            </a:r>
            <a:endParaRPr lang="zh-CN" altLang="en-US" sz="1800" baseline="-25000" dirty="0"/>
          </a:p>
        </p:txBody>
      </p:sp>
      <p:cxnSp>
        <p:nvCxnSpPr>
          <p:cNvPr id="39" name="直接连接符 38"/>
          <p:cNvCxnSpPr/>
          <p:nvPr/>
        </p:nvCxnSpPr>
        <p:spPr>
          <a:xfrm>
            <a:off x="3904323" y="1336284"/>
            <a:ext cx="44336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425085" y="1803948"/>
            <a:ext cx="675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-U</a:t>
            </a:r>
            <a:r>
              <a:rPr lang="en-US" altLang="zh-CN" sz="1800" baseline="-25000" dirty="0"/>
              <a:t>m</a:t>
            </a:r>
            <a:endParaRPr lang="zh-CN" altLang="en-US" sz="1800" baseline="-25000" dirty="0"/>
          </a:p>
        </p:txBody>
      </p:sp>
      <p:cxnSp>
        <p:nvCxnSpPr>
          <p:cNvPr id="41" name="直接连接符 40"/>
          <p:cNvCxnSpPr/>
          <p:nvPr/>
        </p:nvCxnSpPr>
        <p:spPr>
          <a:xfrm flipV="1">
            <a:off x="6966228" y="1675417"/>
            <a:ext cx="1862798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6954634" y="1285373"/>
            <a:ext cx="44336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549588" y="1382320"/>
            <a:ext cx="540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U</a:t>
            </a:r>
            <a:r>
              <a:rPr lang="en-US" altLang="zh-CN" sz="1800" baseline="-25000" dirty="0"/>
              <a:t>m</a:t>
            </a:r>
            <a:endParaRPr lang="zh-CN" altLang="en-US" sz="1800" baseline="-25000" dirty="0"/>
          </a:p>
        </p:txBody>
      </p:sp>
      <p:sp>
        <p:nvSpPr>
          <p:cNvPr id="46" name="TextBox 45"/>
          <p:cNvSpPr txBox="1"/>
          <p:nvPr/>
        </p:nvSpPr>
        <p:spPr>
          <a:xfrm>
            <a:off x="6414574" y="1022280"/>
            <a:ext cx="675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2U</a:t>
            </a:r>
            <a:r>
              <a:rPr lang="en-US" altLang="zh-CN" sz="1800" baseline="-25000" dirty="0"/>
              <a:t>m</a:t>
            </a:r>
            <a:endParaRPr lang="zh-CN" altLang="en-US" sz="1800" baseline="-25000" dirty="0"/>
          </a:p>
        </p:txBody>
      </p:sp>
      <p:sp>
        <p:nvSpPr>
          <p:cNvPr id="47" name="TextBox 46"/>
          <p:cNvSpPr txBox="1"/>
          <p:nvPr/>
        </p:nvSpPr>
        <p:spPr>
          <a:xfrm>
            <a:off x="6684603" y="1951028"/>
            <a:ext cx="2700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i="1" dirty="0"/>
              <a:t>O</a:t>
            </a:r>
            <a:endParaRPr lang="zh-CN" altLang="en-US" sz="1600" i="1" dirty="0"/>
          </a:p>
        </p:txBody>
      </p:sp>
      <p:sp>
        <p:nvSpPr>
          <p:cNvPr id="48" name="TextBox 47"/>
          <p:cNvSpPr txBox="1"/>
          <p:nvPr/>
        </p:nvSpPr>
        <p:spPr>
          <a:xfrm>
            <a:off x="3605105" y="1604959"/>
            <a:ext cx="2700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i="1" dirty="0"/>
              <a:t>O</a:t>
            </a:r>
            <a:endParaRPr lang="zh-CN" altLang="en-US" sz="1600" i="1" dirty="0"/>
          </a:p>
        </p:txBody>
      </p:sp>
      <p:sp>
        <p:nvSpPr>
          <p:cNvPr id="49" name="TextBox 48"/>
          <p:cNvSpPr txBox="1"/>
          <p:nvPr/>
        </p:nvSpPr>
        <p:spPr>
          <a:xfrm>
            <a:off x="3614273" y="2435919"/>
            <a:ext cx="4527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需要用运放设计一个电路，可以完成给波形加直流电平的功能。</a:t>
            </a:r>
            <a:endParaRPr lang="en-US" altLang="zh-CN" dirty="0"/>
          </a:p>
        </p:txBody>
      </p:sp>
      <p:sp>
        <p:nvSpPr>
          <p:cNvPr id="43" name="TextBox 8">
            <a:extLst>
              <a:ext uri="{FF2B5EF4-FFF2-40B4-BE49-F238E27FC236}">
                <a16:creationId xmlns:a16="http://schemas.microsoft.com/office/drawing/2014/main" id="{E8ABDA9B-3919-449E-8BBF-C3F96EF708D5}"/>
              </a:ext>
            </a:extLst>
          </p:cNvPr>
          <p:cNvSpPr txBox="1"/>
          <p:nvPr/>
        </p:nvSpPr>
        <p:spPr>
          <a:xfrm>
            <a:off x="2837980" y="6366527"/>
            <a:ext cx="3822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</a:rPr>
              <a:t>含直流偏移的三角波输出</a:t>
            </a:r>
          </a:p>
        </p:txBody>
      </p:sp>
      <p:sp>
        <p:nvSpPr>
          <p:cNvPr id="50" name="TextBox 5">
            <a:extLst>
              <a:ext uri="{FF2B5EF4-FFF2-40B4-BE49-F238E27FC236}">
                <a16:creationId xmlns:a16="http://schemas.microsoft.com/office/drawing/2014/main" id="{80A2AB43-AEBA-42F4-B3D8-4E9B48B63DE7}"/>
              </a:ext>
            </a:extLst>
          </p:cNvPr>
          <p:cNvSpPr txBox="1"/>
          <p:nvPr/>
        </p:nvSpPr>
        <p:spPr>
          <a:xfrm>
            <a:off x="1115397" y="3248980"/>
            <a:ext cx="3366943" cy="46166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</a:rPr>
              <a:t>反相加法器的实现电路</a:t>
            </a:r>
          </a:p>
        </p:txBody>
      </p:sp>
      <p:sp>
        <p:nvSpPr>
          <p:cNvPr id="52" name="TextBox 12">
            <a:extLst>
              <a:ext uri="{FF2B5EF4-FFF2-40B4-BE49-F238E27FC236}">
                <a16:creationId xmlns:a16="http://schemas.microsoft.com/office/drawing/2014/main" id="{7E897363-02F4-4BDB-A480-865CE01C275B}"/>
              </a:ext>
            </a:extLst>
          </p:cNvPr>
          <p:cNvSpPr txBox="1"/>
          <p:nvPr/>
        </p:nvSpPr>
        <p:spPr>
          <a:xfrm>
            <a:off x="5219853" y="3248980"/>
            <a:ext cx="3366943" cy="46166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</a:rPr>
              <a:t>同相加法器的实现电路</a:t>
            </a:r>
          </a:p>
        </p:txBody>
      </p: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5DC45BDF-AE28-7B6C-9A05-BAE26E80A16D}"/>
              </a:ext>
            </a:extLst>
          </p:cNvPr>
          <p:cNvGrpSpPr/>
          <p:nvPr/>
        </p:nvGrpSpPr>
        <p:grpSpPr>
          <a:xfrm>
            <a:off x="377869" y="3750294"/>
            <a:ext cx="4493702" cy="2376446"/>
            <a:chOff x="377869" y="3797859"/>
            <a:chExt cx="4493702" cy="2376446"/>
          </a:xfrm>
        </p:grpSpPr>
        <p:sp>
          <p:nvSpPr>
            <p:cNvPr id="42" name="TextBox 4">
              <a:extLst>
                <a:ext uri="{FF2B5EF4-FFF2-40B4-BE49-F238E27FC236}">
                  <a16:creationId xmlns:a16="http://schemas.microsoft.com/office/drawing/2014/main" id="{AB9380FC-BDB1-46CB-9986-5479002EF2B4}"/>
                </a:ext>
              </a:extLst>
            </p:cNvPr>
            <p:cNvSpPr txBox="1"/>
            <p:nvPr/>
          </p:nvSpPr>
          <p:spPr>
            <a:xfrm>
              <a:off x="377869" y="3891244"/>
              <a:ext cx="111329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</a:rPr>
                <a:t>三角波输入</a:t>
              </a:r>
            </a:p>
          </p:txBody>
        </p:sp>
        <p:sp>
          <p:nvSpPr>
            <p:cNvPr id="7" name="Line 66">
              <a:extLst>
                <a:ext uri="{FF2B5EF4-FFF2-40B4-BE49-F238E27FC236}">
                  <a16:creationId xmlns:a16="http://schemas.microsoft.com/office/drawing/2014/main" id="{2E008703-32AA-49D3-F748-7E12DC53DC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5546" y="4874213"/>
              <a:ext cx="75" cy="13000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65">
              <a:extLst>
                <a:ext uri="{FF2B5EF4-FFF2-40B4-BE49-F238E27FC236}">
                  <a16:creationId xmlns:a16="http://schemas.microsoft.com/office/drawing/2014/main" id="{C58D6C32-2A86-A611-1522-7D0348DA2A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4007" y="5348082"/>
              <a:ext cx="3413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66">
              <a:extLst>
                <a:ext uri="{FF2B5EF4-FFF2-40B4-BE49-F238E27FC236}">
                  <a16:creationId xmlns:a16="http://schemas.microsoft.com/office/drawing/2014/main" id="{AFFA9561-DF0F-55C0-1C2F-B8908AE54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007" y="5348081"/>
              <a:ext cx="0" cy="8246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Rectangle 68">
              <a:extLst>
                <a:ext uri="{FF2B5EF4-FFF2-40B4-BE49-F238E27FC236}">
                  <a16:creationId xmlns:a16="http://schemas.microsoft.com/office/drawing/2014/main" id="{24F8CB76-63B9-95BF-CB8C-625F4A09B1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3642" y="3871211"/>
              <a:ext cx="39626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 dirty="0" err="1">
                  <a:latin typeface="Times New Roman" panose="02020603050405020304" pitchFamily="18" charset="0"/>
                </a:rPr>
                <a:t>u</a:t>
              </a:r>
              <a:r>
                <a:rPr lang="en-US" altLang="zh-CN" sz="2400" baseline="-30000" dirty="0" err="1">
                  <a:latin typeface="Times New Roman" panose="02020603050405020304" pitchFamily="18" charset="0"/>
                </a:rPr>
                <a:t>i</a:t>
              </a:r>
              <a:endParaRPr lang="en-US" altLang="zh-CN" sz="2400" baseline="-30000" noProof="1">
                <a:latin typeface="Times New Roman" panose="02020603050405020304" pitchFamily="18" charset="0"/>
              </a:endParaRPr>
            </a:p>
          </p:txBody>
        </p:sp>
        <p:sp>
          <p:nvSpPr>
            <p:cNvPr id="13" name="Line 71">
              <a:extLst>
                <a:ext uri="{FF2B5EF4-FFF2-40B4-BE49-F238E27FC236}">
                  <a16:creationId xmlns:a16="http://schemas.microsoft.com/office/drawing/2014/main" id="{10D20920-6990-D907-F53B-A9F4549044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2571" y="5065507"/>
              <a:ext cx="584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72">
              <a:extLst>
                <a:ext uri="{FF2B5EF4-FFF2-40B4-BE49-F238E27FC236}">
                  <a16:creationId xmlns:a16="http://schemas.microsoft.com/office/drawing/2014/main" id="{A7B226BA-ED66-C6AE-056E-3EB421CF05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0186" y="4836907"/>
              <a:ext cx="12246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Rectangle 73">
              <a:extLst>
                <a:ext uri="{FF2B5EF4-FFF2-40B4-BE49-F238E27FC236}">
                  <a16:creationId xmlns:a16="http://schemas.microsoft.com/office/drawing/2014/main" id="{1EB73E4A-EF69-8F24-0877-068814EDC7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7577" y="4782932"/>
              <a:ext cx="323850" cy="1079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  <p:sp>
          <p:nvSpPr>
            <p:cNvPr id="17" name="Freeform 76">
              <a:extLst>
                <a:ext uri="{FF2B5EF4-FFF2-40B4-BE49-F238E27FC236}">
                  <a16:creationId xmlns:a16="http://schemas.microsoft.com/office/drawing/2014/main" id="{58C0E1EA-977C-5AE6-9239-16284C0B1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5321" y="4638470"/>
              <a:ext cx="855662" cy="857250"/>
            </a:xfrm>
            <a:custGeom>
              <a:avLst/>
              <a:gdLst>
                <a:gd name="T0" fmla="*/ 0 w 539"/>
                <a:gd name="T1" fmla="*/ 0 h 540"/>
                <a:gd name="T2" fmla="*/ 2147483646 w 539"/>
                <a:gd name="T3" fmla="*/ 2147483646 h 540"/>
                <a:gd name="T4" fmla="*/ 0 w 539"/>
                <a:gd name="T5" fmla="*/ 2147483646 h 540"/>
                <a:gd name="T6" fmla="*/ 0 w 539"/>
                <a:gd name="T7" fmla="*/ 0 h 5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9" h="540">
                  <a:moveTo>
                    <a:pt x="0" y="0"/>
                  </a:moveTo>
                  <a:lnTo>
                    <a:pt x="539" y="270"/>
                  </a:lnTo>
                  <a:lnTo>
                    <a:pt x="0" y="54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8" name="Rectangle 77">
              <a:extLst>
                <a:ext uri="{FF2B5EF4-FFF2-40B4-BE49-F238E27FC236}">
                  <a16:creationId xmlns:a16="http://schemas.microsoft.com/office/drawing/2014/main" id="{F41FC510-CB93-A915-AF41-C0305C756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5321" y="4638470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–</a:t>
              </a:r>
              <a:endParaRPr lang="en-US" altLang="zh-CN" sz="2000" noProof="1">
                <a:latin typeface="Times New Roman" panose="02020603050405020304" pitchFamily="18" charset="0"/>
              </a:endParaRPr>
            </a:p>
          </p:txBody>
        </p:sp>
        <p:sp>
          <p:nvSpPr>
            <p:cNvPr id="20" name="Rectangle 78">
              <a:extLst>
                <a:ext uri="{FF2B5EF4-FFF2-40B4-BE49-F238E27FC236}">
                  <a16:creationId xmlns:a16="http://schemas.microsoft.com/office/drawing/2014/main" id="{DCEC4FD2-4BEA-F1DB-7460-5187B9538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1508" y="5035345"/>
              <a:ext cx="32861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+</a:t>
              </a:r>
              <a:endParaRPr lang="en-US" altLang="zh-CN" sz="2000" noProof="1">
                <a:latin typeface="Times New Roman" panose="02020603050405020304" pitchFamily="18" charset="0"/>
              </a:endParaRPr>
            </a:p>
          </p:txBody>
        </p:sp>
        <p:sp>
          <p:nvSpPr>
            <p:cNvPr id="55" name="Line 84">
              <a:extLst>
                <a:ext uri="{FF2B5EF4-FFF2-40B4-BE49-F238E27FC236}">
                  <a16:creationId xmlns:a16="http://schemas.microsoft.com/office/drawing/2014/main" id="{FAC95ADA-3A4B-5BF6-AC23-621F6FC5F2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008" y="4295570"/>
              <a:ext cx="0" cy="5413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85">
              <a:extLst>
                <a:ext uri="{FF2B5EF4-FFF2-40B4-BE49-F238E27FC236}">
                  <a16:creationId xmlns:a16="http://schemas.microsoft.com/office/drawing/2014/main" id="{6336A919-D296-DD56-EAAD-290255286D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2934" y="4295570"/>
              <a:ext cx="23812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90">
              <a:extLst>
                <a:ext uri="{FF2B5EF4-FFF2-40B4-BE49-F238E27FC236}">
                  <a16:creationId xmlns:a16="http://schemas.microsoft.com/office/drawing/2014/main" id="{86EBFD8B-7150-FA58-3BFD-CD8CEAE523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4183" y="4295570"/>
              <a:ext cx="0" cy="7715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Rectangle 79">
              <a:extLst>
                <a:ext uri="{FF2B5EF4-FFF2-40B4-BE49-F238E27FC236}">
                  <a16:creationId xmlns:a16="http://schemas.microsoft.com/office/drawing/2014/main" id="{F60FD52B-196D-E101-9DB7-5B35B43098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6296" y="4241595"/>
              <a:ext cx="323850" cy="1079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  <p:sp>
          <p:nvSpPr>
            <p:cNvPr id="59" name="Oval 101">
              <a:extLst>
                <a:ext uri="{FF2B5EF4-FFF2-40B4-BE49-F238E27FC236}">
                  <a16:creationId xmlns:a16="http://schemas.microsoft.com/office/drawing/2014/main" id="{91D7FC31-C5D3-7FA7-701E-18BCF80AEA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6771" y="5035345"/>
              <a:ext cx="77787" cy="7461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  <p:sp>
          <p:nvSpPr>
            <p:cNvPr id="60" name="Rectangle 102">
              <a:extLst>
                <a:ext uri="{FF2B5EF4-FFF2-40B4-BE49-F238E27FC236}">
                  <a16:creationId xmlns:a16="http://schemas.microsoft.com/office/drawing/2014/main" id="{9E24A0FD-97AD-8453-FFA1-4B20D52D52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5958" y="5063920"/>
              <a:ext cx="4556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sz="2400" baseline="-25000">
                  <a:latin typeface="Times New Roman" panose="02020603050405020304" pitchFamily="18" charset="0"/>
                  <a:ea typeface="楷体_GB2312" pitchFamily="49" charset="-122"/>
                </a:rPr>
                <a:t>o</a:t>
              </a:r>
            </a:p>
          </p:txBody>
        </p:sp>
        <p:sp>
          <p:nvSpPr>
            <p:cNvPr id="61" name="Rectangle 68">
              <a:extLst>
                <a:ext uri="{FF2B5EF4-FFF2-40B4-BE49-F238E27FC236}">
                  <a16:creationId xmlns:a16="http://schemas.microsoft.com/office/drawing/2014/main" id="{67DD9D79-A112-F2DE-528B-8687AB8234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3921" y="4865452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A</a:t>
              </a:r>
              <a:endParaRPr lang="en-US" altLang="zh-CN" sz="2000" baseline="-30000" noProof="1">
                <a:latin typeface="Times New Roman" panose="02020603050405020304" pitchFamily="18" charset="0"/>
              </a:endParaRPr>
            </a:p>
          </p:txBody>
        </p:sp>
        <p:sp>
          <p:nvSpPr>
            <p:cNvPr id="62" name="Rectangle 73">
              <a:extLst>
                <a:ext uri="{FF2B5EF4-FFF2-40B4-BE49-F238E27FC236}">
                  <a16:creationId xmlns:a16="http://schemas.microsoft.com/office/drawing/2014/main" id="{B76C7C82-43A6-3DE5-E684-235CFC4FBB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5615" y="4241595"/>
              <a:ext cx="323850" cy="1079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  <p:sp>
          <p:nvSpPr>
            <p:cNvPr id="63" name="Line 67">
              <a:extLst>
                <a:ext uri="{FF2B5EF4-FFF2-40B4-BE49-F238E27FC236}">
                  <a16:creationId xmlns:a16="http://schemas.microsoft.com/office/drawing/2014/main" id="{9EB2F6A9-FC31-7E4B-1E3A-B8F0FE3AC74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653037" y="6172718"/>
              <a:ext cx="261937" cy="15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Rectangle 73">
              <a:extLst>
                <a:ext uri="{FF2B5EF4-FFF2-40B4-BE49-F238E27FC236}">
                  <a16:creationId xmlns:a16="http://schemas.microsoft.com/office/drawing/2014/main" id="{7E6E0C96-BF07-81FC-AB3B-53A369D949C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622080" y="5712841"/>
              <a:ext cx="323850" cy="1079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  <p:sp>
          <p:nvSpPr>
            <p:cNvPr id="65" name="Oval 69">
              <a:extLst>
                <a:ext uri="{FF2B5EF4-FFF2-40B4-BE49-F238E27FC236}">
                  <a16:creationId xmlns:a16="http://schemas.microsoft.com/office/drawing/2014/main" id="{04E8188F-9A0E-E74B-7834-BC258587B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4134" y="4258263"/>
              <a:ext cx="77787" cy="746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  <p:sp>
          <p:nvSpPr>
            <p:cNvPr id="66" name="Rectangle 73">
              <a:extLst>
                <a:ext uri="{FF2B5EF4-FFF2-40B4-BE49-F238E27FC236}">
                  <a16:creationId xmlns:a16="http://schemas.microsoft.com/office/drawing/2014/main" id="{7240A342-F3F7-0FED-6B68-2F53CBE4995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43696" y="5202135"/>
              <a:ext cx="323850" cy="1079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  <p:sp>
          <p:nvSpPr>
            <p:cNvPr id="67" name="Line 67">
              <a:extLst>
                <a:ext uri="{FF2B5EF4-FFF2-40B4-BE49-F238E27FC236}">
                  <a16:creationId xmlns:a16="http://schemas.microsoft.com/office/drawing/2014/main" id="{8ABA0194-90B6-C307-1545-774D52312F6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543919" y="5256110"/>
              <a:ext cx="35059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/>
              <a:tailEnd type="triangle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67">
              <a:extLst>
                <a:ext uri="{FF2B5EF4-FFF2-40B4-BE49-F238E27FC236}">
                  <a16:creationId xmlns:a16="http://schemas.microsoft.com/office/drawing/2014/main" id="{3A833727-C71F-B10D-09BD-988131F5C39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388699" y="6171129"/>
              <a:ext cx="261937" cy="15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66">
              <a:extLst>
                <a:ext uri="{FF2B5EF4-FFF2-40B4-BE49-F238E27FC236}">
                  <a16:creationId xmlns:a16="http://schemas.microsoft.com/office/drawing/2014/main" id="{09B3CFA2-1285-37D9-7265-379AB055ED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0186" y="4836907"/>
              <a:ext cx="0" cy="4192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6AD76985-21DC-8143-5ED2-2EF682491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6619" y="4799600"/>
              <a:ext cx="77787" cy="746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  <p:sp>
          <p:nvSpPr>
            <p:cNvPr id="71" name="TextBox 8">
              <a:extLst>
                <a:ext uri="{FF2B5EF4-FFF2-40B4-BE49-F238E27FC236}">
                  <a16:creationId xmlns:a16="http://schemas.microsoft.com/office/drawing/2014/main" id="{F525D553-7F97-2679-459B-4828701B90B0}"/>
                </a:ext>
              </a:extLst>
            </p:cNvPr>
            <p:cNvSpPr txBox="1"/>
            <p:nvPr/>
          </p:nvSpPr>
          <p:spPr>
            <a:xfrm>
              <a:off x="2943717" y="5659202"/>
              <a:ext cx="5040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b="1" dirty="0">
                  <a:solidFill>
                    <a:srgbClr val="F79646">
                      <a:lumMod val="50000"/>
                    </a:srgbClr>
                  </a:solidFill>
                  <a:latin typeface="Calibri"/>
                  <a:ea typeface="宋体" panose="02010600030101010101" pitchFamily="2" charset="-122"/>
                </a:rPr>
                <a:t>1k</a:t>
              </a:r>
              <a:endParaRPr lang="zh-CN" altLang="en-US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72" name="TextBox 8">
              <a:extLst>
                <a:ext uri="{FF2B5EF4-FFF2-40B4-BE49-F238E27FC236}">
                  <a16:creationId xmlns:a16="http://schemas.microsoft.com/office/drawing/2014/main" id="{2F686276-221B-C5A3-7095-BF58A6638DE7}"/>
                </a:ext>
              </a:extLst>
            </p:cNvPr>
            <p:cNvSpPr txBox="1"/>
            <p:nvPr/>
          </p:nvSpPr>
          <p:spPr>
            <a:xfrm>
              <a:off x="2053319" y="3797859"/>
              <a:ext cx="5040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b="1" dirty="0">
                  <a:solidFill>
                    <a:srgbClr val="F79646">
                      <a:lumMod val="50000"/>
                    </a:srgbClr>
                  </a:solidFill>
                  <a:latin typeface="Calibri"/>
                  <a:ea typeface="宋体" panose="02010600030101010101" pitchFamily="2" charset="-122"/>
                </a:rPr>
                <a:t>2k</a:t>
              </a:r>
              <a:endParaRPr lang="zh-CN" altLang="en-US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73" name="TextBox 8">
              <a:extLst>
                <a:ext uri="{FF2B5EF4-FFF2-40B4-BE49-F238E27FC236}">
                  <a16:creationId xmlns:a16="http://schemas.microsoft.com/office/drawing/2014/main" id="{EFB45F8F-FAA1-D027-B611-0B2EB02148D7}"/>
                </a:ext>
              </a:extLst>
            </p:cNvPr>
            <p:cNvSpPr txBox="1"/>
            <p:nvPr/>
          </p:nvSpPr>
          <p:spPr>
            <a:xfrm>
              <a:off x="3258347" y="3821611"/>
              <a:ext cx="5040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b="1" dirty="0">
                  <a:solidFill>
                    <a:srgbClr val="F79646">
                      <a:lumMod val="50000"/>
                    </a:srgbClr>
                  </a:solidFill>
                  <a:latin typeface="Calibri"/>
                  <a:ea typeface="宋体" panose="02010600030101010101" pitchFamily="2" charset="-122"/>
                </a:rPr>
                <a:t>2k</a:t>
              </a:r>
              <a:endParaRPr lang="zh-CN" altLang="en-US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74" name="TextBox 8">
              <a:extLst>
                <a:ext uri="{FF2B5EF4-FFF2-40B4-BE49-F238E27FC236}">
                  <a16:creationId xmlns:a16="http://schemas.microsoft.com/office/drawing/2014/main" id="{2DF7751C-39E6-18C4-9B99-4D20CBAD32C0}"/>
                </a:ext>
              </a:extLst>
            </p:cNvPr>
            <p:cNvSpPr txBox="1"/>
            <p:nvPr/>
          </p:nvSpPr>
          <p:spPr>
            <a:xfrm>
              <a:off x="2085359" y="4413177"/>
              <a:ext cx="5040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b="1" dirty="0">
                  <a:solidFill>
                    <a:srgbClr val="F79646">
                      <a:lumMod val="50000"/>
                    </a:srgbClr>
                  </a:solidFill>
                  <a:latin typeface="Calibri"/>
                  <a:ea typeface="宋体" panose="02010600030101010101" pitchFamily="2" charset="-122"/>
                </a:rPr>
                <a:t>2k</a:t>
              </a:r>
              <a:endParaRPr lang="zh-CN" altLang="en-US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75" name="TextBox 8">
              <a:extLst>
                <a:ext uri="{FF2B5EF4-FFF2-40B4-BE49-F238E27FC236}">
                  <a16:creationId xmlns:a16="http://schemas.microsoft.com/office/drawing/2014/main" id="{DDB46AE7-4627-1737-FAEC-882C6AE04710}"/>
                </a:ext>
              </a:extLst>
            </p:cNvPr>
            <p:cNvSpPr txBox="1"/>
            <p:nvPr/>
          </p:nvSpPr>
          <p:spPr>
            <a:xfrm>
              <a:off x="840003" y="4652120"/>
              <a:ext cx="710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b="1" dirty="0">
                  <a:solidFill>
                    <a:srgbClr val="FF0000"/>
                  </a:solidFill>
                  <a:latin typeface="Calibri"/>
                  <a:ea typeface="宋体" panose="02010600030101010101" pitchFamily="2" charset="-122"/>
                </a:rPr>
                <a:t>-5V</a:t>
              </a:r>
              <a:endParaRPr lang="zh-CN" altLang="en-US" sz="2000" b="1" dirty="0">
                <a:solidFill>
                  <a:srgbClr val="FF0000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38" name="Rectangle 73">
              <a:extLst>
                <a:ext uri="{FF2B5EF4-FFF2-40B4-BE49-F238E27FC236}">
                  <a16:creationId xmlns:a16="http://schemas.microsoft.com/office/drawing/2014/main" id="{CE80401E-B574-BA3F-E11B-55B67B2F132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43696" y="5794414"/>
              <a:ext cx="323850" cy="1079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  <p:sp>
          <p:nvSpPr>
            <p:cNvPr id="53" name="TextBox 8">
              <a:extLst>
                <a:ext uri="{FF2B5EF4-FFF2-40B4-BE49-F238E27FC236}">
                  <a16:creationId xmlns:a16="http://schemas.microsoft.com/office/drawing/2014/main" id="{FD55622F-C9C2-1BB6-4CF1-CF83F91E1F01}"/>
                </a:ext>
              </a:extLst>
            </p:cNvPr>
            <p:cNvSpPr txBox="1"/>
            <p:nvPr/>
          </p:nvSpPr>
          <p:spPr>
            <a:xfrm>
              <a:off x="988081" y="5642369"/>
              <a:ext cx="5040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b="1" dirty="0">
                  <a:solidFill>
                    <a:srgbClr val="F79646">
                      <a:lumMod val="50000"/>
                    </a:srgbClr>
                  </a:solidFill>
                  <a:latin typeface="Calibri"/>
                  <a:ea typeface="宋体" panose="02010600030101010101" pitchFamily="2" charset="-122"/>
                </a:rPr>
                <a:t>1k</a:t>
              </a:r>
              <a:endParaRPr lang="zh-CN" altLang="en-US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10" name="TextBox 8">
              <a:extLst>
                <a:ext uri="{FF2B5EF4-FFF2-40B4-BE49-F238E27FC236}">
                  <a16:creationId xmlns:a16="http://schemas.microsoft.com/office/drawing/2014/main" id="{24528817-5E66-985B-E371-9A0227D09850}"/>
                </a:ext>
              </a:extLst>
            </p:cNvPr>
            <p:cNvSpPr txBox="1"/>
            <p:nvPr/>
          </p:nvSpPr>
          <p:spPr>
            <a:xfrm>
              <a:off x="924630" y="5042921"/>
              <a:ext cx="5673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b="1" dirty="0">
                  <a:solidFill>
                    <a:srgbClr val="F79646">
                      <a:lumMod val="50000"/>
                    </a:srgbClr>
                  </a:solidFill>
                  <a:latin typeface="Calibri"/>
                  <a:ea typeface="宋体" panose="02010600030101010101" pitchFamily="2" charset="-122"/>
                </a:rPr>
                <a:t>10k</a:t>
              </a:r>
              <a:endParaRPr lang="zh-CN" altLang="en-US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E8A40151-2752-6B2D-F9F1-37083A89460D}"/>
              </a:ext>
            </a:extLst>
          </p:cNvPr>
          <p:cNvGrpSpPr/>
          <p:nvPr/>
        </p:nvGrpSpPr>
        <p:grpSpPr>
          <a:xfrm>
            <a:off x="4808738" y="3620041"/>
            <a:ext cx="4018210" cy="2827781"/>
            <a:chOff x="4808738" y="3667606"/>
            <a:chExt cx="4018210" cy="2827781"/>
          </a:xfrm>
        </p:grpSpPr>
        <p:sp>
          <p:nvSpPr>
            <p:cNvPr id="77" name="Line 66">
              <a:extLst>
                <a:ext uri="{FF2B5EF4-FFF2-40B4-BE49-F238E27FC236}">
                  <a16:creationId xmlns:a16="http://schemas.microsoft.com/office/drawing/2014/main" id="{C718A234-C6D7-BAF6-6FBE-94572B67F1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67590" y="5325770"/>
              <a:ext cx="3" cy="11572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65">
              <a:extLst>
                <a:ext uri="{FF2B5EF4-FFF2-40B4-BE49-F238E27FC236}">
                  <a16:creationId xmlns:a16="http://schemas.microsoft.com/office/drawing/2014/main" id="{89FA2CFB-8688-6994-B27C-6F87C16EB7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78279" y="4682226"/>
              <a:ext cx="3413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Rectangle 68">
              <a:extLst>
                <a:ext uri="{FF2B5EF4-FFF2-40B4-BE49-F238E27FC236}">
                  <a16:creationId xmlns:a16="http://schemas.microsoft.com/office/drawing/2014/main" id="{746460AB-D559-DBD5-47BB-4725EE8625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6090" y="4537558"/>
              <a:ext cx="4138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 err="1">
                  <a:latin typeface="Times New Roman" panose="02020603050405020304" pitchFamily="18" charset="0"/>
                </a:rPr>
                <a:t>u</a:t>
              </a:r>
              <a:r>
                <a:rPr lang="en-US" altLang="zh-CN" sz="2400" b="1" baseline="-30000" dirty="0" err="1">
                  <a:latin typeface="Times New Roman" panose="02020603050405020304" pitchFamily="18" charset="0"/>
                </a:rPr>
                <a:t>i</a:t>
              </a:r>
              <a:endParaRPr lang="en-US" altLang="zh-CN" sz="2400" b="1" baseline="-30000" noProof="1">
                <a:latin typeface="Times New Roman" panose="02020603050405020304" pitchFamily="18" charset="0"/>
              </a:endParaRPr>
            </a:p>
          </p:txBody>
        </p:sp>
        <p:sp>
          <p:nvSpPr>
            <p:cNvPr id="80" name="Line 71">
              <a:extLst>
                <a:ext uri="{FF2B5EF4-FFF2-40B4-BE49-F238E27FC236}">
                  <a16:creationId xmlns:a16="http://schemas.microsoft.com/office/drawing/2014/main" id="{B4E57FB4-0EBB-1D90-3C01-9D160F5498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7948" y="4895558"/>
              <a:ext cx="584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72">
              <a:extLst>
                <a:ext uri="{FF2B5EF4-FFF2-40B4-BE49-F238E27FC236}">
                  <a16:creationId xmlns:a16="http://schemas.microsoft.com/office/drawing/2014/main" id="{79195482-219C-B687-D8BA-E384162013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34579" y="5097100"/>
              <a:ext cx="1241767" cy="626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Rectangle 73">
              <a:extLst>
                <a:ext uri="{FF2B5EF4-FFF2-40B4-BE49-F238E27FC236}">
                  <a16:creationId xmlns:a16="http://schemas.microsoft.com/office/drawing/2014/main" id="{C03ADB5A-8EF3-FF34-1106-1557138B0B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0588" y="5038403"/>
              <a:ext cx="323850" cy="1079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  <p:sp>
          <p:nvSpPr>
            <p:cNvPr id="84" name="Freeform 76">
              <a:extLst>
                <a:ext uri="{FF2B5EF4-FFF2-40B4-BE49-F238E27FC236}">
                  <a16:creationId xmlns:a16="http://schemas.microsoft.com/office/drawing/2014/main" id="{54160659-C932-B565-B93E-5916F7353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1961" y="4468522"/>
              <a:ext cx="855662" cy="857250"/>
            </a:xfrm>
            <a:custGeom>
              <a:avLst/>
              <a:gdLst>
                <a:gd name="T0" fmla="*/ 0 w 539"/>
                <a:gd name="T1" fmla="*/ 0 h 540"/>
                <a:gd name="T2" fmla="*/ 2147483646 w 539"/>
                <a:gd name="T3" fmla="*/ 2147483646 h 540"/>
                <a:gd name="T4" fmla="*/ 0 w 539"/>
                <a:gd name="T5" fmla="*/ 2147483646 h 540"/>
                <a:gd name="T6" fmla="*/ 0 w 539"/>
                <a:gd name="T7" fmla="*/ 0 h 5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9" h="540">
                  <a:moveTo>
                    <a:pt x="0" y="0"/>
                  </a:moveTo>
                  <a:lnTo>
                    <a:pt x="539" y="270"/>
                  </a:lnTo>
                  <a:lnTo>
                    <a:pt x="0" y="54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85" name="Rectangle 77">
              <a:extLst>
                <a:ext uri="{FF2B5EF4-FFF2-40B4-BE49-F238E27FC236}">
                  <a16:creationId xmlns:a16="http://schemas.microsoft.com/office/drawing/2014/main" id="{3A46893C-3BE9-BFA8-C8A1-0A4839BAB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4844" y="4459801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–</a:t>
              </a:r>
              <a:endParaRPr lang="en-US" altLang="zh-CN" sz="2000" noProof="1">
                <a:latin typeface="Times New Roman" panose="02020603050405020304" pitchFamily="18" charset="0"/>
              </a:endParaRPr>
            </a:p>
          </p:txBody>
        </p:sp>
        <p:sp>
          <p:nvSpPr>
            <p:cNvPr id="86" name="Rectangle 78">
              <a:extLst>
                <a:ext uri="{FF2B5EF4-FFF2-40B4-BE49-F238E27FC236}">
                  <a16:creationId xmlns:a16="http://schemas.microsoft.com/office/drawing/2014/main" id="{59122626-6283-E740-AEBB-DB719D72C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56885" y="4865396"/>
              <a:ext cx="32861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+</a:t>
              </a:r>
              <a:endParaRPr lang="en-US" altLang="zh-CN" sz="2000" noProof="1">
                <a:latin typeface="Times New Roman" panose="02020603050405020304" pitchFamily="18" charset="0"/>
              </a:endParaRPr>
            </a:p>
          </p:txBody>
        </p:sp>
        <p:sp>
          <p:nvSpPr>
            <p:cNvPr id="87" name="Line 84">
              <a:extLst>
                <a:ext uri="{FF2B5EF4-FFF2-40B4-BE49-F238E27FC236}">
                  <a16:creationId xmlns:a16="http://schemas.microsoft.com/office/drawing/2014/main" id="{871042CA-F9E9-18F4-A194-25768775EA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78279" y="4121708"/>
              <a:ext cx="1381" cy="5569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85">
              <a:extLst>
                <a:ext uri="{FF2B5EF4-FFF2-40B4-BE49-F238E27FC236}">
                  <a16:creationId xmlns:a16="http://schemas.microsoft.com/office/drawing/2014/main" id="{214DDA64-C4CB-7FFA-A082-D19FB72498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58311" y="4125621"/>
              <a:ext cx="23812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90">
              <a:extLst>
                <a:ext uri="{FF2B5EF4-FFF2-40B4-BE49-F238E27FC236}">
                  <a16:creationId xmlns:a16="http://schemas.microsoft.com/office/drawing/2014/main" id="{8C31CFA7-1A77-4180-AC08-9BD18CB893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39560" y="4125621"/>
              <a:ext cx="0" cy="7715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Rectangle 79">
              <a:extLst>
                <a:ext uri="{FF2B5EF4-FFF2-40B4-BE49-F238E27FC236}">
                  <a16:creationId xmlns:a16="http://schemas.microsoft.com/office/drawing/2014/main" id="{1C06164E-094E-8DCA-904A-0D95752C1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1673" y="4071646"/>
              <a:ext cx="323850" cy="1079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  <p:sp>
          <p:nvSpPr>
            <p:cNvPr id="91" name="Oval 101">
              <a:extLst>
                <a:ext uri="{FF2B5EF4-FFF2-40B4-BE49-F238E27FC236}">
                  <a16:creationId xmlns:a16="http://schemas.microsoft.com/office/drawing/2014/main" id="{A15A7423-0D71-82AB-89AE-43FDCAF5A4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2148" y="4865396"/>
              <a:ext cx="77787" cy="7461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  <p:sp>
          <p:nvSpPr>
            <p:cNvPr id="92" name="Rectangle 102">
              <a:extLst>
                <a:ext uri="{FF2B5EF4-FFF2-40B4-BE49-F238E27FC236}">
                  <a16:creationId xmlns:a16="http://schemas.microsoft.com/office/drawing/2014/main" id="{AB2CBA40-2204-FAD9-1E7A-981058798D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71335" y="4893971"/>
              <a:ext cx="4556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 err="1"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sz="2400" b="1" baseline="-25000" dirty="0" err="1">
                  <a:latin typeface="Times New Roman" panose="02020603050405020304" pitchFamily="18" charset="0"/>
                  <a:ea typeface="楷体_GB2312" pitchFamily="49" charset="-122"/>
                </a:rPr>
                <a:t>o</a:t>
              </a:r>
              <a:endParaRPr lang="en-US" altLang="zh-CN" sz="2400" b="1" baseline="-250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3" name="Rectangle 68">
              <a:extLst>
                <a:ext uri="{FF2B5EF4-FFF2-40B4-BE49-F238E27FC236}">
                  <a16:creationId xmlns:a16="http://schemas.microsoft.com/office/drawing/2014/main" id="{CE91F080-C10A-9696-638D-B26390306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5171" y="4658238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A</a:t>
              </a:r>
              <a:endParaRPr lang="en-US" altLang="zh-CN" sz="2000" baseline="-30000" noProof="1">
                <a:latin typeface="Times New Roman" panose="02020603050405020304" pitchFamily="18" charset="0"/>
              </a:endParaRPr>
            </a:p>
          </p:txBody>
        </p:sp>
        <p:sp>
          <p:nvSpPr>
            <p:cNvPr id="94" name="Rectangle 73">
              <a:extLst>
                <a:ext uri="{FF2B5EF4-FFF2-40B4-BE49-F238E27FC236}">
                  <a16:creationId xmlns:a16="http://schemas.microsoft.com/office/drawing/2014/main" id="{44BB8875-1AAA-AF30-9695-A665CD84A1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0992" y="4071646"/>
              <a:ext cx="323850" cy="1079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  <p:sp>
          <p:nvSpPr>
            <p:cNvPr id="95" name="Line 67">
              <a:extLst>
                <a:ext uri="{FF2B5EF4-FFF2-40B4-BE49-F238E27FC236}">
                  <a16:creationId xmlns:a16="http://schemas.microsoft.com/office/drawing/2014/main" id="{C2C9A6BB-EF24-EB32-7FDC-F055071AB23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5627342" y="4335021"/>
              <a:ext cx="261937" cy="15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Oval 69">
              <a:extLst>
                <a:ext uri="{FF2B5EF4-FFF2-40B4-BE49-F238E27FC236}">
                  <a16:creationId xmlns:a16="http://schemas.microsoft.com/office/drawing/2014/main" id="{433CEF54-77C7-3597-9630-056928852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8786" y="5053197"/>
              <a:ext cx="77787" cy="746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  <p:sp>
          <p:nvSpPr>
            <p:cNvPr id="97" name="Rectangle 73">
              <a:extLst>
                <a:ext uri="{FF2B5EF4-FFF2-40B4-BE49-F238E27FC236}">
                  <a16:creationId xmlns:a16="http://schemas.microsoft.com/office/drawing/2014/main" id="{008F7789-BE9D-4AEA-E5A7-1BB707A277A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305669" y="5588618"/>
              <a:ext cx="323850" cy="1079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  <p:sp>
          <p:nvSpPr>
            <p:cNvPr id="98" name="Line 67">
              <a:extLst>
                <a:ext uri="{FF2B5EF4-FFF2-40B4-BE49-F238E27FC236}">
                  <a16:creationId xmlns:a16="http://schemas.microsoft.com/office/drawing/2014/main" id="{32E94F0A-39F7-3537-33B6-62E5FAC7959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5336620" y="6493800"/>
              <a:ext cx="261937" cy="15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99" name="Oval 69">
              <a:extLst>
                <a:ext uri="{FF2B5EF4-FFF2-40B4-BE49-F238E27FC236}">
                  <a16:creationId xmlns:a16="http://schemas.microsoft.com/office/drawing/2014/main" id="{07FC05B8-12DE-AD66-BDA1-3B9C651922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8696" y="5249569"/>
              <a:ext cx="77787" cy="746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  <p:sp>
          <p:nvSpPr>
            <p:cNvPr id="100" name="TextBox 8">
              <a:extLst>
                <a:ext uri="{FF2B5EF4-FFF2-40B4-BE49-F238E27FC236}">
                  <a16:creationId xmlns:a16="http://schemas.microsoft.com/office/drawing/2014/main" id="{E737F300-923E-3640-2161-8C5A934CEDE6}"/>
                </a:ext>
              </a:extLst>
            </p:cNvPr>
            <p:cNvSpPr txBox="1"/>
            <p:nvPr/>
          </p:nvSpPr>
          <p:spPr>
            <a:xfrm>
              <a:off x="6013898" y="3667606"/>
              <a:ext cx="5040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b="1" dirty="0">
                  <a:solidFill>
                    <a:srgbClr val="F79646">
                      <a:lumMod val="50000"/>
                    </a:srgbClr>
                  </a:solidFill>
                  <a:latin typeface="Calibri"/>
                  <a:ea typeface="宋体" panose="02010600030101010101" pitchFamily="2" charset="-122"/>
                </a:rPr>
                <a:t>1k</a:t>
              </a:r>
              <a:endParaRPr lang="zh-CN" altLang="en-US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01" name="TextBox 8">
              <a:extLst>
                <a:ext uri="{FF2B5EF4-FFF2-40B4-BE49-F238E27FC236}">
                  <a16:creationId xmlns:a16="http://schemas.microsoft.com/office/drawing/2014/main" id="{D5AAB26C-D113-0890-5922-D4775103BE08}"/>
                </a:ext>
              </a:extLst>
            </p:cNvPr>
            <p:cNvSpPr txBox="1"/>
            <p:nvPr/>
          </p:nvSpPr>
          <p:spPr>
            <a:xfrm>
              <a:off x="6031212" y="4678643"/>
              <a:ext cx="5040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b="1" dirty="0">
                  <a:solidFill>
                    <a:srgbClr val="F79646">
                      <a:lumMod val="50000"/>
                    </a:srgbClr>
                  </a:solidFill>
                  <a:latin typeface="Calibri"/>
                  <a:ea typeface="宋体" panose="02010600030101010101" pitchFamily="2" charset="-122"/>
                </a:rPr>
                <a:t>2k</a:t>
              </a:r>
              <a:endParaRPr lang="zh-CN" altLang="en-US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02" name="TextBox 8">
              <a:extLst>
                <a:ext uri="{FF2B5EF4-FFF2-40B4-BE49-F238E27FC236}">
                  <a16:creationId xmlns:a16="http://schemas.microsoft.com/office/drawing/2014/main" id="{5BA5EB1D-CB58-2EEA-6C4C-952DCFF7E604}"/>
                </a:ext>
              </a:extLst>
            </p:cNvPr>
            <p:cNvSpPr txBox="1"/>
            <p:nvPr/>
          </p:nvSpPr>
          <p:spPr>
            <a:xfrm>
              <a:off x="6028319" y="5217637"/>
              <a:ext cx="5040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b="1" dirty="0">
                  <a:solidFill>
                    <a:srgbClr val="F79646">
                      <a:lumMod val="50000"/>
                    </a:srgbClr>
                  </a:solidFill>
                  <a:latin typeface="Calibri"/>
                  <a:ea typeface="宋体" panose="02010600030101010101" pitchFamily="2" charset="-122"/>
                </a:rPr>
                <a:t>2k</a:t>
              </a:r>
              <a:endParaRPr lang="zh-CN" altLang="en-US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03" name="TextBox 8">
              <a:extLst>
                <a:ext uri="{FF2B5EF4-FFF2-40B4-BE49-F238E27FC236}">
                  <a16:creationId xmlns:a16="http://schemas.microsoft.com/office/drawing/2014/main" id="{DA60CC54-184D-8332-2A95-3E9CDE42216E}"/>
                </a:ext>
              </a:extLst>
            </p:cNvPr>
            <p:cNvSpPr txBox="1"/>
            <p:nvPr/>
          </p:nvSpPr>
          <p:spPr>
            <a:xfrm>
              <a:off x="4847317" y="5082673"/>
              <a:ext cx="7100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b="1" dirty="0">
                  <a:solidFill>
                    <a:srgbClr val="FF0000"/>
                  </a:solidFill>
                  <a:latin typeface="Calibri"/>
                  <a:ea typeface="宋体" panose="02010600030101010101" pitchFamily="2" charset="-122"/>
                </a:rPr>
                <a:t>+5V</a:t>
              </a:r>
              <a:endParaRPr lang="zh-CN" altLang="en-US" sz="2000" b="1" dirty="0">
                <a:solidFill>
                  <a:srgbClr val="FF0000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04" name="Line 66">
              <a:extLst>
                <a:ext uri="{FF2B5EF4-FFF2-40B4-BE49-F238E27FC236}">
                  <a16:creationId xmlns:a16="http://schemas.microsoft.com/office/drawing/2014/main" id="{12F2A74A-B36E-79AB-D1E2-6C4815115A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58311" y="4121708"/>
              <a:ext cx="0" cy="2111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Line 72">
              <a:extLst>
                <a:ext uri="{FF2B5EF4-FFF2-40B4-BE49-F238E27FC236}">
                  <a16:creationId xmlns:a16="http://schemas.microsoft.com/office/drawing/2014/main" id="{CF719E94-9076-F68D-2AFA-1843DCF231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28405" y="5642369"/>
              <a:ext cx="11996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Line 84">
              <a:extLst>
                <a:ext uri="{FF2B5EF4-FFF2-40B4-BE49-F238E27FC236}">
                  <a16:creationId xmlns:a16="http://schemas.microsoft.com/office/drawing/2014/main" id="{38717E7C-3D53-3833-047E-48E198A37F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8050" y="5101032"/>
              <a:ext cx="0" cy="5413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Rectangle 73">
              <a:extLst>
                <a:ext uri="{FF2B5EF4-FFF2-40B4-BE49-F238E27FC236}">
                  <a16:creationId xmlns:a16="http://schemas.microsoft.com/office/drawing/2014/main" id="{C87871EE-CAA7-9E05-94BC-09BCF06A87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0588" y="5588394"/>
              <a:ext cx="323850" cy="1079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  <p:sp>
          <p:nvSpPr>
            <p:cNvPr id="108" name="TextBox 8">
              <a:extLst>
                <a:ext uri="{FF2B5EF4-FFF2-40B4-BE49-F238E27FC236}">
                  <a16:creationId xmlns:a16="http://schemas.microsoft.com/office/drawing/2014/main" id="{1384BFA2-5FB5-76E1-3CFB-421A81CE2E94}"/>
                </a:ext>
              </a:extLst>
            </p:cNvPr>
            <p:cNvSpPr txBox="1"/>
            <p:nvPr/>
          </p:nvSpPr>
          <p:spPr>
            <a:xfrm>
              <a:off x="7195768" y="3675567"/>
              <a:ext cx="5040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b="1" dirty="0">
                  <a:solidFill>
                    <a:srgbClr val="F79646">
                      <a:lumMod val="50000"/>
                    </a:srgbClr>
                  </a:solidFill>
                  <a:latin typeface="Calibri"/>
                  <a:ea typeface="宋体" panose="02010600030101010101" pitchFamily="2" charset="-122"/>
                </a:rPr>
                <a:t>1k</a:t>
              </a:r>
              <a:endParaRPr lang="zh-CN" altLang="en-US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09" name="TextBox 4">
              <a:extLst>
                <a:ext uri="{FF2B5EF4-FFF2-40B4-BE49-F238E27FC236}">
                  <a16:creationId xmlns:a16="http://schemas.microsoft.com/office/drawing/2014/main" id="{AF69C08E-2AB2-DD6C-510C-B8373DAF917A}"/>
                </a:ext>
              </a:extLst>
            </p:cNvPr>
            <p:cNvSpPr txBox="1"/>
            <p:nvPr/>
          </p:nvSpPr>
          <p:spPr>
            <a:xfrm>
              <a:off x="4808738" y="4337695"/>
              <a:ext cx="111329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</a:rPr>
                <a:t>三角波输入</a:t>
              </a:r>
            </a:p>
          </p:txBody>
        </p:sp>
        <p:sp>
          <p:nvSpPr>
            <p:cNvPr id="51" name="Rectangle 73">
              <a:extLst>
                <a:ext uri="{FF2B5EF4-FFF2-40B4-BE49-F238E27FC236}">
                  <a16:creationId xmlns:a16="http://schemas.microsoft.com/office/drawing/2014/main" id="{4784A240-4D53-E55E-D701-AD75FED1B50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305669" y="6103665"/>
              <a:ext cx="323850" cy="1079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0"/>
            </a:p>
          </p:txBody>
        </p:sp>
        <p:sp>
          <p:nvSpPr>
            <p:cNvPr id="54" name="TextBox 8">
              <a:extLst>
                <a:ext uri="{FF2B5EF4-FFF2-40B4-BE49-F238E27FC236}">
                  <a16:creationId xmlns:a16="http://schemas.microsoft.com/office/drawing/2014/main" id="{04392CC3-6DC0-DAF0-B072-F237DDB7A568}"/>
                </a:ext>
              </a:extLst>
            </p:cNvPr>
            <p:cNvSpPr txBox="1"/>
            <p:nvPr/>
          </p:nvSpPr>
          <p:spPr>
            <a:xfrm>
              <a:off x="4971472" y="5975009"/>
              <a:ext cx="5040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b="1" dirty="0">
                  <a:solidFill>
                    <a:srgbClr val="F79646">
                      <a:lumMod val="50000"/>
                    </a:srgbClr>
                  </a:solidFill>
                  <a:latin typeface="Calibri"/>
                  <a:ea typeface="宋体" panose="02010600030101010101" pitchFamily="2" charset="-122"/>
                </a:rPr>
                <a:t>1k</a:t>
              </a:r>
              <a:endParaRPr lang="zh-CN" altLang="en-US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11" name="TextBox 8">
              <a:extLst>
                <a:ext uri="{FF2B5EF4-FFF2-40B4-BE49-F238E27FC236}">
                  <a16:creationId xmlns:a16="http://schemas.microsoft.com/office/drawing/2014/main" id="{4CDC2BD8-DB80-90AA-2CF7-C735221BC3F8}"/>
                </a:ext>
              </a:extLst>
            </p:cNvPr>
            <p:cNvSpPr txBox="1"/>
            <p:nvPr/>
          </p:nvSpPr>
          <p:spPr>
            <a:xfrm>
              <a:off x="4857797" y="5441056"/>
              <a:ext cx="5834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000" b="1" dirty="0">
                  <a:solidFill>
                    <a:srgbClr val="F79646">
                      <a:lumMod val="50000"/>
                    </a:srgbClr>
                  </a:solidFill>
                  <a:latin typeface="Calibri"/>
                  <a:ea typeface="宋体" panose="02010600030101010101" pitchFamily="2" charset="-122"/>
                </a:rPr>
                <a:t>10k</a:t>
              </a:r>
              <a:endParaRPr lang="zh-CN" altLang="en-US" sz="2000" b="1" dirty="0">
                <a:solidFill>
                  <a:srgbClr val="F79646">
                    <a:lumMod val="50000"/>
                  </a:srgbClr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419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实验内容四检波电路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968175"/>
            <a:ext cx="8229600" cy="5330147"/>
          </a:xfrm>
        </p:spPr>
        <p:txBody>
          <a:bodyPr/>
          <a:lstStyle/>
          <a:p>
            <a:pPr marL="0" indent="0">
              <a:buClr>
                <a:schemeClr val="tx2"/>
              </a:buClr>
              <a:buNone/>
            </a:pPr>
            <a:r>
              <a:rPr lang="zh-CN" altLang="en-US" dirty="0"/>
              <a:t>    检波功能的测试，根据前面实验所得的三角波频率以及扫频频率范围，估算检波器的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/>
              <a:t>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dirty="0"/>
              <a:t>值，搭建检波电路，完成如下测试（</a:t>
            </a:r>
            <a:r>
              <a:rPr lang="zh-CN" altLang="en-US" dirty="0">
                <a:solidFill>
                  <a:srgbClr val="FF0000"/>
                </a:solidFill>
              </a:rPr>
              <a:t>选做</a:t>
            </a:r>
            <a:r>
              <a:rPr lang="zh-CN" altLang="en-US" dirty="0"/>
              <a:t>）：</a:t>
            </a:r>
          </a:p>
          <a:p>
            <a:pPr lvl="1"/>
            <a:r>
              <a:rPr lang="zh-CN" altLang="en-US" dirty="0"/>
              <a:t>函数发生器设置“内线性”方式、</a:t>
            </a:r>
            <a:r>
              <a:rPr lang="en-US" altLang="zh-CN" dirty="0"/>
              <a:t>100kHz</a:t>
            </a:r>
            <a:r>
              <a:rPr lang="zh-CN" altLang="en-US" dirty="0"/>
              <a:t>频段、正弦波、</a:t>
            </a:r>
            <a:r>
              <a:rPr lang="en-US" altLang="zh-CN" dirty="0" err="1"/>
              <a:t>V</a:t>
            </a:r>
            <a:r>
              <a:rPr lang="en-US" altLang="zh-CN" baseline="-25000" dirty="0" err="1"/>
              <a:t>pp</a:t>
            </a:r>
            <a:r>
              <a:rPr lang="en-US" altLang="zh-CN" dirty="0"/>
              <a:t>=8V</a:t>
            </a:r>
            <a:r>
              <a:rPr lang="zh-CN" altLang="en-US" dirty="0"/>
              <a:t>，送入</a:t>
            </a:r>
            <a:r>
              <a:rPr lang="zh-CN" altLang="zh-CN" dirty="0"/>
              <a:t>检波电路输入</a:t>
            </a:r>
            <a:r>
              <a:rPr lang="zh-CN" altLang="en-US" dirty="0"/>
              <a:t>端</a:t>
            </a:r>
            <a:r>
              <a:rPr lang="zh-CN" altLang="zh-CN" dirty="0"/>
              <a:t>，用示波器观察并</a:t>
            </a:r>
            <a:r>
              <a:rPr lang="zh-CN" altLang="en-US" dirty="0"/>
              <a:t>记录</a:t>
            </a:r>
            <a:r>
              <a:rPr lang="zh-CN" altLang="zh-CN" dirty="0"/>
              <a:t>检波输出波形。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0E9137-E8A8-45DE-AFA3-86166ED81CE7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274" y="4390224"/>
            <a:ext cx="2399039" cy="1570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004386" y="4347898"/>
            <a:ext cx="2322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</a:t>
            </a:r>
            <a:r>
              <a:rPr lang="zh-CN" altLang="en-US" dirty="0"/>
              <a:t>：</a:t>
            </a:r>
            <a:r>
              <a:rPr lang="en-US" altLang="zh-CN" dirty="0"/>
              <a:t>1N4148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986935" y="4914165"/>
            <a:ext cx="3555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</a:t>
            </a:r>
            <a:r>
              <a:rPr lang="zh-CN" altLang="en-US" dirty="0"/>
              <a:t>：</a:t>
            </a:r>
            <a:r>
              <a:rPr lang="en-US" altLang="zh-CN" dirty="0"/>
              <a:t>0.047</a:t>
            </a:r>
            <a:r>
              <a:rPr lang="el-GR" altLang="zh-CN" dirty="0"/>
              <a:t>μ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986935" y="5499230"/>
            <a:ext cx="3562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</a:t>
            </a:r>
            <a:r>
              <a:rPr lang="zh-CN" altLang="en-US" dirty="0"/>
              <a:t>：</a:t>
            </a:r>
            <a:r>
              <a:rPr lang="en-US" altLang="zh-CN" dirty="0"/>
              <a:t>30k</a:t>
            </a:r>
            <a:r>
              <a:rPr lang="zh-CN" altLang="en-US" dirty="0"/>
              <a:t>或者</a:t>
            </a:r>
            <a:r>
              <a:rPr lang="en-US" altLang="zh-CN" dirty="0"/>
              <a:t>100k</a:t>
            </a:r>
            <a:r>
              <a:rPr lang="zh-CN" altLang="en-US" dirty="0"/>
              <a:t>皆可 </a:t>
            </a:r>
          </a:p>
        </p:txBody>
      </p:sp>
    </p:spTree>
    <p:extLst>
      <p:ext uri="{BB962C8B-B14F-4D97-AF65-F5344CB8AC3E}">
        <p14:creationId xmlns:p14="http://schemas.microsoft.com/office/powerpoint/2010/main" val="1986060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综合测试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57200" y="1033616"/>
            <a:ext cx="8229600" cy="3970184"/>
          </a:xfrm>
        </p:spPr>
        <p:txBody>
          <a:bodyPr/>
          <a:lstStyle/>
          <a:p>
            <a:pPr marL="0" indent="0">
              <a:buClr>
                <a:schemeClr val="tx2"/>
              </a:buClr>
              <a:buNone/>
            </a:pPr>
            <a:r>
              <a:rPr lang="zh-CN" altLang="en-US" dirty="0"/>
              <a:t>综合测试系统</a:t>
            </a:r>
            <a:endParaRPr lang="en-US" altLang="zh-CN" dirty="0"/>
          </a:p>
          <a:p>
            <a:pPr lvl="1"/>
            <a:r>
              <a:rPr lang="zh-CN" altLang="en-US" dirty="0"/>
              <a:t>将函数发生器、示波器和各个模块电路进行组合，构成完整的测试电路，完成以下测试：</a:t>
            </a:r>
            <a:endParaRPr lang="en-US" altLang="zh-CN" dirty="0"/>
          </a:p>
          <a:p>
            <a:pPr lvl="1"/>
            <a:r>
              <a:rPr lang="zh-CN" altLang="en-US" dirty="0"/>
              <a:t>搭建一个</a:t>
            </a:r>
            <a:r>
              <a:rPr lang="zh-CN" altLang="zh-CN" dirty="0"/>
              <a:t>中心频率</a:t>
            </a:r>
            <a:r>
              <a:rPr lang="en-US" altLang="zh-CN" i="1" dirty="0" err="1"/>
              <a:t>f</a:t>
            </a:r>
            <a:r>
              <a:rPr lang="en-US" altLang="zh-CN" baseline="-25000" dirty="0" err="1"/>
              <a:t>o</a:t>
            </a:r>
            <a:r>
              <a:rPr lang="en-US" altLang="zh-CN" dirty="0"/>
              <a:t>=70kHz</a:t>
            </a:r>
            <a:r>
              <a:rPr lang="zh-CN" altLang="zh-CN" dirty="0"/>
              <a:t>左右的</a:t>
            </a:r>
            <a:r>
              <a:rPr lang="en-US" altLang="zh-CN" dirty="0"/>
              <a:t>RLC</a:t>
            </a:r>
            <a:r>
              <a:rPr lang="zh-CN" altLang="en-US" dirty="0"/>
              <a:t>谐振电路</a:t>
            </a:r>
            <a:r>
              <a:rPr lang="zh-CN" altLang="zh-CN" dirty="0"/>
              <a:t>，</a:t>
            </a:r>
            <a:r>
              <a:rPr lang="zh-CN" altLang="en-US" dirty="0"/>
              <a:t>作为被测对象，测试其幅频特性，记录观测到的曲线，并利用之前测试的函数发生器的电压</a:t>
            </a:r>
            <a:r>
              <a:rPr lang="en-US" altLang="zh-CN" dirty="0"/>
              <a:t>-</a:t>
            </a:r>
            <a:r>
              <a:rPr lang="zh-CN" altLang="en-US" dirty="0"/>
              <a:t>频率关系表格，拟定横坐标，设定合适的纵坐标，估测出该</a:t>
            </a:r>
            <a:r>
              <a:rPr lang="en-US" altLang="zh-CN" dirty="0"/>
              <a:t>RLC</a:t>
            </a:r>
            <a:r>
              <a:rPr lang="zh-CN" altLang="en-US" dirty="0"/>
              <a:t>谐振电路的中心频率。</a:t>
            </a:r>
            <a:endParaRPr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2E831E6-0EF1-4407-99B6-168BDC42DFBC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5400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测试注意事项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32175" y="1246892"/>
            <a:ext cx="4416025" cy="3930348"/>
          </a:xfrm>
        </p:spPr>
        <p:txBody>
          <a:bodyPr/>
          <a:lstStyle/>
          <a:p>
            <a:r>
              <a:rPr lang="zh-CN" altLang="zh-CN" dirty="0"/>
              <a:t>函数发生器压控频率的设定要求：</a:t>
            </a:r>
            <a:endParaRPr lang="en-US" altLang="zh-CN" dirty="0"/>
          </a:p>
          <a:p>
            <a:pPr lvl="1"/>
            <a:r>
              <a:rPr lang="zh-CN" altLang="en-US" dirty="0"/>
              <a:t>扫描</a:t>
            </a:r>
            <a:r>
              <a:rPr lang="en-US" altLang="zh-CN" dirty="0"/>
              <a:t>/</a:t>
            </a:r>
            <a:r>
              <a:rPr lang="zh-CN" altLang="en-US" dirty="0"/>
              <a:t>计数：外扫描</a:t>
            </a:r>
            <a:endParaRPr lang="en-US" altLang="zh-CN" dirty="0"/>
          </a:p>
          <a:p>
            <a:pPr lvl="1"/>
            <a:r>
              <a:rPr lang="zh-CN" altLang="zh-CN" dirty="0"/>
              <a:t>扫描宽度</a:t>
            </a:r>
            <a:r>
              <a:rPr lang="en-US" altLang="zh-CN" dirty="0"/>
              <a:t>——</a:t>
            </a:r>
            <a:r>
              <a:rPr lang="zh-CN" altLang="zh-CN" dirty="0"/>
              <a:t>顺时针到底</a:t>
            </a:r>
          </a:p>
          <a:p>
            <a:pPr lvl="1"/>
            <a:r>
              <a:rPr lang="zh-CN" altLang="zh-CN" dirty="0"/>
              <a:t>扫描速度</a:t>
            </a:r>
            <a:r>
              <a:rPr lang="en-US" altLang="zh-CN" dirty="0"/>
              <a:t>——</a:t>
            </a:r>
            <a:r>
              <a:rPr lang="zh-CN" altLang="en-US" dirty="0"/>
              <a:t>逆</a:t>
            </a:r>
            <a:r>
              <a:rPr lang="zh-CN" altLang="zh-CN" dirty="0"/>
              <a:t>时针到底</a:t>
            </a:r>
          </a:p>
          <a:p>
            <a:pPr lvl="1"/>
            <a:r>
              <a:rPr lang="en-US" altLang="zh-CN" dirty="0"/>
              <a:t>100kHz</a:t>
            </a:r>
            <a:r>
              <a:rPr lang="zh-CN" altLang="zh-CN" dirty="0"/>
              <a:t>频段</a:t>
            </a:r>
            <a:r>
              <a:rPr lang="zh-CN" altLang="en-US" dirty="0"/>
              <a:t>，频率微调逆时针到底</a:t>
            </a:r>
            <a:endParaRPr lang="zh-CN" altLang="zh-CN" dirty="0"/>
          </a:p>
          <a:p>
            <a:pPr lvl="1"/>
            <a:r>
              <a:rPr lang="zh-CN" altLang="zh-CN" dirty="0"/>
              <a:t>幅度</a:t>
            </a:r>
            <a:r>
              <a:rPr lang="en-US" altLang="zh-CN" dirty="0"/>
              <a:t>4V</a:t>
            </a:r>
            <a:r>
              <a:rPr lang="en-US" altLang="zh-CN" baseline="-25000" dirty="0"/>
              <a:t>pp</a:t>
            </a:r>
            <a:endParaRPr lang="zh-CN" altLang="zh-CN" baseline="-25000" dirty="0"/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zh-CN" dirty="0"/>
              <a:t>示波器观察：由于扫描频率低，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X-Y</a:t>
            </a:r>
            <a:r>
              <a:rPr lang="zh-CN" altLang="en-US" dirty="0"/>
              <a:t>方式下</a:t>
            </a:r>
            <a:r>
              <a:rPr lang="zh-CN" altLang="zh-CN" dirty="0"/>
              <a:t>观测</a:t>
            </a:r>
            <a:r>
              <a:rPr lang="zh-CN" altLang="en-US" dirty="0"/>
              <a:t>曲线时</a:t>
            </a:r>
            <a:r>
              <a:rPr lang="zh-CN" altLang="zh-CN" dirty="0"/>
              <a:t>，幅频特性</a:t>
            </a:r>
            <a:r>
              <a:rPr lang="zh-CN" altLang="en-US" dirty="0"/>
              <a:t>曲线以肉眼可见的速度慢速扫描出现</a:t>
            </a:r>
            <a:r>
              <a:rPr lang="zh-CN" altLang="zh-CN" dirty="0"/>
              <a:t>，</a:t>
            </a:r>
            <a:r>
              <a:rPr lang="zh-CN" altLang="en-US" dirty="0"/>
              <a:t>最好使</a:t>
            </a:r>
            <a:r>
              <a:rPr lang="zh-CN" altLang="zh-CN" dirty="0"/>
              <a:t>用示波器的</a:t>
            </a:r>
            <a:r>
              <a:rPr lang="en-US" altLang="zh-CN" dirty="0"/>
              <a:t>“</a:t>
            </a:r>
            <a:r>
              <a:rPr lang="zh-CN" altLang="zh-CN" dirty="0"/>
              <a:t>保持</a:t>
            </a:r>
            <a:r>
              <a:rPr lang="en-US" altLang="zh-CN" dirty="0"/>
              <a:t>”</a:t>
            </a:r>
            <a:r>
              <a:rPr lang="zh-CN" altLang="zh-CN" dirty="0"/>
              <a:t>功能，可以看到</a:t>
            </a:r>
            <a:r>
              <a:rPr lang="zh-CN" altLang="en-US" dirty="0"/>
              <a:t>由三角波正、逆程扫描组合而成</a:t>
            </a:r>
            <a:r>
              <a:rPr lang="zh-CN" altLang="zh-CN" dirty="0"/>
              <a:t>的幅频特性曲线。</a:t>
            </a:r>
            <a:endParaRPr lang="zh-CN" altLang="en-US" dirty="0"/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0E9137-E8A8-45DE-AFA3-86166ED81CE7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5888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系统连接参考图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3C7D805-F75B-4902-A94D-21A20A1DCE1F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87" b="14531"/>
          <a:stretch/>
        </p:blipFill>
        <p:spPr bwMode="auto">
          <a:xfrm>
            <a:off x="79236" y="3248981"/>
            <a:ext cx="2894383" cy="1503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8" r="-223" b="1805"/>
          <a:stretch>
            <a:fillRect/>
          </a:stretch>
        </p:blipFill>
        <p:spPr bwMode="auto">
          <a:xfrm>
            <a:off x="6522861" y="1108927"/>
            <a:ext cx="2301861" cy="1350425"/>
          </a:xfrm>
          <a:prstGeom prst="rect">
            <a:avLst/>
          </a:prstGeom>
          <a:noFill/>
          <a:ln w="9525">
            <a:solidFill>
              <a:srgbClr val="99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任意多边形 13"/>
          <p:cNvSpPr/>
          <p:nvPr/>
        </p:nvSpPr>
        <p:spPr>
          <a:xfrm>
            <a:off x="6192180" y="2255314"/>
            <a:ext cx="1808820" cy="365284"/>
          </a:xfrm>
          <a:custGeom>
            <a:avLst/>
            <a:gdLst>
              <a:gd name="connsiteX0" fmla="*/ 0 w 3419475"/>
              <a:gd name="connsiteY0" fmla="*/ 1159 h 556908"/>
              <a:gd name="connsiteX1" fmla="*/ 790575 w 3419475"/>
              <a:gd name="connsiteY1" fmla="*/ 86884 h 556908"/>
              <a:gd name="connsiteX2" fmla="*/ 2190750 w 3419475"/>
              <a:gd name="connsiteY2" fmla="*/ 553609 h 556908"/>
              <a:gd name="connsiteX3" fmla="*/ 3419475 w 3419475"/>
              <a:gd name="connsiteY3" fmla="*/ 258334 h 55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19475" h="556908">
                <a:moveTo>
                  <a:pt x="0" y="1159"/>
                </a:moveTo>
                <a:cubicBezTo>
                  <a:pt x="212725" y="-2016"/>
                  <a:pt x="425450" y="-5191"/>
                  <a:pt x="790575" y="86884"/>
                </a:cubicBezTo>
                <a:cubicBezTo>
                  <a:pt x="1155700" y="178959"/>
                  <a:pt x="1752600" y="525034"/>
                  <a:pt x="2190750" y="553609"/>
                </a:cubicBezTo>
                <a:cubicBezTo>
                  <a:pt x="2628900" y="582184"/>
                  <a:pt x="3024187" y="420259"/>
                  <a:pt x="3419475" y="258334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/>
        </p:nvSpPr>
        <p:spPr>
          <a:xfrm>
            <a:off x="2562225" y="2271645"/>
            <a:ext cx="3854980" cy="1360554"/>
          </a:xfrm>
          <a:custGeom>
            <a:avLst/>
            <a:gdLst>
              <a:gd name="connsiteX0" fmla="*/ 2162175 w 2317394"/>
              <a:gd name="connsiteY0" fmla="*/ 0 h 1314450"/>
              <a:gd name="connsiteX1" fmla="*/ 2190750 w 2317394"/>
              <a:gd name="connsiteY1" fmla="*/ 504825 h 1314450"/>
              <a:gd name="connsiteX2" fmla="*/ 781050 w 2317394"/>
              <a:gd name="connsiteY2" fmla="*/ 1076325 h 1314450"/>
              <a:gd name="connsiteX3" fmla="*/ 0 w 2317394"/>
              <a:gd name="connsiteY3" fmla="*/ 1314450 h 131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17394" h="1314450">
                <a:moveTo>
                  <a:pt x="2162175" y="0"/>
                </a:moveTo>
                <a:cubicBezTo>
                  <a:pt x="2291556" y="162719"/>
                  <a:pt x="2420938" y="325438"/>
                  <a:pt x="2190750" y="504825"/>
                </a:cubicBezTo>
                <a:cubicBezTo>
                  <a:pt x="1960562" y="684213"/>
                  <a:pt x="1146175" y="941388"/>
                  <a:pt x="781050" y="1076325"/>
                </a:cubicBezTo>
                <a:cubicBezTo>
                  <a:pt x="415925" y="1211262"/>
                  <a:pt x="207962" y="1262856"/>
                  <a:pt x="0" y="1314450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97947" y="5474900"/>
            <a:ext cx="7328760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注意：图中红线仅表示了信号端，在每个端口连接处，都应当接地，且全系统应当共地。</a:t>
            </a:r>
          </a:p>
        </p:txBody>
      </p:sp>
      <p:pic>
        <p:nvPicPr>
          <p:cNvPr id="18" name="Picture 8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23059"/>
            <a:ext cx="4056140" cy="1936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直接箭头连接符 2"/>
          <p:cNvCxnSpPr/>
          <p:nvPr/>
        </p:nvCxnSpPr>
        <p:spPr>
          <a:xfrm flipV="1">
            <a:off x="926595" y="1191317"/>
            <a:ext cx="180020" cy="2250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2810" y="3715937"/>
            <a:ext cx="2399039" cy="1570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802443" y="1270118"/>
            <a:ext cx="810090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X-Y</a:t>
            </a:r>
            <a:r>
              <a:rPr lang="zh-CN" altLang="en-US" dirty="0">
                <a:solidFill>
                  <a:schemeClr val="bg1"/>
                </a:solidFill>
              </a:rPr>
              <a:t>方式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575" y="2843935"/>
            <a:ext cx="1710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外扫描方式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706FD17-E345-3231-554C-D02570DBE3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7" r="5121"/>
          <a:stretch/>
        </p:blipFill>
        <p:spPr bwMode="auto">
          <a:xfrm>
            <a:off x="3221850" y="3648530"/>
            <a:ext cx="324036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9" name="直接箭头连接符 18"/>
          <p:cNvCxnSpPr>
            <a:cxnSpLocks/>
          </p:cNvCxnSpPr>
          <p:nvPr/>
        </p:nvCxnSpPr>
        <p:spPr>
          <a:xfrm flipV="1">
            <a:off x="2623728" y="4059070"/>
            <a:ext cx="598122" cy="25742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图片 59">
            <a:extLst>
              <a:ext uri="{FF2B5EF4-FFF2-40B4-BE49-F238E27FC236}">
                <a16:creationId xmlns:a16="http://schemas.microsoft.com/office/drawing/2014/main" id="{0B8A6D91-A95B-5341-832F-2142938B689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130" y="1444845"/>
            <a:ext cx="2568680" cy="1514570"/>
          </a:xfrm>
          <a:prstGeom prst="rect">
            <a:avLst/>
          </a:prstGeom>
        </p:spPr>
      </p:pic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A47D9884-A44B-2A48-163E-6C6EE206A5EB}"/>
              </a:ext>
            </a:extLst>
          </p:cNvPr>
          <p:cNvCxnSpPr/>
          <p:nvPr/>
        </p:nvCxnSpPr>
        <p:spPr>
          <a:xfrm>
            <a:off x="3867272" y="1673805"/>
            <a:ext cx="495055" cy="108571"/>
          </a:xfrm>
          <a:prstGeom prst="line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任意多边形: 形状 62">
            <a:extLst>
              <a:ext uri="{FF2B5EF4-FFF2-40B4-BE49-F238E27FC236}">
                <a16:creationId xmlns:a16="http://schemas.microsoft.com/office/drawing/2014/main" id="{E12EEA27-C51B-6E43-738B-7A898FEC9D17}"/>
              </a:ext>
            </a:extLst>
          </p:cNvPr>
          <p:cNvSpPr/>
          <p:nvPr/>
        </p:nvSpPr>
        <p:spPr>
          <a:xfrm>
            <a:off x="8213697" y="2302583"/>
            <a:ext cx="485030" cy="1752601"/>
          </a:xfrm>
          <a:custGeom>
            <a:avLst/>
            <a:gdLst>
              <a:gd name="connsiteX0" fmla="*/ 0 w 485030"/>
              <a:gd name="connsiteY0" fmla="*/ 0 h 1757258"/>
              <a:gd name="connsiteX1" fmla="*/ 31806 w 485030"/>
              <a:gd name="connsiteY1" fmla="*/ 119270 h 1757258"/>
              <a:gd name="connsiteX2" fmla="*/ 55660 w 485030"/>
              <a:gd name="connsiteY2" fmla="*/ 190831 h 1757258"/>
              <a:gd name="connsiteX3" fmla="*/ 63611 w 485030"/>
              <a:gd name="connsiteY3" fmla="*/ 254442 h 1757258"/>
              <a:gd name="connsiteX4" fmla="*/ 71562 w 485030"/>
              <a:gd name="connsiteY4" fmla="*/ 294198 h 1757258"/>
              <a:gd name="connsiteX5" fmla="*/ 79513 w 485030"/>
              <a:gd name="connsiteY5" fmla="*/ 318052 h 1757258"/>
              <a:gd name="connsiteX6" fmla="*/ 95416 w 485030"/>
              <a:gd name="connsiteY6" fmla="*/ 381663 h 1757258"/>
              <a:gd name="connsiteX7" fmla="*/ 111319 w 485030"/>
              <a:gd name="connsiteY7" fmla="*/ 429370 h 1757258"/>
              <a:gd name="connsiteX8" fmla="*/ 119270 w 485030"/>
              <a:gd name="connsiteY8" fmla="*/ 469127 h 1757258"/>
              <a:gd name="connsiteX9" fmla="*/ 166978 w 485030"/>
              <a:gd name="connsiteY9" fmla="*/ 620202 h 1757258"/>
              <a:gd name="connsiteX10" fmla="*/ 182880 w 485030"/>
              <a:gd name="connsiteY10" fmla="*/ 675861 h 1757258"/>
              <a:gd name="connsiteX11" fmla="*/ 206734 w 485030"/>
              <a:gd name="connsiteY11" fmla="*/ 739471 h 1757258"/>
              <a:gd name="connsiteX12" fmla="*/ 214686 w 485030"/>
              <a:gd name="connsiteY12" fmla="*/ 779228 h 1757258"/>
              <a:gd name="connsiteX13" fmla="*/ 230588 w 485030"/>
              <a:gd name="connsiteY13" fmla="*/ 818984 h 1757258"/>
              <a:gd name="connsiteX14" fmla="*/ 262393 w 485030"/>
              <a:gd name="connsiteY14" fmla="*/ 906449 h 1757258"/>
              <a:gd name="connsiteX15" fmla="*/ 270345 w 485030"/>
              <a:gd name="connsiteY15" fmla="*/ 954156 h 1757258"/>
              <a:gd name="connsiteX16" fmla="*/ 286247 w 485030"/>
              <a:gd name="connsiteY16" fmla="*/ 1001864 h 1757258"/>
              <a:gd name="connsiteX17" fmla="*/ 302150 w 485030"/>
              <a:gd name="connsiteY17" fmla="*/ 1057523 h 1757258"/>
              <a:gd name="connsiteX18" fmla="*/ 318053 w 485030"/>
              <a:gd name="connsiteY18" fmla="*/ 1105231 h 1757258"/>
              <a:gd name="connsiteX19" fmla="*/ 333955 w 485030"/>
              <a:gd name="connsiteY19" fmla="*/ 1192696 h 1757258"/>
              <a:gd name="connsiteX20" fmla="*/ 349858 w 485030"/>
              <a:gd name="connsiteY20" fmla="*/ 1248355 h 1757258"/>
              <a:gd name="connsiteX21" fmla="*/ 357809 w 485030"/>
              <a:gd name="connsiteY21" fmla="*/ 1280160 h 1757258"/>
              <a:gd name="connsiteX22" fmla="*/ 373712 w 485030"/>
              <a:gd name="connsiteY22" fmla="*/ 1311965 h 1757258"/>
              <a:gd name="connsiteX23" fmla="*/ 389614 w 485030"/>
              <a:gd name="connsiteY23" fmla="*/ 1407381 h 1757258"/>
              <a:gd name="connsiteX24" fmla="*/ 397566 w 485030"/>
              <a:gd name="connsiteY24" fmla="*/ 1455089 h 1757258"/>
              <a:gd name="connsiteX25" fmla="*/ 421420 w 485030"/>
              <a:gd name="connsiteY25" fmla="*/ 1526650 h 1757258"/>
              <a:gd name="connsiteX26" fmla="*/ 437322 w 485030"/>
              <a:gd name="connsiteY26" fmla="*/ 1622066 h 1757258"/>
              <a:gd name="connsiteX27" fmla="*/ 445273 w 485030"/>
              <a:gd name="connsiteY27" fmla="*/ 1677725 h 1757258"/>
              <a:gd name="connsiteX28" fmla="*/ 461176 w 485030"/>
              <a:gd name="connsiteY28" fmla="*/ 1709530 h 1757258"/>
              <a:gd name="connsiteX29" fmla="*/ 485030 w 485030"/>
              <a:gd name="connsiteY29" fmla="*/ 1757238 h 1757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85030" h="1757258">
                <a:moveTo>
                  <a:pt x="0" y="0"/>
                </a:moveTo>
                <a:cubicBezTo>
                  <a:pt x="10602" y="39757"/>
                  <a:pt x="20285" y="79770"/>
                  <a:pt x="31806" y="119270"/>
                </a:cubicBezTo>
                <a:cubicBezTo>
                  <a:pt x="38846" y="143408"/>
                  <a:pt x="49901" y="166355"/>
                  <a:pt x="55660" y="190831"/>
                </a:cubicBezTo>
                <a:cubicBezTo>
                  <a:pt x="60554" y="211632"/>
                  <a:pt x="60362" y="233322"/>
                  <a:pt x="63611" y="254442"/>
                </a:cubicBezTo>
                <a:cubicBezTo>
                  <a:pt x="65666" y="267799"/>
                  <a:pt x="68284" y="281087"/>
                  <a:pt x="71562" y="294198"/>
                </a:cubicBezTo>
                <a:cubicBezTo>
                  <a:pt x="73595" y="302329"/>
                  <a:pt x="77308" y="309966"/>
                  <a:pt x="79513" y="318052"/>
                </a:cubicBezTo>
                <a:cubicBezTo>
                  <a:pt x="85264" y="339138"/>
                  <a:pt x="88504" y="360928"/>
                  <a:pt x="95416" y="381663"/>
                </a:cubicBezTo>
                <a:cubicBezTo>
                  <a:pt x="100717" y="397565"/>
                  <a:pt x="106908" y="413198"/>
                  <a:pt x="111319" y="429370"/>
                </a:cubicBezTo>
                <a:cubicBezTo>
                  <a:pt x="114875" y="442409"/>
                  <a:pt x="115992" y="456016"/>
                  <a:pt x="119270" y="469127"/>
                </a:cubicBezTo>
                <a:cubicBezTo>
                  <a:pt x="141085" y="556389"/>
                  <a:pt x="134802" y="507581"/>
                  <a:pt x="166978" y="620202"/>
                </a:cubicBezTo>
                <a:cubicBezTo>
                  <a:pt x="172279" y="638755"/>
                  <a:pt x="176778" y="657556"/>
                  <a:pt x="182880" y="675861"/>
                </a:cubicBezTo>
                <a:cubicBezTo>
                  <a:pt x="190041" y="697344"/>
                  <a:pt x="200074" y="717827"/>
                  <a:pt x="206734" y="739471"/>
                </a:cubicBezTo>
                <a:cubicBezTo>
                  <a:pt x="210709" y="752388"/>
                  <a:pt x="210803" y="766283"/>
                  <a:pt x="214686" y="779228"/>
                </a:cubicBezTo>
                <a:cubicBezTo>
                  <a:pt x="218787" y="792899"/>
                  <a:pt x="225710" y="805571"/>
                  <a:pt x="230588" y="818984"/>
                </a:cubicBezTo>
                <a:cubicBezTo>
                  <a:pt x="271425" y="931286"/>
                  <a:pt x="222878" y="807657"/>
                  <a:pt x="262393" y="906449"/>
                </a:cubicBezTo>
                <a:cubicBezTo>
                  <a:pt x="265044" y="922351"/>
                  <a:pt x="266435" y="938516"/>
                  <a:pt x="270345" y="954156"/>
                </a:cubicBezTo>
                <a:cubicBezTo>
                  <a:pt x="274411" y="970418"/>
                  <a:pt x="281317" y="985842"/>
                  <a:pt x="286247" y="1001864"/>
                </a:cubicBezTo>
                <a:cubicBezTo>
                  <a:pt x="291921" y="1020306"/>
                  <a:pt x="296475" y="1039081"/>
                  <a:pt x="302150" y="1057523"/>
                </a:cubicBezTo>
                <a:cubicBezTo>
                  <a:pt x="307080" y="1073545"/>
                  <a:pt x="313642" y="1089059"/>
                  <a:pt x="318053" y="1105231"/>
                </a:cubicBezTo>
                <a:cubicBezTo>
                  <a:pt x="328259" y="1142652"/>
                  <a:pt x="324864" y="1153302"/>
                  <a:pt x="333955" y="1192696"/>
                </a:cubicBezTo>
                <a:cubicBezTo>
                  <a:pt x="338294" y="1211497"/>
                  <a:pt x="344781" y="1229739"/>
                  <a:pt x="349858" y="1248355"/>
                </a:cubicBezTo>
                <a:cubicBezTo>
                  <a:pt x="352733" y="1258898"/>
                  <a:pt x="353972" y="1269928"/>
                  <a:pt x="357809" y="1280160"/>
                </a:cubicBezTo>
                <a:cubicBezTo>
                  <a:pt x="361971" y="1291258"/>
                  <a:pt x="368411" y="1301363"/>
                  <a:pt x="373712" y="1311965"/>
                </a:cubicBezTo>
                <a:lnTo>
                  <a:pt x="389614" y="1407381"/>
                </a:lnTo>
                <a:cubicBezTo>
                  <a:pt x="392264" y="1423284"/>
                  <a:pt x="391579" y="1440120"/>
                  <a:pt x="397566" y="1455089"/>
                </a:cubicBezTo>
                <a:cubicBezTo>
                  <a:pt x="410509" y="1487448"/>
                  <a:pt x="415379" y="1494431"/>
                  <a:pt x="421420" y="1526650"/>
                </a:cubicBezTo>
                <a:cubicBezTo>
                  <a:pt x="427362" y="1558342"/>
                  <a:pt x="432293" y="1590217"/>
                  <a:pt x="437322" y="1622066"/>
                </a:cubicBezTo>
                <a:cubicBezTo>
                  <a:pt x="440245" y="1640578"/>
                  <a:pt x="440342" y="1659644"/>
                  <a:pt x="445273" y="1677725"/>
                </a:cubicBezTo>
                <a:cubicBezTo>
                  <a:pt x="448392" y="1689160"/>
                  <a:pt x="456774" y="1698525"/>
                  <a:pt x="461176" y="1709530"/>
                </a:cubicBezTo>
                <a:cubicBezTo>
                  <a:pt x="481265" y="1759752"/>
                  <a:pt x="459787" y="1757238"/>
                  <a:pt x="485030" y="1757238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stealth"/>
            <a:tail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TextBox 5">
            <a:extLst>
              <a:ext uri="{FF2B5EF4-FFF2-40B4-BE49-F238E27FC236}">
                <a16:creationId xmlns:a16="http://schemas.microsoft.com/office/drawing/2014/main" id="{C7D84520-8609-CCAC-48B0-EFD5D4B2E355}"/>
              </a:ext>
            </a:extLst>
          </p:cNvPr>
          <p:cNvSpPr txBox="1"/>
          <p:nvPr/>
        </p:nvSpPr>
        <p:spPr>
          <a:xfrm>
            <a:off x="6757250" y="3401360"/>
            <a:ext cx="1161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1N4148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65" name="TextBox 5">
            <a:extLst>
              <a:ext uri="{FF2B5EF4-FFF2-40B4-BE49-F238E27FC236}">
                <a16:creationId xmlns:a16="http://schemas.microsoft.com/office/drawing/2014/main" id="{500A040F-7BC8-DB71-EFFA-F60233511E55}"/>
              </a:ext>
            </a:extLst>
          </p:cNvPr>
          <p:cNvSpPr txBox="1"/>
          <p:nvPr/>
        </p:nvSpPr>
        <p:spPr>
          <a:xfrm>
            <a:off x="6626785" y="4382177"/>
            <a:ext cx="1161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0.047uF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66" name="TextBox 5">
            <a:extLst>
              <a:ext uri="{FF2B5EF4-FFF2-40B4-BE49-F238E27FC236}">
                <a16:creationId xmlns:a16="http://schemas.microsoft.com/office/drawing/2014/main" id="{D92BC22D-07F6-DBA6-9BA4-E654E47E847A}"/>
              </a:ext>
            </a:extLst>
          </p:cNvPr>
          <p:cNvSpPr txBox="1"/>
          <p:nvPr/>
        </p:nvSpPr>
        <p:spPr>
          <a:xfrm>
            <a:off x="8082390" y="4980644"/>
            <a:ext cx="810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100k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271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针对本实验的进一步思考：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、假如需要构建自动的相频测试系统，应如何修正哪些功能？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、若需要加入频率标志显示，你有何方案？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2E831E6-0EF1-4407-99B6-168BDC42DFBC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2139633"/>
      </p:ext>
    </p:extLst>
  </p:cSld>
  <p:clrMapOvr>
    <a:masterClrMapping/>
  </p:clrMapOvr>
</p:sld>
</file>

<file path=ppt/theme/theme1.xml><?xml version="1.0" encoding="utf-8"?>
<a:theme xmlns:a="http://schemas.openxmlformats.org/drawingml/2006/main" name="35">
  <a:themeElements>
    <a:clrScheme name="Default Design 3">
      <a:dk1>
        <a:srgbClr val="000000"/>
      </a:dk1>
      <a:lt1>
        <a:srgbClr val="FFFFFF"/>
      </a:lt1>
      <a:dk2>
        <a:srgbClr val="143DA2"/>
      </a:dk2>
      <a:lt2>
        <a:srgbClr val="DDDDDD"/>
      </a:lt2>
      <a:accent1>
        <a:srgbClr val="EB592B"/>
      </a:accent1>
      <a:accent2>
        <a:srgbClr val="2EBAAD"/>
      </a:accent2>
      <a:accent3>
        <a:srgbClr val="FFFFFF"/>
      </a:accent3>
      <a:accent4>
        <a:srgbClr val="000000"/>
      </a:accent4>
      <a:accent5>
        <a:srgbClr val="F3B5AC"/>
      </a:accent5>
      <a:accent6>
        <a:srgbClr val="29A89C"/>
      </a:accent6>
      <a:hlink>
        <a:srgbClr val="AED337"/>
      </a:hlink>
      <a:folHlink>
        <a:srgbClr val="5AB7EA"/>
      </a:folHlink>
    </a:clrScheme>
    <a:fontScheme name="Office 经典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264040"/>
        </a:dk1>
        <a:lt1>
          <a:srgbClr val="FFFFFF"/>
        </a:lt1>
        <a:dk2>
          <a:srgbClr val="1D548B"/>
        </a:dk2>
        <a:lt2>
          <a:srgbClr val="DDDDDD"/>
        </a:lt2>
        <a:accent1>
          <a:srgbClr val="1A99C6"/>
        </a:accent1>
        <a:accent2>
          <a:srgbClr val="E6693C"/>
        </a:accent2>
        <a:accent3>
          <a:srgbClr val="FFFFFF"/>
        </a:accent3>
        <a:accent4>
          <a:srgbClr val="1F3535"/>
        </a:accent4>
        <a:accent5>
          <a:srgbClr val="ABCADF"/>
        </a:accent5>
        <a:accent6>
          <a:srgbClr val="D05E35"/>
        </a:accent6>
        <a:hlink>
          <a:srgbClr val="D5A317"/>
        </a:hlink>
        <a:folHlink>
          <a:srgbClr val="14AC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5533C1"/>
        </a:dk2>
        <a:lt2>
          <a:srgbClr val="DDDDDD"/>
        </a:lt2>
        <a:accent1>
          <a:srgbClr val="CBB61D"/>
        </a:accent1>
        <a:accent2>
          <a:srgbClr val="40ACD2"/>
        </a:accent2>
        <a:accent3>
          <a:srgbClr val="FFFFFF"/>
        </a:accent3>
        <a:accent4>
          <a:srgbClr val="000000"/>
        </a:accent4>
        <a:accent5>
          <a:srgbClr val="E2D7AB"/>
        </a:accent5>
        <a:accent6>
          <a:srgbClr val="399BBE"/>
        </a:accent6>
        <a:hlink>
          <a:srgbClr val="DA7D28"/>
        </a:hlink>
        <a:folHlink>
          <a:srgbClr val="8522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143DA2"/>
        </a:dk2>
        <a:lt2>
          <a:srgbClr val="DDDDDD"/>
        </a:lt2>
        <a:accent1>
          <a:srgbClr val="EB592B"/>
        </a:accent1>
        <a:accent2>
          <a:srgbClr val="2EBAAD"/>
        </a:accent2>
        <a:accent3>
          <a:srgbClr val="FFFFFF"/>
        </a:accent3>
        <a:accent4>
          <a:srgbClr val="000000"/>
        </a:accent4>
        <a:accent5>
          <a:srgbClr val="F3B5AC"/>
        </a:accent5>
        <a:accent6>
          <a:srgbClr val="29A89C"/>
        </a:accent6>
        <a:hlink>
          <a:srgbClr val="AED337"/>
        </a:hlink>
        <a:folHlink>
          <a:srgbClr val="5AB7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35</Template>
  <TotalTime>9785</TotalTime>
  <Words>1164</Words>
  <Application>Microsoft Office PowerPoint</Application>
  <PresentationFormat>全屏显示(4:3)</PresentationFormat>
  <Paragraphs>174</Paragraphs>
  <Slides>14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华文中宋</vt:lpstr>
      <vt:lpstr>隶书</vt:lpstr>
      <vt:lpstr>宋体</vt:lpstr>
      <vt:lpstr>Arial</vt:lpstr>
      <vt:lpstr>Calibri</vt:lpstr>
      <vt:lpstr>Cambria Math</vt:lpstr>
      <vt:lpstr>Times New Roman</vt:lpstr>
      <vt:lpstr>Verdana</vt:lpstr>
      <vt:lpstr>Wingdings</vt:lpstr>
      <vt:lpstr>35</vt:lpstr>
      <vt:lpstr>Image</vt:lpstr>
      <vt:lpstr>Visio</vt:lpstr>
      <vt:lpstr>实验原理概述</vt:lpstr>
      <vt:lpstr>函数发生器扫描方式相关旋钮</vt:lpstr>
      <vt:lpstr>实验内容二参考方案</vt:lpstr>
      <vt:lpstr>实验内容三：三角波产生电路</vt:lpstr>
      <vt:lpstr>三角波发生器参考电路</vt:lpstr>
      <vt:lpstr>三角波发生器参考电路</vt:lpstr>
      <vt:lpstr>三角波发生器参考电路</vt:lpstr>
      <vt:lpstr>相关问题</vt:lpstr>
      <vt:lpstr>三角波的电平变换电路</vt:lpstr>
      <vt:lpstr>实验内容四检波电路</vt:lpstr>
      <vt:lpstr>综合测试</vt:lpstr>
      <vt:lpstr>测试注意事项</vt:lpstr>
      <vt:lpstr>系统连接参考图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电子科技大学</dc:title>
  <dc:creator>dell</dc:creator>
  <cp:lastModifiedBy>超然 刘</cp:lastModifiedBy>
  <cp:revision>339</cp:revision>
  <dcterms:created xsi:type="dcterms:W3CDTF">2013-03-15T01:15:38Z</dcterms:created>
  <dcterms:modified xsi:type="dcterms:W3CDTF">2024-12-14T16:11:48Z</dcterms:modified>
</cp:coreProperties>
</file>
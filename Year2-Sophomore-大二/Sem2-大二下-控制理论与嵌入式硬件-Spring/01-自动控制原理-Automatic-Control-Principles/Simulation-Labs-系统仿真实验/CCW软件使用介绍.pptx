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20" r:id="rId2"/>
  </p:sldMasterIdLst>
  <p:notesMasterIdLst>
    <p:notesMasterId r:id="rId23"/>
  </p:notesMasterIdLst>
  <p:sldIdLst>
    <p:sldId id="266" r:id="rId3"/>
    <p:sldId id="267" r:id="rId4"/>
    <p:sldId id="269" r:id="rId5"/>
    <p:sldId id="268" r:id="rId6"/>
    <p:sldId id="270" r:id="rId7"/>
    <p:sldId id="271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72" r:id="rId20"/>
    <p:sldId id="273" r:id="rId21"/>
    <p:sldId id="285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0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391B4-A126-4704-BDE0-ABC576AC7A61}" type="datetimeFigureOut">
              <a:rPr lang="zh-CN" altLang="en-US" smtClean="0"/>
              <a:pPr/>
              <a:t>2017/9/27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ACE9E-8C8D-4968-A34D-DB0A6183EC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285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228600" y="381000"/>
            <a:ext cx="8686800" cy="5638800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white">
          <a:xfrm>
            <a:off x="327025" y="488950"/>
            <a:ext cx="8435975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blackWhite">
          <a:xfrm>
            <a:off x="1371600" y="3338513"/>
            <a:ext cx="6400800" cy="2286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>
              <a:solidFill>
                <a:srgbClr val="000000"/>
              </a:solidFill>
            </a:endParaRPr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857250"/>
            <a:ext cx="7772400" cy="2266950"/>
          </a:xfrm>
        </p:spPr>
        <p:txBody>
          <a:bodyPr anchor="ctr" anchorCtr="1"/>
          <a:lstStyle>
            <a:lvl1pPr algn="ctr">
              <a:defRPr sz="4100" i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3567113"/>
            <a:ext cx="5410200" cy="19050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3300"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E277F-DE3B-4A9D-ACF7-4DB8B0543F81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91275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91275"/>
            <a:ext cx="1600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F5B03-3F16-4B1C-8A0B-BDD697575C9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0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E44EF-FC88-4F7E-8EAC-B52D7E4F8C3D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5318B-89D9-491A-A2FA-4880F3B72B63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0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1F16E2-3CDC-42E1-AFD0-7B142F36AAAA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C6D25F-D342-49D7-8E49-89B88457BFA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92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905000"/>
            <a:ext cx="37719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905000"/>
            <a:ext cx="37719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A16F53-E84B-489F-8B4F-23A657E8CC1F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212700-2BAA-409E-90D6-68FEAD036F70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267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D0A2C5-A1C3-42CE-A866-A061897A7FB0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88F4A-B823-4B2D-8A14-5ED33CC3BBC4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89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A70756-5F44-4364-9D2A-4CBB2B28AD0C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7B2D7-072E-432E-BC28-ACB3B5CDFB9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55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8BAE1F-4B21-403F-B528-63C41BE6E75B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3E511-51AB-4448-816E-CC5695C0E13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548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93D07-550E-497B-B155-8E4C1ABCA7AE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54E58-371B-4885-BE46-53C5A4E48C1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58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3E3705-A956-4509-A671-12E8A025684A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467C8-2368-4A89-844C-6D490FC9440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59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7A9B3-41B6-4AEA-AEBB-F5959EDE89BE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5AB94-D982-466C-86F6-BF217F9423B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82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34150" y="533400"/>
            <a:ext cx="192405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533400"/>
            <a:ext cx="561975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3B886-DC56-482F-97FF-8056AC3B92F4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26602-9B4D-45AF-96D3-6D0A22A5C53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29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8"/>
          <p:cNvGrpSpPr>
            <a:grpSpLocks/>
          </p:cNvGrpSpPr>
          <p:nvPr userDrawn="1"/>
        </p:nvGrpSpPr>
        <p:grpSpPr bwMode="auto">
          <a:xfrm>
            <a:off x="0" y="2989263"/>
            <a:ext cx="8745538" cy="498475"/>
            <a:chOff x="0" y="1883"/>
            <a:chExt cx="5509" cy="314"/>
          </a:xfrm>
        </p:grpSpPr>
        <p:sp>
          <p:nvSpPr>
            <p:cNvPr id="5" name="Rectangle 59"/>
            <p:cNvSpPr>
              <a:spLocks noChangeArrowheads="1"/>
            </p:cNvSpPr>
            <p:nvPr userDrawn="1"/>
          </p:nvSpPr>
          <p:spPr bwMode="auto">
            <a:xfrm>
              <a:off x="0" y="1896"/>
              <a:ext cx="4800" cy="288"/>
            </a:xfrm>
            <a:prstGeom prst="rect">
              <a:avLst/>
            </a:prstGeom>
            <a:solidFill>
              <a:srgbClr val="E6E0C7"/>
            </a:solidFill>
            <a:ln w="12700" cap="sq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" name="AutoShape 60"/>
            <p:cNvSpPr>
              <a:spLocks noChangeArrowheads="1"/>
            </p:cNvSpPr>
            <p:nvPr userDrawn="1"/>
          </p:nvSpPr>
          <p:spPr bwMode="auto">
            <a:xfrm>
              <a:off x="107" y="1883"/>
              <a:ext cx="5402" cy="314"/>
            </a:xfrm>
            <a:prstGeom prst="roundRect">
              <a:avLst>
                <a:gd name="adj" fmla="val 16667"/>
              </a:avLst>
            </a:prstGeom>
            <a:solidFill>
              <a:srgbClr val="E6E0C7"/>
            </a:solidFill>
            <a:ln w="12700" cap="sq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pic>
        <p:nvPicPr>
          <p:cNvPr id="7" name="Picture 20" descr="ra_brands_RG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9" b="-79"/>
          <a:stretch>
            <a:fillRect/>
          </a:stretch>
        </p:blipFill>
        <p:spPr bwMode="auto">
          <a:xfrm>
            <a:off x="3567113" y="5961063"/>
            <a:ext cx="5410200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6"/>
          <p:cNvSpPr>
            <a:spLocks noChangeArrowheads="1"/>
          </p:cNvSpPr>
          <p:nvPr userDrawn="1"/>
        </p:nvSpPr>
        <p:spPr bwMode="auto">
          <a:xfrm>
            <a:off x="4267200" y="4738688"/>
            <a:ext cx="1898650" cy="222250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6D6E71"/>
                </a:solidFill>
                <a:ea typeface="Arial Unicode MS" pitchFamily="34" charset="-128"/>
                <a:cs typeface="Arial Unicode MS" pitchFamily="34" charset="-128"/>
              </a:rPr>
              <a:t>(Confidential – For Internal Use Only)</a:t>
            </a:r>
          </a:p>
        </p:txBody>
      </p:sp>
      <p:sp>
        <p:nvSpPr>
          <p:cNvPr id="9" name="Rectangle 57"/>
          <p:cNvSpPr>
            <a:spLocks noChangeArrowheads="1"/>
          </p:cNvSpPr>
          <p:nvPr userDrawn="1"/>
        </p:nvSpPr>
        <p:spPr bwMode="auto">
          <a:xfrm>
            <a:off x="-12700" y="6324600"/>
            <a:ext cx="3098800" cy="244475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6D6E71"/>
                </a:solidFill>
                <a:ea typeface="Arial Unicode MS" pitchFamily="34" charset="-128"/>
                <a:cs typeface="Arial Unicode MS" pitchFamily="34" charset="-128"/>
              </a:rPr>
              <a:t>Copyright © 2007 Rockwell Automation, Inc. All rights reserved.</a:t>
            </a:r>
          </a:p>
        </p:txBody>
      </p:sp>
      <p:pic>
        <p:nvPicPr>
          <p:cNvPr id="10" name="Picture 50" descr="LTS_vf_noRA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8" y="1592263"/>
            <a:ext cx="3354387" cy="330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7040" name="Rectangle 6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267200" y="3730625"/>
            <a:ext cx="4572000" cy="917575"/>
          </a:xfrm>
        </p:spPr>
        <p:txBody>
          <a:bodyPr/>
          <a:lstStyle>
            <a:lvl1pPr marL="0" indent="0">
              <a:spcBef>
                <a:spcPct val="0"/>
              </a:spcBef>
              <a:buFontTx/>
              <a:buNone/>
              <a:defRPr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127041" name="Rectangle 65"/>
          <p:cNvSpPr>
            <a:spLocks noGrp="1" noChangeArrowheads="1"/>
          </p:cNvSpPr>
          <p:nvPr>
            <p:ph type="ctrTitle" sz="quarter"/>
          </p:nvPr>
        </p:nvSpPr>
        <p:spPr>
          <a:xfrm>
            <a:off x="4267200" y="1447800"/>
            <a:ext cx="4572000" cy="1828800"/>
          </a:xfrm>
        </p:spPr>
        <p:txBody>
          <a:bodyPr lIns="92075" tIns="46038" rIns="92075" bIns="46038" anchor="t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Add Title</a:t>
            </a:r>
            <a:br>
              <a:rPr lang="en-US"/>
            </a:br>
            <a:endParaRPr lang="en-US"/>
          </a:p>
        </p:txBody>
      </p:sp>
      <p:sp>
        <p:nvSpPr>
          <p:cNvPr id="11" name="Rectangle 2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5DC6F1-E4C7-4257-BEF4-5414A41E4B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0324354"/>
      </p:ext>
    </p:extLst>
  </p:cSld>
  <p:clrMapOvr>
    <a:masterClrMapping/>
  </p:clrMapOvr>
  <p:transition spd="med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6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A46476-356E-4A3C-B899-13C120BB07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4393869"/>
      </p:ext>
    </p:extLst>
  </p:cSld>
  <p:clrMapOvr>
    <a:masterClrMapping/>
  </p:clrMapOvr>
  <p:transition spd="med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6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E3852-B1F0-4A2E-A0A1-CE340A0070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6070065"/>
      </p:ext>
    </p:extLst>
  </p:cSld>
  <p:clrMapOvr>
    <a:masterClrMapping/>
  </p:clrMapOvr>
  <p:transition spd="med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41910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1910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7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CCA9C-D709-4DEA-80A6-5B01996E69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7900790"/>
      </p:ext>
    </p:extLst>
  </p:cSld>
  <p:clrMapOvr>
    <a:masterClrMapping/>
  </p:clrMapOvr>
  <p:transition spd="med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9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1D66C-7B77-445F-876C-0F97669A09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795278"/>
      </p:ext>
    </p:extLst>
  </p:cSld>
  <p:clrMapOvr>
    <a:masterClrMapping/>
  </p:clrMapOvr>
  <p:transition spd="med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5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886FE-23C4-40FE-9525-83EFFD5EDA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6127201"/>
      </p:ext>
    </p:extLst>
  </p:cSld>
  <p:clrMapOvr>
    <a:masterClrMapping/>
  </p:clrMapOvr>
  <p:transition spd="med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4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795454-6566-41A5-BED6-E47DA36499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3371323"/>
      </p:ext>
    </p:extLst>
  </p:cSld>
  <p:clrMapOvr>
    <a:masterClrMapping/>
  </p:clrMapOvr>
  <p:transition spd="med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7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7F9FC-4122-4C57-ADFC-F541985E39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8535652"/>
      </p:ext>
    </p:extLst>
  </p:cSld>
  <p:clrMapOvr>
    <a:masterClrMapping/>
  </p:clrMapOvr>
  <p:transition spd="med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7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1C7A9F-A993-4E2A-8540-13A43C17E8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4286205"/>
      </p:ext>
    </p:extLst>
  </p:cSld>
  <p:clrMapOvr>
    <a:masterClrMapping/>
  </p:clrMapOvr>
  <p:transition spd="med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6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0A928B-B144-495C-91A2-0E994C49D7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9631004"/>
      </p:ext>
    </p:extLst>
  </p:cSld>
  <p:clrMapOvr>
    <a:masterClrMapping/>
  </p:clrMapOvr>
  <p:transition spd="med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0"/>
            <a:ext cx="2133600" cy="6400800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6248400" cy="6400800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6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B51D0-8671-487F-B13A-917E0E82AD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673672"/>
      </p:ext>
    </p:extLst>
  </p:cSld>
  <p:clrMapOvr>
    <a:masterClrMapping/>
  </p:clrMapOvr>
  <p:transition spd="med">
    <p:split orient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143000" y="0"/>
            <a:ext cx="7543800" cy="8382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4191000" cy="2590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066800"/>
            <a:ext cx="4191000" cy="2590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04800" y="3810000"/>
            <a:ext cx="4191000" cy="2590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810000"/>
            <a:ext cx="4191000" cy="2590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9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6E6DB-29D1-48EE-A1FA-09E7956BFE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645283"/>
      </p:ext>
    </p:extLst>
  </p:cSld>
  <p:clrMapOvr>
    <a:masterClrMapping/>
  </p:clrMapOvr>
  <p:transition spd="med">
    <p:split orient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543800" cy="8382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4191000" cy="53340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066800"/>
            <a:ext cx="4191000" cy="2590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10000"/>
            <a:ext cx="4191000" cy="2590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8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D9ED0-5BBD-406F-AEC6-93016CEF70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4441798"/>
      </p:ext>
    </p:extLst>
  </p:cSld>
  <p:clrMapOvr>
    <a:masterClrMapping/>
  </p:clrMapOvr>
  <p:transition spd="med">
    <p:split orient="vert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543800" cy="8382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066800"/>
            <a:ext cx="4191000" cy="53340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066800"/>
            <a:ext cx="4191000" cy="2590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10000"/>
            <a:ext cx="4191000" cy="2590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8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6F88E-1B53-4928-933D-4B96980AC5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8582990"/>
      </p:ext>
    </p:extLst>
  </p:cSld>
  <p:clrMapOvr>
    <a:masterClrMapping/>
  </p:clrMapOvr>
  <p:transition spd="med">
    <p:split orient="vert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543800" cy="8382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066800"/>
            <a:ext cx="4191000" cy="53340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191000" cy="53340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7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B5931-1C1B-4FE1-9FD5-3887AE5F82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4436385"/>
      </p:ext>
    </p:extLst>
  </p:cSld>
  <p:clrMapOvr>
    <a:masterClrMapping/>
  </p:clrMapOvr>
  <p:transition spd="med">
    <p:split orient="vert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543800" cy="8382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0" y="1066800"/>
            <a:ext cx="8534400" cy="5334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6" name="Rectangle 4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DBDFFC-6886-42D7-B167-10D91F0434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9900349"/>
      </p:ext>
    </p:extLst>
  </p:cSld>
  <p:clrMapOvr>
    <a:masterClrMapping/>
  </p:clrMapOvr>
  <p:transition spd="med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905000"/>
            <a:ext cx="76962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391275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0E479BCA-40BD-4481-BEBF-916704D470C4}" type="datetimeFigureOut">
              <a:rPr lang="zh-CN" altLang="en-US">
                <a:solidFill>
                  <a:srgbClr val="000000"/>
                </a:solidFill>
              </a:rPr>
              <a:pPr>
                <a:defRPr/>
              </a:pPr>
              <a:t>2017/9/27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03975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C6A5A6BD-B6C6-4CFA-BB71-3940FFC66D0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168275" y="228600"/>
            <a:ext cx="8823325" cy="6096000"/>
            <a:chOff x="106" y="144"/>
            <a:chExt cx="5558" cy="3840"/>
          </a:xfrm>
        </p:grpSpPr>
        <p:sp>
          <p:nvSpPr>
            <p:cNvPr id="1032" name="AutoShape 8"/>
            <p:cNvSpPr>
              <a:spLocks noChangeArrowheads="1"/>
            </p:cNvSpPr>
            <p:nvPr/>
          </p:nvSpPr>
          <p:spPr bwMode="auto">
            <a:xfrm>
              <a:off x="106" y="144"/>
              <a:ext cx="5558" cy="3840"/>
            </a:xfrm>
            <a:prstGeom prst="roundRect">
              <a:avLst>
                <a:gd name="adj" fmla="val 11046"/>
              </a:avLst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24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33" name="Line 9"/>
            <p:cNvSpPr>
              <a:spLocks noChangeShapeType="1"/>
            </p:cNvSpPr>
            <p:nvPr/>
          </p:nvSpPr>
          <p:spPr bwMode="auto">
            <a:xfrm>
              <a:off x="480" y="1077"/>
              <a:ext cx="4848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720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l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95" name="Rectangle 43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304800" y="6615113"/>
            <a:ext cx="1905000" cy="30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50000"/>
              </a:spcBef>
              <a:defRPr sz="1400">
                <a:solidFill>
                  <a:srgbClr val="6D6E71"/>
                </a:solidFill>
                <a:ea typeface="宋体" pitchFamily="2" charset="-122"/>
                <a:cs typeface="Arial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25996" name="Rectangle 4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51625"/>
            <a:ext cx="9144000" cy="239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>
                <a:solidFill>
                  <a:srgbClr val="6D6E71"/>
                </a:solidFill>
                <a:cs typeface="+mn-cs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(Confidential – For Internal Use Only) Copyright © 2010 Rockwell Automation, Inc. All rights reserved.</a:t>
            </a:r>
          </a:p>
        </p:txBody>
      </p:sp>
      <p:sp>
        <p:nvSpPr>
          <p:cNvPr id="125997" name="Rectangle 4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643688"/>
            <a:ext cx="1905000" cy="30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000">
                <a:solidFill>
                  <a:srgbClr val="6D6E71"/>
                </a:solidFill>
                <a:ea typeface="宋体" pitchFamily="2" charset="-122"/>
                <a:cs typeface="Arial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C14E4DD5-0AF2-4277-817B-533C169EB35C}" type="slidenum">
              <a:rPr lang="en-US" altLang="zh-CN"/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  <p:grpSp>
        <p:nvGrpSpPr>
          <p:cNvPr id="1029" name="Group 52"/>
          <p:cNvGrpSpPr>
            <a:grpSpLocks/>
          </p:cNvGrpSpPr>
          <p:nvPr userDrawn="1"/>
        </p:nvGrpSpPr>
        <p:grpSpPr bwMode="auto">
          <a:xfrm>
            <a:off x="0" y="-38100"/>
            <a:ext cx="1143000" cy="627063"/>
            <a:chOff x="0" y="-24"/>
            <a:chExt cx="720" cy="395"/>
          </a:xfrm>
        </p:grpSpPr>
        <p:sp>
          <p:nvSpPr>
            <p:cNvPr id="126001" name="AutoShape 49"/>
            <p:cNvSpPr>
              <a:spLocks noChangeArrowheads="1"/>
            </p:cNvSpPr>
            <p:nvPr userDrawn="1"/>
          </p:nvSpPr>
          <p:spPr bwMode="auto">
            <a:xfrm>
              <a:off x="5" y="57"/>
              <a:ext cx="710" cy="314"/>
            </a:xfrm>
            <a:prstGeom prst="roundRect">
              <a:avLst>
                <a:gd name="adj" fmla="val 16667"/>
              </a:avLst>
            </a:prstGeom>
            <a:solidFill>
              <a:srgbClr val="E6E0C7"/>
            </a:solidFill>
            <a:ln w="12700" cap="sq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6002" name="Rectangle 50"/>
            <p:cNvSpPr>
              <a:spLocks noChangeArrowheads="1"/>
            </p:cNvSpPr>
            <p:nvPr userDrawn="1"/>
          </p:nvSpPr>
          <p:spPr bwMode="auto">
            <a:xfrm>
              <a:off x="0" y="-24"/>
              <a:ext cx="720" cy="288"/>
            </a:xfrm>
            <a:prstGeom prst="rect">
              <a:avLst/>
            </a:prstGeom>
            <a:solidFill>
              <a:srgbClr val="E6E0C7"/>
            </a:solidFill>
            <a:ln w="12700" cap="sq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6003" name="Rectangle 51"/>
            <p:cNvSpPr>
              <a:spLocks noChangeArrowheads="1"/>
            </p:cNvSpPr>
            <p:nvPr userDrawn="1"/>
          </p:nvSpPr>
          <p:spPr bwMode="auto">
            <a:xfrm>
              <a:off x="0" y="72"/>
              <a:ext cx="192" cy="288"/>
            </a:xfrm>
            <a:prstGeom prst="rect">
              <a:avLst/>
            </a:prstGeom>
            <a:solidFill>
              <a:srgbClr val="E6E0C7"/>
            </a:solidFill>
            <a:ln w="12700" cap="sq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grpSp>
        <p:nvGrpSpPr>
          <p:cNvPr id="1030" name="Group 61"/>
          <p:cNvGrpSpPr>
            <a:grpSpLocks/>
          </p:cNvGrpSpPr>
          <p:nvPr userDrawn="1"/>
        </p:nvGrpSpPr>
        <p:grpSpPr bwMode="auto">
          <a:xfrm>
            <a:off x="19050" y="852488"/>
            <a:ext cx="9104313" cy="61912"/>
            <a:chOff x="12" y="537"/>
            <a:chExt cx="5735" cy="39"/>
          </a:xfrm>
        </p:grpSpPr>
        <p:sp>
          <p:nvSpPr>
            <p:cNvPr id="126010" name="Line 58"/>
            <p:cNvSpPr>
              <a:spLocks noChangeShapeType="1"/>
            </p:cNvSpPr>
            <p:nvPr userDrawn="1"/>
          </p:nvSpPr>
          <p:spPr bwMode="auto">
            <a:xfrm flipV="1">
              <a:off x="27" y="537"/>
              <a:ext cx="5706" cy="0"/>
            </a:xfrm>
            <a:prstGeom prst="line">
              <a:avLst/>
            </a:prstGeom>
            <a:noFill/>
            <a:ln w="88900" cap="sq">
              <a:solidFill>
                <a:srgbClr val="E6E0C7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26011" name="Line 59"/>
            <p:cNvSpPr>
              <a:spLocks noChangeShapeType="1"/>
            </p:cNvSpPr>
            <p:nvPr userDrawn="1"/>
          </p:nvSpPr>
          <p:spPr bwMode="auto">
            <a:xfrm flipV="1">
              <a:off x="12" y="576"/>
              <a:ext cx="5735" cy="0"/>
            </a:xfrm>
            <a:prstGeom prst="line">
              <a:avLst/>
            </a:prstGeom>
            <a:noFill/>
            <a:ln w="38100" cap="sq">
              <a:solidFill>
                <a:srgbClr val="6D6E7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1031" name="Rectangle 6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066800"/>
            <a:ext cx="85344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add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32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0"/>
            <a:ext cx="7543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96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ransition spd="med">
    <p:split orient="vert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kumimoji="1" sz="2800" b="1">
          <a:solidFill>
            <a:srgbClr val="BB233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kumimoji="1" sz="2800" b="1">
          <a:solidFill>
            <a:srgbClr val="BB2332"/>
          </a:solidFill>
          <a:latin typeface="Trebuchet MS" pitchFamily="34" charset="0"/>
          <a:cs typeface="Arial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kumimoji="1" sz="2800" b="1">
          <a:solidFill>
            <a:srgbClr val="BB2332"/>
          </a:solidFill>
          <a:latin typeface="Trebuchet MS" pitchFamily="34" charset="0"/>
          <a:cs typeface="Arial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kumimoji="1" sz="2800" b="1">
          <a:solidFill>
            <a:srgbClr val="BB2332"/>
          </a:solidFill>
          <a:latin typeface="Trebuchet MS" pitchFamily="34" charset="0"/>
          <a:cs typeface="Arial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kumimoji="1" sz="2800" b="1">
          <a:solidFill>
            <a:srgbClr val="BB2332"/>
          </a:solidFill>
          <a:latin typeface="Trebuchet MS" pitchFamily="34" charset="0"/>
          <a:cs typeface="Arial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kumimoji="1" sz="2800" b="1">
          <a:solidFill>
            <a:srgbClr val="BB2332"/>
          </a:solidFill>
          <a:latin typeface="Trebuchet MS" pitchFamily="34" charset="0"/>
          <a:cs typeface="Arial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kumimoji="1" sz="2800" b="1">
          <a:solidFill>
            <a:srgbClr val="BB2332"/>
          </a:solidFill>
          <a:latin typeface="Trebuchet MS" pitchFamily="34" charset="0"/>
          <a:cs typeface="Arial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kumimoji="1" sz="2800" b="1">
          <a:solidFill>
            <a:srgbClr val="BB2332"/>
          </a:solidFill>
          <a:latin typeface="Trebuchet MS" pitchFamily="34" charset="0"/>
          <a:cs typeface="Arial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kumimoji="1" sz="2800" b="1">
          <a:solidFill>
            <a:srgbClr val="BB2332"/>
          </a:solidFill>
          <a:latin typeface="Trebuchet MS" pitchFamily="34" charset="0"/>
          <a:cs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lr>
          <a:srgbClr val="AFA044"/>
        </a:buClr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20000"/>
        </a:spcBef>
        <a:spcAft>
          <a:spcPct val="0"/>
        </a:spcAft>
        <a:buClr>
          <a:srgbClr val="AFA044"/>
        </a:buClr>
        <a:buFont typeface="Arial Narrow" pitchFamily="34" charset="0"/>
        <a:buChar char="–"/>
        <a:defRPr kumimoji="1"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AFA044"/>
        </a:buClr>
        <a:buChar char="•"/>
        <a:defRPr kumimoji="1"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AFA044"/>
        </a:buClr>
        <a:buChar char="–"/>
        <a:defRPr kumimoji="1"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AFA044"/>
        </a:buClr>
        <a:buChar char="•"/>
        <a:defRPr kumimoji="1"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AFA044"/>
        </a:buClr>
        <a:buChar char="•"/>
        <a:defRPr kumimoji="1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AFA044"/>
        </a:buClr>
        <a:buChar char="•"/>
        <a:defRPr kumimoji="1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AFA044"/>
        </a:buClr>
        <a:buChar char="•"/>
        <a:defRPr kumimoji="1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AFA044"/>
        </a:buClr>
        <a:buChar char="•"/>
        <a:defRPr kumimoji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rockwell-lab.com/bbs/UploadFile/2012-5/201252411391061759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hyperlink" Target="http://www.rockwell-lab.com/bbs/UploadFile/2012-5/201252411413799547.jp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rockwell-lab.com/bbs/UploadFile/2012-5/201252411434981464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www.rockwell-lab.com/bbs/UploadFile/2012-5/201252813205238807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hyperlink" Target="http://www.rockwell-lab.com/bbs/UploadFile/2012-5/201252813301740814.jp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ckwell-lab.com/bbs/UploadFile/2012-5/2012531138752924.jp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://www.rockwell-lab.com/bbs/UploadFile/2012-5/201253113144754606.jp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软件使用讲解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528" y="1750258"/>
            <a:ext cx="64087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创建新的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CCW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工程并编辑梯形图</a:t>
            </a:r>
            <a:r>
              <a:rPr lang="en-US" altLang="zh-CN" dirty="0" smtClean="0">
                <a:latin typeface="Arial" pitchFamily="34" charset="0"/>
                <a:ea typeface="宋体" pitchFamily="2" charset="-122"/>
                <a:cs typeface="Arial" pitchFamily="34" charset="0"/>
              </a:rPr>
              <a:t>,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双击桌面快捷图标：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4097" name="图片 2" descr="图片点击可在新窗口打开查看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839767"/>
            <a:ext cx="828675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 descr="图片点击可在新窗口打开查看">
            <a:hlinkClick r:id="rId4" tgtFrame="_blank"/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7584" y="2636910"/>
            <a:ext cx="4680520" cy="3585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724128" y="5661248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软件</a:t>
            </a:r>
            <a:r>
              <a:rPr lang="zh-CN" altLang="zh-CN" dirty="0" smtClean="0"/>
              <a:t>打开</a:t>
            </a:r>
            <a:r>
              <a:rPr lang="zh-CN" altLang="en-US" dirty="0" smtClean="0"/>
              <a:t>后界面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711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软件使用讲解</a:t>
            </a:r>
          </a:p>
        </p:txBody>
      </p:sp>
      <p:pic>
        <p:nvPicPr>
          <p:cNvPr id="7" name="图片 6" descr="图片点击可在新窗口打开查看">
            <a:hlinkClick r:id="rId2" tgtFrame="_blank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1988840"/>
            <a:ext cx="2078990" cy="254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/>
          <p:cNvPicPr/>
          <p:nvPr/>
        </p:nvPicPr>
        <p:blipFill>
          <a:blip r:embed="rId4"/>
          <a:srcRect r="76002" b="51743"/>
          <a:stretch>
            <a:fillRect/>
          </a:stretch>
        </p:blipFill>
        <p:spPr bwMode="auto">
          <a:xfrm>
            <a:off x="3635896" y="2204864"/>
            <a:ext cx="2886075" cy="1963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899592" y="4653136"/>
            <a:ext cx="71287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在创建工程之前，首先在设备工具箱中选择一个控制器，例如选择一个</a:t>
            </a:r>
            <a:r>
              <a:rPr lang="en-US" altLang="zh-CN" dirty="0"/>
              <a:t>2080</a:t>
            </a:r>
            <a:r>
              <a:rPr lang="zh-CN" altLang="zh-CN" dirty="0"/>
              <a:t>—</a:t>
            </a:r>
            <a:r>
              <a:rPr lang="en-US" altLang="zh-CN" dirty="0" smtClean="0"/>
              <a:t>LC30</a:t>
            </a:r>
            <a:r>
              <a:rPr lang="zh-CN" altLang="zh-CN" dirty="0" smtClean="0"/>
              <a:t>—</a:t>
            </a:r>
            <a:r>
              <a:rPr lang="en-US" altLang="zh-CN" dirty="0" smtClean="0"/>
              <a:t>16QWB</a:t>
            </a:r>
            <a:r>
              <a:rPr lang="zh-CN" altLang="zh-CN" dirty="0"/>
              <a:t>控制器</a:t>
            </a:r>
            <a:r>
              <a:rPr lang="zh-CN" altLang="zh-CN" dirty="0" smtClean="0"/>
              <a:t>。</a:t>
            </a:r>
            <a:r>
              <a:rPr lang="zh-CN" altLang="zh-CN" dirty="0"/>
              <a:t>选中控制器，双击即可</a:t>
            </a:r>
            <a:r>
              <a:rPr lang="en-US" altLang="zh-CN" dirty="0"/>
              <a:t>!</a:t>
            </a:r>
            <a:r>
              <a:rPr lang="zh-CN" altLang="zh-CN" dirty="0"/>
              <a:t>出现如下图左边所示的项目组织</a:t>
            </a:r>
            <a:r>
              <a:rPr lang="zh-CN" altLang="zh-CN" dirty="0" smtClean="0"/>
              <a:t>器</a:t>
            </a:r>
            <a:r>
              <a:rPr lang="en-US" altLang="zh-CN" dirty="0"/>
              <a:t>save</a:t>
            </a:r>
            <a:r>
              <a:rPr lang="zh-CN" altLang="zh-CN" dirty="0"/>
              <a:t>过后，</a:t>
            </a:r>
            <a:r>
              <a:rPr lang="en-US" altLang="zh-CN" dirty="0"/>
              <a:t>save</a:t>
            </a:r>
            <a:r>
              <a:rPr lang="zh-CN" altLang="zh-CN" dirty="0"/>
              <a:t>路径在</a:t>
            </a:r>
            <a:r>
              <a:rPr lang="en-US" altLang="zh-CN" dirty="0"/>
              <a:t>C:\Documents and Settings\qyang1\My Documents\CCW\XXXXX</a:t>
            </a:r>
            <a:r>
              <a:rPr lang="zh-CN" altLang="zh-CN" dirty="0"/>
              <a:t>；可以通过另存为进行修改</a:t>
            </a:r>
            <a:r>
              <a:rPr lang="zh-CN" altLang="zh-CN" dirty="0" smtClean="0"/>
              <a:t>。在</a:t>
            </a:r>
            <a:r>
              <a:rPr lang="zh-CN" altLang="zh-CN" dirty="0"/>
              <a:t>工程中添加新的梯形图程序，程序上右键，添加，选择新建</a:t>
            </a:r>
            <a:r>
              <a:rPr lang="en-US" altLang="zh-CN" dirty="0"/>
              <a:t>LD:</a:t>
            </a:r>
            <a:r>
              <a:rPr lang="zh-CN" altLang="zh-CN" dirty="0"/>
              <a:t>梯形图即可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261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软件使用讲解</a:t>
            </a:r>
          </a:p>
        </p:txBody>
      </p:sp>
      <p:pic>
        <p:nvPicPr>
          <p:cNvPr id="7" name="图片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576" y="1945640"/>
            <a:ext cx="5274310" cy="2966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611560" y="5301208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通过</a:t>
            </a:r>
            <a:r>
              <a:rPr lang="en-US" altLang="zh-CN" dirty="0"/>
              <a:t>USB</a:t>
            </a:r>
            <a:r>
              <a:rPr lang="zh-CN" altLang="zh-CN" dirty="0"/>
              <a:t>建立</a:t>
            </a:r>
            <a:r>
              <a:rPr lang="en-US" altLang="zh-CN" dirty="0" smtClean="0"/>
              <a:t>Micro830</a:t>
            </a:r>
            <a:r>
              <a:rPr lang="zh-CN" altLang="zh-CN" dirty="0"/>
              <a:t>和运行</a:t>
            </a:r>
            <a:r>
              <a:rPr lang="en-US" altLang="zh-CN" dirty="0"/>
              <a:t>CCW</a:t>
            </a:r>
            <a:r>
              <a:rPr lang="zh-CN" altLang="zh-CN" dirty="0"/>
              <a:t>和</a:t>
            </a:r>
            <a:r>
              <a:rPr lang="en-US" altLang="zh-CN" dirty="0" err="1"/>
              <a:t>RSLinx</a:t>
            </a:r>
            <a:r>
              <a:rPr lang="zh-CN" altLang="zh-CN" dirty="0"/>
              <a:t>软件的电脑的硬件连接。</a:t>
            </a:r>
          </a:p>
          <a:p>
            <a:r>
              <a:rPr lang="zh-CN" altLang="zh-CN" dirty="0"/>
              <a:t>在</a:t>
            </a:r>
            <a:r>
              <a:rPr lang="en-US" altLang="zh-CN" dirty="0"/>
              <a:t>CCW</a:t>
            </a:r>
            <a:r>
              <a:rPr lang="zh-CN" altLang="zh-CN" dirty="0"/>
              <a:t>软件中将软件与控制器连接。</a:t>
            </a:r>
          </a:p>
          <a:p>
            <a:r>
              <a:rPr lang="zh-CN" altLang="zh-CN" dirty="0"/>
              <a:t>双击图中左边的控制器</a:t>
            </a:r>
            <a:r>
              <a:rPr lang="en-US" altLang="zh-CN" dirty="0" smtClean="0"/>
              <a:t>Micro830</a:t>
            </a:r>
            <a:r>
              <a:rPr lang="zh-CN" altLang="zh-CN" dirty="0"/>
              <a:t>，然后会弹出右边的画面，点击连接按键。</a:t>
            </a:r>
            <a:r>
              <a:rPr lang="en-US" altLang="zh-CN" dirty="0"/>
              <a:t> 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843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软件使用讲解</a:t>
            </a:r>
          </a:p>
        </p:txBody>
      </p:sp>
      <p:pic>
        <p:nvPicPr>
          <p:cNvPr id="6" name="图片 5" descr="图片点击可在新窗口打开查看">
            <a:hlinkClick r:id="rId2" tgtFrame="_blank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9" y="1772817"/>
            <a:ext cx="3816423" cy="3115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 descr="图片点击可在新窗口打开查看">
            <a:hlinkClick r:id="rId4" tgtFrame="_blank"/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29159" y="1772818"/>
            <a:ext cx="4291313" cy="3115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539552" y="5157192"/>
            <a:ext cx="8064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梯形图指令工具箱，位置在软件平台</a:t>
            </a:r>
            <a:r>
              <a:rPr lang="zh-CN" altLang="zh-CN" dirty="0" smtClean="0"/>
              <a:t>右边</a:t>
            </a:r>
            <a:r>
              <a:rPr lang="zh-CN" altLang="en-US" dirty="0" smtClean="0"/>
              <a:t>，</a:t>
            </a:r>
            <a:r>
              <a:rPr lang="zh-CN" altLang="zh-CN" dirty="0"/>
              <a:t>例如我们需要两个直接接触串联，南北红灯和东西绿灯，点击直接接触指令从工具箱中拖拽到梯级横线上，然后释放</a:t>
            </a:r>
            <a:r>
              <a:rPr lang="zh-CN" altLang="zh-CN" dirty="0" smtClean="0"/>
              <a:t>，</a:t>
            </a:r>
            <a:r>
              <a:rPr lang="zh-CN" altLang="zh-CN" dirty="0"/>
              <a:t>释放指令的同时会弹出变量选择界面，选择相应的变量。点击</a:t>
            </a:r>
            <a:r>
              <a:rPr lang="en-US" altLang="zh-CN" dirty="0"/>
              <a:t>ok</a:t>
            </a:r>
            <a:r>
              <a:rPr lang="zh-CN" altLang="zh-CN" dirty="0"/>
              <a:t>！（可以放好以后，双击指令来设置）。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444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软件使用讲解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rcRect l="33077" t="17694" r="33244" b="21716"/>
          <a:stretch>
            <a:fillRect/>
          </a:stretch>
        </p:blipFill>
        <p:spPr bwMode="auto">
          <a:xfrm>
            <a:off x="539552" y="1844824"/>
            <a:ext cx="3455670" cy="2909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 descr="图片点击可在新窗口打开查看">
            <a:hlinkClick r:id="rId3" tgtFrame="_blank"/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4869160"/>
            <a:ext cx="4874895" cy="1353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4211960" y="1988840"/>
            <a:ext cx="43204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选中你的控制器，单机</a:t>
            </a:r>
            <a:r>
              <a:rPr lang="en-US" altLang="zh-CN" dirty="0"/>
              <a:t>ok</a:t>
            </a:r>
            <a:r>
              <a:rPr lang="zh-CN" altLang="zh-CN" dirty="0"/>
              <a:t>。查看设备工具栏的状态会显示已经连接</a:t>
            </a:r>
            <a:r>
              <a:rPr lang="zh-CN" altLang="zh-CN" dirty="0" smtClean="0"/>
              <a:t>。在</a:t>
            </a:r>
            <a:r>
              <a:rPr lang="zh-CN" altLang="zh-CN" dirty="0"/>
              <a:t>项目组织器中右键</a:t>
            </a:r>
            <a:r>
              <a:rPr lang="en-US" altLang="zh-CN" dirty="0" smtClean="0"/>
              <a:t>Micro830</a:t>
            </a:r>
            <a:r>
              <a:rPr lang="zh-CN" altLang="zh-CN" dirty="0"/>
              <a:t>图标，选择生成</a:t>
            </a:r>
            <a:r>
              <a:rPr lang="zh-CN" altLang="zh-CN" dirty="0" smtClean="0"/>
              <a:t>。查看</a:t>
            </a:r>
            <a:r>
              <a:rPr lang="zh-CN" altLang="zh-CN" dirty="0"/>
              <a:t>输出窗口是否有报错</a:t>
            </a:r>
            <a:r>
              <a:rPr lang="zh-CN" altLang="zh-CN" dirty="0" smtClean="0"/>
              <a:t>。</a:t>
            </a:r>
            <a:r>
              <a:rPr lang="zh-CN" altLang="zh-CN" dirty="0"/>
              <a:t>当发现没有错误以后，选择下载。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642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软件使用讲解</a:t>
            </a:r>
          </a:p>
        </p:txBody>
      </p:sp>
      <p:pic>
        <p:nvPicPr>
          <p:cNvPr id="7" name="图片 6" descr="图片点击可在新窗口打开查看">
            <a:hlinkClick r:id="rId2" tgtFrame="_blank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916832"/>
            <a:ext cx="3010535" cy="234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499992" y="2276872"/>
            <a:ext cx="36724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如果</a:t>
            </a:r>
            <a:r>
              <a:rPr lang="en-US" altLang="zh-CN" dirty="0"/>
              <a:t>PLC</a:t>
            </a:r>
            <a:r>
              <a:rPr lang="zh-CN" altLang="zh-CN" dirty="0"/>
              <a:t>正处在</a:t>
            </a:r>
            <a:r>
              <a:rPr lang="en-US" altLang="zh-CN" dirty="0"/>
              <a:t>run</a:t>
            </a:r>
            <a:r>
              <a:rPr lang="zh-CN" altLang="zh-CN" dirty="0"/>
              <a:t>模式，会提示你是否把模式改为</a:t>
            </a:r>
            <a:r>
              <a:rPr lang="en-US" altLang="zh-CN" dirty="0"/>
              <a:t>program</a:t>
            </a:r>
            <a:r>
              <a:rPr lang="zh-CN" altLang="zh-CN" dirty="0"/>
              <a:t>模式，当下载完成以后是否改成原模式，确定即马上运行下载程序，否则需要做出进一步的修改。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4725144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按照前面所述，创建、生成、下载一个程序，假定此程序已经在</a:t>
            </a:r>
            <a:r>
              <a:rPr lang="en-US" altLang="zh-CN" dirty="0"/>
              <a:t>plc</a:t>
            </a:r>
            <a:r>
              <a:rPr lang="zh-CN" altLang="zh-CN" dirty="0"/>
              <a:t>上运行</a:t>
            </a:r>
            <a:r>
              <a:rPr lang="zh-CN" altLang="zh-CN" dirty="0" smtClean="0"/>
              <a:t>。查实</a:t>
            </a:r>
            <a:r>
              <a:rPr lang="en-US" altLang="zh-CN" dirty="0"/>
              <a:t>plc</a:t>
            </a:r>
            <a:r>
              <a:rPr lang="zh-CN" altLang="zh-CN" dirty="0"/>
              <a:t>处在运行状态。如果不是处在运行状态，切换到运行状态。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34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梯级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rcRect r="14791" b="55637"/>
          <a:stretch>
            <a:fillRect/>
          </a:stretch>
        </p:blipFill>
        <p:spPr bwMode="auto">
          <a:xfrm>
            <a:off x="971600" y="1988840"/>
            <a:ext cx="4490085" cy="1769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/>
          <p:nvPr/>
        </p:nvPicPr>
        <p:blipFill>
          <a:blip r:embed="rId2"/>
          <a:srcRect l="85753" t="55665"/>
          <a:stretch>
            <a:fillRect/>
          </a:stretch>
        </p:blipFill>
        <p:spPr bwMode="auto">
          <a:xfrm>
            <a:off x="6084168" y="2000377"/>
            <a:ext cx="2262505" cy="2164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430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线圈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rcRect l="33979" t="30397" r="21222" b="30817"/>
          <a:stretch>
            <a:fillRect/>
          </a:stretch>
        </p:blipFill>
        <p:spPr bwMode="auto">
          <a:xfrm>
            <a:off x="251521" y="1927406"/>
            <a:ext cx="3960440" cy="3301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/>
          <p:cNvPicPr/>
          <p:nvPr/>
        </p:nvPicPr>
        <p:blipFill>
          <a:blip r:embed="rId3"/>
          <a:srcRect l="34051" t="30049" r="32959" b="26601"/>
          <a:stretch>
            <a:fillRect/>
          </a:stretch>
        </p:blipFill>
        <p:spPr bwMode="auto">
          <a:xfrm>
            <a:off x="4240467" y="1844824"/>
            <a:ext cx="437642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0309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线圈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rcRect l="34172" t="30296" r="32405" b="29064"/>
          <a:stretch>
            <a:fillRect/>
          </a:stretch>
        </p:blipFill>
        <p:spPr bwMode="auto">
          <a:xfrm>
            <a:off x="395537" y="1916832"/>
            <a:ext cx="4032448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/>
          <p:nvPr/>
        </p:nvPicPr>
        <p:blipFill>
          <a:blip r:embed="rId3"/>
          <a:srcRect l="33768" t="25616" r="32127" b="33964"/>
          <a:stretch>
            <a:fillRect/>
          </a:stretch>
        </p:blipFill>
        <p:spPr bwMode="auto">
          <a:xfrm>
            <a:off x="4432378" y="1908861"/>
            <a:ext cx="4347845" cy="3464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8992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线圈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rcRect l="33861" t="26264" r="32543" b="20690"/>
          <a:stretch>
            <a:fillRect/>
          </a:stretch>
        </p:blipFill>
        <p:spPr bwMode="auto">
          <a:xfrm>
            <a:off x="665924" y="1916832"/>
            <a:ext cx="3894455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/>
          <p:cNvPicPr/>
          <p:nvPr/>
        </p:nvPicPr>
        <p:blipFill>
          <a:blip r:embed="rId3"/>
          <a:srcRect l="33756" t="26355" r="32682" b="20443"/>
          <a:stretch>
            <a:fillRect/>
          </a:stretch>
        </p:blipFill>
        <p:spPr bwMode="auto">
          <a:xfrm>
            <a:off x="4560379" y="1916832"/>
            <a:ext cx="3761105" cy="3600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23179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接触器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rcRect l="34172" t="29803" r="32405" b="33251"/>
          <a:stretch>
            <a:fillRect/>
          </a:stretch>
        </p:blipFill>
        <p:spPr bwMode="auto">
          <a:xfrm>
            <a:off x="611561" y="1844824"/>
            <a:ext cx="3744416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/>
          <p:nvPr/>
        </p:nvPicPr>
        <p:blipFill>
          <a:blip r:embed="rId3"/>
          <a:srcRect l="34033" t="30049" r="32682" b="33498"/>
          <a:stretch>
            <a:fillRect/>
          </a:stretch>
        </p:blipFill>
        <p:spPr bwMode="auto">
          <a:xfrm>
            <a:off x="4499992" y="1772816"/>
            <a:ext cx="4268221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4515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接触器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rcRect l="34000" t="25862" r="32543" b="32020"/>
          <a:stretch>
            <a:fillRect/>
          </a:stretch>
        </p:blipFill>
        <p:spPr bwMode="auto">
          <a:xfrm>
            <a:off x="539553" y="1844824"/>
            <a:ext cx="3960439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/>
          <p:cNvPicPr/>
          <p:nvPr/>
        </p:nvPicPr>
        <p:blipFill>
          <a:blip r:embed="rId3"/>
          <a:srcRect l="34056" t="26108" r="31989" b="31773"/>
          <a:stretch>
            <a:fillRect/>
          </a:stretch>
        </p:blipFill>
        <p:spPr bwMode="auto">
          <a:xfrm>
            <a:off x="4788024" y="1844824"/>
            <a:ext cx="3888432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9847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指令块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1560" y="2348880"/>
            <a:ext cx="79928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 </a:t>
            </a:r>
            <a:r>
              <a:rPr lang="zh-CN" altLang="zh-CN" dirty="0" smtClean="0"/>
              <a:t>可以</a:t>
            </a:r>
            <a:r>
              <a:rPr lang="zh-CN" altLang="zh-CN" dirty="0"/>
              <a:t>是位操作指令块，函数指令块或者是功能指令块，在梯形图编辑中，可以添加指令块到布尔梯级中，加到梯级后可以随时用指令快选择器设置指令块的类型，随后相关参数将会自动陈列出来。指令块选择器直接双击拖到梯形图中的指令快即可看到。</a:t>
            </a:r>
          </a:p>
          <a:p>
            <a:r>
              <a:rPr lang="en-US" altLang="zh-CN" dirty="0"/>
              <a:t>EN</a:t>
            </a:r>
            <a:r>
              <a:rPr lang="zh-CN" altLang="zh-CN" dirty="0"/>
              <a:t>输入：</a:t>
            </a:r>
          </a:p>
          <a:p>
            <a:r>
              <a:rPr lang="zh-CN" altLang="zh-CN" dirty="0"/>
              <a:t>一些指令块的第一输入不是布尔数据类型，由于第一输入总是连接到梯级上的，所以在这种情况下另一种叫</a:t>
            </a:r>
            <a:r>
              <a:rPr lang="en-US" altLang="zh-CN" dirty="0"/>
              <a:t>EN</a:t>
            </a:r>
            <a:r>
              <a:rPr lang="zh-CN" altLang="zh-CN" dirty="0"/>
              <a:t>的输入会自动添加到第一输入的位置。仅当</a:t>
            </a:r>
            <a:r>
              <a:rPr lang="en-US" altLang="zh-CN" dirty="0"/>
              <a:t>EN</a:t>
            </a:r>
            <a:r>
              <a:rPr lang="zh-CN" altLang="zh-CN" dirty="0"/>
              <a:t>输入为真时，指令块才执行。</a:t>
            </a:r>
          </a:p>
          <a:p>
            <a:r>
              <a:rPr lang="en-US" altLang="zh-CN" dirty="0"/>
              <a:t>ENO</a:t>
            </a:r>
            <a:r>
              <a:rPr lang="zh-CN" altLang="zh-CN" dirty="0"/>
              <a:t>输出：</a:t>
            </a:r>
          </a:p>
          <a:p>
            <a:r>
              <a:rPr lang="zh-CN" altLang="zh-CN" dirty="0"/>
              <a:t>一些指令块的第一输出不是布尔数据类型，由于第一输出总是连接到梯级上的，所以在这种情况下另一种叫</a:t>
            </a:r>
            <a:r>
              <a:rPr lang="en-US" altLang="zh-CN" dirty="0"/>
              <a:t>ENO</a:t>
            </a:r>
            <a:r>
              <a:rPr lang="zh-CN" altLang="zh-CN" dirty="0"/>
              <a:t>的输出会自动添加到第一输出的位置。</a:t>
            </a:r>
            <a:r>
              <a:rPr lang="en-US" altLang="zh-CN" dirty="0"/>
              <a:t>ENO</a:t>
            </a:r>
            <a:r>
              <a:rPr lang="zh-CN" altLang="zh-CN" dirty="0"/>
              <a:t>输出的状态总与该指令块的第一输入的状态一致。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423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延时器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rcRect l="34297" t="30296" r="53901" b="56650"/>
          <a:stretch>
            <a:fillRect/>
          </a:stretch>
        </p:blipFill>
        <p:spPr bwMode="auto">
          <a:xfrm>
            <a:off x="1099175" y="1993032"/>
            <a:ext cx="2801620" cy="187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/>
          <p:nvPr/>
        </p:nvPicPr>
        <p:blipFill>
          <a:blip r:embed="rId3"/>
          <a:srcRect l="34308" t="35714" r="32959" b="32512"/>
          <a:stretch>
            <a:fillRect/>
          </a:stretch>
        </p:blipFill>
        <p:spPr bwMode="auto">
          <a:xfrm>
            <a:off x="4716016" y="1993032"/>
            <a:ext cx="3543300" cy="2486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/>
          <p:cNvPicPr/>
          <p:nvPr/>
        </p:nvPicPr>
        <p:blipFill>
          <a:blip r:embed="rId4"/>
          <a:srcRect l="35004" t="40647" r="38917" b="38985"/>
          <a:stretch>
            <a:fillRect/>
          </a:stretch>
        </p:blipFill>
        <p:spPr bwMode="auto">
          <a:xfrm>
            <a:off x="683568" y="4149080"/>
            <a:ext cx="3632835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925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计数器</a:t>
            </a:r>
          </a:p>
        </p:txBody>
      </p:sp>
      <p:pic>
        <p:nvPicPr>
          <p:cNvPr id="7" name="图片 6"/>
          <p:cNvPicPr/>
          <p:nvPr/>
        </p:nvPicPr>
        <p:blipFill>
          <a:blip r:embed="rId2"/>
          <a:srcRect l="34592" t="38177" r="55011" b="39401"/>
          <a:stretch>
            <a:fillRect/>
          </a:stretch>
        </p:blipFill>
        <p:spPr bwMode="auto">
          <a:xfrm>
            <a:off x="827584" y="1916832"/>
            <a:ext cx="2791460" cy="225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/>
          <p:cNvPicPr/>
          <p:nvPr/>
        </p:nvPicPr>
        <p:blipFill>
          <a:blip r:embed="rId3"/>
          <a:srcRect l="34865" t="32266" r="32682" b="30296"/>
          <a:stretch>
            <a:fillRect/>
          </a:stretch>
        </p:blipFill>
        <p:spPr bwMode="auto">
          <a:xfrm>
            <a:off x="4283968" y="1916832"/>
            <a:ext cx="3491865" cy="2494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518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类型转换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rcRect l="34403" t="38473" r="59624" b="50602"/>
          <a:stretch>
            <a:fillRect/>
          </a:stretch>
        </p:blipFill>
        <p:spPr bwMode="auto">
          <a:xfrm>
            <a:off x="611560" y="2046287"/>
            <a:ext cx="2548255" cy="2164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/>
          <p:cNvPicPr/>
          <p:nvPr/>
        </p:nvPicPr>
        <p:blipFill>
          <a:blip r:embed="rId3"/>
          <a:srcRect l="34527" t="29284" r="32830" b="32188"/>
          <a:stretch>
            <a:fillRect/>
          </a:stretch>
        </p:blipFill>
        <p:spPr bwMode="auto">
          <a:xfrm>
            <a:off x="3851920" y="2046287"/>
            <a:ext cx="3627120" cy="276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3521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工具箱中常用工具介绍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函数指令</a:t>
            </a:r>
          </a:p>
        </p:txBody>
      </p:sp>
      <p:pic>
        <p:nvPicPr>
          <p:cNvPr id="7" name="图片 6"/>
          <p:cNvPicPr/>
          <p:nvPr/>
        </p:nvPicPr>
        <p:blipFill>
          <a:blip r:embed="rId2"/>
          <a:srcRect l="33201" t="23645" r="60558" b="65518"/>
          <a:stretch>
            <a:fillRect/>
          </a:stretch>
        </p:blipFill>
        <p:spPr bwMode="auto">
          <a:xfrm>
            <a:off x="1115616" y="2046603"/>
            <a:ext cx="1367155" cy="1382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/>
          <p:cNvPicPr/>
          <p:nvPr/>
        </p:nvPicPr>
        <p:blipFill>
          <a:blip r:embed="rId3"/>
          <a:srcRect l="33478" t="15517" r="34208" b="15517"/>
          <a:stretch>
            <a:fillRect/>
          </a:stretch>
        </p:blipFill>
        <p:spPr bwMode="auto">
          <a:xfrm>
            <a:off x="4644008" y="2046604"/>
            <a:ext cx="3545205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755576" y="3933056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GAIN</a:t>
            </a:r>
            <a:r>
              <a:rPr lang="zh-CN" altLang="zh-CN" dirty="0"/>
              <a:t>直接传输指令块多数情况用来幅值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459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软件使用讲解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3608" y="1920240"/>
            <a:ext cx="5274310" cy="2966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827584" y="5229200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从调试菜单中选择，启动</a:t>
            </a:r>
            <a:r>
              <a:rPr lang="zh-CN" altLang="zh-CN" dirty="0" smtClean="0"/>
              <a:t>调试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20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CCW</a:t>
            </a:r>
            <a:r>
              <a:rPr lang="zh-CN" altLang="en-US" b="1" dirty="0" smtClean="0"/>
              <a:t>软件使用讲解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576" y="1945640"/>
            <a:ext cx="5274310" cy="2966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55576" y="5301208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启动调试后，界面会变成下面的状态，红色的表示已经接通，蓝色的表示未接通。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999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实验内容</a:t>
            </a:r>
            <a:endParaRPr lang="zh-CN" altLang="en-US" b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755576" y="1844824"/>
            <a:ext cx="72728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使用</a:t>
            </a:r>
            <a:r>
              <a:rPr lang="en-US" altLang="zh-CN" sz="2400" dirty="0" smtClean="0"/>
              <a:t>Micro830</a:t>
            </a:r>
            <a:r>
              <a:rPr lang="zh-CN" altLang="en-US" sz="2400" dirty="0" smtClean="0"/>
              <a:t>平台模拟如下红绿灯运行模式：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   </a:t>
            </a:r>
            <a:r>
              <a:rPr lang="zh-CN" altLang="en-US" sz="2400" dirty="0" smtClean="0"/>
              <a:t>点击启动按钮，东西方向绿灯亮起，南北方向红灯亮起，</a:t>
            </a:r>
            <a:r>
              <a:rPr lang="en-US" altLang="zh-CN" sz="2400" dirty="0" smtClean="0"/>
              <a:t>3s</a:t>
            </a:r>
            <a:r>
              <a:rPr lang="zh-CN" altLang="en-US" sz="2400" dirty="0" smtClean="0"/>
              <a:t>后熄灭，东西方向和南北方向黄灯以</a:t>
            </a:r>
            <a:r>
              <a:rPr lang="en-US" altLang="zh-CN" sz="2400" dirty="0" smtClean="0"/>
              <a:t>0.5s</a:t>
            </a:r>
            <a:r>
              <a:rPr lang="zh-CN" altLang="en-US" sz="2400" dirty="0" smtClean="0"/>
              <a:t>的间隔闪烁，</a:t>
            </a:r>
            <a:r>
              <a:rPr lang="en-US" altLang="zh-CN" sz="2400" dirty="0" smtClean="0"/>
              <a:t>3s</a:t>
            </a:r>
            <a:r>
              <a:rPr lang="zh-CN" altLang="en-US" sz="2400" dirty="0" smtClean="0"/>
              <a:t>后黄灯熄灭，东西方向红灯亮起，南北方向绿灯亮起，</a:t>
            </a:r>
            <a:r>
              <a:rPr lang="en-US" altLang="zh-CN" sz="2400" dirty="0" smtClean="0"/>
              <a:t>3s</a:t>
            </a:r>
            <a:r>
              <a:rPr lang="zh-CN" altLang="en-US" sz="2400" dirty="0" smtClean="0"/>
              <a:t>后熄灭，循环至第一个状态。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   </a:t>
            </a:r>
            <a:r>
              <a:rPr lang="zh-CN" altLang="en-US" sz="2400" dirty="0" smtClean="0"/>
              <a:t>点击停止键，系统停止工作，按下启动键后重新启动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   </a:t>
            </a:r>
            <a:r>
              <a:rPr lang="zh-CN" altLang="en-US" sz="2400" dirty="0" smtClean="0"/>
              <a:t>额外内容：按下启动键重新启动后，从按下停机时的状态启动。</a:t>
            </a:r>
            <a:endParaRPr lang="en-US" altLang="zh-CN" sz="2400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en-US" altLang="zh-CN" dirty="0" smtClean="0"/>
              <a:t>       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05364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Rockwell_Automation">
  <a:themeElements>
    <a:clrScheme name="1_Rockwell_Automation 1">
      <a:dk1>
        <a:srgbClr val="000000"/>
      </a:dk1>
      <a:lt1>
        <a:srgbClr val="FFFFFF"/>
      </a:lt1>
      <a:dk2>
        <a:srgbClr val="BB2332"/>
      </a:dk2>
      <a:lt2>
        <a:srgbClr val="868686"/>
      </a:lt2>
      <a:accent1>
        <a:srgbClr val="BB2332"/>
      </a:accent1>
      <a:accent2>
        <a:srgbClr val="CBC18B"/>
      </a:accent2>
      <a:accent3>
        <a:srgbClr val="FFFFFF"/>
      </a:accent3>
      <a:accent4>
        <a:srgbClr val="000000"/>
      </a:accent4>
      <a:accent5>
        <a:srgbClr val="DAACAD"/>
      </a:accent5>
      <a:accent6>
        <a:srgbClr val="B8AF7D"/>
      </a:accent6>
      <a:hlink>
        <a:srgbClr val="034EA2"/>
      </a:hlink>
      <a:folHlink>
        <a:srgbClr val="4FB3CE"/>
      </a:folHlink>
    </a:clrScheme>
    <a:fontScheme name="1_Rockwell_Automation">
      <a:majorFont>
        <a:latin typeface="Trebuchet MS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4FB3CE"/>
        </a:soli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4FB3CE"/>
        </a:soli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1_Rockwell_Automation 1">
        <a:dk1>
          <a:srgbClr val="000000"/>
        </a:dk1>
        <a:lt1>
          <a:srgbClr val="FFFFFF"/>
        </a:lt1>
        <a:dk2>
          <a:srgbClr val="BB2332"/>
        </a:dk2>
        <a:lt2>
          <a:srgbClr val="868686"/>
        </a:lt2>
        <a:accent1>
          <a:srgbClr val="BB2332"/>
        </a:accent1>
        <a:accent2>
          <a:srgbClr val="CBC18B"/>
        </a:accent2>
        <a:accent3>
          <a:srgbClr val="FFFFFF"/>
        </a:accent3>
        <a:accent4>
          <a:srgbClr val="000000"/>
        </a:accent4>
        <a:accent5>
          <a:srgbClr val="DAACAD"/>
        </a:accent5>
        <a:accent6>
          <a:srgbClr val="B8AF7D"/>
        </a:accent6>
        <a:hlink>
          <a:srgbClr val="034EA2"/>
        </a:hlink>
        <a:folHlink>
          <a:srgbClr val="4FB3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808</Words>
  <Application>Microsoft Office PowerPoint</Application>
  <PresentationFormat>全屏显示(4:3)</PresentationFormat>
  <Paragraphs>43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 Unicode MS</vt:lpstr>
      <vt:lpstr>宋体</vt:lpstr>
      <vt:lpstr>Arial</vt:lpstr>
      <vt:lpstr>Arial Black</vt:lpstr>
      <vt:lpstr>Arial Narrow</vt:lpstr>
      <vt:lpstr>Calibri</vt:lpstr>
      <vt:lpstr>Times New Roman</vt:lpstr>
      <vt:lpstr>Trebuchet MS</vt:lpstr>
      <vt:lpstr>Wingdings</vt:lpstr>
      <vt:lpstr>3_Studio</vt:lpstr>
      <vt:lpstr>1_Rockwell_Automation</vt:lpstr>
      <vt:lpstr>CCW软件使用讲解</vt:lpstr>
      <vt:lpstr>CCW软件使用讲解</vt:lpstr>
      <vt:lpstr>CCW软件使用讲解</vt:lpstr>
      <vt:lpstr>CCW软件使用讲解</vt:lpstr>
      <vt:lpstr>CCW软件使用讲解</vt:lpstr>
      <vt:lpstr>CCW软件使用讲解</vt:lpstr>
      <vt:lpstr>CCW工具箱中常用工具介绍-梯级</vt:lpstr>
      <vt:lpstr>CCW工具箱中常用工具介绍-线圈</vt:lpstr>
      <vt:lpstr>CCW工具箱中常用工具介绍-线圈</vt:lpstr>
      <vt:lpstr>CCW工具箱中常用工具介绍-线圈</vt:lpstr>
      <vt:lpstr>CCW工具箱中常用工具介绍-接触器</vt:lpstr>
      <vt:lpstr>CCW工具箱中常用工具介绍-接触器</vt:lpstr>
      <vt:lpstr>CCW工具箱中常用工具介绍-指令块</vt:lpstr>
      <vt:lpstr>CCW工具箱中常用工具介绍-延时器</vt:lpstr>
      <vt:lpstr>CCW工具箱中常用工具介绍-计数器</vt:lpstr>
      <vt:lpstr>CCW工具箱中常用工具介绍-类型转换</vt:lpstr>
      <vt:lpstr>CCW工具箱中常用工具介绍-函数指令</vt:lpstr>
      <vt:lpstr>CCW软件使用讲解</vt:lpstr>
      <vt:lpstr>CCW软件使用讲解</vt:lpstr>
      <vt:lpstr>实验内容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softstar</cp:lastModifiedBy>
  <cp:revision>79</cp:revision>
  <dcterms:created xsi:type="dcterms:W3CDTF">2014-11-04T02:10:10Z</dcterms:created>
  <dcterms:modified xsi:type="dcterms:W3CDTF">2017-09-27T02:14:26Z</dcterms:modified>
</cp:coreProperties>
</file>
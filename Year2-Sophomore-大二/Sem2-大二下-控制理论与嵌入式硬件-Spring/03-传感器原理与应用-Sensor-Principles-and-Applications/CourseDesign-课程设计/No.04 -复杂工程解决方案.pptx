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handoutMasterIdLst>
    <p:handoutMasterId r:id="rId41"/>
  </p:handoutMasterIdLst>
  <p:sldIdLst>
    <p:sldId id="446" r:id="rId2"/>
    <p:sldId id="259" r:id="rId3"/>
    <p:sldId id="276" r:id="rId4"/>
    <p:sldId id="277" r:id="rId5"/>
    <p:sldId id="279" r:id="rId6"/>
    <p:sldId id="425" r:id="rId7"/>
    <p:sldId id="426" r:id="rId8"/>
    <p:sldId id="428" r:id="rId9"/>
    <p:sldId id="429" r:id="rId10"/>
    <p:sldId id="430" r:id="rId11"/>
    <p:sldId id="284" r:id="rId12"/>
    <p:sldId id="285" r:id="rId13"/>
    <p:sldId id="286" r:id="rId14"/>
    <p:sldId id="287" r:id="rId15"/>
    <p:sldId id="431" r:id="rId16"/>
    <p:sldId id="432" r:id="rId17"/>
    <p:sldId id="442" r:id="rId18"/>
    <p:sldId id="443" r:id="rId19"/>
    <p:sldId id="444" r:id="rId20"/>
    <p:sldId id="445" r:id="rId21"/>
    <p:sldId id="293" r:id="rId22"/>
    <p:sldId id="294" r:id="rId23"/>
    <p:sldId id="295" r:id="rId24"/>
    <p:sldId id="278" r:id="rId25"/>
    <p:sldId id="441" r:id="rId26"/>
    <p:sldId id="434" r:id="rId27"/>
    <p:sldId id="412" r:id="rId28"/>
    <p:sldId id="413" r:id="rId29"/>
    <p:sldId id="416" r:id="rId30"/>
    <p:sldId id="417" r:id="rId31"/>
    <p:sldId id="418" r:id="rId32"/>
    <p:sldId id="419" r:id="rId33"/>
    <p:sldId id="421" r:id="rId34"/>
    <p:sldId id="439" r:id="rId35"/>
    <p:sldId id="440" r:id="rId36"/>
    <p:sldId id="435" r:id="rId37"/>
    <p:sldId id="437" r:id="rId38"/>
    <p:sldId id="275" r:id="rId39"/>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974" userDrawn="1">
          <p15:clr>
            <a:srgbClr val="A4A3A4"/>
          </p15:clr>
        </p15:guide>
        <p15:guide id="4" orient="horz" pos="346" userDrawn="1">
          <p15:clr>
            <a:srgbClr val="A4A3A4"/>
          </p15:clr>
        </p15:guide>
        <p15:guide id="5" pos="7469" userDrawn="1">
          <p15:clr>
            <a:srgbClr val="A4A3A4"/>
          </p15:clr>
        </p15:guide>
        <p15:guide id="6" pos="211" userDrawn="1">
          <p15:clr>
            <a:srgbClr val="A4A3A4"/>
          </p15:clr>
        </p15:guide>
        <p15:guide id="7" orient="horz" pos="79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658E"/>
    <a:srgbClr val="FCFB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62" d="100"/>
          <a:sy n="62" d="100"/>
        </p:scale>
        <p:origin x="720" y="48"/>
      </p:cViewPr>
      <p:guideLst>
        <p:guide orient="horz" pos="2160"/>
        <p:guide pos="3840"/>
        <p:guide orient="horz" pos="3974"/>
        <p:guide orient="horz" pos="346"/>
        <p:guide pos="7469"/>
        <p:guide pos="211"/>
        <p:guide orient="horz" pos="799"/>
      </p:guideLst>
    </p:cSldViewPr>
  </p:slideViewPr>
  <p:notesTextViewPr>
    <p:cViewPr>
      <p:scale>
        <a:sx n="1" d="1"/>
        <a:sy n="1" d="1"/>
      </p:scale>
      <p:origin x="0" y="0"/>
    </p:cViewPr>
  </p:notesTextViewPr>
  <p:sorterViewPr>
    <p:cViewPr>
      <p:scale>
        <a:sx n="100" d="100"/>
        <a:sy n="10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2025/4/17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FCFBFC"/>
        </a:solidFill>
        <a:effectLst/>
      </p:bgPr>
    </p:bg>
    <p:spTree>
      <p:nvGrpSpPr>
        <p:cNvPr id="1" name=""/>
        <p:cNvGrpSpPr/>
        <p:nvPr/>
      </p:nvGrpSpPr>
      <p:grpSpPr>
        <a:xfrm>
          <a:off x="0" y="0"/>
          <a:ext cx="0" cy="0"/>
          <a:chOff x="0" y="0"/>
          <a:chExt cx="0" cy="0"/>
        </a:xfrm>
      </p:grpSpPr>
      <p:grpSp>
        <p:nvGrpSpPr>
          <p:cNvPr id="97" name="组合 96"/>
          <p:cNvGrpSpPr/>
          <p:nvPr userDrawn="1"/>
        </p:nvGrpSpPr>
        <p:grpSpPr>
          <a:xfrm>
            <a:off x="0" y="-459802"/>
            <a:ext cx="7384517" cy="2520830"/>
            <a:chOff x="0" y="-474316"/>
            <a:chExt cx="7663542" cy="2616080"/>
          </a:xfrm>
        </p:grpSpPr>
        <p:sp>
          <p:nvSpPr>
            <p:cNvPr id="74" name="任意多边形: 形状 73"/>
            <p:cNvSpPr/>
            <p:nvPr/>
          </p:nvSpPr>
          <p:spPr>
            <a:xfrm>
              <a:off x="0" y="2860"/>
              <a:ext cx="7337689" cy="1757646"/>
            </a:xfrm>
            <a:custGeom>
              <a:avLst/>
              <a:gdLst>
                <a:gd name="connsiteX0" fmla="*/ 0 w 7337689"/>
                <a:gd name="connsiteY0" fmla="*/ 0 h 1757646"/>
                <a:gd name="connsiteX1" fmla="*/ 7337689 w 7337689"/>
                <a:gd name="connsiteY1" fmla="*/ 0 h 1757646"/>
                <a:gd name="connsiteX2" fmla="*/ 7297228 w 7337689"/>
                <a:gd name="connsiteY2" fmla="*/ 65762 h 1757646"/>
                <a:gd name="connsiteX3" fmla="*/ 6685085 w 7337689"/>
                <a:gd name="connsiteY3" fmla="*/ 371896 h 1757646"/>
                <a:gd name="connsiteX4" fmla="*/ 5466812 w 7337689"/>
                <a:gd name="connsiteY4" fmla="*/ 268096 h 1757646"/>
                <a:gd name="connsiteX5" fmla="*/ 4842196 w 7337689"/>
                <a:gd name="connsiteY5" fmla="*/ 672366 h 1757646"/>
                <a:gd name="connsiteX6" fmla="*/ 3345303 w 7337689"/>
                <a:gd name="connsiteY6" fmla="*/ 706967 h 1757646"/>
                <a:gd name="connsiteX7" fmla="*/ 1842948 w 7337689"/>
                <a:gd name="connsiteY7" fmla="*/ 690577 h 1757646"/>
                <a:gd name="connsiteX8" fmla="*/ 1090859 w 7337689"/>
                <a:gd name="connsiteY8" fmla="*/ 1291519 h 1757646"/>
                <a:gd name="connsiteX9" fmla="*/ 15206 w 7337689"/>
                <a:gd name="connsiteY9" fmla="*/ 1755272 h 1757646"/>
                <a:gd name="connsiteX10" fmla="*/ 0 w 7337689"/>
                <a:gd name="connsiteY10" fmla="*/ 1757646 h 1757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689" h="1757646">
                  <a:moveTo>
                    <a:pt x="0" y="0"/>
                  </a:moveTo>
                  <a:lnTo>
                    <a:pt x="7337689" y="0"/>
                  </a:lnTo>
                  <a:lnTo>
                    <a:pt x="7297228" y="65762"/>
                  </a:lnTo>
                  <a:cubicBezTo>
                    <a:pt x="7159522" y="253784"/>
                    <a:pt x="6920910" y="362336"/>
                    <a:pt x="6685085" y="371896"/>
                  </a:cubicBezTo>
                  <a:cubicBezTo>
                    <a:pt x="6273531" y="386465"/>
                    <a:pt x="5858335" y="138804"/>
                    <a:pt x="5466812" y="268096"/>
                  </a:cubicBezTo>
                  <a:cubicBezTo>
                    <a:pt x="5230078" y="346402"/>
                    <a:pt x="5057078" y="548536"/>
                    <a:pt x="4842196" y="672366"/>
                  </a:cubicBezTo>
                  <a:cubicBezTo>
                    <a:pt x="4397863" y="927312"/>
                    <a:pt x="3842447" y="825334"/>
                    <a:pt x="3345303" y="706967"/>
                  </a:cubicBezTo>
                  <a:cubicBezTo>
                    <a:pt x="2848161" y="588599"/>
                    <a:pt x="2303670" y="466590"/>
                    <a:pt x="1842948" y="690577"/>
                  </a:cubicBezTo>
                  <a:cubicBezTo>
                    <a:pt x="1553403" y="830798"/>
                    <a:pt x="1342162" y="1091205"/>
                    <a:pt x="1090859" y="1291519"/>
                  </a:cubicBezTo>
                  <a:cubicBezTo>
                    <a:pt x="876546" y="1462014"/>
                    <a:pt x="434276" y="1671547"/>
                    <a:pt x="15206" y="1755272"/>
                  </a:cubicBezTo>
                  <a:lnTo>
                    <a:pt x="0" y="1757646"/>
                  </a:lnTo>
                  <a:close/>
                </a:path>
              </a:pathLst>
            </a:custGeom>
            <a:solidFill>
              <a:srgbClr val="57658E"/>
            </a:solidFill>
            <a:ln w="9525" cap="flat">
              <a:noFill/>
              <a:prstDash val="solid"/>
              <a:miter/>
            </a:ln>
          </p:spPr>
          <p:txBody>
            <a:bodyPr rtlCol="0" anchor="ctr"/>
            <a:lstStyle/>
            <a:p>
              <a:endParaRPr lang="zh-CN" altLang="en-US"/>
            </a:p>
          </p:txBody>
        </p:sp>
        <p:sp>
          <p:nvSpPr>
            <p:cNvPr id="66" name="任意多边形: 形状 65"/>
            <p:cNvSpPr/>
            <p:nvPr/>
          </p:nvSpPr>
          <p:spPr>
            <a:xfrm>
              <a:off x="1" y="2860"/>
              <a:ext cx="5004905" cy="1289693"/>
            </a:xfrm>
            <a:custGeom>
              <a:avLst/>
              <a:gdLst>
                <a:gd name="connsiteX0" fmla="*/ 0 w 5004905"/>
                <a:gd name="connsiteY0" fmla="*/ 0 h 1289693"/>
                <a:gd name="connsiteX1" fmla="*/ 5004905 w 5004905"/>
                <a:gd name="connsiteY1" fmla="*/ 0 h 1289693"/>
                <a:gd name="connsiteX2" fmla="*/ 4972972 w 5004905"/>
                <a:gd name="connsiteY2" fmla="*/ 95354 h 1289693"/>
                <a:gd name="connsiteX3" fmla="*/ 4558116 w 5004905"/>
                <a:gd name="connsiteY3" fmla="*/ 422884 h 1289693"/>
                <a:gd name="connsiteX4" fmla="*/ 3281568 w 5004905"/>
                <a:gd name="connsiteY4" fmla="*/ 406495 h 1289693"/>
                <a:gd name="connsiteX5" fmla="*/ 2023232 w 5004905"/>
                <a:gd name="connsiteY5" fmla="*/ 95097 h 1289693"/>
                <a:gd name="connsiteX6" fmla="*/ 824990 w 5004905"/>
                <a:gd name="connsiteY6" fmla="*/ 459305 h 1289693"/>
                <a:gd name="connsiteX7" fmla="*/ 413435 w 5004905"/>
                <a:gd name="connsiteY7" fmla="*/ 1020184 h 1289693"/>
                <a:gd name="connsiteX8" fmla="*/ 15766 w 5004905"/>
                <a:gd name="connsiteY8" fmla="*/ 1284235 h 1289693"/>
                <a:gd name="connsiteX9" fmla="*/ 0 w 5004905"/>
                <a:gd name="connsiteY9" fmla="*/ 1289693 h 1289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04905" h="1289693">
                  <a:moveTo>
                    <a:pt x="0" y="0"/>
                  </a:moveTo>
                  <a:lnTo>
                    <a:pt x="5004905" y="0"/>
                  </a:lnTo>
                  <a:lnTo>
                    <a:pt x="4972972" y="95354"/>
                  </a:lnTo>
                  <a:cubicBezTo>
                    <a:pt x="4888976" y="247040"/>
                    <a:pt x="4726106" y="360058"/>
                    <a:pt x="4558116" y="422884"/>
                  </a:cubicBezTo>
                  <a:cubicBezTo>
                    <a:pt x="4153846" y="575851"/>
                    <a:pt x="3700407" y="515758"/>
                    <a:pt x="3281568" y="406495"/>
                  </a:cubicBezTo>
                  <a:cubicBezTo>
                    <a:pt x="2862730" y="297233"/>
                    <a:pt x="2452997" y="138802"/>
                    <a:pt x="2023232" y="95097"/>
                  </a:cubicBezTo>
                  <a:cubicBezTo>
                    <a:pt x="1591647" y="51392"/>
                    <a:pt x="1119998" y="142444"/>
                    <a:pt x="824990" y="459305"/>
                  </a:cubicBezTo>
                  <a:cubicBezTo>
                    <a:pt x="666559" y="628662"/>
                    <a:pt x="571865" y="850829"/>
                    <a:pt x="413435" y="1020184"/>
                  </a:cubicBezTo>
                  <a:cubicBezTo>
                    <a:pt x="331489" y="1107594"/>
                    <a:pt x="178977" y="1215946"/>
                    <a:pt x="15766" y="1284235"/>
                  </a:cubicBezTo>
                  <a:lnTo>
                    <a:pt x="0" y="1289693"/>
                  </a:lnTo>
                  <a:close/>
                </a:path>
              </a:pathLst>
            </a:custGeom>
            <a:solidFill>
              <a:srgbClr val="E9DAC6"/>
            </a:solidFill>
            <a:ln w="9525" cap="flat">
              <a:noFill/>
              <a:prstDash val="solid"/>
              <a:miter/>
            </a:ln>
          </p:spPr>
          <p:txBody>
            <a:bodyPr rtlCol="0" anchor="ctr"/>
            <a:lstStyle/>
            <a:p>
              <a:endParaRPr lang="zh-CN" altLang="en-US"/>
            </a:p>
          </p:txBody>
        </p:sp>
        <p:pic>
          <p:nvPicPr>
            <p:cNvPr id="92" name="图片 91"/>
            <p:cNvPicPr>
              <a:picLocks noChangeAspect="1"/>
            </p:cNvPicPr>
            <p:nvPr userDrawn="1"/>
          </p:nvPicPr>
          <p:blipFill>
            <a:blip r:embed="rId2"/>
            <a:srcRect l="4108"/>
            <a:stretch>
              <a:fillRect/>
            </a:stretch>
          </p:blipFill>
          <p:spPr>
            <a:xfrm>
              <a:off x="0" y="-474316"/>
              <a:ext cx="7663542" cy="2616080"/>
            </a:xfrm>
            <a:custGeom>
              <a:avLst/>
              <a:gdLst>
                <a:gd name="connsiteX0" fmla="*/ 0 w 7663542"/>
                <a:gd name="connsiteY0" fmla="*/ 0 h 2616080"/>
                <a:gd name="connsiteX1" fmla="*/ 4688115 w 7663542"/>
                <a:gd name="connsiteY1" fmla="*/ 0 h 2616080"/>
                <a:gd name="connsiteX2" fmla="*/ 4688115 w 7663542"/>
                <a:gd name="connsiteY2" fmla="*/ 474316 h 2616080"/>
                <a:gd name="connsiteX3" fmla="*/ 7663542 w 7663542"/>
                <a:gd name="connsiteY3" fmla="*/ 474316 h 2616080"/>
                <a:gd name="connsiteX4" fmla="*/ 7663542 w 7663542"/>
                <a:gd name="connsiteY4" fmla="*/ 2616080 h 2616080"/>
                <a:gd name="connsiteX5" fmla="*/ 0 w 7663542"/>
                <a:gd name="connsiteY5" fmla="*/ 2616080 h 261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63542" h="2616080">
                  <a:moveTo>
                    <a:pt x="0" y="0"/>
                  </a:moveTo>
                  <a:lnTo>
                    <a:pt x="4688115" y="0"/>
                  </a:lnTo>
                  <a:lnTo>
                    <a:pt x="4688115" y="474316"/>
                  </a:lnTo>
                  <a:lnTo>
                    <a:pt x="7663542" y="474316"/>
                  </a:lnTo>
                  <a:lnTo>
                    <a:pt x="7663542" y="2616080"/>
                  </a:lnTo>
                  <a:lnTo>
                    <a:pt x="0" y="2616080"/>
                  </a:lnTo>
                  <a:close/>
                </a:path>
              </a:pathLst>
            </a:custGeom>
          </p:spPr>
        </p:pic>
      </p:grpSp>
      <p:grpSp>
        <p:nvGrpSpPr>
          <p:cNvPr id="98" name="组合 97"/>
          <p:cNvGrpSpPr/>
          <p:nvPr userDrawn="1"/>
        </p:nvGrpSpPr>
        <p:grpSpPr>
          <a:xfrm>
            <a:off x="6468808" y="4107541"/>
            <a:ext cx="6265780" cy="3316515"/>
            <a:chOff x="6030068" y="3878323"/>
            <a:chExt cx="6698834" cy="3545734"/>
          </a:xfrm>
        </p:grpSpPr>
        <p:sp>
          <p:nvSpPr>
            <p:cNvPr id="84" name="任意多边形: 形状 83"/>
            <p:cNvSpPr/>
            <p:nvPr/>
          </p:nvSpPr>
          <p:spPr>
            <a:xfrm>
              <a:off x="6470208" y="4214924"/>
              <a:ext cx="5721792" cy="2643076"/>
            </a:xfrm>
            <a:custGeom>
              <a:avLst/>
              <a:gdLst>
                <a:gd name="connsiteX0" fmla="*/ 5721792 w 5721792"/>
                <a:gd name="connsiteY0" fmla="*/ 0 h 2643076"/>
                <a:gd name="connsiteX1" fmla="*/ 5721792 w 5721792"/>
                <a:gd name="connsiteY1" fmla="*/ 2643076 h 2643076"/>
                <a:gd name="connsiteX2" fmla="*/ 5496 w 5721792"/>
                <a:gd name="connsiteY2" fmla="*/ 2643076 h 2643076"/>
                <a:gd name="connsiteX3" fmla="*/ 5 w 5721792"/>
                <a:gd name="connsiteY3" fmla="*/ 2584157 h 2643076"/>
                <a:gd name="connsiteX4" fmla="*/ 301524 w 5721792"/>
                <a:gd name="connsiteY4" fmla="*/ 1961550 h 2643076"/>
                <a:gd name="connsiteX5" fmla="*/ 1191403 w 5721792"/>
                <a:gd name="connsiteY5" fmla="*/ 1692391 h 2643076"/>
                <a:gd name="connsiteX6" fmla="*/ 1865220 w 5721792"/>
                <a:gd name="connsiteY6" fmla="*/ 1739997 h 2643076"/>
                <a:gd name="connsiteX7" fmla="*/ 2506079 w 5721792"/>
                <a:gd name="connsiteY7" fmla="*/ 1566049 h 2643076"/>
                <a:gd name="connsiteX8" fmla="*/ 2932708 w 5721792"/>
                <a:gd name="connsiteY8" fmla="*/ 1108292 h 2643076"/>
                <a:gd name="connsiteX9" fmla="*/ 3873854 w 5721792"/>
                <a:gd name="connsiteY9" fmla="*/ 899556 h 2643076"/>
                <a:gd name="connsiteX10" fmla="*/ 4432318 w 5721792"/>
                <a:gd name="connsiteY10" fmla="*/ 981953 h 2643076"/>
                <a:gd name="connsiteX11" fmla="*/ 4955990 w 5721792"/>
                <a:gd name="connsiteY11" fmla="*/ 813498 h 2643076"/>
                <a:gd name="connsiteX12" fmla="*/ 5336844 w 5721792"/>
                <a:gd name="connsiteY12" fmla="*/ 168977 h 2643076"/>
                <a:gd name="connsiteX13" fmla="*/ 5720346 w 5721792"/>
                <a:gd name="connsiteY13" fmla="*/ 67 h 2643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21792" h="2643076">
                  <a:moveTo>
                    <a:pt x="5721792" y="0"/>
                  </a:moveTo>
                  <a:lnTo>
                    <a:pt x="5721792" y="2643076"/>
                  </a:lnTo>
                  <a:lnTo>
                    <a:pt x="5496" y="2643076"/>
                  </a:lnTo>
                  <a:lnTo>
                    <a:pt x="5" y="2584157"/>
                  </a:lnTo>
                  <a:cubicBezTo>
                    <a:pt x="-939" y="2350873"/>
                    <a:pt x="118879" y="2113984"/>
                    <a:pt x="301524" y="1961550"/>
                  </a:cubicBezTo>
                  <a:cubicBezTo>
                    <a:pt x="543220" y="1758307"/>
                    <a:pt x="874634" y="1686896"/>
                    <a:pt x="1191403" y="1692391"/>
                  </a:cubicBezTo>
                  <a:cubicBezTo>
                    <a:pt x="1416618" y="1697883"/>
                    <a:pt x="1640003" y="1738165"/>
                    <a:pt x="1865220" y="1739997"/>
                  </a:cubicBezTo>
                  <a:cubicBezTo>
                    <a:pt x="2090437" y="1741827"/>
                    <a:pt x="2326638" y="1701545"/>
                    <a:pt x="2506079" y="1566049"/>
                  </a:cubicBezTo>
                  <a:cubicBezTo>
                    <a:pt x="2672701" y="1439709"/>
                    <a:pt x="2773408" y="1243788"/>
                    <a:pt x="2932708" y="1108292"/>
                  </a:cubicBezTo>
                  <a:cubicBezTo>
                    <a:pt x="3183558" y="892231"/>
                    <a:pt x="3546101" y="853781"/>
                    <a:pt x="3873854" y="899556"/>
                  </a:cubicBezTo>
                  <a:cubicBezTo>
                    <a:pt x="4060618" y="925190"/>
                    <a:pt x="4243720" y="974629"/>
                    <a:pt x="4432318" y="981953"/>
                  </a:cubicBezTo>
                  <a:cubicBezTo>
                    <a:pt x="4620912" y="989277"/>
                    <a:pt x="4822324" y="945332"/>
                    <a:pt x="4955990" y="813498"/>
                  </a:cubicBezTo>
                  <a:cubicBezTo>
                    <a:pt x="5135431" y="637720"/>
                    <a:pt x="5157404" y="344756"/>
                    <a:pt x="5336844" y="168977"/>
                  </a:cubicBezTo>
                  <a:cubicBezTo>
                    <a:pt x="5438695" y="68843"/>
                    <a:pt x="5575413" y="14663"/>
                    <a:pt x="5720346" y="67"/>
                  </a:cubicBezTo>
                  <a:close/>
                </a:path>
              </a:pathLst>
            </a:custGeom>
            <a:solidFill>
              <a:srgbClr val="57658E"/>
            </a:solidFill>
            <a:ln w="9525" cap="flat">
              <a:noFill/>
              <a:prstDash val="solid"/>
              <a:miter/>
            </a:ln>
          </p:spPr>
          <p:txBody>
            <a:bodyPr rtlCol="0" anchor="ctr"/>
            <a:lstStyle/>
            <a:p>
              <a:endParaRPr lang="zh-CN" altLang="en-US"/>
            </a:p>
          </p:txBody>
        </p:sp>
        <p:sp>
          <p:nvSpPr>
            <p:cNvPr id="82" name="任意多边形: 形状 81"/>
            <p:cNvSpPr/>
            <p:nvPr/>
          </p:nvSpPr>
          <p:spPr>
            <a:xfrm>
              <a:off x="7546323" y="5053628"/>
              <a:ext cx="4645677" cy="1804372"/>
            </a:xfrm>
            <a:custGeom>
              <a:avLst/>
              <a:gdLst>
                <a:gd name="connsiteX0" fmla="*/ 4645677 w 4645677"/>
                <a:gd name="connsiteY0" fmla="*/ 0 h 1804372"/>
                <a:gd name="connsiteX1" fmla="*/ 4645677 w 4645677"/>
                <a:gd name="connsiteY1" fmla="*/ 1804372 h 1804372"/>
                <a:gd name="connsiteX2" fmla="*/ 0 w 4645677"/>
                <a:gd name="connsiteY2" fmla="*/ 1804372 h 1804372"/>
                <a:gd name="connsiteX3" fmla="*/ 18644 w 4645677"/>
                <a:gd name="connsiteY3" fmla="*/ 1682197 h 1804372"/>
                <a:gd name="connsiteX4" fmla="*/ 307546 w 4645677"/>
                <a:gd name="connsiteY4" fmla="*/ 1392008 h 1804372"/>
                <a:gd name="connsiteX5" fmla="*/ 855023 w 4645677"/>
                <a:gd name="connsiteY5" fmla="*/ 1291301 h 1804372"/>
                <a:gd name="connsiteX6" fmla="*/ 1382359 w 4645677"/>
                <a:gd name="connsiteY6" fmla="*/ 1128341 h 1804372"/>
                <a:gd name="connsiteX7" fmla="*/ 1847439 w 4645677"/>
                <a:gd name="connsiteY7" fmla="*/ 569877 h 1804372"/>
                <a:gd name="connsiteX8" fmla="*/ 2885629 w 4645677"/>
                <a:gd name="connsiteY8" fmla="*/ 571709 h 1804372"/>
                <a:gd name="connsiteX9" fmla="*/ 3934808 w 4645677"/>
                <a:gd name="connsiteY9" fmla="*/ 665090 h 1804372"/>
                <a:gd name="connsiteX10" fmla="*/ 4601236 w 4645677"/>
                <a:gd name="connsiteY10" fmla="*/ 28273 h 180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45677" h="1804372">
                  <a:moveTo>
                    <a:pt x="4645677" y="0"/>
                  </a:moveTo>
                  <a:lnTo>
                    <a:pt x="4645677" y="1804372"/>
                  </a:lnTo>
                  <a:lnTo>
                    <a:pt x="0" y="1804372"/>
                  </a:lnTo>
                  <a:lnTo>
                    <a:pt x="18644" y="1682197"/>
                  </a:lnTo>
                  <a:cubicBezTo>
                    <a:pt x="64477" y="1554054"/>
                    <a:pt x="179832" y="1448312"/>
                    <a:pt x="307546" y="1392008"/>
                  </a:cubicBezTo>
                  <a:cubicBezTo>
                    <a:pt x="477833" y="1316935"/>
                    <a:pt x="670089" y="1307781"/>
                    <a:pt x="855023" y="1291301"/>
                  </a:cubicBezTo>
                  <a:cubicBezTo>
                    <a:pt x="1041788" y="1272991"/>
                    <a:pt x="1234045" y="1241864"/>
                    <a:pt x="1382359" y="1128341"/>
                  </a:cubicBezTo>
                  <a:cubicBezTo>
                    <a:pt x="1574615" y="980027"/>
                    <a:pt x="1655181" y="720021"/>
                    <a:pt x="1847439" y="569877"/>
                  </a:cubicBezTo>
                  <a:cubicBezTo>
                    <a:pt x="2133079" y="348324"/>
                    <a:pt x="2545059" y="447199"/>
                    <a:pt x="2885629" y="571709"/>
                  </a:cubicBezTo>
                  <a:cubicBezTo>
                    <a:pt x="3226200" y="696219"/>
                    <a:pt x="3614377" y="833545"/>
                    <a:pt x="3934808" y="665090"/>
                  </a:cubicBezTo>
                  <a:cubicBezTo>
                    <a:pt x="4157964" y="548362"/>
                    <a:pt x="4358947" y="203472"/>
                    <a:pt x="4601236" y="28273"/>
                  </a:cubicBezTo>
                  <a:close/>
                </a:path>
              </a:pathLst>
            </a:custGeom>
            <a:solidFill>
              <a:srgbClr val="E9DAC6"/>
            </a:solidFill>
            <a:ln w="9525" cap="flat">
              <a:noFill/>
              <a:prstDash val="solid"/>
              <a:miter/>
            </a:ln>
          </p:spPr>
          <p:txBody>
            <a:bodyPr rtlCol="0" anchor="ctr"/>
            <a:lstStyle/>
            <a:p>
              <a:endParaRPr lang="zh-CN" altLang="en-US"/>
            </a:p>
          </p:txBody>
        </p:sp>
        <p:pic>
          <p:nvPicPr>
            <p:cNvPr id="96" name="图片 95"/>
            <p:cNvPicPr>
              <a:picLocks noChangeAspect="1"/>
            </p:cNvPicPr>
            <p:nvPr userDrawn="1"/>
          </p:nvPicPr>
          <p:blipFill>
            <a:blip r:embed="rId3"/>
            <a:stretch>
              <a:fillRect/>
            </a:stretch>
          </p:blipFill>
          <p:spPr>
            <a:xfrm>
              <a:off x="6030068" y="3878323"/>
              <a:ext cx="6698834" cy="3545734"/>
            </a:xfrm>
            <a:custGeom>
              <a:avLst/>
              <a:gdLst>
                <a:gd name="connsiteX0" fmla="*/ 0 w 6786784"/>
                <a:gd name="connsiteY0" fmla="*/ 0 h 3592286"/>
                <a:gd name="connsiteX1" fmla="*/ 6161932 w 6786784"/>
                <a:gd name="connsiteY1" fmla="*/ 0 h 3592286"/>
                <a:gd name="connsiteX2" fmla="*/ 6161932 w 6786784"/>
                <a:gd name="connsiteY2" fmla="*/ 2598057 h 3592286"/>
                <a:gd name="connsiteX3" fmla="*/ 6786784 w 6786784"/>
                <a:gd name="connsiteY3" fmla="*/ 2598057 h 3592286"/>
                <a:gd name="connsiteX4" fmla="*/ 6786784 w 6786784"/>
                <a:gd name="connsiteY4" fmla="*/ 3592286 h 3592286"/>
                <a:gd name="connsiteX5" fmla="*/ 4275075 w 6786784"/>
                <a:gd name="connsiteY5" fmla="*/ 3592286 h 3592286"/>
                <a:gd name="connsiteX6" fmla="*/ 4275075 w 6786784"/>
                <a:gd name="connsiteY6" fmla="*/ 3026228 h 3592286"/>
                <a:gd name="connsiteX7" fmla="*/ 0 w 6786784"/>
                <a:gd name="connsiteY7" fmla="*/ 3026228 h 3592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6784" h="3592286">
                  <a:moveTo>
                    <a:pt x="0" y="0"/>
                  </a:moveTo>
                  <a:lnTo>
                    <a:pt x="6161932" y="0"/>
                  </a:lnTo>
                  <a:lnTo>
                    <a:pt x="6161932" y="2598057"/>
                  </a:lnTo>
                  <a:lnTo>
                    <a:pt x="6786784" y="2598057"/>
                  </a:lnTo>
                  <a:lnTo>
                    <a:pt x="6786784" y="3592286"/>
                  </a:lnTo>
                  <a:lnTo>
                    <a:pt x="4275075" y="3592286"/>
                  </a:lnTo>
                  <a:lnTo>
                    <a:pt x="4275075" y="3026228"/>
                  </a:lnTo>
                  <a:lnTo>
                    <a:pt x="0" y="3026228"/>
                  </a:lnTo>
                  <a:close/>
                </a:path>
              </a:pathLst>
            </a:custGeom>
          </p:spPr>
        </p:pic>
      </p:gr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幻灯片">
    <p:bg>
      <p:bgPr>
        <a:solidFill>
          <a:srgbClr val="FCFBFC"/>
        </a:solidFill>
        <a:effectLst/>
      </p:bgPr>
    </p:bg>
    <p:spTree>
      <p:nvGrpSpPr>
        <p:cNvPr id="1" name=""/>
        <p:cNvGrpSpPr/>
        <p:nvPr/>
      </p:nvGrpSpPr>
      <p:grpSpPr>
        <a:xfrm>
          <a:off x="0" y="0"/>
          <a:ext cx="0" cy="0"/>
          <a:chOff x="0" y="0"/>
          <a:chExt cx="0" cy="0"/>
        </a:xfrm>
      </p:grpSpPr>
      <p:grpSp>
        <p:nvGrpSpPr>
          <p:cNvPr id="97" name="组合 96"/>
          <p:cNvGrpSpPr/>
          <p:nvPr userDrawn="1"/>
        </p:nvGrpSpPr>
        <p:grpSpPr>
          <a:xfrm>
            <a:off x="0" y="-420915"/>
            <a:ext cx="6717865" cy="2293257"/>
            <a:chOff x="0" y="-474316"/>
            <a:chExt cx="7663542" cy="2616080"/>
          </a:xfrm>
        </p:grpSpPr>
        <p:sp>
          <p:nvSpPr>
            <p:cNvPr id="74" name="任意多边形: 形状 73"/>
            <p:cNvSpPr/>
            <p:nvPr/>
          </p:nvSpPr>
          <p:spPr>
            <a:xfrm>
              <a:off x="0" y="2860"/>
              <a:ext cx="7337689" cy="1757646"/>
            </a:xfrm>
            <a:custGeom>
              <a:avLst/>
              <a:gdLst>
                <a:gd name="connsiteX0" fmla="*/ 0 w 7337689"/>
                <a:gd name="connsiteY0" fmla="*/ 0 h 1757646"/>
                <a:gd name="connsiteX1" fmla="*/ 7337689 w 7337689"/>
                <a:gd name="connsiteY1" fmla="*/ 0 h 1757646"/>
                <a:gd name="connsiteX2" fmla="*/ 7297228 w 7337689"/>
                <a:gd name="connsiteY2" fmla="*/ 65762 h 1757646"/>
                <a:gd name="connsiteX3" fmla="*/ 6685085 w 7337689"/>
                <a:gd name="connsiteY3" fmla="*/ 371896 h 1757646"/>
                <a:gd name="connsiteX4" fmla="*/ 5466812 w 7337689"/>
                <a:gd name="connsiteY4" fmla="*/ 268096 h 1757646"/>
                <a:gd name="connsiteX5" fmla="*/ 4842196 w 7337689"/>
                <a:gd name="connsiteY5" fmla="*/ 672366 h 1757646"/>
                <a:gd name="connsiteX6" fmla="*/ 3345303 w 7337689"/>
                <a:gd name="connsiteY6" fmla="*/ 706967 h 1757646"/>
                <a:gd name="connsiteX7" fmla="*/ 1842948 w 7337689"/>
                <a:gd name="connsiteY7" fmla="*/ 690577 h 1757646"/>
                <a:gd name="connsiteX8" fmla="*/ 1090859 w 7337689"/>
                <a:gd name="connsiteY8" fmla="*/ 1291519 h 1757646"/>
                <a:gd name="connsiteX9" fmla="*/ 15206 w 7337689"/>
                <a:gd name="connsiteY9" fmla="*/ 1755272 h 1757646"/>
                <a:gd name="connsiteX10" fmla="*/ 0 w 7337689"/>
                <a:gd name="connsiteY10" fmla="*/ 1757646 h 1757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689" h="1757646">
                  <a:moveTo>
                    <a:pt x="0" y="0"/>
                  </a:moveTo>
                  <a:lnTo>
                    <a:pt x="7337689" y="0"/>
                  </a:lnTo>
                  <a:lnTo>
                    <a:pt x="7297228" y="65762"/>
                  </a:lnTo>
                  <a:cubicBezTo>
                    <a:pt x="7159522" y="253784"/>
                    <a:pt x="6920910" y="362336"/>
                    <a:pt x="6685085" y="371896"/>
                  </a:cubicBezTo>
                  <a:cubicBezTo>
                    <a:pt x="6273531" y="386465"/>
                    <a:pt x="5858335" y="138804"/>
                    <a:pt x="5466812" y="268096"/>
                  </a:cubicBezTo>
                  <a:cubicBezTo>
                    <a:pt x="5230078" y="346402"/>
                    <a:pt x="5057078" y="548536"/>
                    <a:pt x="4842196" y="672366"/>
                  </a:cubicBezTo>
                  <a:cubicBezTo>
                    <a:pt x="4397863" y="927312"/>
                    <a:pt x="3842447" y="825334"/>
                    <a:pt x="3345303" y="706967"/>
                  </a:cubicBezTo>
                  <a:cubicBezTo>
                    <a:pt x="2848161" y="588599"/>
                    <a:pt x="2303670" y="466590"/>
                    <a:pt x="1842948" y="690577"/>
                  </a:cubicBezTo>
                  <a:cubicBezTo>
                    <a:pt x="1553403" y="830798"/>
                    <a:pt x="1342162" y="1091205"/>
                    <a:pt x="1090859" y="1291519"/>
                  </a:cubicBezTo>
                  <a:cubicBezTo>
                    <a:pt x="876546" y="1462014"/>
                    <a:pt x="434276" y="1671547"/>
                    <a:pt x="15206" y="1755272"/>
                  </a:cubicBezTo>
                  <a:lnTo>
                    <a:pt x="0" y="1757646"/>
                  </a:lnTo>
                  <a:close/>
                </a:path>
              </a:pathLst>
            </a:custGeom>
            <a:solidFill>
              <a:srgbClr val="57658E"/>
            </a:solidFill>
            <a:ln w="9525" cap="flat">
              <a:noFill/>
              <a:prstDash val="solid"/>
              <a:miter/>
            </a:ln>
          </p:spPr>
          <p:txBody>
            <a:bodyPr rtlCol="0" anchor="ctr"/>
            <a:lstStyle/>
            <a:p>
              <a:endParaRPr lang="zh-CN" altLang="en-US"/>
            </a:p>
          </p:txBody>
        </p:sp>
        <p:sp>
          <p:nvSpPr>
            <p:cNvPr id="66" name="任意多边形: 形状 65"/>
            <p:cNvSpPr/>
            <p:nvPr/>
          </p:nvSpPr>
          <p:spPr>
            <a:xfrm>
              <a:off x="1" y="2860"/>
              <a:ext cx="5004905" cy="1289693"/>
            </a:xfrm>
            <a:custGeom>
              <a:avLst/>
              <a:gdLst>
                <a:gd name="connsiteX0" fmla="*/ 0 w 5004905"/>
                <a:gd name="connsiteY0" fmla="*/ 0 h 1289693"/>
                <a:gd name="connsiteX1" fmla="*/ 5004905 w 5004905"/>
                <a:gd name="connsiteY1" fmla="*/ 0 h 1289693"/>
                <a:gd name="connsiteX2" fmla="*/ 4972972 w 5004905"/>
                <a:gd name="connsiteY2" fmla="*/ 95354 h 1289693"/>
                <a:gd name="connsiteX3" fmla="*/ 4558116 w 5004905"/>
                <a:gd name="connsiteY3" fmla="*/ 422884 h 1289693"/>
                <a:gd name="connsiteX4" fmla="*/ 3281568 w 5004905"/>
                <a:gd name="connsiteY4" fmla="*/ 406495 h 1289693"/>
                <a:gd name="connsiteX5" fmla="*/ 2023232 w 5004905"/>
                <a:gd name="connsiteY5" fmla="*/ 95097 h 1289693"/>
                <a:gd name="connsiteX6" fmla="*/ 824990 w 5004905"/>
                <a:gd name="connsiteY6" fmla="*/ 459305 h 1289693"/>
                <a:gd name="connsiteX7" fmla="*/ 413435 w 5004905"/>
                <a:gd name="connsiteY7" fmla="*/ 1020184 h 1289693"/>
                <a:gd name="connsiteX8" fmla="*/ 15766 w 5004905"/>
                <a:gd name="connsiteY8" fmla="*/ 1284235 h 1289693"/>
                <a:gd name="connsiteX9" fmla="*/ 0 w 5004905"/>
                <a:gd name="connsiteY9" fmla="*/ 1289693 h 1289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04905" h="1289693">
                  <a:moveTo>
                    <a:pt x="0" y="0"/>
                  </a:moveTo>
                  <a:lnTo>
                    <a:pt x="5004905" y="0"/>
                  </a:lnTo>
                  <a:lnTo>
                    <a:pt x="4972972" y="95354"/>
                  </a:lnTo>
                  <a:cubicBezTo>
                    <a:pt x="4888976" y="247040"/>
                    <a:pt x="4726106" y="360058"/>
                    <a:pt x="4558116" y="422884"/>
                  </a:cubicBezTo>
                  <a:cubicBezTo>
                    <a:pt x="4153846" y="575851"/>
                    <a:pt x="3700407" y="515758"/>
                    <a:pt x="3281568" y="406495"/>
                  </a:cubicBezTo>
                  <a:cubicBezTo>
                    <a:pt x="2862730" y="297233"/>
                    <a:pt x="2452997" y="138802"/>
                    <a:pt x="2023232" y="95097"/>
                  </a:cubicBezTo>
                  <a:cubicBezTo>
                    <a:pt x="1591647" y="51392"/>
                    <a:pt x="1119998" y="142444"/>
                    <a:pt x="824990" y="459305"/>
                  </a:cubicBezTo>
                  <a:cubicBezTo>
                    <a:pt x="666559" y="628662"/>
                    <a:pt x="571865" y="850829"/>
                    <a:pt x="413435" y="1020184"/>
                  </a:cubicBezTo>
                  <a:cubicBezTo>
                    <a:pt x="331489" y="1107594"/>
                    <a:pt x="178977" y="1215946"/>
                    <a:pt x="15766" y="1284235"/>
                  </a:cubicBezTo>
                  <a:lnTo>
                    <a:pt x="0" y="1289693"/>
                  </a:lnTo>
                  <a:close/>
                </a:path>
              </a:pathLst>
            </a:custGeom>
            <a:solidFill>
              <a:srgbClr val="E9DAC6"/>
            </a:solidFill>
            <a:ln w="9525" cap="flat">
              <a:noFill/>
              <a:prstDash val="solid"/>
              <a:miter/>
            </a:ln>
          </p:spPr>
          <p:txBody>
            <a:bodyPr rtlCol="0" anchor="ctr"/>
            <a:lstStyle/>
            <a:p>
              <a:endParaRPr lang="zh-CN" altLang="en-US"/>
            </a:p>
          </p:txBody>
        </p:sp>
        <p:pic>
          <p:nvPicPr>
            <p:cNvPr id="92" name="图片 91"/>
            <p:cNvPicPr>
              <a:picLocks noChangeAspect="1"/>
            </p:cNvPicPr>
            <p:nvPr userDrawn="1"/>
          </p:nvPicPr>
          <p:blipFill>
            <a:blip r:embed="rId2"/>
            <a:srcRect l="4108"/>
            <a:stretch>
              <a:fillRect/>
            </a:stretch>
          </p:blipFill>
          <p:spPr>
            <a:xfrm>
              <a:off x="0" y="-474316"/>
              <a:ext cx="7663542" cy="2616080"/>
            </a:xfrm>
            <a:custGeom>
              <a:avLst/>
              <a:gdLst>
                <a:gd name="connsiteX0" fmla="*/ 0 w 7663542"/>
                <a:gd name="connsiteY0" fmla="*/ 0 h 2616080"/>
                <a:gd name="connsiteX1" fmla="*/ 4688115 w 7663542"/>
                <a:gd name="connsiteY1" fmla="*/ 0 h 2616080"/>
                <a:gd name="connsiteX2" fmla="*/ 4688115 w 7663542"/>
                <a:gd name="connsiteY2" fmla="*/ 474316 h 2616080"/>
                <a:gd name="connsiteX3" fmla="*/ 7663542 w 7663542"/>
                <a:gd name="connsiteY3" fmla="*/ 474316 h 2616080"/>
                <a:gd name="connsiteX4" fmla="*/ 7663542 w 7663542"/>
                <a:gd name="connsiteY4" fmla="*/ 2616080 h 2616080"/>
                <a:gd name="connsiteX5" fmla="*/ 0 w 7663542"/>
                <a:gd name="connsiteY5" fmla="*/ 2616080 h 261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63542" h="2616080">
                  <a:moveTo>
                    <a:pt x="0" y="0"/>
                  </a:moveTo>
                  <a:lnTo>
                    <a:pt x="4688115" y="0"/>
                  </a:lnTo>
                  <a:lnTo>
                    <a:pt x="4688115" y="474316"/>
                  </a:lnTo>
                  <a:lnTo>
                    <a:pt x="7663542" y="474316"/>
                  </a:lnTo>
                  <a:lnTo>
                    <a:pt x="7663542" y="2616080"/>
                  </a:lnTo>
                  <a:lnTo>
                    <a:pt x="0" y="2616080"/>
                  </a:lnTo>
                  <a:close/>
                </a:path>
              </a:pathLst>
            </a:custGeom>
          </p:spPr>
        </p:pic>
      </p:grpSp>
      <p:grpSp>
        <p:nvGrpSpPr>
          <p:cNvPr id="98" name="组合 97"/>
          <p:cNvGrpSpPr/>
          <p:nvPr userDrawn="1"/>
        </p:nvGrpSpPr>
        <p:grpSpPr>
          <a:xfrm>
            <a:off x="7735065" y="4717143"/>
            <a:ext cx="4839866" cy="2561770"/>
            <a:chOff x="6030068" y="3878323"/>
            <a:chExt cx="6698834" cy="3545734"/>
          </a:xfrm>
        </p:grpSpPr>
        <p:sp>
          <p:nvSpPr>
            <p:cNvPr id="84" name="任意多边形: 形状 83"/>
            <p:cNvSpPr/>
            <p:nvPr/>
          </p:nvSpPr>
          <p:spPr>
            <a:xfrm>
              <a:off x="6470208" y="4214924"/>
              <a:ext cx="5721792" cy="2643076"/>
            </a:xfrm>
            <a:custGeom>
              <a:avLst/>
              <a:gdLst>
                <a:gd name="connsiteX0" fmla="*/ 5721792 w 5721792"/>
                <a:gd name="connsiteY0" fmla="*/ 0 h 2643076"/>
                <a:gd name="connsiteX1" fmla="*/ 5721792 w 5721792"/>
                <a:gd name="connsiteY1" fmla="*/ 2643076 h 2643076"/>
                <a:gd name="connsiteX2" fmla="*/ 5496 w 5721792"/>
                <a:gd name="connsiteY2" fmla="*/ 2643076 h 2643076"/>
                <a:gd name="connsiteX3" fmla="*/ 5 w 5721792"/>
                <a:gd name="connsiteY3" fmla="*/ 2584157 h 2643076"/>
                <a:gd name="connsiteX4" fmla="*/ 301524 w 5721792"/>
                <a:gd name="connsiteY4" fmla="*/ 1961550 h 2643076"/>
                <a:gd name="connsiteX5" fmla="*/ 1191403 w 5721792"/>
                <a:gd name="connsiteY5" fmla="*/ 1692391 h 2643076"/>
                <a:gd name="connsiteX6" fmla="*/ 1865220 w 5721792"/>
                <a:gd name="connsiteY6" fmla="*/ 1739997 h 2643076"/>
                <a:gd name="connsiteX7" fmla="*/ 2506079 w 5721792"/>
                <a:gd name="connsiteY7" fmla="*/ 1566049 h 2643076"/>
                <a:gd name="connsiteX8" fmla="*/ 2932708 w 5721792"/>
                <a:gd name="connsiteY8" fmla="*/ 1108292 h 2643076"/>
                <a:gd name="connsiteX9" fmla="*/ 3873854 w 5721792"/>
                <a:gd name="connsiteY9" fmla="*/ 899556 h 2643076"/>
                <a:gd name="connsiteX10" fmla="*/ 4432318 w 5721792"/>
                <a:gd name="connsiteY10" fmla="*/ 981953 h 2643076"/>
                <a:gd name="connsiteX11" fmla="*/ 4955990 w 5721792"/>
                <a:gd name="connsiteY11" fmla="*/ 813498 h 2643076"/>
                <a:gd name="connsiteX12" fmla="*/ 5336844 w 5721792"/>
                <a:gd name="connsiteY12" fmla="*/ 168977 h 2643076"/>
                <a:gd name="connsiteX13" fmla="*/ 5720346 w 5721792"/>
                <a:gd name="connsiteY13" fmla="*/ 67 h 2643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721792" h="2643076">
                  <a:moveTo>
                    <a:pt x="5721792" y="0"/>
                  </a:moveTo>
                  <a:lnTo>
                    <a:pt x="5721792" y="2643076"/>
                  </a:lnTo>
                  <a:lnTo>
                    <a:pt x="5496" y="2643076"/>
                  </a:lnTo>
                  <a:lnTo>
                    <a:pt x="5" y="2584157"/>
                  </a:lnTo>
                  <a:cubicBezTo>
                    <a:pt x="-939" y="2350873"/>
                    <a:pt x="118879" y="2113984"/>
                    <a:pt x="301524" y="1961550"/>
                  </a:cubicBezTo>
                  <a:cubicBezTo>
                    <a:pt x="543220" y="1758307"/>
                    <a:pt x="874634" y="1686896"/>
                    <a:pt x="1191403" y="1692391"/>
                  </a:cubicBezTo>
                  <a:cubicBezTo>
                    <a:pt x="1416618" y="1697883"/>
                    <a:pt x="1640003" y="1738165"/>
                    <a:pt x="1865220" y="1739997"/>
                  </a:cubicBezTo>
                  <a:cubicBezTo>
                    <a:pt x="2090437" y="1741827"/>
                    <a:pt x="2326638" y="1701545"/>
                    <a:pt x="2506079" y="1566049"/>
                  </a:cubicBezTo>
                  <a:cubicBezTo>
                    <a:pt x="2672701" y="1439709"/>
                    <a:pt x="2773408" y="1243788"/>
                    <a:pt x="2932708" y="1108292"/>
                  </a:cubicBezTo>
                  <a:cubicBezTo>
                    <a:pt x="3183558" y="892231"/>
                    <a:pt x="3546101" y="853781"/>
                    <a:pt x="3873854" y="899556"/>
                  </a:cubicBezTo>
                  <a:cubicBezTo>
                    <a:pt x="4060618" y="925190"/>
                    <a:pt x="4243720" y="974629"/>
                    <a:pt x="4432318" y="981953"/>
                  </a:cubicBezTo>
                  <a:cubicBezTo>
                    <a:pt x="4620912" y="989277"/>
                    <a:pt x="4822324" y="945332"/>
                    <a:pt x="4955990" y="813498"/>
                  </a:cubicBezTo>
                  <a:cubicBezTo>
                    <a:pt x="5135431" y="637720"/>
                    <a:pt x="5157404" y="344756"/>
                    <a:pt x="5336844" y="168977"/>
                  </a:cubicBezTo>
                  <a:cubicBezTo>
                    <a:pt x="5438695" y="68843"/>
                    <a:pt x="5575413" y="14663"/>
                    <a:pt x="5720346" y="67"/>
                  </a:cubicBezTo>
                  <a:close/>
                </a:path>
              </a:pathLst>
            </a:custGeom>
            <a:solidFill>
              <a:srgbClr val="57658E"/>
            </a:solidFill>
            <a:ln w="9525" cap="flat">
              <a:noFill/>
              <a:prstDash val="solid"/>
              <a:miter/>
            </a:ln>
          </p:spPr>
          <p:txBody>
            <a:bodyPr rtlCol="0" anchor="ctr"/>
            <a:lstStyle/>
            <a:p>
              <a:endParaRPr lang="zh-CN" altLang="en-US"/>
            </a:p>
          </p:txBody>
        </p:sp>
        <p:sp>
          <p:nvSpPr>
            <p:cNvPr id="82" name="任意多边形: 形状 81"/>
            <p:cNvSpPr/>
            <p:nvPr/>
          </p:nvSpPr>
          <p:spPr>
            <a:xfrm>
              <a:off x="7546323" y="5053628"/>
              <a:ext cx="4645677" cy="1804372"/>
            </a:xfrm>
            <a:custGeom>
              <a:avLst/>
              <a:gdLst>
                <a:gd name="connsiteX0" fmla="*/ 4645677 w 4645677"/>
                <a:gd name="connsiteY0" fmla="*/ 0 h 1804372"/>
                <a:gd name="connsiteX1" fmla="*/ 4645677 w 4645677"/>
                <a:gd name="connsiteY1" fmla="*/ 1804372 h 1804372"/>
                <a:gd name="connsiteX2" fmla="*/ 0 w 4645677"/>
                <a:gd name="connsiteY2" fmla="*/ 1804372 h 1804372"/>
                <a:gd name="connsiteX3" fmla="*/ 18644 w 4645677"/>
                <a:gd name="connsiteY3" fmla="*/ 1682197 h 1804372"/>
                <a:gd name="connsiteX4" fmla="*/ 307546 w 4645677"/>
                <a:gd name="connsiteY4" fmla="*/ 1392008 h 1804372"/>
                <a:gd name="connsiteX5" fmla="*/ 855023 w 4645677"/>
                <a:gd name="connsiteY5" fmla="*/ 1291301 h 1804372"/>
                <a:gd name="connsiteX6" fmla="*/ 1382359 w 4645677"/>
                <a:gd name="connsiteY6" fmla="*/ 1128341 h 1804372"/>
                <a:gd name="connsiteX7" fmla="*/ 1847439 w 4645677"/>
                <a:gd name="connsiteY7" fmla="*/ 569877 h 1804372"/>
                <a:gd name="connsiteX8" fmla="*/ 2885629 w 4645677"/>
                <a:gd name="connsiteY8" fmla="*/ 571709 h 1804372"/>
                <a:gd name="connsiteX9" fmla="*/ 3934808 w 4645677"/>
                <a:gd name="connsiteY9" fmla="*/ 665090 h 1804372"/>
                <a:gd name="connsiteX10" fmla="*/ 4601236 w 4645677"/>
                <a:gd name="connsiteY10" fmla="*/ 28273 h 180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45677" h="1804372">
                  <a:moveTo>
                    <a:pt x="4645677" y="0"/>
                  </a:moveTo>
                  <a:lnTo>
                    <a:pt x="4645677" y="1804372"/>
                  </a:lnTo>
                  <a:lnTo>
                    <a:pt x="0" y="1804372"/>
                  </a:lnTo>
                  <a:lnTo>
                    <a:pt x="18644" y="1682197"/>
                  </a:lnTo>
                  <a:cubicBezTo>
                    <a:pt x="64477" y="1554054"/>
                    <a:pt x="179832" y="1448312"/>
                    <a:pt x="307546" y="1392008"/>
                  </a:cubicBezTo>
                  <a:cubicBezTo>
                    <a:pt x="477833" y="1316935"/>
                    <a:pt x="670089" y="1307781"/>
                    <a:pt x="855023" y="1291301"/>
                  </a:cubicBezTo>
                  <a:cubicBezTo>
                    <a:pt x="1041788" y="1272991"/>
                    <a:pt x="1234045" y="1241864"/>
                    <a:pt x="1382359" y="1128341"/>
                  </a:cubicBezTo>
                  <a:cubicBezTo>
                    <a:pt x="1574615" y="980027"/>
                    <a:pt x="1655181" y="720021"/>
                    <a:pt x="1847439" y="569877"/>
                  </a:cubicBezTo>
                  <a:cubicBezTo>
                    <a:pt x="2133079" y="348324"/>
                    <a:pt x="2545059" y="447199"/>
                    <a:pt x="2885629" y="571709"/>
                  </a:cubicBezTo>
                  <a:cubicBezTo>
                    <a:pt x="3226200" y="696219"/>
                    <a:pt x="3614377" y="833545"/>
                    <a:pt x="3934808" y="665090"/>
                  </a:cubicBezTo>
                  <a:cubicBezTo>
                    <a:pt x="4157964" y="548362"/>
                    <a:pt x="4358947" y="203472"/>
                    <a:pt x="4601236" y="28273"/>
                  </a:cubicBezTo>
                  <a:close/>
                </a:path>
              </a:pathLst>
            </a:custGeom>
            <a:solidFill>
              <a:srgbClr val="E9DAC6"/>
            </a:solidFill>
            <a:ln w="9525" cap="flat">
              <a:noFill/>
              <a:prstDash val="solid"/>
              <a:miter/>
            </a:ln>
          </p:spPr>
          <p:txBody>
            <a:bodyPr rtlCol="0" anchor="ctr"/>
            <a:lstStyle/>
            <a:p>
              <a:endParaRPr lang="zh-CN" altLang="en-US"/>
            </a:p>
          </p:txBody>
        </p:sp>
        <p:pic>
          <p:nvPicPr>
            <p:cNvPr id="96" name="图片 95"/>
            <p:cNvPicPr>
              <a:picLocks noChangeAspect="1"/>
            </p:cNvPicPr>
            <p:nvPr userDrawn="1"/>
          </p:nvPicPr>
          <p:blipFill>
            <a:blip r:embed="rId3"/>
            <a:stretch>
              <a:fillRect/>
            </a:stretch>
          </p:blipFill>
          <p:spPr>
            <a:xfrm>
              <a:off x="6030068" y="3878323"/>
              <a:ext cx="6698834" cy="3545734"/>
            </a:xfrm>
            <a:custGeom>
              <a:avLst/>
              <a:gdLst>
                <a:gd name="connsiteX0" fmla="*/ 0 w 6786784"/>
                <a:gd name="connsiteY0" fmla="*/ 0 h 3592286"/>
                <a:gd name="connsiteX1" fmla="*/ 6161932 w 6786784"/>
                <a:gd name="connsiteY1" fmla="*/ 0 h 3592286"/>
                <a:gd name="connsiteX2" fmla="*/ 6161932 w 6786784"/>
                <a:gd name="connsiteY2" fmla="*/ 2598057 h 3592286"/>
                <a:gd name="connsiteX3" fmla="*/ 6786784 w 6786784"/>
                <a:gd name="connsiteY3" fmla="*/ 2598057 h 3592286"/>
                <a:gd name="connsiteX4" fmla="*/ 6786784 w 6786784"/>
                <a:gd name="connsiteY4" fmla="*/ 3592286 h 3592286"/>
                <a:gd name="connsiteX5" fmla="*/ 4275075 w 6786784"/>
                <a:gd name="connsiteY5" fmla="*/ 3592286 h 3592286"/>
                <a:gd name="connsiteX6" fmla="*/ 4275075 w 6786784"/>
                <a:gd name="connsiteY6" fmla="*/ 3026228 h 3592286"/>
                <a:gd name="connsiteX7" fmla="*/ 0 w 6786784"/>
                <a:gd name="connsiteY7" fmla="*/ 3026228 h 3592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6784" h="3592286">
                  <a:moveTo>
                    <a:pt x="0" y="0"/>
                  </a:moveTo>
                  <a:lnTo>
                    <a:pt x="6161932" y="0"/>
                  </a:lnTo>
                  <a:lnTo>
                    <a:pt x="6161932" y="2598057"/>
                  </a:lnTo>
                  <a:lnTo>
                    <a:pt x="6786784" y="2598057"/>
                  </a:lnTo>
                  <a:lnTo>
                    <a:pt x="6786784" y="3592286"/>
                  </a:lnTo>
                  <a:lnTo>
                    <a:pt x="4275075" y="3592286"/>
                  </a:lnTo>
                  <a:lnTo>
                    <a:pt x="4275075" y="3026228"/>
                  </a:lnTo>
                  <a:lnTo>
                    <a:pt x="0" y="3026228"/>
                  </a:lnTo>
                  <a:close/>
                </a:path>
              </a:pathLst>
            </a:custGeom>
          </p:spPr>
        </p:pic>
      </p:gr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rgbClr val="FCFBFC"/>
        </a:solidFill>
        <a:effectLst/>
      </p:bgPr>
    </p:bg>
    <p:spTree>
      <p:nvGrpSpPr>
        <p:cNvPr id="1" name=""/>
        <p:cNvGrpSpPr/>
        <p:nvPr/>
      </p:nvGrpSpPr>
      <p:grpSpPr>
        <a:xfrm>
          <a:off x="0" y="0"/>
          <a:ext cx="0" cy="0"/>
          <a:chOff x="0" y="0"/>
          <a:chExt cx="0" cy="0"/>
        </a:xfrm>
      </p:grpSpPr>
      <p:sp>
        <p:nvSpPr>
          <p:cNvPr id="16" name="任意多边形: 形状 15"/>
          <p:cNvSpPr/>
          <p:nvPr/>
        </p:nvSpPr>
        <p:spPr>
          <a:xfrm>
            <a:off x="10111436" y="0"/>
            <a:ext cx="2080564" cy="1143156"/>
          </a:xfrm>
          <a:custGeom>
            <a:avLst/>
            <a:gdLst>
              <a:gd name="connsiteX0" fmla="*/ 0 w 2080564"/>
              <a:gd name="connsiteY0" fmla="*/ 0 h 1143156"/>
              <a:gd name="connsiteX1" fmla="*/ 2080564 w 2080564"/>
              <a:gd name="connsiteY1" fmla="*/ 0 h 1143156"/>
              <a:gd name="connsiteX2" fmla="*/ 2080564 w 2080564"/>
              <a:gd name="connsiteY2" fmla="*/ 1143156 h 1143156"/>
              <a:gd name="connsiteX3" fmla="*/ 2061622 w 2080564"/>
              <a:gd name="connsiteY3" fmla="*/ 1137995 h 1143156"/>
              <a:gd name="connsiteX4" fmla="*/ 1860856 w 2080564"/>
              <a:gd name="connsiteY4" fmla="*/ 992076 h 1143156"/>
              <a:gd name="connsiteX5" fmla="*/ 1640670 w 2080564"/>
              <a:gd name="connsiteY5" fmla="*/ 531003 h 1143156"/>
              <a:gd name="connsiteX6" fmla="*/ 1204062 w 2080564"/>
              <a:gd name="connsiteY6" fmla="*/ 335283 h 1143156"/>
              <a:gd name="connsiteX7" fmla="*/ 712881 w 2080564"/>
              <a:gd name="connsiteY7" fmla="*/ 327755 h 1143156"/>
              <a:gd name="connsiteX8" fmla="*/ 73025 w 2080564"/>
              <a:gd name="connsiteY8" fmla="*/ 61699 h 114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0564" h="1143156">
                <a:moveTo>
                  <a:pt x="0" y="0"/>
                </a:moveTo>
                <a:lnTo>
                  <a:pt x="2080564" y="0"/>
                </a:lnTo>
                <a:lnTo>
                  <a:pt x="2080564" y="1143156"/>
                </a:lnTo>
                <a:lnTo>
                  <a:pt x="2061622" y="1137995"/>
                </a:lnTo>
                <a:cubicBezTo>
                  <a:pt x="1982328" y="1109137"/>
                  <a:pt x="1911668" y="1060531"/>
                  <a:pt x="1860856" y="992076"/>
                </a:cubicBezTo>
                <a:cubicBezTo>
                  <a:pt x="1759232" y="854695"/>
                  <a:pt x="1746057" y="664621"/>
                  <a:pt x="1640670" y="531003"/>
                </a:cubicBezTo>
                <a:cubicBezTo>
                  <a:pt x="1539045" y="401151"/>
                  <a:pt x="1367791" y="348457"/>
                  <a:pt x="1204062" y="335283"/>
                </a:cubicBezTo>
                <a:cubicBezTo>
                  <a:pt x="1040336" y="322110"/>
                  <a:pt x="876607" y="342811"/>
                  <a:pt x="712881" y="327755"/>
                </a:cubicBezTo>
                <a:cubicBezTo>
                  <a:pt x="562327" y="313641"/>
                  <a:pt x="284272" y="211547"/>
                  <a:pt x="73025" y="61699"/>
                </a:cubicBezTo>
                <a:close/>
              </a:path>
            </a:pathLst>
          </a:custGeom>
          <a:solidFill>
            <a:srgbClr val="57658E"/>
          </a:solidFill>
          <a:ln w="9525" cap="flat">
            <a:noFill/>
            <a:prstDash val="solid"/>
            <a:miter/>
          </a:ln>
        </p:spPr>
        <p:txBody>
          <a:bodyPr rtlCol="0" anchor="ctr"/>
          <a:lstStyle/>
          <a:p>
            <a:endParaRPr lang="zh-CN" altLang="en-US"/>
          </a:p>
        </p:txBody>
      </p:sp>
      <p:sp>
        <p:nvSpPr>
          <p:cNvPr id="20" name="任意多边形: 形状 19"/>
          <p:cNvSpPr/>
          <p:nvPr/>
        </p:nvSpPr>
        <p:spPr>
          <a:xfrm>
            <a:off x="0" y="5699913"/>
            <a:ext cx="1769110" cy="1158087"/>
          </a:xfrm>
          <a:custGeom>
            <a:avLst/>
            <a:gdLst>
              <a:gd name="connsiteX0" fmla="*/ 0 w 1769110"/>
              <a:gd name="connsiteY0" fmla="*/ 0 h 1158087"/>
              <a:gd name="connsiteX1" fmla="*/ 57042 w 1769110"/>
              <a:gd name="connsiteY1" fmla="*/ 23093 h 1158087"/>
              <a:gd name="connsiteX2" fmla="*/ 232674 w 1769110"/>
              <a:gd name="connsiteY2" fmla="*/ 141312 h 1158087"/>
              <a:gd name="connsiteX3" fmla="*/ 787552 w 1769110"/>
              <a:gd name="connsiteY3" fmla="*/ 733307 h 1158087"/>
              <a:gd name="connsiteX4" fmla="*/ 1524298 w 1769110"/>
              <a:gd name="connsiteY4" fmla="*/ 839086 h 1158087"/>
              <a:gd name="connsiteX5" fmla="*/ 1760215 w 1769110"/>
              <a:gd name="connsiteY5" fmla="*/ 1110727 h 1158087"/>
              <a:gd name="connsiteX6" fmla="*/ 1769110 w 1769110"/>
              <a:gd name="connsiteY6" fmla="*/ 1158087 h 1158087"/>
              <a:gd name="connsiteX7" fmla="*/ 0 w 1769110"/>
              <a:gd name="connsiteY7" fmla="*/ 1158087 h 115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9110" h="1158087">
                <a:moveTo>
                  <a:pt x="0" y="0"/>
                </a:moveTo>
                <a:lnTo>
                  <a:pt x="57042" y="23093"/>
                </a:lnTo>
                <a:cubicBezTo>
                  <a:pt x="123415" y="55250"/>
                  <a:pt x="183496" y="95381"/>
                  <a:pt x="232674" y="141312"/>
                </a:cubicBezTo>
                <a:cubicBezTo>
                  <a:pt x="433098" y="326890"/>
                  <a:pt x="535165" y="625672"/>
                  <a:pt x="787552" y="733307"/>
                </a:cubicBezTo>
                <a:cubicBezTo>
                  <a:pt x="1017669" y="831665"/>
                  <a:pt x="1297893" y="733307"/>
                  <a:pt x="1524298" y="839086"/>
                </a:cubicBezTo>
                <a:cubicBezTo>
                  <a:pt x="1637501" y="891976"/>
                  <a:pt x="1717764" y="993116"/>
                  <a:pt x="1760215" y="1110727"/>
                </a:cubicBezTo>
                <a:lnTo>
                  <a:pt x="1769110" y="1158087"/>
                </a:lnTo>
                <a:lnTo>
                  <a:pt x="0" y="1158087"/>
                </a:lnTo>
                <a:close/>
              </a:path>
            </a:pathLst>
          </a:custGeom>
          <a:solidFill>
            <a:srgbClr val="E9DAC6"/>
          </a:solidFill>
          <a:ln w="9525" cap="flat">
            <a:noFill/>
            <a:prstDash val="solid"/>
            <a:miter/>
          </a:ln>
        </p:spPr>
        <p:txBody>
          <a:bodyPr rtlCol="0" anchor="ctr"/>
          <a:lstStyle/>
          <a:p>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image" Target="../media/image4.png"/><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tags" Target="../tags/tag17.xml"/><Relationship Id="rId10" Type="http://schemas.openxmlformats.org/officeDocument/2006/relationships/tags" Target="../tags/tag12.xml"/><Relationship Id="rId19" Type="http://schemas.openxmlformats.org/officeDocument/2006/relationships/tags" Target="../tags/tag14.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22.xml"/><Relationship Id="rId7" Type="http://schemas.openxmlformats.org/officeDocument/2006/relationships/tags" Target="../tags/tag2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29.xml"/><Relationship Id="rId7" Type="http://schemas.openxmlformats.org/officeDocument/2006/relationships/tags" Target="../tags/tag33.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36.xml"/><Relationship Id="rId7" Type="http://schemas.openxmlformats.org/officeDocument/2006/relationships/tags" Target="../tags/tag40.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slideLayout" Target="../slideLayouts/slideLayout3.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18.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tags" Target="../tags/tag65.xm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tags" Target="../tags/tag64.xml"/><Relationship Id="rId17" Type="http://schemas.openxmlformats.org/officeDocument/2006/relationships/slideLayout" Target="../slideLayouts/slideLayout3.xml"/><Relationship Id="rId2" Type="http://schemas.openxmlformats.org/officeDocument/2006/relationships/tags" Target="../tags/tag54.xml"/><Relationship Id="rId16" Type="http://schemas.openxmlformats.org/officeDocument/2006/relationships/tags" Target="../tags/tag68.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5" Type="http://schemas.openxmlformats.org/officeDocument/2006/relationships/tags" Target="../tags/tag57.xml"/><Relationship Id="rId15" Type="http://schemas.openxmlformats.org/officeDocument/2006/relationships/tags" Target="../tags/tag67.xml"/><Relationship Id="rId10" Type="http://schemas.openxmlformats.org/officeDocument/2006/relationships/tags" Target="../tags/tag62.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tags" Target="../tags/tag66.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71.xml"/><Relationship Id="rId7" Type="http://schemas.openxmlformats.org/officeDocument/2006/relationships/tags" Target="../tags/tag75.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5" Type="http://schemas.openxmlformats.org/officeDocument/2006/relationships/tags" Target="../tags/tag73.xml"/><Relationship Id="rId10" Type="http://schemas.openxmlformats.org/officeDocument/2006/relationships/image" Target="../media/image10.png"/><Relationship Id="rId4" Type="http://schemas.openxmlformats.org/officeDocument/2006/relationships/tags" Target="../tags/tag72.xml"/><Relationship Id="rId9" Type="http://schemas.openxmlformats.org/officeDocument/2006/relationships/image" Target="../media/image9.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78.xml"/><Relationship Id="rId7" Type="http://schemas.openxmlformats.org/officeDocument/2006/relationships/tags" Target="../tags/tag8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s>
</file>

<file path=ppt/slides/_rels/slide21.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tags" Target="../tags/tag85.xml"/><Relationship Id="rId7" Type="http://schemas.openxmlformats.org/officeDocument/2006/relationships/slideLayout" Target="../slideLayouts/slideLayout3.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5" Type="http://schemas.openxmlformats.org/officeDocument/2006/relationships/tags" Target="../tags/tag87.xml"/><Relationship Id="rId10" Type="http://schemas.openxmlformats.org/officeDocument/2006/relationships/image" Target="../media/image12.png"/><Relationship Id="rId4" Type="http://schemas.openxmlformats.org/officeDocument/2006/relationships/tags" Target="../tags/tag86.xml"/><Relationship Id="rId9" Type="http://schemas.openxmlformats.org/officeDocument/2006/relationships/image" Target="../../clipboard/media/image4.png"/></Relationships>
</file>

<file path=ppt/slides/_rels/slide22.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91.xml"/><Relationship Id="rId7" Type="http://schemas.openxmlformats.org/officeDocument/2006/relationships/image" Target="../../clipboard/media/image3.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slideLayout" Target="../slideLayouts/slideLayout3.xml"/><Relationship Id="rId5" Type="http://schemas.openxmlformats.org/officeDocument/2006/relationships/tags" Target="../tags/tag93.xml"/><Relationship Id="rId4" Type="http://schemas.openxmlformats.org/officeDocument/2006/relationships/tags" Target="../tags/tag92.xml"/></Relationships>
</file>

<file path=ppt/slides/_rels/slide23.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tags" Target="../tags/tag106.xml"/><Relationship Id="rId18" Type="http://schemas.openxmlformats.org/officeDocument/2006/relationships/tags" Target="../tags/tag111.xml"/><Relationship Id="rId3" Type="http://schemas.openxmlformats.org/officeDocument/2006/relationships/tags" Target="../tags/tag96.xml"/><Relationship Id="rId21" Type="http://schemas.openxmlformats.org/officeDocument/2006/relationships/slideLayout" Target="../slideLayouts/slideLayout3.xml"/><Relationship Id="rId7" Type="http://schemas.openxmlformats.org/officeDocument/2006/relationships/tags" Target="../tags/tag100.xml"/><Relationship Id="rId12" Type="http://schemas.openxmlformats.org/officeDocument/2006/relationships/tags" Target="../tags/tag105.xml"/><Relationship Id="rId17" Type="http://schemas.openxmlformats.org/officeDocument/2006/relationships/tags" Target="../tags/tag110.xml"/><Relationship Id="rId2" Type="http://schemas.openxmlformats.org/officeDocument/2006/relationships/tags" Target="../tags/tag95.xml"/><Relationship Id="rId16" Type="http://schemas.openxmlformats.org/officeDocument/2006/relationships/tags" Target="../tags/tag109.xml"/><Relationship Id="rId20" Type="http://schemas.openxmlformats.org/officeDocument/2006/relationships/tags" Target="../tags/tag113.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tags" Target="../tags/tag104.xml"/><Relationship Id="rId24" Type="http://schemas.openxmlformats.org/officeDocument/2006/relationships/image" Target="../media/image16.png"/><Relationship Id="rId5" Type="http://schemas.openxmlformats.org/officeDocument/2006/relationships/tags" Target="../tags/tag98.xml"/><Relationship Id="rId15" Type="http://schemas.openxmlformats.org/officeDocument/2006/relationships/tags" Target="../tags/tag108.xml"/><Relationship Id="rId23" Type="http://schemas.openxmlformats.org/officeDocument/2006/relationships/image" Target="../media/image15.png"/><Relationship Id="rId10" Type="http://schemas.openxmlformats.org/officeDocument/2006/relationships/tags" Target="../tags/tag103.xml"/><Relationship Id="rId19" Type="http://schemas.openxmlformats.org/officeDocument/2006/relationships/tags" Target="../tags/tag112.xml"/><Relationship Id="rId4" Type="http://schemas.openxmlformats.org/officeDocument/2006/relationships/tags" Target="../tags/tag97.xml"/><Relationship Id="rId9" Type="http://schemas.openxmlformats.org/officeDocument/2006/relationships/tags" Target="../tags/tag102.xml"/><Relationship Id="rId14" Type="http://schemas.openxmlformats.org/officeDocument/2006/relationships/tags" Target="../tags/tag107.xml"/><Relationship Id="rId22"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8.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slideLayout" Target="../slideLayouts/slideLayout3.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tags" Target="../tags/tag127.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5" Type="http://schemas.openxmlformats.org/officeDocument/2006/relationships/image" Target="../media/image20.png"/><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 Id="rId5" Type="http://schemas.openxmlformats.org/officeDocument/2006/relationships/image" Target="../media/image22.png"/><Relationship Id="rId4"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2.xml"/><Relationship Id="rId1" Type="http://schemas.openxmlformats.org/officeDocument/2006/relationships/tags" Target="../tags/tag131.xml"/><Relationship Id="rId4" Type="http://schemas.openxmlformats.org/officeDocument/2006/relationships/image" Target="../media/image2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tags" Target="../tags/tag139.xml"/><Relationship Id="rId13" Type="http://schemas.openxmlformats.org/officeDocument/2006/relationships/tags" Target="../tags/tag144.xml"/><Relationship Id="rId3" Type="http://schemas.openxmlformats.org/officeDocument/2006/relationships/tags" Target="../tags/tag134.xml"/><Relationship Id="rId7" Type="http://schemas.openxmlformats.org/officeDocument/2006/relationships/tags" Target="../tags/tag138.xml"/><Relationship Id="rId12" Type="http://schemas.openxmlformats.org/officeDocument/2006/relationships/tags" Target="../tags/tag143.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tags" Target="../tags/tag137.xml"/><Relationship Id="rId11" Type="http://schemas.openxmlformats.org/officeDocument/2006/relationships/tags" Target="../tags/tag142.xml"/><Relationship Id="rId5" Type="http://schemas.openxmlformats.org/officeDocument/2006/relationships/tags" Target="../tags/tag136.xml"/><Relationship Id="rId15" Type="http://schemas.openxmlformats.org/officeDocument/2006/relationships/slideLayout" Target="../slideLayouts/slideLayout3.xml"/><Relationship Id="rId10" Type="http://schemas.openxmlformats.org/officeDocument/2006/relationships/tags" Target="../tags/tag141.xml"/><Relationship Id="rId4" Type="http://schemas.openxmlformats.org/officeDocument/2006/relationships/tags" Target="../tags/tag135.xml"/><Relationship Id="rId9" Type="http://schemas.openxmlformats.org/officeDocument/2006/relationships/tags" Target="../tags/tag140.xml"/><Relationship Id="rId14" Type="http://schemas.openxmlformats.org/officeDocument/2006/relationships/tags" Target="../tags/tag14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28">
            <a:extLst>
              <a:ext uri="{FF2B5EF4-FFF2-40B4-BE49-F238E27FC236}">
                <a16:creationId xmlns:a16="http://schemas.microsoft.com/office/drawing/2014/main" id="{356F79D7-C8C0-41DD-8E8A-603C2F754014}"/>
              </a:ext>
            </a:extLst>
          </p:cNvPr>
          <p:cNvSpPr/>
          <p:nvPr/>
        </p:nvSpPr>
        <p:spPr>
          <a:xfrm>
            <a:off x="2118001" y="2610687"/>
            <a:ext cx="7956000" cy="324000"/>
          </a:xfrm>
          <a:prstGeom prst="parallelogram">
            <a:avLst/>
          </a:prstGeom>
          <a:solidFill>
            <a:srgbClr val="E9DAC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7658E"/>
              </a:solidFill>
              <a:cs typeface="+mn-ea"/>
              <a:sym typeface="+mn-lt"/>
            </a:endParaRPr>
          </a:p>
        </p:txBody>
      </p:sp>
      <p:sp>
        <p:nvSpPr>
          <p:cNvPr id="3" name="文本框 2">
            <a:extLst>
              <a:ext uri="{FF2B5EF4-FFF2-40B4-BE49-F238E27FC236}">
                <a16:creationId xmlns:a16="http://schemas.microsoft.com/office/drawing/2014/main" id="{A255BF09-5513-4122-B025-BC2DDBFD3AFE}"/>
              </a:ext>
            </a:extLst>
          </p:cNvPr>
          <p:cNvSpPr txBox="1"/>
          <p:nvPr>
            <p:custDataLst>
              <p:tags r:id="rId1"/>
            </p:custDataLst>
          </p:nvPr>
        </p:nvSpPr>
        <p:spPr>
          <a:xfrm>
            <a:off x="1067731" y="1749583"/>
            <a:ext cx="10056538" cy="1505477"/>
          </a:xfrm>
          <a:prstGeom prst="rect">
            <a:avLst/>
          </a:prstGeom>
        </p:spPr>
        <p:txBody>
          <a:bodyPr wrap="square">
            <a:spAutoFit/>
            <a:scene3d>
              <a:camera prst="orthographicFront"/>
              <a:lightRig rig="threePt" dir="t"/>
            </a:scene3d>
            <a:sp3d contourW="12700"/>
          </a:bodyPr>
          <a:lstStyle>
            <a:defPPr>
              <a:defRPr lang="zh-CN"/>
            </a:defPPr>
            <a:lvl1pPr marR="0" lvl="0" indent="0" fontAlgn="auto">
              <a:lnSpc>
                <a:spcPct val="120000"/>
              </a:lnSpc>
              <a:spcBef>
                <a:spcPct val="0"/>
              </a:spcBef>
              <a:spcAft>
                <a:spcPct val="0"/>
              </a:spcAft>
              <a:buClrTx/>
              <a:buSzTx/>
              <a:buFontTx/>
              <a:buNone/>
              <a:defRPr kumimoji="0" sz="5400" b="1" i="0" u="none" strike="noStrike" cap="none" spc="0" normalizeH="0" baseline="0">
                <a:ln>
                  <a:noFill/>
                </a:ln>
                <a:gradFill>
                  <a:gsLst>
                    <a:gs pos="0">
                      <a:srgbClr val="CDA23D"/>
                    </a:gs>
                    <a:gs pos="55000">
                      <a:srgbClr val="E1B64A"/>
                    </a:gs>
                    <a:gs pos="100000">
                      <a:srgbClr val="F7E880">
                        <a:lumMod val="99000"/>
                      </a:srgbClr>
                    </a:gs>
                  </a:gsLst>
                  <a:lin ang="2700000" scaled="1"/>
                </a:gradFill>
                <a:effectLst/>
                <a:uLnTx/>
                <a:uFillTx/>
                <a:latin typeface="Arial" panose="020B0604020202020204" pitchFamily="34" charset="0"/>
                <a:ea typeface="微软雅黑" panose="020B0503020204020204" pitchFamily="34" charset="-122"/>
              </a:defRPr>
            </a:lvl1pPr>
          </a:lstStyle>
          <a:p>
            <a:pPr algn="ctr"/>
            <a:r>
              <a:rPr lang="zh-CN" altLang="en-US" sz="4000" dirty="0">
                <a:solidFill>
                  <a:schemeClr val="tx1"/>
                </a:solidFill>
                <a:latin typeface="微软雅黑" panose="020B0503020204020204" pitchFamily="34" charset="-122"/>
                <a:ea typeface="微软雅黑" panose="020B0503020204020204" pitchFamily="34" charset="-122"/>
                <a:cs typeface="Arial" panose="020B0604020202020204" pitchFamily="34" charset="0"/>
                <a:sym typeface="+mn-ea"/>
              </a:rPr>
              <a:t>基于半导体应变片的输电线路横担应力监测系统方案设计</a:t>
            </a:r>
            <a:endParaRPr lang="zh-CN" altLang="en-US" sz="4000" b="0" dirty="0">
              <a:solidFill>
                <a:schemeClr val="tx1"/>
              </a:solidFill>
              <a:latin typeface="+mn-lt"/>
              <a:ea typeface="+mn-ea"/>
              <a:cs typeface="+mn-ea"/>
              <a:sym typeface="+mn-lt"/>
            </a:endParaRPr>
          </a:p>
        </p:txBody>
      </p:sp>
      <p:grpSp>
        <p:nvGrpSpPr>
          <p:cNvPr id="4" name="组合 3">
            <a:extLst>
              <a:ext uri="{FF2B5EF4-FFF2-40B4-BE49-F238E27FC236}">
                <a16:creationId xmlns:a16="http://schemas.microsoft.com/office/drawing/2014/main" id="{99AB9E87-9625-4B4D-9484-48B8941C13ED}"/>
              </a:ext>
            </a:extLst>
          </p:cNvPr>
          <p:cNvGrpSpPr/>
          <p:nvPr/>
        </p:nvGrpSpPr>
        <p:grpSpPr>
          <a:xfrm>
            <a:off x="4891315" y="3575434"/>
            <a:ext cx="2409371" cy="478971"/>
            <a:chOff x="4775199" y="4615543"/>
            <a:chExt cx="2409371" cy="478971"/>
          </a:xfrm>
        </p:grpSpPr>
        <p:sp>
          <p:nvSpPr>
            <p:cNvPr id="5" name="矩形: 圆角 4">
              <a:extLst>
                <a:ext uri="{FF2B5EF4-FFF2-40B4-BE49-F238E27FC236}">
                  <a16:creationId xmlns:a16="http://schemas.microsoft.com/office/drawing/2014/main" id="{0AB32D01-53E7-4D47-844E-A5C2A1D0F477}"/>
                </a:ext>
              </a:extLst>
            </p:cNvPr>
            <p:cNvSpPr/>
            <p:nvPr/>
          </p:nvSpPr>
          <p:spPr>
            <a:xfrm>
              <a:off x="4775199" y="4615543"/>
              <a:ext cx="2409371" cy="478971"/>
            </a:xfrm>
            <a:prstGeom prst="roundRect">
              <a:avLst>
                <a:gd name="adj" fmla="val 50000"/>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文本框 5">
              <a:extLst>
                <a:ext uri="{FF2B5EF4-FFF2-40B4-BE49-F238E27FC236}">
                  <a16:creationId xmlns:a16="http://schemas.microsoft.com/office/drawing/2014/main" id="{D27F16B5-C1E2-4F03-BD17-1D117026D5C8}"/>
                </a:ext>
              </a:extLst>
            </p:cNvPr>
            <p:cNvSpPr txBox="1"/>
            <p:nvPr/>
          </p:nvSpPr>
          <p:spPr>
            <a:xfrm>
              <a:off x="4900105" y="4654973"/>
              <a:ext cx="2159566" cy="400110"/>
            </a:xfrm>
            <a:prstGeom prst="rect">
              <a:avLst/>
            </a:prstGeom>
            <a:noFill/>
          </p:spPr>
          <p:txBody>
            <a:bodyPr wrap="none" rtlCol="0">
              <a:spAutoFit/>
            </a:bodyPr>
            <a:lstStyle>
              <a:defPPr>
                <a:defRPr lang="zh-CN"/>
              </a:defPPr>
              <a:lvl1pPr>
                <a:defRPr>
                  <a:solidFill>
                    <a:srgbClr val="886549"/>
                  </a:solidFill>
                  <a:latin typeface="思源宋体 CN SemiBold" pitchFamily="18" charset="-122"/>
                  <a:ea typeface="思源宋体 CN SemiBold" pitchFamily="18" charset="-122"/>
                </a:defRPr>
              </a:lvl1pPr>
            </a:lstStyle>
            <a:p>
              <a:pPr algn="ctr"/>
              <a:r>
                <a:rPr lang="zh-CN" altLang="en-US" sz="2000" spc="200" dirty="0">
                  <a:solidFill>
                    <a:schemeClr val="tx1"/>
                  </a:solidFill>
                  <a:latin typeface="+mn-lt"/>
                  <a:ea typeface="+mn-ea"/>
                  <a:cs typeface="+mn-ea"/>
                  <a:sym typeface="+mn-lt"/>
                </a:rPr>
                <a:t>汇报人：贺立琼</a:t>
              </a:r>
              <a:endParaRPr lang="en-US" altLang="zh-CN" sz="2000" b="1" kern="100" spc="200" dirty="0">
                <a:solidFill>
                  <a:schemeClr val="tx1"/>
                </a:solidFill>
                <a:effectLst/>
                <a:latin typeface="+mn-lt"/>
                <a:ea typeface="+mn-ea"/>
                <a:cs typeface="+mn-ea"/>
                <a:sym typeface="+mn-lt"/>
              </a:endParaRPr>
            </a:p>
          </p:txBody>
        </p:sp>
      </p:grpSp>
      <p:grpSp>
        <p:nvGrpSpPr>
          <p:cNvPr id="7" name="组合 6">
            <a:extLst>
              <a:ext uri="{FF2B5EF4-FFF2-40B4-BE49-F238E27FC236}">
                <a16:creationId xmlns:a16="http://schemas.microsoft.com/office/drawing/2014/main" id="{FE9278F3-3F40-45E4-A1B4-835AF140D6F5}"/>
              </a:ext>
            </a:extLst>
          </p:cNvPr>
          <p:cNvGrpSpPr/>
          <p:nvPr/>
        </p:nvGrpSpPr>
        <p:grpSpPr>
          <a:xfrm>
            <a:off x="1477556" y="4399717"/>
            <a:ext cx="9646713" cy="478971"/>
            <a:chOff x="4775199" y="4615543"/>
            <a:chExt cx="2409371" cy="478971"/>
          </a:xfrm>
        </p:grpSpPr>
        <p:sp>
          <p:nvSpPr>
            <p:cNvPr id="8" name="矩形: 圆角 7">
              <a:extLst>
                <a:ext uri="{FF2B5EF4-FFF2-40B4-BE49-F238E27FC236}">
                  <a16:creationId xmlns:a16="http://schemas.microsoft.com/office/drawing/2014/main" id="{7A33EE95-F27A-49D6-86B5-5E5C1218A6C9}"/>
                </a:ext>
              </a:extLst>
            </p:cNvPr>
            <p:cNvSpPr/>
            <p:nvPr/>
          </p:nvSpPr>
          <p:spPr>
            <a:xfrm>
              <a:off x="4775199" y="4615543"/>
              <a:ext cx="2409371" cy="478971"/>
            </a:xfrm>
            <a:prstGeom prst="roundRect">
              <a:avLst>
                <a:gd name="adj" fmla="val 50000"/>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9" name="文本框 8">
              <a:extLst>
                <a:ext uri="{FF2B5EF4-FFF2-40B4-BE49-F238E27FC236}">
                  <a16:creationId xmlns:a16="http://schemas.microsoft.com/office/drawing/2014/main" id="{A43AECDD-9153-4A3E-8DF6-B4E474D1983C}"/>
                </a:ext>
              </a:extLst>
            </p:cNvPr>
            <p:cNvSpPr txBox="1"/>
            <p:nvPr/>
          </p:nvSpPr>
          <p:spPr>
            <a:xfrm>
              <a:off x="4991943" y="4654973"/>
              <a:ext cx="1975893" cy="400110"/>
            </a:xfrm>
            <a:prstGeom prst="rect">
              <a:avLst/>
            </a:prstGeom>
            <a:noFill/>
          </p:spPr>
          <p:txBody>
            <a:bodyPr wrap="none" rtlCol="0">
              <a:spAutoFit/>
            </a:bodyPr>
            <a:lstStyle>
              <a:defPPr>
                <a:defRPr lang="zh-CN"/>
              </a:defPPr>
              <a:lvl1pPr>
                <a:defRPr>
                  <a:solidFill>
                    <a:srgbClr val="886549"/>
                  </a:solidFill>
                  <a:latin typeface="思源宋体 CN SemiBold" pitchFamily="18" charset="-122"/>
                  <a:ea typeface="思源宋体 CN SemiBold" pitchFamily="18" charset="-122"/>
                </a:defRPr>
              </a:lvl1pPr>
            </a:lstStyle>
            <a:p>
              <a:pPr algn="ctr"/>
              <a:r>
                <a:rPr lang="zh-CN" altLang="en-US" sz="2000" spc="200" dirty="0">
                  <a:solidFill>
                    <a:schemeClr val="tx1"/>
                  </a:solidFill>
                  <a:latin typeface="+mn-lt"/>
                  <a:ea typeface="+mn-ea"/>
                  <a:cs typeface="+mn-ea"/>
                  <a:sym typeface="+mn-lt"/>
                </a:rPr>
                <a:t>小组成员： 许昕宇 廖金龙 冯中希 郭子钊 苏博 卢彦冰 张雅萱</a:t>
              </a:r>
              <a:endParaRPr lang="en-US" altLang="zh-CN" sz="2000" spc="200" dirty="0">
                <a:solidFill>
                  <a:schemeClr val="tx1"/>
                </a:solidFill>
                <a:latin typeface="+mn-lt"/>
                <a:ea typeface="+mn-ea"/>
                <a:cs typeface="+mn-ea"/>
                <a:sym typeface="+mn-lt"/>
              </a:endParaRPr>
            </a:p>
          </p:txBody>
        </p:sp>
      </p:grpSp>
    </p:spTree>
    <p:extLst>
      <p:ext uri="{BB962C8B-B14F-4D97-AF65-F5344CB8AC3E}">
        <p14:creationId xmlns:p14="http://schemas.microsoft.com/office/powerpoint/2010/main" val="9687868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4876800" y="940977"/>
            <a:ext cx="2438400" cy="1274904"/>
            <a:chOff x="4731657" y="992952"/>
            <a:chExt cx="2438400" cy="1274904"/>
          </a:xfrm>
        </p:grpSpPr>
        <p:sp>
          <p:nvSpPr>
            <p:cNvPr id="24" name="矩形 23"/>
            <p:cNvSpPr/>
            <p:nvPr/>
          </p:nvSpPr>
          <p:spPr>
            <a:xfrm>
              <a:off x="4926542" y="992952"/>
              <a:ext cx="2048631" cy="923330"/>
            </a:xfrm>
            <a:prstGeom prst="rect">
              <a:avLst/>
            </a:prstGeom>
          </p:spPr>
          <p:txBody>
            <a:bodyPr wrap="square">
              <a:spAutoFit/>
            </a:bodyPr>
            <a:lstStyle/>
            <a:p>
              <a:pPr algn="dist"/>
              <a:r>
                <a:rPr lang="zh-CN" altLang="en-US" sz="5400" b="1" dirty="0">
                  <a:solidFill>
                    <a:srgbClr val="57658E"/>
                  </a:solidFill>
                  <a:cs typeface="+mn-ea"/>
                  <a:sym typeface="+mn-lt"/>
                </a:rPr>
                <a:t>目录</a:t>
              </a:r>
              <a:endParaRPr lang="en-US" altLang="zh-CN" sz="5400" b="1" dirty="0">
                <a:solidFill>
                  <a:srgbClr val="57658E"/>
                </a:solidFill>
                <a:cs typeface="+mn-ea"/>
                <a:sym typeface="+mn-lt"/>
              </a:endParaRPr>
            </a:p>
          </p:txBody>
        </p:sp>
        <p:sp>
          <p:nvSpPr>
            <p:cNvPr id="25" name="矩形: 圆角 24"/>
            <p:cNvSpPr/>
            <p:nvPr/>
          </p:nvSpPr>
          <p:spPr>
            <a:xfrm>
              <a:off x="4731657" y="1867746"/>
              <a:ext cx="2438400" cy="400110"/>
            </a:xfrm>
            <a:prstGeom prst="roundRect">
              <a:avLst>
                <a:gd name="adj" fmla="val 50000"/>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zh-CN" sz="2400">
                  <a:solidFill>
                    <a:srgbClr val="FCFBFC"/>
                  </a:solidFill>
                  <a:cs typeface="+mn-ea"/>
                  <a:sym typeface="+mn-lt"/>
                </a:rPr>
                <a:t>CONTENTS</a:t>
              </a:r>
              <a:endParaRPr lang="zh-CN" altLang="en-US" sz="2400">
                <a:solidFill>
                  <a:srgbClr val="FCFBFC"/>
                </a:solidFill>
                <a:cs typeface="+mn-ea"/>
                <a:sym typeface="+mn-lt"/>
              </a:endParaRPr>
            </a:p>
          </p:txBody>
        </p:sp>
      </p:grpSp>
      <p:grpSp>
        <p:nvGrpSpPr>
          <p:cNvPr id="47" name="组合 46"/>
          <p:cNvGrpSpPr/>
          <p:nvPr/>
        </p:nvGrpSpPr>
        <p:grpSpPr>
          <a:xfrm>
            <a:off x="1619296" y="2921060"/>
            <a:ext cx="8953407" cy="2284015"/>
            <a:chOff x="1359093" y="3325455"/>
            <a:chExt cx="8953348" cy="2284238"/>
          </a:xfrm>
        </p:grpSpPr>
        <p:grpSp>
          <p:nvGrpSpPr>
            <p:cNvPr id="48" name="组合 47"/>
            <p:cNvGrpSpPr/>
            <p:nvPr/>
          </p:nvGrpSpPr>
          <p:grpSpPr>
            <a:xfrm>
              <a:off x="1359093" y="3325455"/>
              <a:ext cx="3648328" cy="828000"/>
              <a:chOff x="6221379" y="986902"/>
              <a:chExt cx="3648328" cy="828000"/>
            </a:xfrm>
          </p:grpSpPr>
          <p:sp>
            <p:nvSpPr>
              <p:cNvPr id="49" name="图形 12"/>
              <p:cNvSpPr/>
              <p:nvPr/>
            </p:nvSpPr>
            <p:spPr>
              <a:xfrm>
                <a:off x="6221379" y="986902"/>
                <a:ext cx="828000" cy="828000"/>
              </a:xfrm>
              <a:prstGeom prst="ellipse">
                <a:avLst/>
              </a:prstGeom>
              <a:solidFill>
                <a:srgbClr val="57658E"/>
              </a:solidFill>
              <a:ln w="23241" cap="flat">
                <a:noFill/>
                <a:prstDash val="solid"/>
                <a:miter/>
              </a:ln>
            </p:spPr>
            <p:txBody>
              <a:bodyPr rtlCol="0" anchor="ctr"/>
              <a:lstStyle/>
              <a:p>
                <a:pPr algn="ctr"/>
                <a:r>
                  <a:rPr lang="en-US" altLang="zh-CN" sz="2800">
                    <a:solidFill>
                      <a:srgbClr val="FCFBFC"/>
                    </a:solidFill>
                    <a:cs typeface="+mn-ea"/>
                    <a:sym typeface="+mn-lt"/>
                  </a:rPr>
                  <a:t>01</a:t>
                </a:r>
                <a:endParaRPr lang="zh-CN" altLang="en-US" sz="2800">
                  <a:solidFill>
                    <a:srgbClr val="FCFBFC"/>
                  </a:solidFill>
                  <a:cs typeface="+mn-ea"/>
                  <a:sym typeface="+mn-lt"/>
                </a:endParaRPr>
              </a:p>
            </p:txBody>
          </p:sp>
          <p:sp>
            <p:nvSpPr>
              <p:cNvPr id="51" name="文本框 50"/>
              <p:cNvSpPr txBox="1"/>
              <p:nvPr/>
            </p:nvSpPr>
            <p:spPr>
              <a:xfrm>
                <a:off x="7171551" y="1154580"/>
                <a:ext cx="2698156" cy="523271"/>
              </a:xfrm>
              <a:prstGeom prst="rect">
                <a:avLst/>
              </a:prstGeom>
              <a:noFill/>
            </p:spPr>
            <p:txBody>
              <a:bodyPr wrap="none" rtlCol="0">
                <a:spAutoFit/>
              </a:bodyPr>
              <a:lstStyle/>
              <a:p>
                <a:r>
                  <a:rPr lang="zh-CN" altLang="en-US" sz="2800" b="1" dirty="0">
                    <a:solidFill>
                      <a:srgbClr val="57658E"/>
                    </a:solidFill>
                    <a:cs typeface="+mn-ea"/>
                    <a:sym typeface="+mn-lt"/>
                  </a:rPr>
                  <a:t>传感器性能指标</a:t>
                </a:r>
                <a:endParaRPr lang="zh-CN" altLang="en-US" sz="2400" b="1" dirty="0">
                  <a:solidFill>
                    <a:srgbClr val="57658E"/>
                  </a:solidFill>
                  <a:cs typeface="+mn-ea"/>
                  <a:sym typeface="+mn-lt"/>
                </a:endParaRPr>
              </a:p>
            </p:txBody>
          </p:sp>
        </p:grpSp>
        <p:grpSp>
          <p:nvGrpSpPr>
            <p:cNvPr id="53" name="组合 52"/>
            <p:cNvGrpSpPr/>
            <p:nvPr/>
          </p:nvGrpSpPr>
          <p:grpSpPr>
            <a:xfrm>
              <a:off x="6990636" y="3325455"/>
              <a:ext cx="3263617" cy="828000"/>
              <a:chOff x="6221379" y="2341152"/>
              <a:chExt cx="3263617" cy="828000"/>
            </a:xfrm>
          </p:grpSpPr>
          <p:sp>
            <p:nvSpPr>
              <p:cNvPr id="54" name="图形 12"/>
              <p:cNvSpPr/>
              <p:nvPr/>
            </p:nvSpPr>
            <p:spPr>
              <a:xfrm>
                <a:off x="6221379" y="2341152"/>
                <a:ext cx="828000" cy="828000"/>
              </a:xfrm>
              <a:prstGeom prst="ellipse">
                <a:avLst/>
              </a:prstGeom>
              <a:solidFill>
                <a:srgbClr val="E9DAC6"/>
              </a:solidFill>
              <a:ln w="23241" cap="flat">
                <a:noFill/>
                <a:prstDash val="solid"/>
                <a:miter/>
              </a:ln>
            </p:spPr>
            <p:txBody>
              <a:bodyPr rtlCol="0" anchor="ctr"/>
              <a:lstStyle/>
              <a:p>
                <a:pPr algn="ctr"/>
                <a:r>
                  <a:rPr lang="en-US" altLang="zh-CN" sz="2800">
                    <a:solidFill>
                      <a:srgbClr val="FCFBFC"/>
                    </a:solidFill>
                    <a:cs typeface="+mn-ea"/>
                    <a:sym typeface="+mn-lt"/>
                  </a:rPr>
                  <a:t>02</a:t>
                </a:r>
                <a:endParaRPr lang="zh-CN" altLang="en-US" sz="2800">
                  <a:solidFill>
                    <a:srgbClr val="FCFBFC"/>
                  </a:solidFill>
                  <a:cs typeface="+mn-ea"/>
                  <a:sym typeface="+mn-lt"/>
                </a:endParaRPr>
              </a:p>
            </p:txBody>
          </p:sp>
          <p:sp>
            <p:nvSpPr>
              <p:cNvPr id="56" name="文本框 55"/>
              <p:cNvSpPr txBox="1"/>
              <p:nvPr/>
            </p:nvSpPr>
            <p:spPr>
              <a:xfrm>
                <a:off x="7145910" y="2524296"/>
                <a:ext cx="2339086" cy="523271"/>
              </a:xfrm>
              <a:prstGeom prst="rect">
                <a:avLst/>
              </a:prstGeom>
              <a:noFill/>
            </p:spPr>
            <p:txBody>
              <a:bodyPr wrap="none" rtlCol="0">
                <a:spAutoFit/>
              </a:bodyPr>
              <a:lstStyle/>
              <a:p>
                <a:r>
                  <a:rPr lang="zh-CN" altLang="en-US" sz="2800" b="1" dirty="0">
                    <a:solidFill>
                      <a:srgbClr val="57658E"/>
                    </a:solidFill>
                    <a:cs typeface="+mn-ea"/>
                    <a:sym typeface="+mn-lt"/>
                  </a:rPr>
                  <a:t>工程背景分析</a:t>
                </a:r>
                <a:endParaRPr lang="en-US" altLang="zh-CN" sz="2800" b="1" dirty="0">
                  <a:solidFill>
                    <a:srgbClr val="57658E"/>
                  </a:solidFill>
                  <a:cs typeface="+mn-ea"/>
                  <a:sym typeface="+mn-lt"/>
                </a:endParaRPr>
              </a:p>
            </p:txBody>
          </p:sp>
        </p:grpSp>
        <p:grpSp>
          <p:nvGrpSpPr>
            <p:cNvPr id="58" name="组合 57"/>
            <p:cNvGrpSpPr/>
            <p:nvPr/>
          </p:nvGrpSpPr>
          <p:grpSpPr>
            <a:xfrm>
              <a:off x="1359093" y="4781693"/>
              <a:ext cx="4116459" cy="828000"/>
              <a:chOff x="6221379" y="3647888"/>
              <a:chExt cx="4116459" cy="828000"/>
            </a:xfrm>
          </p:grpSpPr>
          <p:sp>
            <p:nvSpPr>
              <p:cNvPr id="59" name="图形 12"/>
              <p:cNvSpPr/>
              <p:nvPr/>
            </p:nvSpPr>
            <p:spPr>
              <a:xfrm>
                <a:off x="6221379" y="3647888"/>
                <a:ext cx="828000" cy="828000"/>
              </a:xfrm>
              <a:prstGeom prst="ellipse">
                <a:avLst/>
              </a:prstGeom>
              <a:solidFill>
                <a:srgbClr val="E9DAC6"/>
              </a:solidFill>
              <a:ln w="23241" cap="flat">
                <a:noFill/>
                <a:prstDash val="solid"/>
                <a:miter/>
              </a:ln>
            </p:spPr>
            <p:txBody>
              <a:bodyPr rtlCol="0" anchor="ctr"/>
              <a:lstStyle/>
              <a:p>
                <a:pPr algn="ctr"/>
                <a:r>
                  <a:rPr lang="en-US" altLang="zh-CN" sz="2800">
                    <a:solidFill>
                      <a:srgbClr val="FCFBFC"/>
                    </a:solidFill>
                    <a:cs typeface="+mn-ea"/>
                    <a:sym typeface="+mn-lt"/>
                  </a:rPr>
                  <a:t>03</a:t>
                </a:r>
                <a:endParaRPr lang="zh-CN" altLang="en-US" sz="2800">
                  <a:solidFill>
                    <a:srgbClr val="FCFBFC"/>
                  </a:solidFill>
                  <a:cs typeface="+mn-ea"/>
                  <a:sym typeface="+mn-lt"/>
                </a:endParaRPr>
              </a:p>
            </p:txBody>
          </p:sp>
          <p:sp>
            <p:nvSpPr>
              <p:cNvPr id="61" name="文本框 60"/>
              <p:cNvSpPr txBox="1"/>
              <p:nvPr/>
            </p:nvSpPr>
            <p:spPr>
              <a:xfrm>
                <a:off x="7171551" y="3823532"/>
                <a:ext cx="3166287" cy="523271"/>
              </a:xfrm>
              <a:prstGeom prst="rect">
                <a:avLst/>
              </a:prstGeom>
              <a:noFill/>
            </p:spPr>
            <p:txBody>
              <a:bodyPr wrap="square" rtlCol="0">
                <a:spAutoFit/>
              </a:bodyPr>
              <a:lstStyle/>
              <a:p>
                <a:r>
                  <a:rPr lang="zh-CN" altLang="en-US" sz="2800" b="1" dirty="0">
                    <a:solidFill>
                      <a:srgbClr val="57658E"/>
                    </a:solidFill>
                    <a:cs typeface="+mn-ea"/>
                    <a:sym typeface="+mn-lt"/>
                  </a:rPr>
                  <a:t>监测系统方案设计</a:t>
                </a:r>
                <a:endParaRPr lang="zh-CN" altLang="en-US" sz="2400" b="1" dirty="0">
                  <a:solidFill>
                    <a:srgbClr val="57658E"/>
                  </a:solidFill>
                  <a:cs typeface="+mn-ea"/>
                  <a:sym typeface="+mn-lt"/>
                </a:endParaRPr>
              </a:p>
            </p:txBody>
          </p:sp>
        </p:grpSp>
        <p:grpSp>
          <p:nvGrpSpPr>
            <p:cNvPr id="63" name="组合 62"/>
            <p:cNvGrpSpPr/>
            <p:nvPr/>
          </p:nvGrpSpPr>
          <p:grpSpPr>
            <a:xfrm>
              <a:off x="6990636" y="4781693"/>
              <a:ext cx="3321805" cy="828000"/>
              <a:chOff x="6221379" y="5016984"/>
              <a:chExt cx="3321805" cy="828000"/>
            </a:xfrm>
          </p:grpSpPr>
          <p:sp>
            <p:nvSpPr>
              <p:cNvPr id="64" name="图形 12"/>
              <p:cNvSpPr/>
              <p:nvPr/>
            </p:nvSpPr>
            <p:spPr>
              <a:xfrm>
                <a:off x="6221379" y="5016984"/>
                <a:ext cx="828000" cy="828000"/>
              </a:xfrm>
              <a:prstGeom prst="ellipse">
                <a:avLst/>
              </a:prstGeom>
              <a:solidFill>
                <a:srgbClr val="57658E"/>
              </a:solidFill>
              <a:ln w="23241" cap="flat">
                <a:noFill/>
                <a:prstDash val="solid"/>
                <a:miter/>
              </a:ln>
            </p:spPr>
            <p:txBody>
              <a:bodyPr rtlCol="0" anchor="ctr"/>
              <a:lstStyle/>
              <a:p>
                <a:pPr algn="ctr"/>
                <a:r>
                  <a:rPr lang="en-US" altLang="zh-CN" sz="2800">
                    <a:solidFill>
                      <a:srgbClr val="FCFBFC"/>
                    </a:solidFill>
                    <a:cs typeface="+mn-ea"/>
                    <a:sym typeface="+mn-lt"/>
                  </a:rPr>
                  <a:t>04</a:t>
                </a:r>
                <a:endParaRPr lang="zh-CN" altLang="en-US" sz="2800">
                  <a:solidFill>
                    <a:srgbClr val="FCFBFC"/>
                  </a:solidFill>
                  <a:cs typeface="+mn-ea"/>
                  <a:sym typeface="+mn-lt"/>
                </a:endParaRPr>
              </a:p>
            </p:txBody>
          </p:sp>
          <p:sp>
            <p:nvSpPr>
              <p:cNvPr id="66" name="文本框 65"/>
              <p:cNvSpPr txBox="1"/>
              <p:nvPr/>
            </p:nvSpPr>
            <p:spPr>
              <a:xfrm>
                <a:off x="7204098" y="5169348"/>
                <a:ext cx="2339086" cy="523271"/>
              </a:xfrm>
              <a:prstGeom prst="rect">
                <a:avLst/>
              </a:prstGeom>
              <a:noFill/>
            </p:spPr>
            <p:txBody>
              <a:bodyPr wrap="none" rtlCol="0">
                <a:spAutoFit/>
              </a:bodyPr>
              <a:lstStyle/>
              <a:p>
                <a:r>
                  <a:rPr lang="zh-CN" altLang="en-US" sz="2800" b="1" dirty="0">
                    <a:solidFill>
                      <a:srgbClr val="57658E"/>
                    </a:solidFill>
                    <a:cs typeface="+mn-ea"/>
                    <a:sym typeface="+mn-lt"/>
                  </a:rPr>
                  <a:t>关键技术难点</a:t>
                </a:r>
                <a:endParaRPr lang="zh-CN" altLang="en-US" sz="2400" b="1" dirty="0">
                  <a:solidFill>
                    <a:srgbClr val="57658E"/>
                  </a:solidFill>
                  <a:cs typeface="+mn-ea"/>
                  <a:sym typeface="+mn-lt"/>
                </a:endParaRPr>
              </a:p>
            </p:txBody>
          </p:sp>
        </p:grpSp>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554015" y="2113643"/>
            <a:ext cx="5070000" cy="2757715"/>
            <a:chOff x="3561000" y="1785257"/>
            <a:chExt cx="5070000" cy="2757715"/>
          </a:xfrm>
        </p:grpSpPr>
        <p:sp>
          <p:nvSpPr>
            <p:cNvPr id="7" name="椭圆 6"/>
            <p:cNvSpPr/>
            <p:nvPr/>
          </p:nvSpPr>
          <p:spPr>
            <a:xfrm>
              <a:off x="5523152" y="1785257"/>
              <a:ext cx="1145697" cy="1145697"/>
            </a:xfrm>
            <a:prstGeom prst="ellipse">
              <a:avLst/>
            </a:prstGeom>
            <a:solidFill>
              <a:srgbClr val="57658E"/>
            </a:solidFill>
            <a:ln w="31750">
              <a:solidFill>
                <a:srgbClr val="FBFB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rgbClr val="FCFBFC"/>
                  </a:solidFill>
                  <a:cs typeface="+mn-ea"/>
                  <a:sym typeface="+mn-lt"/>
                </a:rPr>
                <a:t>01</a:t>
              </a:r>
              <a:endParaRPr lang="zh-CN" altLang="en-US" sz="4000">
                <a:solidFill>
                  <a:srgbClr val="FCFBFC"/>
                </a:solidFill>
                <a:cs typeface="+mn-ea"/>
                <a:sym typeface="+mn-lt"/>
              </a:endParaRPr>
            </a:p>
          </p:txBody>
        </p:sp>
        <p:sp>
          <p:nvSpPr>
            <p:cNvPr id="8" name="文本框 7"/>
            <p:cNvSpPr txBox="1"/>
            <p:nvPr/>
          </p:nvSpPr>
          <p:spPr>
            <a:xfrm>
              <a:off x="5941060" y="3100585"/>
              <a:ext cx="309880" cy="829945"/>
            </a:xfrm>
            <a:prstGeom prst="rect">
              <a:avLst/>
            </a:prstGeom>
            <a:noFill/>
          </p:spPr>
          <p:txBody>
            <a:bodyPr wrap="none" rtlCol="0">
              <a:spAutoFit/>
            </a:bodyPr>
            <a:lstStyle/>
            <a:p>
              <a:pPr algn="ctr"/>
              <a:endParaRPr lang="zh-CN" altLang="en-US" sz="4800">
                <a:solidFill>
                  <a:srgbClr val="57658E"/>
                </a:solidFill>
                <a:cs typeface="+mn-ea"/>
                <a:sym typeface="+mn-lt"/>
              </a:endParaRPr>
            </a:p>
          </p:txBody>
        </p:sp>
        <p:sp>
          <p:nvSpPr>
            <p:cNvPr id="9" name="文本框 8"/>
            <p:cNvSpPr txBox="1"/>
            <p:nvPr/>
          </p:nvSpPr>
          <p:spPr>
            <a:xfrm>
              <a:off x="3561000" y="3908270"/>
              <a:ext cx="5070000" cy="506730"/>
            </a:xfrm>
            <a:prstGeom prst="rect">
              <a:avLst/>
            </a:prstGeom>
            <a:noFill/>
          </p:spPr>
          <p:txBody>
            <a:bodyPr wrap="square" rtlCol="0">
              <a:spAutoFit/>
            </a:bodyPr>
            <a:lstStyle/>
            <a:p>
              <a:pPr algn="ctr">
                <a:lnSpc>
                  <a:spcPct val="150000"/>
                </a:lnSpc>
              </a:pPr>
              <a:endParaRPr lang="en-US" altLang="zh-CN">
                <a:solidFill>
                  <a:srgbClr val="57658E"/>
                </a:solidFill>
                <a:cs typeface="+mn-ea"/>
                <a:sym typeface="+mn-lt"/>
              </a:endParaRPr>
            </a:p>
          </p:txBody>
        </p:sp>
        <p:cxnSp>
          <p:nvCxnSpPr>
            <p:cNvPr id="11" name="直接连接符 10"/>
            <p:cNvCxnSpPr/>
            <p:nvPr/>
          </p:nvCxnSpPr>
          <p:spPr>
            <a:xfrm>
              <a:off x="5631543" y="4542972"/>
              <a:ext cx="928914" cy="0"/>
            </a:xfrm>
            <a:prstGeom prst="line">
              <a:avLst/>
            </a:prstGeom>
            <a:ln w="127000" cap="rnd">
              <a:solidFill>
                <a:srgbClr val="E9DAC6"/>
              </a:solidFill>
              <a:round/>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29EA8E0B-9075-4BA7-AEBA-1B9A2067B0CF}"/>
              </a:ext>
            </a:extLst>
          </p:cNvPr>
          <p:cNvSpPr txBox="1"/>
          <p:nvPr/>
        </p:nvSpPr>
        <p:spPr>
          <a:xfrm>
            <a:off x="4176722" y="3653211"/>
            <a:ext cx="4134465" cy="769441"/>
          </a:xfrm>
          <a:prstGeom prst="rect">
            <a:avLst/>
          </a:prstGeom>
          <a:noFill/>
        </p:spPr>
        <p:txBody>
          <a:bodyPr wrap="none" rtlCol="0">
            <a:spAutoFit/>
          </a:bodyPr>
          <a:lstStyle/>
          <a:p>
            <a:r>
              <a:rPr lang="zh-CN" altLang="en-US" sz="4400" b="1" dirty="0">
                <a:solidFill>
                  <a:srgbClr val="57658E"/>
                </a:solidFill>
                <a:cs typeface="+mn-ea"/>
                <a:sym typeface="+mn-lt"/>
              </a:rPr>
              <a:t>传感器性能指标</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1036427"/>
            <a:ext cx="12192000" cy="2643893"/>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5" name="矩形 14"/>
          <p:cNvSpPr/>
          <p:nvPr/>
        </p:nvSpPr>
        <p:spPr>
          <a:xfrm>
            <a:off x="2633463" y="2524084"/>
            <a:ext cx="7452124" cy="829945"/>
          </a:xfrm>
          <a:prstGeom prst="rect">
            <a:avLst/>
          </a:prstGeom>
        </p:spPr>
        <p:txBody>
          <a:bodyPr wrap="square">
            <a:spAutoFit/>
          </a:bodyPr>
          <a:lstStyle/>
          <a:p>
            <a:pPr algn="ctr">
              <a:lnSpc>
                <a:spcPct val="150000"/>
              </a:lnSpc>
            </a:pPr>
            <a:endParaRPr lang="zh-CN" altLang="en-US" sz="1600">
              <a:solidFill>
                <a:schemeClr val="bg1"/>
              </a:solidFill>
              <a:cs typeface="+mn-ea"/>
              <a:sym typeface="+mn-lt"/>
            </a:endParaRPr>
          </a:p>
          <a:p>
            <a:pPr algn="ctr">
              <a:lnSpc>
                <a:spcPct val="150000"/>
              </a:lnSpc>
            </a:pPr>
            <a:endParaRPr lang="zh-CN" altLang="en-US" sz="1600">
              <a:solidFill>
                <a:schemeClr val="bg1"/>
              </a:solidFill>
              <a:cs typeface="+mn-ea"/>
              <a:sym typeface="+mn-lt"/>
            </a:endParaRPr>
          </a:p>
        </p:txBody>
      </p:sp>
      <p:sp>
        <p:nvSpPr>
          <p:cNvPr id="16" name="文本框 15"/>
          <p:cNvSpPr txBox="1"/>
          <p:nvPr/>
        </p:nvSpPr>
        <p:spPr>
          <a:xfrm>
            <a:off x="2666215" y="1812079"/>
            <a:ext cx="6859570" cy="769441"/>
          </a:xfrm>
          <a:prstGeom prst="rect">
            <a:avLst/>
          </a:prstGeom>
          <a:noFill/>
        </p:spPr>
        <p:txBody>
          <a:bodyPr wrap="none" rtlCol="0">
            <a:spAutoFit/>
          </a:bodyPr>
          <a:lstStyle/>
          <a:p>
            <a:pPr algn="ctr"/>
            <a:r>
              <a:rPr lang="en-US" altLang="zh-CN" sz="4400" dirty="0">
                <a:solidFill>
                  <a:schemeClr val="bg1"/>
                </a:solidFill>
                <a:latin typeface="+mn-ea"/>
                <a:cs typeface="+mn-ea"/>
                <a:sym typeface="+mn-lt"/>
              </a:rPr>
              <a:t>1.</a:t>
            </a:r>
            <a:r>
              <a:rPr lang="zh-CN" altLang="en-US" sz="4400" dirty="0">
                <a:solidFill>
                  <a:schemeClr val="bg1"/>
                </a:solidFill>
                <a:latin typeface="+mn-ea"/>
                <a:cs typeface="+mn-ea"/>
                <a:sym typeface="+mn-lt"/>
              </a:rPr>
              <a:t>传感器静态性能指标概述</a:t>
            </a:r>
          </a:p>
        </p:txBody>
      </p:sp>
      <p:cxnSp>
        <p:nvCxnSpPr>
          <p:cNvPr id="17" name="直接连接符 16"/>
          <p:cNvCxnSpPr/>
          <p:nvPr/>
        </p:nvCxnSpPr>
        <p:spPr>
          <a:xfrm>
            <a:off x="5455097" y="2940122"/>
            <a:ext cx="999172" cy="0"/>
          </a:xfrm>
          <a:prstGeom prst="line">
            <a:avLst/>
          </a:prstGeom>
          <a:ln w="60325" cap="rnd">
            <a:solidFill>
              <a:schemeClr val="bg1"/>
            </a:solidFill>
            <a:round/>
          </a:ln>
        </p:spPr>
        <p:style>
          <a:lnRef idx="1">
            <a:schemeClr val="accent1"/>
          </a:lnRef>
          <a:fillRef idx="0">
            <a:schemeClr val="accent1"/>
          </a:fillRef>
          <a:effectRef idx="0">
            <a:schemeClr val="accent1"/>
          </a:effectRef>
          <a:fontRef idx="minor">
            <a:schemeClr val="tx1"/>
          </a:fontRef>
        </p:style>
      </p:cxnSp>
      <p:grpSp>
        <p:nvGrpSpPr>
          <p:cNvPr id="121" name="组合 120"/>
          <p:cNvGrpSpPr/>
          <p:nvPr/>
        </p:nvGrpSpPr>
        <p:grpSpPr>
          <a:xfrm>
            <a:off x="-240051" y="2689864"/>
            <a:ext cx="11269879" cy="3155703"/>
            <a:chOff x="6518485" y="3943834"/>
            <a:chExt cx="4386689" cy="2032858"/>
          </a:xfrm>
        </p:grpSpPr>
        <p:sp>
          <p:nvSpPr>
            <p:cNvPr id="123" name="文本框 122"/>
            <p:cNvSpPr txBox="1"/>
            <p:nvPr/>
          </p:nvSpPr>
          <p:spPr>
            <a:xfrm>
              <a:off x="7213126" y="4830343"/>
              <a:ext cx="3692048" cy="1146349"/>
            </a:xfrm>
            <a:prstGeom prst="rect">
              <a:avLst/>
            </a:prstGeom>
            <a:noFill/>
          </p:spPr>
          <p:txBody>
            <a:bodyPr wrap="square" rtlCol="0">
              <a:noAutofit/>
            </a:bodyPr>
            <a:lstStyle/>
            <a:p>
              <a:pPr>
                <a:lnSpc>
                  <a:spcPct val="150000"/>
                </a:lnSpc>
              </a:pPr>
              <a:r>
                <a:rPr lang="zh-CN" altLang="en-US" sz="2400" dirty="0">
                  <a:solidFill>
                    <a:srgbClr val="57658E"/>
                  </a:solidFill>
                  <a:cs typeface="+mn-ea"/>
                  <a:sym typeface="+mn-lt"/>
                </a:rPr>
                <a:t>静态性能指标是衡量传感器在静态条件下性能的重要参数。对于输电线路横担应力监测系统，半导体应变片传感器的静态性能指标直接影响监测结果的准确性和可靠性。</a:t>
              </a:r>
            </a:p>
          </p:txBody>
        </p:sp>
        <p:pic>
          <p:nvPicPr>
            <p:cNvPr id="125" name="图片 14" descr="integral"/>
            <p:cNvPicPr>
              <a:picLocks noChangeAspect="1"/>
            </p:cNvPicPr>
            <p:nvPr/>
          </p:nvPicPr>
          <p:blipFill>
            <a:blip r:embed="rId2"/>
            <a:stretch>
              <a:fillRect/>
            </a:stretch>
          </p:blipFill>
          <p:spPr>
            <a:xfrm>
              <a:off x="6518485" y="3943834"/>
              <a:ext cx="756000" cy="756000"/>
            </a:xfrm>
            <a:prstGeom prst="rect">
              <a:avLst/>
            </a:prstGeom>
          </p:spPr>
        </p:pic>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custDataLst>
              <p:tags r:id="rId1"/>
            </p:custDataLst>
          </p:nvPr>
        </p:nvGrpSpPr>
        <p:grpSpPr>
          <a:xfrm>
            <a:off x="831259" y="689956"/>
            <a:ext cx="4901884" cy="5599570"/>
            <a:chOff x="831259" y="1959430"/>
            <a:chExt cx="4901884" cy="4349296"/>
          </a:xfrm>
        </p:grpSpPr>
        <p:grpSp>
          <p:nvGrpSpPr>
            <p:cNvPr id="33" name="组合 32"/>
            <p:cNvGrpSpPr/>
            <p:nvPr/>
          </p:nvGrpSpPr>
          <p:grpSpPr>
            <a:xfrm>
              <a:off x="831259" y="1959430"/>
              <a:ext cx="4901884" cy="1483814"/>
              <a:chOff x="831259" y="2017486"/>
              <a:chExt cx="4901884" cy="1483814"/>
            </a:xfrm>
          </p:grpSpPr>
          <p:sp>
            <p:nvSpPr>
              <p:cNvPr id="8" name="矩形 7"/>
              <p:cNvSpPr/>
              <p:nvPr>
                <p:custDataLst>
                  <p:tags r:id="rId14"/>
                </p:custDataLst>
              </p:nvPr>
            </p:nvSpPr>
            <p:spPr>
              <a:xfrm>
                <a:off x="831259" y="2017486"/>
                <a:ext cx="4901884" cy="1483814"/>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p:grpSp>
            <p:nvGrpSpPr>
              <p:cNvPr id="9" name="组合 8"/>
              <p:cNvGrpSpPr/>
              <p:nvPr/>
            </p:nvGrpSpPr>
            <p:grpSpPr>
              <a:xfrm>
                <a:off x="1052188" y="2155350"/>
                <a:ext cx="4441981" cy="1308312"/>
                <a:chOff x="2684999" y="1853374"/>
                <a:chExt cx="4441981" cy="1308312"/>
              </a:xfrm>
            </p:grpSpPr>
            <p:sp>
              <p:nvSpPr>
                <p:cNvPr id="10" name="文本框 9"/>
                <p:cNvSpPr txBox="1"/>
                <p:nvPr>
                  <p:custDataLst>
                    <p:tags r:id="rId15"/>
                  </p:custDataLst>
                </p:nvPr>
              </p:nvSpPr>
              <p:spPr>
                <a:xfrm>
                  <a:off x="2684999" y="1853374"/>
                  <a:ext cx="2031325" cy="358584"/>
                </a:xfrm>
                <a:prstGeom prst="rect">
                  <a:avLst/>
                </a:prstGeom>
                <a:noFill/>
              </p:spPr>
              <p:txBody>
                <a:bodyPr wrap="none" rtlCol="0">
                  <a:spAutoFit/>
                </a:bodyPr>
                <a:lstStyle/>
                <a:p>
                  <a:pPr algn="l"/>
                  <a:r>
                    <a:rPr lang="zh-CN" altLang="en-US" sz="2400" b="1" dirty="0">
                      <a:solidFill>
                        <a:srgbClr val="FCFBFC"/>
                      </a:solidFill>
                      <a:cs typeface="+mn-ea"/>
                      <a:sym typeface="+mn-lt"/>
                    </a:rPr>
                    <a:t>应变片电阻值</a:t>
                  </a:r>
                </a:p>
              </p:txBody>
            </p:sp>
            <p:sp>
              <p:nvSpPr>
                <p:cNvPr id="11" name="文本框 10"/>
                <p:cNvSpPr txBox="1"/>
                <p:nvPr>
                  <p:custDataLst>
                    <p:tags r:id="rId16"/>
                  </p:custDataLst>
                </p:nvPr>
              </p:nvSpPr>
              <p:spPr>
                <a:xfrm>
                  <a:off x="2813003" y="2374804"/>
                  <a:ext cx="4313977" cy="786882"/>
                </a:xfrm>
                <a:prstGeom prst="rect">
                  <a:avLst/>
                </a:prstGeom>
                <a:noFill/>
              </p:spPr>
              <p:txBody>
                <a:bodyPr wrap="square" rtlCol="0">
                  <a:spAutoFit/>
                </a:bodyPr>
                <a:lstStyle/>
                <a:p>
                  <a:pPr>
                    <a:lnSpc>
                      <a:spcPct val="150000"/>
                    </a:lnSpc>
                  </a:pPr>
                  <a:r>
                    <a:rPr lang="zh-CN" altLang="en-US" sz="1600" dirty="0">
                      <a:solidFill>
                        <a:srgbClr val="FCFBFC"/>
                      </a:solidFill>
                      <a:cs typeface="+mn-ea"/>
                      <a:sym typeface="+mn-lt"/>
                    </a:rPr>
                    <a:t>应变片在没有粘贴及未参与变形前，在室温下测定的电阻值称为初始电阻值。</a:t>
                  </a:r>
                </a:p>
              </p:txBody>
            </p:sp>
            <p:cxnSp>
              <p:nvCxnSpPr>
                <p:cNvPr id="12" name="直接连接符 11"/>
                <p:cNvCxnSpPr/>
                <p:nvPr>
                  <p:custDataLst>
                    <p:tags r:id="rId17"/>
                  </p:custDataLst>
                </p:nvPr>
              </p:nvCxnSpPr>
              <p:spPr>
                <a:xfrm>
                  <a:off x="2813003" y="2252158"/>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nvGrpSpPr>
            <p:cNvPr id="34" name="组合 33"/>
            <p:cNvGrpSpPr/>
            <p:nvPr/>
          </p:nvGrpSpPr>
          <p:grpSpPr>
            <a:xfrm>
              <a:off x="831259" y="3760260"/>
              <a:ext cx="4901884" cy="2548466"/>
              <a:chOff x="831259" y="1474825"/>
              <a:chExt cx="4901884" cy="2548466"/>
            </a:xfrm>
          </p:grpSpPr>
          <p:sp>
            <p:nvSpPr>
              <p:cNvPr id="35" name="矩形 34"/>
              <p:cNvSpPr/>
              <p:nvPr>
                <p:custDataLst>
                  <p:tags r:id="rId10"/>
                </p:custDataLst>
              </p:nvPr>
            </p:nvSpPr>
            <p:spPr>
              <a:xfrm>
                <a:off x="831259" y="1474825"/>
                <a:ext cx="4901884" cy="2548466"/>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FBFC"/>
                  </a:solidFill>
                  <a:cs typeface="+mn-ea"/>
                  <a:sym typeface="+mn-lt"/>
                </a:endParaRPr>
              </a:p>
            </p:txBody>
          </p:sp>
          <p:grpSp>
            <p:nvGrpSpPr>
              <p:cNvPr id="36" name="组合 35"/>
              <p:cNvGrpSpPr/>
              <p:nvPr/>
            </p:nvGrpSpPr>
            <p:grpSpPr>
              <a:xfrm>
                <a:off x="1052188" y="1641665"/>
                <a:ext cx="4507009" cy="1925212"/>
                <a:chOff x="2684999" y="1339689"/>
                <a:chExt cx="4507009" cy="1925212"/>
              </a:xfrm>
            </p:grpSpPr>
            <p:sp>
              <p:nvSpPr>
                <p:cNvPr id="37" name="文本框 36"/>
                <p:cNvSpPr txBox="1"/>
                <p:nvPr>
                  <p:custDataLst>
                    <p:tags r:id="rId11"/>
                  </p:custDataLst>
                </p:nvPr>
              </p:nvSpPr>
              <p:spPr>
                <a:xfrm>
                  <a:off x="2684999" y="1339689"/>
                  <a:ext cx="1606530" cy="358584"/>
                </a:xfrm>
                <a:prstGeom prst="rect">
                  <a:avLst/>
                </a:prstGeom>
                <a:noFill/>
              </p:spPr>
              <p:txBody>
                <a:bodyPr wrap="none" rtlCol="0">
                  <a:spAutoFit/>
                </a:bodyPr>
                <a:lstStyle/>
                <a:p>
                  <a:pPr algn="l"/>
                  <a:r>
                    <a:rPr lang="zh-CN" altLang="en-US" sz="2400" b="1" dirty="0">
                      <a:cs typeface="+mn-ea"/>
                      <a:sym typeface="+mn-lt"/>
                    </a:rPr>
                    <a:t>灵敏系数</a:t>
                  </a:r>
                  <a:r>
                    <a:rPr lang="en-US" altLang="zh-CN" sz="2400" b="1" dirty="0">
                      <a:cs typeface="+mn-ea"/>
                      <a:sym typeface="+mn-lt"/>
                    </a:rPr>
                    <a:t>K</a:t>
                  </a:r>
                  <a:endParaRPr lang="zh-CN" altLang="en-US" sz="2400" b="1" dirty="0">
                    <a:cs typeface="+mn-ea"/>
                    <a:sym typeface="+mn-lt"/>
                  </a:endParaRPr>
                </a:p>
              </p:txBody>
            </p:sp>
            <mc:AlternateContent xmlns:mc="http://schemas.openxmlformats.org/markup-compatibility/2006" xmlns:a14="http://schemas.microsoft.com/office/drawing/2010/main">
              <mc:Choice Requires="a14">
                <p:sp>
                  <p:nvSpPr>
                    <p:cNvPr id="38" name="文本框 37"/>
                    <p:cNvSpPr txBox="1"/>
                    <p:nvPr>
                      <p:custDataLst>
                        <p:tags r:id="rId12"/>
                      </p:custDataLst>
                    </p:nvPr>
                  </p:nvSpPr>
                  <p:spPr>
                    <a:xfrm>
                      <a:off x="2878031" y="1765521"/>
                      <a:ext cx="4313977" cy="1499380"/>
                    </a:xfrm>
                    <a:prstGeom prst="rect">
                      <a:avLst/>
                    </a:prstGeom>
                    <a:noFill/>
                  </p:spPr>
                  <p:txBody>
                    <a:bodyPr wrap="square" rtlCol="0">
                      <a:spAutoFit/>
                    </a:bodyPr>
                    <a:lstStyle/>
                    <a:p>
                      <a:pPr>
                        <a:lnSpc>
                          <a:spcPct val="150000"/>
                        </a:lnSpc>
                      </a:pPr>
                      <a:r>
                        <a:rPr lang="zh-CN" altLang="en-US" sz="1600" dirty="0">
                          <a:solidFill>
                            <a:schemeClr val="tx1"/>
                          </a:solidFill>
                          <a:cs typeface="+mn-ea"/>
                          <a:sym typeface="+mn-lt"/>
                        </a:rPr>
                        <a:t>应变片安装于试件表面，在其轴线方向的单向应力作用下，应变片的阻值相对变化与试件表面上安装应变片区域的轴向应变之比。</a:t>
                      </a:r>
                      <a:endParaRPr lang="en-US" altLang="zh-CN" sz="1600" dirty="0">
                        <a:solidFill>
                          <a:schemeClr val="tx1"/>
                        </a:solidFill>
                        <a:cs typeface="+mn-ea"/>
                        <a:sym typeface="+mn-lt"/>
                      </a:endParaRPr>
                    </a:p>
                    <a:p>
                      <a:pPr>
                        <a:lnSpc>
                          <a:spcPct val="150000"/>
                        </a:lnSpc>
                      </a:pPr>
                      <a:r>
                        <a:rPr lang="zh-CN" altLang="en-US" sz="1600" dirty="0">
                          <a:solidFill>
                            <a:schemeClr val="tx1"/>
                          </a:solidFill>
                          <a:cs typeface="+mn-ea"/>
                          <a:sym typeface="+mn-lt"/>
                        </a:rPr>
                        <a:t>电阻应变片的</a:t>
                      </a:r>
                      <a:r>
                        <a:rPr lang="en-US" altLang="zh-CN" sz="1600" dirty="0">
                          <a:solidFill>
                            <a:schemeClr val="tx1"/>
                          </a:solidFill>
                          <a:cs typeface="+mn-ea"/>
                          <a:sym typeface="+mn-lt"/>
                        </a:rPr>
                        <a:t>K</a:t>
                      </a:r>
                      <a:r>
                        <a:rPr lang="zh-CN" altLang="en-US" sz="1600" dirty="0">
                          <a:solidFill>
                            <a:schemeClr val="tx1"/>
                          </a:solidFill>
                          <a:cs typeface="+mn-ea"/>
                          <a:sym typeface="+mn-lt"/>
                        </a:rPr>
                        <a:t>值及误差以平均灵敏系数及相对均方根表示：</a:t>
                      </a:r>
                      <a14:m>
                        <m:oMath xmlns:m="http://schemas.openxmlformats.org/officeDocument/2006/math">
                          <m:r>
                            <a:rPr lang="en-US" altLang="zh-CN" sz="1800" i="1" smtClean="0">
                              <a:effectLst/>
                              <a:latin typeface="Cambria Math" panose="02040503050406030204" pitchFamily="18" charset="0"/>
                              <a:ea typeface="宋体" panose="02010600030101010101" pitchFamily="2" charset="-122"/>
                              <a:cs typeface="宋体" panose="02010600030101010101" pitchFamily="2" charset="-122"/>
                            </a:rPr>
                            <m:t>𝐾</m:t>
                          </m:r>
                          <m:r>
                            <a:rPr lang="en-US" altLang="zh-CN" sz="1800" i="1" smtClean="0">
                              <a:effectLst/>
                              <a:latin typeface="Cambria Math" panose="02040503050406030204" pitchFamily="18" charset="0"/>
                              <a:ea typeface="宋体" panose="02010600030101010101" pitchFamily="2" charset="-122"/>
                              <a:cs typeface="宋体" panose="02010600030101010101" pitchFamily="2" charset="-122"/>
                            </a:rPr>
                            <m:t>=</m:t>
                          </m:r>
                          <m:acc>
                            <m:accPr>
                              <m:chr m:val="̅"/>
                              <m:ctrlPr>
                                <a:rPr lang="zh-CN" altLang="zh-CN" sz="1800" i="1">
                                  <a:effectLst/>
                                  <a:latin typeface="Cambria Math" panose="02040503050406030204" pitchFamily="18" charset="0"/>
                                  <a:ea typeface="Cambria Math" panose="02040503050406030204" pitchFamily="18" charset="0"/>
                                  <a:cs typeface="宋体" panose="02010600030101010101" pitchFamily="2" charset="-122"/>
                                </a:rPr>
                              </m:ctrlPr>
                            </m:accPr>
                            <m:e>
                              <m:r>
                                <a:rPr lang="en-US" altLang="zh-CN" sz="1800" i="1">
                                  <a:effectLst/>
                                  <a:latin typeface="Cambria Math" panose="02040503050406030204" pitchFamily="18" charset="0"/>
                                  <a:ea typeface="宋体" panose="02010600030101010101" pitchFamily="2" charset="-122"/>
                                  <a:cs typeface="宋体" panose="02010600030101010101" pitchFamily="2" charset="-122"/>
                                </a:rPr>
                                <m:t>𝐾</m:t>
                              </m:r>
                            </m:e>
                          </m:acc>
                        </m:oMath>
                      </a14:m>
                      <a:r>
                        <a:rPr lang="en-US" altLang="zh-CN" sz="1800" dirty="0">
                          <a:effectLst/>
                          <a:latin typeface="宋体" panose="02010600030101010101" pitchFamily="2" charset="-122"/>
                        </a:rPr>
                        <a:t>+</a:t>
                      </a:r>
                      <a14:m>
                        <m:oMath xmlns:m="http://schemas.openxmlformats.org/officeDocument/2006/math">
                          <m:r>
                            <a:rPr lang="en-US" altLang="zh-CN" sz="1800" i="1">
                              <a:effectLst/>
                              <a:latin typeface="Cambria Math" panose="02040503050406030204" pitchFamily="18" charset="0"/>
                              <a:ea typeface="宋体" panose="02010600030101010101" pitchFamily="2" charset="-122"/>
                              <a:cs typeface="宋体" panose="02010600030101010101" pitchFamily="2" charset="-122"/>
                            </a:rPr>
                            <m:t>𝜎</m:t>
                          </m:r>
                        </m:oMath>
                      </a14:m>
                      <a:endParaRPr lang="en-US" altLang="zh-CN" sz="1600" dirty="0">
                        <a:solidFill>
                          <a:schemeClr val="tx1"/>
                        </a:solidFill>
                        <a:cs typeface="+mn-ea"/>
                        <a:sym typeface="+mn-lt"/>
                      </a:endParaRPr>
                    </a:p>
                  </p:txBody>
                </p:sp>
              </mc:Choice>
              <mc:Fallback xmlns="">
                <p:sp>
                  <p:nvSpPr>
                    <p:cNvPr id="38" name="文本框 37"/>
                    <p:cNvSpPr txBox="1">
                      <a:spLocks noRot="1" noChangeAspect="1" noMove="1" noResize="1" noEditPoints="1" noAdjustHandles="1" noChangeArrowheads="1" noChangeShapeType="1" noTextEdit="1"/>
                    </p:cNvSpPr>
                    <p:nvPr>
                      <p:custDataLst>
                        <p:tags r:id="rId19"/>
                      </p:custDataLst>
                    </p:nvPr>
                  </p:nvSpPr>
                  <p:spPr>
                    <a:xfrm>
                      <a:off x="2878031" y="1765521"/>
                      <a:ext cx="4313977" cy="1499380"/>
                    </a:xfrm>
                    <a:prstGeom prst="rect">
                      <a:avLst/>
                    </a:prstGeom>
                    <a:blipFill>
                      <a:blip r:embed="rId20"/>
                      <a:stretch>
                        <a:fillRect l="-706" b="-3797"/>
                      </a:stretch>
                    </a:blipFill>
                  </p:spPr>
                  <p:txBody>
                    <a:bodyPr/>
                    <a:lstStyle/>
                    <a:p>
                      <a:r>
                        <a:rPr lang="zh-CN" altLang="en-US">
                          <a:noFill/>
                        </a:rPr>
                        <a:t> </a:t>
                      </a:r>
                    </a:p>
                  </p:txBody>
                </p:sp>
              </mc:Fallback>
            </mc:AlternateContent>
            <p:cxnSp>
              <p:nvCxnSpPr>
                <p:cNvPr id="39" name="直接连接符 38"/>
                <p:cNvCxnSpPr/>
                <p:nvPr>
                  <p:custDataLst>
                    <p:tags r:id="rId13"/>
                  </p:custDataLst>
                </p:nvPr>
              </p:nvCxnSpPr>
              <p:spPr>
                <a:xfrm>
                  <a:off x="2813003" y="1755914"/>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grpSp>
        <p:nvGrpSpPr>
          <p:cNvPr id="41" name="组合 40"/>
          <p:cNvGrpSpPr/>
          <p:nvPr>
            <p:custDataLst>
              <p:tags r:id="rId2"/>
            </p:custDataLst>
          </p:nvPr>
        </p:nvGrpSpPr>
        <p:grpSpPr>
          <a:xfrm>
            <a:off x="6458857" y="689956"/>
            <a:ext cx="4901884" cy="5619341"/>
            <a:chOff x="831259" y="1959430"/>
            <a:chExt cx="4901884" cy="4349296"/>
          </a:xfrm>
        </p:grpSpPr>
        <p:grpSp>
          <p:nvGrpSpPr>
            <p:cNvPr id="42" name="组合 41"/>
            <p:cNvGrpSpPr/>
            <p:nvPr/>
          </p:nvGrpSpPr>
          <p:grpSpPr>
            <a:xfrm>
              <a:off x="831259" y="1959430"/>
              <a:ext cx="4901884" cy="1483348"/>
              <a:chOff x="831259" y="2017486"/>
              <a:chExt cx="4901884" cy="1483348"/>
            </a:xfrm>
          </p:grpSpPr>
          <p:sp>
            <p:nvSpPr>
              <p:cNvPr id="49" name="矩形 48"/>
              <p:cNvSpPr/>
              <p:nvPr>
                <p:custDataLst>
                  <p:tags r:id="rId7"/>
                </p:custDataLst>
              </p:nvPr>
            </p:nvSpPr>
            <p:spPr>
              <a:xfrm>
                <a:off x="831259" y="2017486"/>
                <a:ext cx="4901884" cy="1483348"/>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FBFC"/>
                  </a:solidFill>
                  <a:cs typeface="+mn-ea"/>
                  <a:sym typeface="+mn-lt"/>
                </a:endParaRPr>
              </a:p>
            </p:txBody>
          </p:sp>
          <p:grpSp>
            <p:nvGrpSpPr>
              <p:cNvPr id="50" name="组合 49"/>
              <p:cNvGrpSpPr/>
              <p:nvPr/>
            </p:nvGrpSpPr>
            <p:grpSpPr>
              <a:xfrm>
                <a:off x="1059173" y="2155350"/>
                <a:ext cx="1415772" cy="388217"/>
                <a:chOff x="2691984" y="1853374"/>
                <a:chExt cx="1415772" cy="388217"/>
              </a:xfrm>
            </p:grpSpPr>
            <p:sp>
              <p:nvSpPr>
                <p:cNvPr id="51" name="文本框 50"/>
                <p:cNvSpPr txBox="1"/>
                <p:nvPr>
                  <p:custDataLst>
                    <p:tags r:id="rId8"/>
                  </p:custDataLst>
                </p:nvPr>
              </p:nvSpPr>
              <p:spPr>
                <a:xfrm>
                  <a:off x="2691984" y="1853374"/>
                  <a:ext cx="1415772" cy="357323"/>
                </a:xfrm>
                <a:prstGeom prst="rect">
                  <a:avLst/>
                </a:prstGeom>
                <a:noFill/>
              </p:spPr>
              <p:txBody>
                <a:bodyPr wrap="none" rtlCol="0">
                  <a:spAutoFit/>
                </a:bodyPr>
                <a:lstStyle/>
                <a:p>
                  <a:pPr algn="l"/>
                  <a:r>
                    <a:rPr lang="zh-CN" altLang="en-US" sz="2400" b="1" dirty="0">
                      <a:cs typeface="+mn-ea"/>
                      <a:sym typeface="+mn-lt"/>
                    </a:rPr>
                    <a:t>机械滞后</a:t>
                  </a:r>
                </a:p>
              </p:txBody>
            </p:sp>
            <p:cxnSp>
              <p:nvCxnSpPr>
                <p:cNvPr id="53" name="直接连接符 52"/>
                <p:cNvCxnSpPr/>
                <p:nvPr>
                  <p:custDataLst>
                    <p:tags r:id="rId9"/>
                  </p:custDataLst>
                </p:nvPr>
              </p:nvCxnSpPr>
              <p:spPr>
                <a:xfrm>
                  <a:off x="2795158" y="2241591"/>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nvGrpSpPr>
            <p:cNvPr id="43" name="组合 42"/>
            <p:cNvGrpSpPr/>
            <p:nvPr/>
          </p:nvGrpSpPr>
          <p:grpSpPr>
            <a:xfrm>
              <a:off x="831259" y="3759795"/>
              <a:ext cx="4901884" cy="2548931"/>
              <a:chOff x="831259" y="1474360"/>
              <a:chExt cx="4901884" cy="2548931"/>
            </a:xfrm>
          </p:grpSpPr>
          <p:sp>
            <p:nvSpPr>
              <p:cNvPr id="44" name="矩形 43"/>
              <p:cNvSpPr/>
              <p:nvPr>
                <p:custDataLst>
                  <p:tags r:id="rId3"/>
                </p:custDataLst>
              </p:nvPr>
            </p:nvSpPr>
            <p:spPr>
              <a:xfrm>
                <a:off x="831259" y="1474360"/>
                <a:ext cx="4901884" cy="2548931"/>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CFBFC"/>
                  </a:solidFill>
                  <a:cs typeface="+mn-ea"/>
                  <a:sym typeface="+mn-lt"/>
                </a:endParaRPr>
              </a:p>
            </p:txBody>
          </p:sp>
          <p:grpSp>
            <p:nvGrpSpPr>
              <p:cNvPr id="45" name="组合 44"/>
              <p:cNvGrpSpPr/>
              <p:nvPr/>
            </p:nvGrpSpPr>
            <p:grpSpPr>
              <a:xfrm>
                <a:off x="1059173" y="1670761"/>
                <a:ext cx="4481863" cy="2101411"/>
                <a:chOff x="2691984" y="1368785"/>
                <a:chExt cx="4481863" cy="2101411"/>
              </a:xfrm>
            </p:grpSpPr>
            <p:sp>
              <p:nvSpPr>
                <p:cNvPr id="46" name="文本框 45"/>
                <p:cNvSpPr txBox="1"/>
                <p:nvPr>
                  <p:custDataLst>
                    <p:tags r:id="rId4"/>
                  </p:custDataLst>
                </p:nvPr>
              </p:nvSpPr>
              <p:spPr>
                <a:xfrm>
                  <a:off x="2691984" y="1368785"/>
                  <a:ext cx="1415772" cy="357323"/>
                </a:xfrm>
                <a:prstGeom prst="rect">
                  <a:avLst/>
                </a:prstGeom>
                <a:noFill/>
              </p:spPr>
              <p:txBody>
                <a:bodyPr wrap="none" rtlCol="0">
                  <a:spAutoFit/>
                </a:bodyPr>
                <a:lstStyle/>
                <a:p>
                  <a:pPr algn="l"/>
                  <a:r>
                    <a:rPr lang="zh-CN" altLang="en-US" sz="2400" b="1" dirty="0">
                      <a:solidFill>
                        <a:srgbClr val="FCFBFC"/>
                      </a:solidFill>
                      <a:cs typeface="+mn-ea"/>
                      <a:sym typeface="+mn-lt"/>
                    </a:rPr>
                    <a:t>绝缘电阻</a:t>
                  </a:r>
                </a:p>
              </p:txBody>
            </p:sp>
            <p:sp>
              <p:nvSpPr>
                <p:cNvPr id="47" name="文本框 46"/>
                <p:cNvSpPr txBox="1"/>
                <p:nvPr>
                  <p:custDataLst>
                    <p:tags r:id="rId5"/>
                  </p:custDataLst>
                </p:nvPr>
              </p:nvSpPr>
              <p:spPr>
                <a:xfrm>
                  <a:off x="2859870" y="1925748"/>
                  <a:ext cx="4313977" cy="1544448"/>
                </a:xfrm>
                <a:prstGeom prst="rect">
                  <a:avLst/>
                </a:prstGeom>
                <a:noFill/>
              </p:spPr>
              <p:txBody>
                <a:bodyPr wrap="square" rtlCol="0">
                  <a:spAutoFit/>
                </a:bodyPr>
                <a:lstStyle/>
                <a:p>
                  <a:pPr>
                    <a:lnSpc>
                      <a:spcPct val="150000"/>
                    </a:lnSpc>
                  </a:pPr>
                  <a:r>
                    <a:rPr lang="zh-CN" altLang="en-US" sz="1600" dirty="0">
                      <a:solidFill>
                        <a:srgbClr val="FCFBFC"/>
                      </a:solidFill>
                      <a:cs typeface="+mn-ea"/>
                      <a:sym typeface="+mn-lt"/>
                    </a:rPr>
                    <a:t>应变片的绝缘电阻是指粘贴好的应变片引线与测试试件之间的电阻，它是检查应变片的粘贴质量与黏结剂是否干燥或固化的重要指标。绝缘电阻过低会造成应变片与试件之间漏电而产生测量误差。</a:t>
                  </a:r>
                </a:p>
              </p:txBody>
            </p:sp>
            <p:cxnSp>
              <p:nvCxnSpPr>
                <p:cNvPr id="48" name="直接连接符 47"/>
                <p:cNvCxnSpPr/>
                <p:nvPr>
                  <p:custDataLst>
                    <p:tags r:id="rId6"/>
                  </p:custDataLst>
                </p:nvPr>
              </p:nvCxnSpPr>
              <p:spPr>
                <a:xfrm>
                  <a:off x="2859870" y="1790322"/>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sp>
        <p:nvSpPr>
          <p:cNvPr id="3" name="文本框 2"/>
          <p:cNvSpPr txBox="1"/>
          <p:nvPr/>
        </p:nvSpPr>
        <p:spPr>
          <a:xfrm>
            <a:off x="6947808" y="1456199"/>
            <a:ext cx="4064000" cy="1156214"/>
          </a:xfrm>
          <a:prstGeom prst="rect">
            <a:avLst/>
          </a:prstGeom>
          <a:noFill/>
        </p:spPr>
        <p:txBody>
          <a:bodyPr wrap="square" rtlCol="0">
            <a:spAutoFit/>
          </a:bodyPr>
          <a:lstStyle/>
          <a:p>
            <a:pPr>
              <a:lnSpc>
                <a:spcPct val="150000"/>
              </a:lnSpc>
            </a:pPr>
            <a:r>
              <a:rPr lang="zh-CN" altLang="en-US" sz="1600" dirty="0">
                <a:solidFill>
                  <a:schemeClr val="tx1"/>
                </a:solidFill>
              </a:rPr>
              <a:t>应变片粘贴在被测试件上，当温度恒定时其加载特性与卸载特性不重合，即为机械滞后。</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831259" y="689955"/>
            <a:ext cx="4901884" cy="5419900"/>
            <a:chOff x="831259" y="2017485"/>
            <a:chExt cx="4901884" cy="4209742"/>
          </a:xfrm>
        </p:grpSpPr>
        <p:sp>
          <p:nvSpPr>
            <p:cNvPr id="8" name="矩形 7"/>
            <p:cNvSpPr/>
            <p:nvPr>
              <p:custDataLst>
                <p:tags r:id="rId4"/>
              </p:custDataLst>
            </p:nvPr>
          </p:nvSpPr>
          <p:spPr>
            <a:xfrm>
              <a:off x="831259" y="2017485"/>
              <a:ext cx="4901884" cy="4209742"/>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p:grpSp>
          <p:nvGrpSpPr>
            <p:cNvPr id="9" name="组合 8"/>
            <p:cNvGrpSpPr/>
            <p:nvPr/>
          </p:nvGrpSpPr>
          <p:grpSpPr>
            <a:xfrm>
              <a:off x="1052188" y="2155350"/>
              <a:ext cx="4441981" cy="3791626"/>
              <a:chOff x="2684999" y="1853374"/>
              <a:chExt cx="4441981" cy="3791626"/>
            </a:xfrm>
          </p:grpSpPr>
          <p:sp>
            <p:nvSpPr>
              <p:cNvPr id="10" name="文本框 9"/>
              <p:cNvSpPr txBox="1"/>
              <p:nvPr>
                <p:custDataLst>
                  <p:tags r:id="rId5"/>
                </p:custDataLst>
              </p:nvPr>
            </p:nvSpPr>
            <p:spPr>
              <a:xfrm>
                <a:off x="2684999" y="1853374"/>
                <a:ext cx="1415772" cy="358584"/>
              </a:xfrm>
              <a:prstGeom prst="rect">
                <a:avLst/>
              </a:prstGeom>
              <a:noFill/>
            </p:spPr>
            <p:txBody>
              <a:bodyPr wrap="none" rtlCol="0">
                <a:spAutoFit/>
              </a:bodyPr>
              <a:lstStyle/>
              <a:p>
                <a:pPr algn="l"/>
                <a:r>
                  <a:rPr lang="zh-CN" altLang="en-US" sz="2400" b="1" dirty="0">
                    <a:solidFill>
                      <a:srgbClr val="FCFBFC"/>
                    </a:solidFill>
                    <a:cs typeface="+mn-ea"/>
                    <a:sym typeface="+mn-lt"/>
                  </a:rPr>
                  <a:t>横向效应</a:t>
                </a:r>
              </a:p>
            </p:txBody>
          </p:sp>
          <p:sp>
            <p:nvSpPr>
              <p:cNvPr id="11" name="文本框 10"/>
              <p:cNvSpPr txBox="1"/>
              <p:nvPr>
                <p:custDataLst>
                  <p:tags r:id="rId6"/>
                </p:custDataLst>
              </p:nvPr>
            </p:nvSpPr>
            <p:spPr>
              <a:xfrm>
                <a:off x="2813003" y="2452007"/>
                <a:ext cx="4313977" cy="3192993"/>
              </a:xfrm>
              <a:prstGeom prst="rect">
                <a:avLst/>
              </a:prstGeom>
              <a:noFill/>
            </p:spPr>
            <p:txBody>
              <a:bodyPr wrap="square" rtlCol="0">
                <a:spAutoFit/>
              </a:bodyPr>
              <a:lstStyle/>
              <a:p>
                <a:pPr>
                  <a:lnSpc>
                    <a:spcPct val="150000"/>
                  </a:lnSpc>
                </a:pPr>
                <a:r>
                  <a:rPr lang="zh-CN" altLang="en-US" sz="1600" dirty="0">
                    <a:solidFill>
                      <a:srgbClr val="FCFBFC"/>
                    </a:solidFill>
                    <a:cs typeface="+mn-ea"/>
                    <a:sym typeface="+mn-lt"/>
                  </a:rPr>
                  <a:t>金属应变片由于敏感栅的两端为半圆弧形的横栅，测量应变时，构件的轴向应变使敏感栅电阻发生变化，其横向应变也将使敏感栅半圆弧部分的电阻发生变化</a:t>
                </a:r>
                <a:r>
                  <a:rPr lang="en-US" altLang="zh-CN" sz="1600" dirty="0">
                    <a:solidFill>
                      <a:srgbClr val="FCFBFC"/>
                    </a:solidFill>
                    <a:cs typeface="+mn-ea"/>
                    <a:sym typeface="+mn-lt"/>
                  </a:rPr>
                  <a:t>(</a:t>
                </a:r>
                <a:r>
                  <a:rPr lang="zh-CN" altLang="en-US" sz="1600" dirty="0">
                    <a:solidFill>
                      <a:srgbClr val="FCFBFC"/>
                    </a:solidFill>
                    <a:cs typeface="+mn-ea"/>
                    <a:sym typeface="+mn-lt"/>
                  </a:rPr>
                  <a:t>除了轴向应变起作用外</a:t>
                </a:r>
                <a:r>
                  <a:rPr lang="en-US" altLang="zh-CN" sz="1600" dirty="0">
                    <a:solidFill>
                      <a:srgbClr val="FCFBFC"/>
                    </a:solidFill>
                    <a:cs typeface="+mn-ea"/>
                    <a:sym typeface="+mn-lt"/>
                  </a:rPr>
                  <a:t>)</a:t>
                </a:r>
                <a:r>
                  <a:rPr lang="zh-CN" altLang="en-US" sz="1600" dirty="0">
                    <a:solidFill>
                      <a:srgbClr val="FCFBFC"/>
                    </a:solidFill>
                    <a:cs typeface="+mn-ea"/>
                    <a:sym typeface="+mn-lt"/>
                  </a:rPr>
                  <a:t>，应变片的这种既受轴向应变影响，又受横向应变影响而引起电阻变化的现象称为横向效应。</a:t>
                </a:r>
              </a:p>
              <a:p>
                <a:pPr>
                  <a:lnSpc>
                    <a:spcPct val="150000"/>
                  </a:lnSpc>
                </a:pPr>
                <a:r>
                  <a:rPr lang="zh-CN" altLang="en-US" sz="1600" dirty="0">
                    <a:solidFill>
                      <a:srgbClr val="FCFBFC"/>
                    </a:solidFill>
                    <a:cs typeface="+mn-ea"/>
                    <a:sym typeface="+mn-lt"/>
                  </a:rPr>
                  <a:t>横向灵敏系数与轴向灵敏系数之比值，称为横向效应系数</a:t>
                </a:r>
                <a:r>
                  <a:rPr lang="en-US" altLang="zh-CN" sz="1600" dirty="0">
                    <a:solidFill>
                      <a:srgbClr val="FCFBFC"/>
                    </a:solidFill>
                    <a:cs typeface="+mn-ea"/>
                    <a:sym typeface="+mn-lt"/>
                  </a:rPr>
                  <a:t>H</a:t>
                </a:r>
                <a:r>
                  <a:rPr lang="zh-CN" altLang="en-US" sz="1600" dirty="0">
                    <a:solidFill>
                      <a:srgbClr val="FCFBFC"/>
                    </a:solidFill>
                    <a:cs typeface="+mn-ea"/>
                    <a:sym typeface="+mn-lt"/>
                  </a:rPr>
                  <a:t>。</a:t>
                </a:r>
              </a:p>
              <a:p>
                <a:pPr>
                  <a:lnSpc>
                    <a:spcPct val="150000"/>
                  </a:lnSpc>
                </a:pPr>
                <a:r>
                  <a:rPr lang="zh-CN" altLang="en-US" sz="1600" dirty="0">
                    <a:solidFill>
                      <a:srgbClr val="FCFBFC"/>
                    </a:solidFill>
                    <a:cs typeface="+mn-ea"/>
                    <a:sym typeface="+mn-lt"/>
                  </a:rPr>
                  <a:t>敏感栅越窄、基长越长的应变片，其横向效应引起的误差越小。</a:t>
                </a:r>
              </a:p>
            </p:txBody>
          </p:sp>
          <p:cxnSp>
            <p:nvCxnSpPr>
              <p:cNvPr id="12" name="直接连接符 11"/>
              <p:cNvCxnSpPr/>
              <p:nvPr>
                <p:custDataLst>
                  <p:tags r:id="rId7"/>
                </p:custDataLst>
              </p:nvPr>
            </p:nvCxnSpPr>
            <p:spPr>
              <a:xfrm>
                <a:off x="2813003" y="2252158"/>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nvGrpSpPr>
          <p:cNvPr id="42" name="组合 41"/>
          <p:cNvGrpSpPr/>
          <p:nvPr/>
        </p:nvGrpSpPr>
        <p:grpSpPr>
          <a:xfrm>
            <a:off x="6528866" y="689957"/>
            <a:ext cx="4901884" cy="5419898"/>
            <a:chOff x="831259" y="2017486"/>
            <a:chExt cx="4901884" cy="4194930"/>
          </a:xfrm>
        </p:grpSpPr>
        <p:sp>
          <p:nvSpPr>
            <p:cNvPr id="49" name="矩形 48"/>
            <p:cNvSpPr/>
            <p:nvPr>
              <p:custDataLst>
                <p:tags r:id="rId1"/>
              </p:custDataLst>
            </p:nvPr>
          </p:nvSpPr>
          <p:spPr>
            <a:xfrm>
              <a:off x="831259" y="2017486"/>
              <a:ext cx="4901884" cy="4194930"/>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CFBFC"/>
                </a:solidFill>
                <a:cs typeface="+mn-ea"/>
                <a:sym typeface="+mn-lt"/>
              </a:endParaRPr>
            </a:p>
          </p:txBody>
        </p:sp>
        <p:grpSp>
          <p:nvGrpSpPr>
            <p:cNvPr id="50" name="组合 49"/>
            <p:cNvGrpSpPr/>
            <p:nvPr/>
          </p:nvGrpSpPr>
          <p:grpSpPr>
            <a:xfrm>
              <a:off x="1059173" y="2155350"/>
              <a:ext cx="1723549" cy="388217"/>
              <a:chOff x="2691984" y="1853374"/>
              <a:chExt cx="1723549" cy="388217"/>
            </a:xfrm>
          </p:grpSpPr>
          <p:sp>
            <p:nvSpPr>
              <p:cNvPr id="51" name="文本框 50"/>
              <p:cNvSpPr txBox="1"/>
              <p:nvPr>
                <p:custDataLst>
                  <p:tags r:id="rId2"/>
                </p:custDataLst>
              </p:nvPr>
            </p:nvSpPr>
            <p:spPr>
              <a:xfrm>
                <a:off x="2691984" y="1853374"/>
                <a:ext cx="1723549" cy="357323"/>
              </a:xfrm>
              <a:prstGeom prst="rect">
                <a:avLst/>
              </a:prstGeom>
              <a:noFill/>
            </p:spPr>
            <p:txBody>
              <a:bodyPr wrap="none" rtlCol="0">
                <a:spAutoFit/>
              </a:bodyPr>
              <a:lstStyle/>
              <a:p>
                <a:pPr algn="l"/>
                <a:r>
                  <a:rPr lang="zh-CN" altLang="en-US" sz="2400" b="1" dirty="0">
                    <a:cs typeface="+mn-ea"/>
                    <a:sym typeface="+mn-lt"/>
                  </a:rPr>
                  <a:t>零漂和蠕变</a:t>
                </a:r>
              </a:p>
            </p:txBody>
          </p:sp>
          <p:cxnSp>
            <p:nvCxnSpPr>
              <p:cNvPr id="53" name="直接连接符 52"/>
              <p:cNvCxnSpPr/>
              <p:nvPr>
                <p:custDataLst>
                  <p:tags r:id="rId3"/>
                </p:custDataLst>
              </p:nvPr>
            </p:nvCxnSpPr>
            <p:spPr>
              <a:xfrm>
                <a:off x="2795158" y="2241591"/>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sp>
        <p:nvSpPr>
          <p:cNvPr id="3" name="文本框 2"/>
          <p:cNvSpPr txBox="1"/>
          <p:nvPr/>
        </p:nvSpPr>
        <p:spPr>
          <a:xfrm>
            <a:off x="6947808" y="1638172"/>
            <a:ext cx="4064000" cy="4110869"/>
          </a:xfrm>
          <a:prstGeom prst="rect">
            <a:avLst/>
          </a:prstGeom>
          <a:noFill/>
        </p:spPr>
        <p:txBody>
          <a:bodyPr wrap="square" rtlCol="0">
            <a:spAutoFit/>
          </a:bodyPr>
          <a:lstStyle/>
          <a:p>
            <a:pPr>
              <a:lnSpc>
                <a:spcPct val="150000"/>
              </a:lnSpc>
            </a:pPr>
            <a:r>
              <a:rPr lang="zh-CN" altLang="en-US" sz="1600" dirty="0">
                <a:solidFill>
                  <a:schemeClr val="tx1"/>
                </a:solidFill>
              </a:rPr>
              <a:t>零漂：对于粘贴好的应变片，当温度恒定时，不承受应变时，其电阻值随时间增加而变化的特性，称为应变片的零点漂移。</a:t>
            </a:r>
            <a:endParaRPr lang="en-US" altLang="zh-CN" sz="1600" dirty="0">
              <a:solidFill>
                <a:schemeClr val="tx1"/>
              </a:solidFill>
            </a:endParaRPr>
          </a:p>
          <a:p>
            <a:pPr>
              <a:lnSpc>
                <a:spcPct val="150000"/>
              </a:lnSpc>
            </a:pPr>
            <a:endParaRPr lang="en-US" altLang="zh-CN" sz="1600" dirty="0">
              <a:solidFill>
                <a:schemeClr val="tx1"/>
              </a:solidFill>
            </a:endParaRPr>
          </a:p>
          <a:p>
            <a:pPr>
              <a:lnSpc>
                <a:spcPct val="150000"/>
              </a:lnSpc>
            </a:pPr>
            <a:r>
              <a:rPr lang="zh-CN" altLang="en-US" sz="1600" dirty="0">
                <a:solidFill>
                  <a:schemeClr val="tx1"/>
                </a:solidFill>
              </a:rPr>
              <a:t>蠕变：如果在一定温度下，使应变片承受恒定的机械应变，其电阻值随时间增加而变化的特性称为蠕变。一般蠕变的方向与原应变量的方向相反。</a:t>
            </a:r>
            <a:endParaRPr lang="en-US" altLang="zh-CN" sz="1600" dirty="0">
              <a:solidFill>
                <a:schemeClr val="tx1"/>
              </a:solidFill>
            </a:endParaRPr>
          </a:p>
          <a:p>
            <a:pPr>
              <a:lnSpc>
                <a:spcPct val="150000"/>
              </a:lnSpc>
            </a:pPr>
            <a:endParaRPr lang="en-US" altLang="zh-CN" sz="1600" dirty="0"/>
          </a:p>
          <a:p>
            <a:pPr>
              <a:lnSpc>
                <a:spcPct val="150000"/>
              </a:lnSpc>
            </a:pPr>
            <a:r>
              <a:rPr lang="zh-CN" altLang="en-US" sz="1600" dirty="0">
                <a:solidFill>
                  <a:schemeClr val="tx1"/>
                </a:solidFill>
              </a:rPr>
              <a:t>这两项是衡量应变片特性对时间稳定性的指标，在长时间测量中其意义更为突出。</a:t>
            </a:r>
          </a:p>
        </p:txBody>
      </p:sp>
    </p:spTree>
    <p:extLst>
      <p:ext uri="{BB962C8B-B14F-4D97-AF65-F5344CB8AC3E}">
        <p14:creationId xmlns:p14="http://schemas.microsoft.com/office/powerpoint/2010/main" val="120469225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1036427"/>
            <a:ext cx="12192000" cy="2643893"/>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5" name="矩形 14"/>
          <p:cNvSpPr/>
          <p:nvPr/>
        </p:nvSpPr>
        <p:spPr>
          <a:xfrm>
            <a:off x="2633463" y="2524084"/>
            <a:ext cx="7452124" cy="829945"/>
          </a:xfrm>
          <a:prstGeom prst="rect">
            <a:avLst/>
          </a:prstGeom>
        </p:spPr>
        <p:txBody>
          <a:bodyPr wrap="square">
            <a:spAutoFit/>
          </a:bodyPr>
          <a:lstStyle/>
          <a:p>
            <a:pPr algn="ctr">
              <a:lnSpc>
                <a:spcPct val="150000"/>
              </a:lnSpc>
            </a:pPr>
            <a:endParaRPr lang="zh-CN" altLang="en-US" sz="1600">
              <a:solidFill>
                <a:schemeClr val="bg1"/>
              </a:solidFill>
              <a:cs typeface="+mn-ea"/>
              <a:sym typeface="+mn-lt"/>
            </a:endParaRPr>
          </a:p>
          <a:p>
            <a:pPr algn="ctr">
              <a:lnSpc>
                <a:spcPct val="150000"/>
              </a:lnSpc>
            </a:pPr>
            <a:endParaRPr lang="zh-CN" altLang="en-US" sz="1600">
              <a:solidFill>
                <a:schemeClr val="bg1"/>
              </a:solidFill>
              <a:cs typeface="+mn-ea"/>
              <a:sym typeface="+mn-lt"/>
            </a:endParaRPr>
          </a:p>
        </p:txBody>
      </p:sp>
      <p:sp>
        <p:nvSpPr>
          <p:cNvPr id="16" name="文本框 15"/>
          <p:cNvSpPr txBox="1"/>
          <p:nvPr/>
        </p:nvSpPr>
        <p:spPr>
          <a:xfrm>
            <a:off x="2667016" y="1812079"/>
            <a:ext cx="6857968" cy="769441"/>
          </a:xfrm>
          <a:prstGeom prst="rect">
            <a:avLst/>
          </a:prstGeom>
          <a:noFill/>
        </p:spPr>
        <p:txBody>
          <a:bodyPr wrap="none" rtlCol="0">
            <a:spAutoFit/>
          </a:bodyPr>
          <a:lstStyle/>
          <a:p>
            <a:pPr algn="ctr"/>
            <a:r>
              <a:rPr lang="en-US" altLang="zh-CN" sz="4400" dirty="0">
                <a:solidFill>
                  <a:schemeClr val="bg1"/>
                </a:solidFill>
                <a:latin typeface="+mn-ea"/>
                <a:cs typeface="+mn-ea"/>
                <a:sym typeface="+mn-lt"/>
              </a:rPr>
              <a:t>2.</a:t>
            </a:r>
            <a:r>
              <a:rPr lang="zh-CN" altLang="en-US" sz="4400" dirty="0">
                <a:solidFill>
                  <a:schemeClr val="bg1"/>
                </a:solidFill>
                <a:latin typeface="+mn-ea"/>
                <a:cs typeface="+mn-ea"/>
                <a:sym typeface="+mn-lt"/>
              </a:rPr>
              <a:t>传感器动态性能指标概述</a:t>
            </a:r>
          </a:p>
        </p:txBody>
      </p:sp>
      <p:cxnSp>
        <p:nvCxnSpPr>
          <p:cNvPr id="17" name="直接连接符 16"/>
          <p:cNvCxnSpPr/>
          <p:nvPr/>
        </p:nvCxnSpPr>
        <p:spPr>
          <a:xfrm>
            <a:off x="5455097" y="2940122"/>
            <a:ext cx="999172" cy="0"/>
          </a:xfrm>
          <a:prstGeom prst="line">
            <a:avLst/>
          </a:prstGeom>
          <a:ln w="60325" cap="rnd">
            <a:solidFill>
              <a:schemeClr val="bg1"/>
            </a:solidFill>
            <a:round/>
          </a:ln>
        </p:spPr>
        <p:style>
          <a:lnRef idx="1">
            <a:schemeClr val="accent1"/>
          </a:lnRef>
          <a:fillRef idx="0">
            <a:schemeClr val="accent1"/>
          </a:fillRef>
          <a:effectRef idx="0">
            <a:schemeClr val="accent1"/>
          </a:effectRef>
          <a:fontRef idx="minor">
            <a:schemeClr val="tx1"/>
          </a:fontRef>
        </p:style>
      </p:cxnSp>
      <p:grpSp>
        <p:nvGrpSpPr>
          <p:cNvPr id="121" name="组合 120"/>
          <p:cNvGrpSpPr/>
          <p:nvPr/>
        </p:nvGrpSpPr>
        <p:grpSpPr>
          <a:xfrm>
            <a:off x="-240051" y="2689864"/>
            <a:ext cx="11269879" cy="3155703"/>
            <a:chOff x="6518485" y="3943834"/>
            <a:chExt cx="4386689" cy="2032858"/>
          </a:xfrm>
        </p:grpSpPr>
        <p:sp>
          <p:nvSpPr>
            <p:cNvPr id="123" name="文本框 122"/>
            <p:cNvSpPr txBox="1"/>
            <p:nvPr/>
          </p:nvSpPr>
          <p:spPr>
            <a:xfrm>
              <a:off x="7213126" y="4830343"/>
              <a:ext cx="3692048" cy="1146349"/>
            </a:xfrm>
            <a:prstGeom prst="rect">
              <a:avLst/>
            </a:prstGeom>
            <a:noFill/>
          </p:spPr>
          <p:txBody>
            <a:bodyPr wrap="square" rtlCol="0">
              <a:noAutofit/>
            </a:bodyPr>
            <a:lstStyle/>
            <a:p>
              <a:pPr>
                <a:lnSpc>
                  <a:spcPct val="150000"/>
                </a:lnSpc>
              </a:pPr>
              <a:r>
                <a:rPr lang="zh-CN" altLang="en-US" sz="2400" dirty="0">
                  <a:solidFill>
                    <a:srgbClr val="57658E"/>
                  </a:solidFill>
                  <a:cs typeface="+mn-ea"/>
                  <a:sym typeface="+mn-lt"/>
                </a:rPr>
                <a:t>半导体应变式电阻传感器的动态特性指标用于描述其在时变应力或快速变化条件下的响应能力，是评估传感器性能的关键参数。</a:t>
              </a:r>
            </a:p>
          </p:txBody>
        </p:sp>
        <p:pic>
          <p:nvPicPr>
            <p:cNvPr id="125" name="图片 14" descr="integral"/>
            <p:cNvPicPr>
              <a:picLocks noChangeAspect="1"/>
            </p:cNvPicPr>
            <p:nvPr/>
          </p:nvPicPr>
          <p:blipFill>
            <a:blip r:embed="rId2"/>
            <a:stretch>
              <a:fillRect/>
            </a:stretch>
          </p:blipFill>
          <p:spPr>
            <a:xfrm>
              <a:off x="6518485" y="3943834"/>
              <a:ext cx="756000" cy="756000"/>
            </a:xfrm>
            <a:prstGeom prst="rect">
              <a:avLst/>
            </a:prstGeom>
          </p:spPr>
        </p:pic>
      </p:grpSp>
    </p:spTree>
    <p:extLst>
      <p:ext uri="{BB962C8B-B14F-4D97-AF65-F5344CB8AC3E}">
        <p14:creationId xmlns:p14="http://schemas.microsoft.com/office/powerpoint/2010/main" val="92935151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831259" y="689955"/>
            <a:ext cx="4901884" cy="5419900"/>
            <a:chOff x="831259" y="2017485"/>
            <a:chExt cx="4901884" cy="4209742"/>
          </a:xfrm>
        </p:grpSpPr>
        <p:sp>
          <p:nvSpPr>
            <p:cNvPr id="8" name="矩形 7"/>
            <p:cNvSpPr/>
            <p:nvPr>
              <p:custDataLst>
                <p:tags r:id="rId4"/>
              </p:custDataLst>
            </p:nvPr>
          </p:nvSpPr>
          <p:spPr>
            <a:xfrm>
              <a:off x="831259" y="2017485"/>
              <a:ext cx="4901884" cy="4209742"/>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p:grpSp>
          <p:nvGrpSpPr>
            <p:cNvPr id="9" name="组合 8"/>
            <p:cNvGrpSpPr/>
            <p:nvPr/>
          </p:nvGrpSpPr>
          <p:grpSpPr>
            <a:xfrm>
              <a:off x="1052188" y="2155350"/>
              <a:ext cx="4441981" cy="3789533"/>
              <a:chOff x="2684999" y="1853374"/>
              <a:chExt cx="4441981" cy="3789533"/>
            </a:xfrm>
          </p:grpSpPr>
          <p:sp>
            <p:nvSpPr>
              <p:cNvPr id="10" name="文本框 9"/>
              <p:cNvSpPr txBox="1"/>
              <p:nvPr>
                <p:custDataLst>
                  <p:tags r:id="rId5"/>
                </p:custDataLst>
              </p:nvPr>
            </p:nvSpPr>
            <p:spPr>
              <a:xfrm>
                <a:off x="2684999" y="1853374"/>
                <a:ext cx="1415772" cy="358584"/>
              </a:xfrm>
              <a:prstGeom prst="rect">
                <a:avLst/>
              </a:prstGeom>
              <a:noFill/>
            </p:spPr>
            <p:txBody>
              <a:bodyPr wrap="none" rtlCol="0">
                <a:spAutoFit/>
              </a:bodyPr>
              <a:lstStyle/>
              <a:p>
                <a:pPr algn="l"/>
                <a:r>
                  <a:rPr lang="zh-CN" altLang="en-US" sz="2400" b="1" dirty="0">
                    <a:solidFill>
                      <a:srgbClr val="FCFBFC"/>
                    </a:solidFill>
                    <a:cs typeface="+mn-ea"/>
                    <a:sym typeface="+mn-lt"/>
                  </a:rPr>
                  <a:t>频率响应</a:t>
                </a:r>
              </a:p>
            </p:txBody>
          </p:sp>
          <p:sp>
            <p:nvSpPr>
              <p:cNvPr id="11" name="文本框 10"/>
              <p:cNvSpPr txBox="1"/>
              <p:nvPr>
                <p:custDataLst>
                  <p:tags r:id="rId6"/>
                </p:custDataLst>
              </p:nvPr>
            </p:nvSpPr>
            <p:spPr>
              <a:xfrm>
                <a:off x="2813003" y="2452007"/>
                <a:ext cx="4313977" cy="3190900"/>
              </a:xfrm>
              <a:prstGeom prst="rect">
                <a:avLst/>
              </a:prstGeom>
              <a:noFill/>
            </p:spPr>
            <p:txBody>
              <a:bodyPr wrap="square" rtlCol="0">
                <a:spAutoFit/>
              </a:bodyPr>
              <a:lstStyle/>
              <a:p>
                <a:pPr>
                  <a:lnSpc>
                    <a:spcPct val="150000"/>
                  </a:lnSpc>
                </a:pPr>
                <a:r>
                  <a:rPr lang="en-US" altLang="zh-CN" sz="1600" dirty="0">
                    <a:solidFill>
                      <a:srgbClr val="FCFBFC"/>
                    </a:solidFill>
                    <a:cs typeface="+mn-ea"/>
                    <a:sym typeface="+mn-lt"/>
                  </a:rPr>
                  <a:t>1.</a:t>
                </a:r>
                <a:r>
                  <a:rPr lang="zh-CN" altLang="en-US" sz="1600" dirty="0">
                    <a:solidFill>
                      <a:srgbClr val="FCFBFC"/>
                    </a:solidFill>
                    <a:cs typeface="+mn-ea"/>
                    <a:sym typeface="+mn-lt"/>
                  </a:rPr>
                  <a:t>定义：传感器输出信号幅值与相位随输入信号频率变化的特性。</a:t>
                </a:r>
                <a:endParaRPr lang="en-US" altLang="zh-CN" sz="1600" dirty="0">
                  <a:solidFill>
                    <a:srgbClr val="FCFBFC"/>
                  </a:solidFill>
                  <a:cs typeface="+mn-ea"/>
                  <a:sym typeface="+mn-lt"/>
                </a:endParaRPr>
              </a:p>
              <a:p>
                <a:pPr>
                  <a:lnSpc>
                    <a:spcPct val="150000"/>
                  </a:lnSpc>
                </a:pPr>
                <a:r>
                  <a:rPr lang="en-US" altLang="zh-CN" sz="1600" dirty="0">
                    <a:solidFill>
                      <a:srgbClr val="FCFBFC"/>
                    </a:solidFill>
                    <a:cs typeface="+mn-ea"/>
                    <a:sym typeface="+mn-lt"/>
                  </a:rPr>
                  <a:t>2.</a:t>
                </a:r>
                <a:r>
                  <a:rPr lang="zh-CN" altLang="en-US" sz="1600" dirty="0">
                    <a:solidFill>
                      <a:srgbClr val="FCFBFC"/>
                    </a:solidFill>
                    <a:cs typeface="+mn-ea"/>
                    <a:sym typeface="+mn-lt"/>
                  </a:rPr>
                  <a:t>关键参数：</a:t>
                </a:r>
                <a:endParaRPr lang="en-US" altLang="zh-CN" sz="1600" dirty="0">
                  <a:solidFill>
                    <a:srgbClr val="FCFBFC"/>
                  </a:solidFill>
                  <a:cs typeface="+mn-ea"/>
                  <a:sym typeface="+mn-lt"/>
                </a:endParaRPr>
              </a:p>
              <a:p>
                <a:pPr>
                  <a:lnSpc>
                    <a:spcPct val="150000"/>
                  </a:lnSpc>
                </a:pPr>
                <a:r>
                  <a:rPr lang="en-US" altLang="zh-CN" sz="1600" dirty="0">
                    <a:solidFill>
                      <a:srgbClr val="FCFBFC"/>
                    </a:solidFill>
                    <a:cs typeface="+mn-ea"/>
                    <a:sym typeface="+mn-lt"/>
                  </a:rPr>
                  <a:t>    </a:t>
                </a:r>
                <a:r>
                  <a:rPr lang="zh-CN" altLang="en-US" sz="1600" dirty="0">
                    <a:solidFill>
                      <a:srgbClr val="FCFBFC"/>
                    </a:solidFill>
                    <a:cs typeface="+mn-ea"/>
                    <a:sym typeface="+mn-lt"/>
                  </a:rPr>
                  <a:t>带宽：输出幅值衰减至</a:t>
                </a:r>
                <a:r>
                  <a:rPr lang="en-US" altLang="zh-CN" sz="1600" dirty="0">
                    <a:solidFill>
                      <a:srgbClr val="FCFBFC"/>
                    </a:solidFill>
                    <a:cs typeface="+mn-ea"/>
                    <a:sym typeface="+mn-lt"/>
                  </a:rPr>
                  <a:t>-3dB</a:t>
                </a:r>
                <a:r>
                  <a:rPr lang="zh-CN" altLang="en-US" sz="1600" dirty="0">
                    <a:solidFill>
                      <a:srgbClr val="FCFBFC"/>
                    </a:solidFill>
                    <a:cs typeface="+mn-ea"/>
                    <a:sym typeface="+mn-lt"/>
                  </a:rPr>
                  <a:t>（约</a:t>
                </a:r>
                <a:r>
                  <a:rPr lang="en-US" altLang="zh-CN" sz="1600" dirty="0">
                    <a:solidFill>
                      <a:srgbClr val="FCFBFC"/>
                    </a:solidFill>
                    <a:cs typeface="+mn-ea"/>
                    <a:sym typeface="+mn-lt"/>
                  </a:rPr>
                  <a:t>70.7%</a:t>
                </a:r>
                <a:r>
                  <a:rPr lang="zh-CN" altLang="en-US" sz="1600" dirty="0">
                    <a:solidFill>
                      <a:srgbClr val="FCFBFC"/>
                    </a:solidFill>
                    <a:cs typeface="+mn-ea"/>
                    <a:sym typeface="+mn-lt"/>
                  </a:rPr>
                  <a:t>的初始值）时的频率范围。</a:t>
                </a:r>
              </a:p>
              <a:p>
                <a:pPr>
                  <a:lnSpc>
                    <a:spcPct val="150000"/>
                  </a:lnSpc>
                </a:pPr>
                <a:r>
                  <a:rPr lang="zh-CN" altLang="en-US" sz="1600" dirty="0">
                    <a:solidFill>
                      <a:srgbClr val="FCFBFC"/>
                    </a:solidFill>
                    <a:cs typeface="+mn-ea"/>
                    <a:sym typeface="+mn-lt"/>
                  </a:rPr>
                  <a:t>    典型值：半导体应变片带宽通常为</a:t>
                </a:r>
                <a:r>
                  <a:rPr lang="en-US" altLang="zh-CN" sz="1600" dirty="0">
                    <a:solidFill>
                      <a:srgbClr val="FCFBFC"/>
                    </a:solidFill>
                    <a:cs typeface="+mn-ea"/>
                    <a:sym typeface="+mn-lt"/>
                  </a:rPr>
                  <a:t>1kHz-50kHz</a:t>
                </a:r>
                <a:r>
                  <a:rPr lang="zh-CN" altLang="en-US" sz="1600" dirty="0">
                    <a:solidFill>
                      <a:srgbClr val="FCFBFC"/>
                    </a:solidFill>
                    <a:cs typeface="+mn-ea"/>
                    <a:sym typeface="+mn-lt"/>
                  </a:rPr>
                  <a:t>（远高于金属应变片）。</a:t>
                </a:r>
              </a:p>
              <a:p>
                <a:pPr>
                  <a:lnSpc>
                    <a:spcPct val="150000"/>
                  </a:lnSpc>
                </a:pPr>
                <a:r>
                  <a:rPr lang="zh-CN" altLang="en-US" sz="1600" dirty="0">
                    <a:solidFill>
                      <a:srgbClr val="FCFBFC"/>
                    </a:solidFill>
                    <a:cs typeface="+mn-ea"/>
                    <a:sym typeface="+mn-lt"/>
                  </a:rPr>
                  <a:t>    谐振频率：传感器机械结构发生共振的频率，需避免工作在此频率附近。</a:t>
                </a:r>
              </a:p>
              <a:p>
                <a:pPr>
                  <a:lnSpc>
                    <a:spcPct val="150000"/>
                  </a:lnSpc>
                </a:pPr>
                <a:r>
                  <a:rPr lang="en-US" altLang="zh-CN" sz="1600" dirty="0">
                    <a:solidFill>
                      <a:srgbClr val="FCFBFC"/>
                    </a:solidFill>
                    <a:cs typeface="+mn-ea"/>
                    <a:sym typeface="+mn-lt"/>
                  </a:rPr>
                  <a:t>3.</a:t>
                </a:r>
                <a:r>
                  <a:rPr lang="zh-CN" altLang="en-US" sz="1600" dirty="0">
                    <a:solidFill>
                      <a:srgbClr val="FCFBFC"/>
                    </a:solidFill>
                    <a:cs typeface="+mn-ea"/>
                    <a:sym typeface="+mn-lt"/>
                  </a:rPr>
                  <a:t>影响因素：</a:t>
                </a:r>
                <a:endParaRPr lang="en-US" altLang="zh-CN" sz="1600" dirty="0">
                  <a:solidFill>
                    <a:srgbClr val="FCFBFC"/>
                  </a:solidFill>
                  <a:cs typeface="+mn-ea"/>
                  <a:sym typeface="+mn-lt"/>
                </a:endParaRPr>
              </a:p>
              <a:p>
                <a:pPr>
                  <a:lnSpc>
                    <a:spcPct val="150000"/>
                  </a:lnSpc>
                </a:pPr>
                <a:r>
                  <a:rPr lang="zh-CN" altLang="en-US" sz="1600" dirty="0">
                    <a:solidFill>
                      <a:srgbClr val="FCFBFC"/>
                    </a:solidFill>
                    <a:cs typeface="+mn-ea"/>
                    <a:sym typeface="+mn-lt"/>
                  </a:rPr>
                  <a:t>应变片基底材料刚度；粘贴胶层的剪切模量等。</a:t>
                </a:r>
              </a:p>
            </p:txBody>
          </p:sp>
          <p:cxnSp>
            <p:nvCxnSpPr>
              <p:cNvPr id="12" name="直接连接符 11"/>
              <p:cNvCxnSpPr/>
              <p:nvPr>
                <p:custDataLst>
                  <p:tags r:id="rId7"/>
                </p:custDataLst>
              </p:nvPr>
            </p:nvCxnSpPr>
            <p:spPr>
              <a:xfrm>
                <a:off x="2813003" y="2252158"/>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nvGrpSpPr>
          <p:cNvPr id="42" name="组合 41"/>
          <p:cNvGrpSpPr/>
          <p:nvPr/>
        </p:nvGrpSpPr>
        <p:grpSpPr>
          <a:xfrm>
            <a:off x="6528866" y="689957"/>
            <a:ext cx="4901884" cy="5419898"/>
            <a:chOff x="831259" y="2017486"/>
            <a:chExt cx="4901884" cy="4194930"/>
          </a:xfrm>
        </p:grpSpPr>
        <p:sp>
          <p:nvSpPr>
            <p:cNvPr id="49" name="矩形 48"/>
            <p:cNvSpPr/>
            <p:nvPr>
              <p:custDataLst>
                <p:tags r:id="rId1"/>
              </p:custDataLst>
            </p:nvPr>
          </p:nvSpPr>
          <p:spPr>
            <a:xfrm>
              <a:off x="831259" y="2017486"/>
              <a:ext cx="4901884" cy="4194930"/>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CFBFC"/>
                </a:solidFill>
                <a:cs typeface="+mn-ea"/>
                <a:sym typeface="+mn-lt"/>
              </a:endParaRPr>
            </a:p>
          </p:txBody>
        </p:sp>
        <p:grpSp>
          <p:nvGrpSpPr>
            <p:cNvPr id="50" name="组合 49"/>
            <p:cNvGrpSpPr/>
            <p:nvPr/>
          </p:nvGrpSpPr>
          <p:grpSpPr>
            <a:xfrm>
              <a:off x="1059173" y="2155350"/>
              <a:ext cx="1415772" cy="388217"/>
              <a:chOff x="2691984" y="1853374"/>
              <a:chExt cx="1415772" cy="388217"/>
            </a:xfrm>
          </p:grpSpPr>
          <p:sp>
            <p:nvSpPr>
              <p:cNvPr id="51" name="文本框 50"/>
              <p:cNvSpPr txBox="1"/>
              <p:nvPr>
                <p:custDataLst>
                  <p:tags r:id="rId2"/>
                </p:custDataLst>
              </p:nvPr>
            </p:nvSpPr>
            <p:spPr>
              <a:xfrm>
                <a:off x="2691984" y="1853374"/>
                <a:ext cx="1415772" cy="357323"/>
              </a:xfrm>
              <a:prstGeom prst="rect">
                <a:avLst/>
              </a:prstGeom>
              <a:noFill/>
            </p:spPr>
            <p:txBody>
              <a:bodyPr wrap="none" rtlCol="0">
                <a:spAutoFit/>
              </a:bodyPr>
              <a:lstStyle/>
              <a:p>
                <a:pPr algn="l"/>
                <a:r>
                  <a:rPr lang="zh-CN" altLang="en-US" sz="2400" b="1" dirty="0">
                    <a:cs typeface="+mn-ea"/>
                    <a:sym typeface="+mn-lt"/>
                  </a:rPr>
                  <a:t>阶跃响应</a:t>
                </a:r>
              </a:p>
            </p:txBody>
          </p:sp>
          <p:cxnSp>
            <p:nvCxnSpPr>
              <p:cNvPr id="53" name="直接连接符 52"/>
              <p:cNvCxnSpPr/>
              <p:nvPr>
                <p:custDataLst>
                  <p:tags r:id="rId3"/>
                </p:custDataLst>
              </p:nvPr>
            </p:nvCxnSpPr>
            <p:spPr>
              <a:xfrm>
                <a:off x="2795158" y="2241591"/>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sp>
        <p:nvSpPr>
          <p:cNvPr id="3" name="文本框 2"/>
          <p:cNvSpPr txBox="1"/>
          <p:nvPr/>
        </p:nvSpPr>
        <p:spPr>
          <a:xfrm>
            <a:off x="6947808" y="1479699"/>
            <a:ext cx="4064000" cy="4480201"/>
          </a:xfrm>
          <a:prstGeom prst="rect">
            <a:avLst/>
          </a:prstGeom>
          <a:noFill/>
        </p:spPr>
        <p:txBody>
          <a:bodyPr wrap="square" rtlCol="0">
            <a:spAutoFit/>
          </a:bodyPr>
          <a:lstStyle/>
          <a:p>
            <a:pPr>
              <a:lnSpc>
                <a:spcPct val="150000"/>
              </a:lnSpc>
            </a:pPr>
            <a:r>
              <a:rPr lang="en-US" altLang="zh-CN" sz="1600" dirty="0">
                <a:solidFill>
                  <a:schemeClr val="tx1"/>
                </a:solidFill>
              </a:rPr>
              <a:t>1.</a:t>
            </a:r>
            <a:r>
              <a:rPr lang="zh-CN" altLang="en-US" sz="1600" dirty="0">
                <a:solidFill>
                  <a:schemeClr val="tx1"/>
                </a:solidFill>
              </a:rPr>
              <a:t>定义：传感器对突加阶跃应力的输出随时间的变化曲线。</a:t>
            </a:r>
            <a:endParaRPr lang="en-US" altLang="zh-CN" sz="1600" dirty="0">
              <a:solidFill>
                <a:schemeClr val="tx1"/>
              </a:solidFill>
            </a:endParaRPr>
          </a:p>
          <a:p>
            <a:pPr>
              <a:lnSpc>
                <a:spcPct val="150000"/>
              </a:lnSpc>
            </a:pPr>
            <a:r>
              <a:rPr lang="en-US" altLang="zh-CN" sz="1600" dirty="0"/>
              <a:t>2.</a:t>
            </a:r>
            <a:r>
              <a:rPr lang="zh-CN" altLang="en-US" sz="1600" dirty="0">
                <a:solidFill>
                  <a:schemeClr val="tx1"/>
                </a:solidFill>
              </a:rPr>
              <a:t>关键参数：</a:t>
            </a:r>
          </a:p>
          <a:p>
            <a:pPr>
              <a:lnSpc>
                <a:spcPct val="150000"/>
              </a:lnSpc>
            </a:pPr>
            <a:r>
              <a:rPr lang="zh-CN" altLang="en-US" sz="1600" dirty="0">
                <a:solidFill>
                  <a:schemeClr val="tx1"/>
                </a:solidFill>
              </a:rPr>
              <a:t>    上升时间：输出从</a:t>
            </a:r>
            <a:r>
              <a:rPr lang="en-US" altLang="zh-CN" sz="1600" dirty="0">
                <a:solidFill>
                  <a:schemeClr val="tx1"/>
                </a:solidFill>
              </a:rPr>
              <a:t>10%</a:t>
            </a:r>
            <a:r>
              <a:rPr lang="zh-CN" altLang="en-US" sz="1600" dirty="0">
                <a:solidFill>
                  <a:schemeClr val="tx1"/>
                </a:solidFill>
              </a:rPr>
              <a:t>升至</a:t>
            </a:r>
            <a:r>
              <a:rPr lang="en-US" altLang="zh-CN" sz="1600" dirty="0">
                <a:solidFill>
                  <a:schemeClr val="tx1"/>
                </a:solidFill>
              </a:rPr>
              <a:t>90%</a:t>
            </a:r>
            <a:r>
              <a:rPr lang="zh-CN" altLang="en-US" sz="1600" dirty="0">
                <a:solidFill>
                  <a:schemeClr val="tx1"/>
                </a:solidFill>
              </a:rPr>
              <a:t>稳态值所需时间。</a:t>
            </a:r>
          </a:p>
          <a:p>
            <a:pPr>
              <a:lnSpc>
                <a:spcPct val="150000"/>
              </a:lnSpc>
            </a:pPr>
            <a:r>
              <a:rPr lang="zh-CN" altLang="en-US" sz="1600" dirty="0">
                <a:solidFill>
                  <a:schemeClr val="tx1"/>
                </a:solidFill>
              </a:rPr>
              <a:t>    半导体应变片典型值：微秒级（如</a:t>
            </a:r>
            <a:r>
              <a:rPr lang="en-US" altLang="zh-CN" sz="1600" dirty="0">
                <a:solidFill>
                  <a:schemeClr val="tx1"/>
                </a:solidFill>
              </a:rPr>
              <a:t>5μs</a:t>
            </a:r>
            <a:r>
              <a:rPr lang="zh-CN" altLang="en-US" sz="1600" dirty="0">
                <a:solidFill>
                  <a:schemeClr val="tx1"/>
                </a:solidFill>
              </a:rPr>
              <a:t>）。</a:t>
            </a:r>
          </a:p>
          <a:p>
            <a:pPr>
              <a:lnSpc>
                <a:spcPct val="150000"/>
              </a:lnSpc>
            </a:pPr>
            <a:r>
              <a:rPr lang="zh-CN" altLang="en-US" sz="1600" dirty="0">
                <a:solidFill>
                  <a:schemeClr val="tx1"/>
                </a:solidFill>
              </a:rPr>
              <a:t>过冲：输出超过稳态值的最大百分比（需 </a:t>
            </a:r>
            <a:r>
              <a:rPr lang="en-US" altLang="zh-CN" sz="1600" dirty="0">
                <a:solidFill>
                  <a:schemeClr val="tx1"/>
                </a:solidFill>
              </a:rPr>
              <a:t>&lt; 5%</a:t>
            </a:r>
            <a:r>
              <a:rPr lang="zh-CN" altLang="en-US" sz="1600" dirty="0">
                <a:solidFill>
                  <a:schemeClr val="tx1"/>
                </a:solidFill>
              </a:rPr>
              <a:t>）。</a:t>
            </a:r>
          </a:p>
          <a:p>
            <a:pPr>
              <a:lnSpc>
                <a:spcPct val="150000"/>
              </a:lnSpc>
            </a:pPr>
            <a:r>
              <a:rPr lang="zh-CN" altLang="en-US" sz="1600" dirty="0"/>
              <a:t>    </a:t>
            </a:r>
            <a:r>
              <a:rPr lang="zh-CN" altLang="en-US" sz="1600" dirty="0">
                <a:solidFill>
                  <a:schemeClr val="tx1"/>
                </a:solidFill>
              </a:rPr>
              <a:t>稳定时间：输出进入稳态值</a:t>
            </a:r>
            <a:r>
              <a:rPr lang="en-US" altLang="zh-CN" sz="1600" dirty="0">
                <a:solidFill>
                  <a:schemeClr val="tx1"/>
                </a:solidFill>
              </a:rPr>
              <a:t>± 2%</a:t>
            </a:r>
            <a:r>
              <a:rPr lang="zh-CN" altLang="en-US" sz="1600" dirty="0">
                <a:solidFill>
                  <a:schemeClr val="tx1"/>
                </a:solidFill>
              </a:rPr>
              <a:t>误差带内的时间。</a:t>
            </a:r>
            <a:endParaRPr lang="en-US" altLang="zh-CN" sz="1600" dirty="0"/>
          </a:p>
          <a:p>
            <a:pPr>
              <a:lnSpc>
                <a:spcPct val="150000"/>
              </a:lnSpc>
            </a:pPr>
            <a:r>
              <a:rPr lang="en-US" altLang="zh-CN" sz="1600" dirty="0">
                <a:solidFill>
                  <a:schemeClr val="tx1"/>
                </a:solidFill>
              </a:rPr>
              <a:t>3.</a:t>
            </a:r>
            <a:r>
              <a:rPr lang="zh-CN" altLang="en-US" sz="1600" dirty="0">
                <a:solidFill>
                  <a:schemeClr val="tx1"/>
                </a:solidFill>
              </a:rPr>
              <a:t>测试方法：通过压电激振器施加瞬态冲击载荷，记录输出波形。</a:t>
            </a:r>
          </a:p>
        </p:txBody>
      </p:sp>
    </p:spTree>
    <p:extLst>
      <p:ext uri="{BB962C8B-B14F-4D97-AF65-F5344CB8AC3E}">
        <p14:creationId xmlns:p14="http://schemas.microsoft.com/office/powerpoint/2010/main" val="41956797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886238" y="689955"/>
            <a:ext cx="4901884" cy="5419900"/>
            <a:chOff x="886238" y="2017485"/>
            <a:chExt cx="4901884" cy="4209742"/>
          </a:xfrm>
        </p:grpSpPr>
        <p:sp>
          <p:nvSpPr>
            <p:cNvPr id="8" name="矩形 7"/>
            <p:cNvSpPr/>
            <p:nvPr>
              <p:custDataLst>
                <p:tags r:id="rId4"/>
              </p:custDataLst>
            </p:nvPr>
          </p:nvSpPr>
          <p:spPr>
            <a:xfrm>
              <a:off x="886238" y="2017485"/>
              <a:ext cx="4901884" cy="4209742"/>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p:grpSp>
          <p:nvGrpSpPr>
            <p:cNvPr id="9" name="组合 8"/>
            <p:cNvGrpSpPr/>
            <p:nvPr/>
          </p:nvGrpSpPr>
          <p:grpSpPr>
            <a:xfrm>
              <a:off x="1052188" y="2155350"/>
              <a:ext cx="4574984" cy="3069214"/>
              <a:chOff x="2684999" y="1853374"/>
              <a:chExt cx="4574984" cy="3069214"/>
            </a:xfrm>
          </p:grpSpPr>
          <p:sp>
            <p:nvSpPr>
              <p:cNvPr id="10" name="文本框 9"/>
              <p:cNvSpPr txBox="1"/>
              <p:nvPr>
                <p:custDataLst>
                  <p:tags r:id="rId5"/>
                </p:custDataLst>
              </p:nvPr>
            </p:nvSpPr>
            <p:spPr>
              <a:xfrm>
                <a:off x="2684999" y="1853374"/>
                <a:ext cx="1723549" cy="358584"/>
              </a:xfrm>
              <a:prstGeom prst="rect">
                <a:avLst/>
              </a:prstGeom>
              <a:noFill/>
            </p:spPr>
            <p:txBody>
              <a:bodyPr wrap="none" rtlCol="0">
                <a:spAutoFit/>
              </a:bodyPr>
              <a:lstStyle/>
              <a:p>
                <a:pPr algn="l"/>
                <a:r>
                  <a:rPr lang="zh-CN" altLang="en-US" sz="2400" b="1" dirty="0">
                    <a:solidFill>
                      <a:srgbClr val="FCFBFC"/>
                    </a:solidFill>
                    <a:cs typeface="+mn-ea"/>
                    <a:sym typeface="+mn-lt"/>
                  </a:rPr>
                  <a:t>动态灵敏度</a:t>
                </a:r>
              </a:p>
            </p:txBody>
          </p:sp>
          <p:sp>
            <p:nvSpPr>
              <p:cNvPr id="11" name="文本框 10"/>
              <p:cNvSpPr txBox="1"/>
              <p:nvPr>
                <p:custDataLst>
                  <p:tags r:id="rId6"/>
                </p:custDataLst>
              </p:nvPr>
            </p:nvSpPr>
            <p:spPr>
              <a:xfrm>
                <a:off x="2946006" y="2877065"/>
                <a:ext cx="4313977" cy="2045523"/>
              </a:xfrm>
              <a:prstGeom prst="rect">
                <a:avLst/>
              </a:prstGeom>
              <a:noFill/>
            </p:spPr>
            <p:txBody>
              <a:bodyPr wrap="square" rtlCol="0">
                <a:spAutoFit/>
              </a:bodyPr>
              <a:lstStyle/>
              <a:p>
                <a:pPr>
                  <a:lnSpc>
                    <a:spcPct val="150000"/>
                  </a:lnSpc>
                </a:pPr>
                <a:r>
                  <a:rPr lang="en-US" altLang="zh-CN" sz="1600" dirty="0">
                    <a:solidFill>
                      <a:srgbClr val="FCFBFC"/>
                    </a:solidFill>
                    <a:cs typeface="+mn-ea"/>
                    <a:sym typeface="+mn-lt"/>
                  </a:rPr>
                  <a:t>1.</a:t>
                </a:r>
                <a:r>
                  <a:rPr lang="zh-CN" altLang="en-US" sz="1600" dirty="0">
                    <a:solidFill>
                      <a:srgbClr val="FCFBFC"/>
                    </a:solidFill>
                    <a:cs typeface="+mn-ea"/>
                    <a:sym typeface="+mn-lt"/>
                  </a:rPr>
                  <a:t>定义：传感器在动态载荷下的输出变化率（与静态灵敏度对比）。</a:t>
                </a:r>
              </a:p>
              <a:p>
                <a:pPr>
                  <a:lnSpc>
                    <a:spcPct val="150000"/>
                  </a:lnSpc>
                </a:pPr>
                <a:r>
                  <a:rPr lang="en-US" altLang="zh-CN" sz="1600" dirty="0">
                    <a:solidFill>
                      <a:srgbClr val="FCFBFC"/>
                    </a:solidFill>
                    <a:cs typeface="+mn-ea"/>
                    <a:sym typeface="+mn-lt"/>
                  </a:rPr>
                  <a:t>2.</a:t>
                </a:r>
                <a:r>
                  <a:rPr lang="zh-CN" altLang="en-US" sz="1600" dirty="0">
                    <a:solidFill>
                      <a:srgbClr val="FCFBFC"/>
                    </a:solidFill>
                    <a:cs typeface="+mn-ea"/>
                    <a:sym typeface="+mn-lt"/>
                  </a:rPr>
                  <a:t>特性：</a:t>
                </a:r>
              </a:p>
              <a:p>
                <a:pPr>
                  <a:lnSpc>
                    <a:spcPct val="150000"/>
                  </a:lnSpc>
                </a:pPr>
                <a:r>
                  <a:rPr lang="en-US" altLang="zh-CN" sz="1600" dirty="0">
                    <a:solidFill>
                      <a:srgbClr val="FCFBFC"/>
                    </a:solidFill>
                    <a:cs typeface="+mn-ea"/>
                    <a:sym typeface="+mn-lt"/>
                  </a:rPr>
                  <a:t>    </a:t>
                </a:r>
                <a:r>
                  <a:rPr lang="zh-CN" altLang="en-US" sz="1600" dirty="0">
                    <a:solidFill>
                      <a:srgbClr val="FCFBFC"/>
                    </a:solidFill>
                    <a:cs typeface="+mn-ea"/>
                    <a:sym typeface="+mn-lt"/>
                  </a:rPr>
                  <a:t>高频时灵敏度可能下降（因机械惯性或电子延迟）。</a:t>
                </a:r>
              </a:p>
              <a:p>
                <a:pPr>
                  <a:lnSpc>
                    <a:spcPct val="150000"/>
                  </a:lnSpc>
                </a:pPr>
                <a:r>
                  <a:rPr lang="zh-CN" altLang="en-US" sz="1600" dirty="0">
                    <a:solidFill>
                      <a:srgbClr val="FCFBFC"/>
                    </a:solidFill>
                    <a:cs typeface="+mn-ea"/>
                    <a:sym typeface="+mn-lt"/>
                  </a:rPr>
                  <a:t>    半导体应变片的动态灵敏度通常与静态值一致，直至接近带宽极限。</a:t>
                </a:r>
              </a:p>
            </p:txBody>
          </p:sp>
          <p:cxnSp>
            <p:nvCxnSpPr>
              <p:cNvPr id="12" name="直接连接符 11"/>
              <p:cNvCxnSpPr/>
              <p:nvPr>
                <p:custDataLst>
                  <p:tags r:id="rId7"/>
                </p:custDataLst>
              </p:nvPr>
            </p:nvCxnSpPr>
            <p:spPr>
              <a:xfrm>
                <a:off x="2813003" y="2252158"/>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nvGrpSpPr>
          <p:cNvPr id="42" name="组合 41"/>
          <p:cNvGrpSpPr/>
          <p:nvPr/>
        </p:nvGrpSpPr>
        <p:grpSpPr>
          <a:xfrm>
            <a:off x="6528866" y="689957"/>
            <a:ext cx="4901884" cy="5419898"/>
            <a:chOff x="831259" y="2017486"/>
            <a:chExt cx="4901884" cy="4194930"/>
          </a:xfrm>
        </p:grpSpPr>
        <p:sp>
          <p:nvSpPr>
            <p:cNvPr id="49" name="矩形 48"/>
            <p:cNvSpPr/>
            <p:nvPr>
              <p:custDataLst>
                <p:tags r:id="rId1"/>
              </p:custDataLst>
            </p:nvPr>
          </p:nvSpPr>
          <p:spPr>
            <a:xfrm>
              <a:off x="831259" y="2017486"/>
              <a:ext cx="4901884" cy="4194930"/>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CFBFC"/>
                </a:solidFill>
                <a:cs typeface="+mn-ea"/>
                <a:sym typeface="+mn-lt"/>
              </a:endParaRPr>
            </a:p>
          </p:txBody>
        </p:sp>
        <p:grpSp>
          <p:nvGrpSpPr>
            <p:cNvPr id="50" name="组合 49"/>
            <p:cNvGrpSpPr/>
            <p:nvPr/>
          </p:nvGrpSpPr>
          <p:grpSpPr>
            <a:xfrm>
              <a:off x="1059173" y="2155350"/>
              <a:ext cx="1415772" cy="388217"/>
              <a:chOff x="2691984" y="1853374"/>
              <a:chExt cx="1415772" cy="388217"/>
            </a:xfrm>
          </p:grpSpPr>
          <p:sp>
            <p:nvSpPr>
              <p:cNvPr id="51" name="文本框 50"/>
              <p:cNvSpPr txBox="1"/>
              <p:nvPr>
                <p:custDataLst>
                  <p:tags r:id="rId2"/>
                </p:custDataLst>
              </p:nvPr>
            </p:nvSpPr>
            <p:spPr>
              <a:xfrm>
                <a:off x="2691984" y="1853374"/>
                <a:ext cx="1415772" cy="357323"/>
              </a:xfrm>
              <a:prstGeom prst="rect">
                <a:avLst/>
              </a:prstGeom>
              <a:noFill/>
            </p:spPr>
            <p:txBody>
              <a:bodyPr wrap="none" rtlCol="0">
                <a:spAutoFit/>
              </a:bodyPr>
              <a:lstStyle/>
              <a:p>
                <a:pPr algn="l"/>
                <a:r>
                  <a:rPr lang="zh-CN" altLang="en-US" sz="2400" b="1" dirty="0">
                    <a:cs typeface="+mn-ea"/>
                    <a:sym typeface="+mn-lt"/>
                  </a:rPr>
                  <a:t>阻尼特性</a:t>
                </a:r>
              </a:p>
            </p:txBody>
          </p:sp>
          <p:cxnSp>
            <p:nvCxnSpPr>
              <p:cNvPr id="53" name="直接连接符 52"/>
              <p:cNvCxnSpPr/>
              <p:nvPr>
                <p:custDataLst>
                  <p:tags r:id="rId3"/>
                </p:custDataLst>
              </p:nvPr>
            </p:nvCxnSpPr>
            <p:spPr>
              <a:xfrm>
                <a:off x="2795158" y="2241591"/>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sp>
        <p:nvSpPr>
          <p:cNvPr id="3" name="文本框 2"/>
          <p:cNvSpPr txBox="1"/>
          <p:nvPr/>
        </p:nvSpPr>
        <p:spPr>
          <a:xfrm>
            <a:off x="6947808" y="1709964"/>
            <a:ext cx="4064000" cy="3741537"/>
          </a:xfrm>
          <a:prstGeom prst="rect">
            <a:avLst/>
          </a:prstGeom>
          <a:noFill/>
        </p:spPr>
        <p:txBody>
          <a:bodyPr wrap="square" rtlCol="0">
            <a:spAutoFit/>
          </a:bodyPr>
          <a:lstStyle/>
          <a:p>
            <a:pPr algn="l">
              <a:lnSpc>
                <a:spcPct val="150000"/>
              </a:lnSpc>
            </a:pPr>
            <a:r>
              <a:rPr lang="en-US" altLang="zh-CN" sz="1600" dirty="0">
                <a:cs typeface="+mn-ea"/>
              </a:rPr>
              <a:t>1.</a:t>
            </a:r>
            <a:r>
              <a:rPr lang="zh-CN" altLang="zh-CN" sz="1600" dirty="0">
                <a:cs typeface="+mn-ea"/>
              </a:rPr>
              <a:t>定义：传感器对振动或周期性应力的衰减能力。</a:t>
            </a:r>
          </a:p>
          <a:p>
            <a:pPr algn="l">
              <a:lnSpc>
                <a:spcPct val="150000"/>
              </a:lnSpc>
            </a:pPr>
            <a:r>
              <a:rPr lang="en-US" altLang="zh-CN" sz="1600" dirty="0">
                <a:cs typeface="+mn-ea"/>
              </a:rPr>
              <a:t>2.</a:t>
            </a:r>
            <a:r>
              <a:rPr lang="zh-CN" altLang="zh-CN" sz="1600" dirty="0">
                <a:cs typeface="+mn-ea"/>
              </a:rPr>
              <a:t>表征参数：</a:t>
            </a:r>
            <a:endParaRPr lang="en-US" altLang="zh-CN" sz="1600" dirty="0">
              <a:cs typeface="+mn-ea"/>
            </a:endParaRPr>
          </a:p>
          <a:p>
            <a:pPr algn="l">
              <a:lnSpc>
                <a:spcPct val="150000"/>
              </a:lnSpc>
            </a:pPr>
            <a:r>
              <a:rPr lang="en-US" altLang="zh-CN" sz="1600" dirty="0">
                <a:cs typeface="+mn-ea"/>
              </a:rPr>
              <a:t>    </a:t>
            </a:r>
            <a:r>
              <a:rPr lang="zh-CN" altLang="zh-CN" sz="1600" dirty="0">
                <a:cs typeface="+mn-ea"/>
              </a:rPr>
              <a:t>阻尼比：临界阻尼的比值（理想值</a:t>
            </a:r>
            <a:r>
              <a:rPr lang="en-US" altLang="zh-CN" sz="1600" dirty="0">
                <a:cs typeface="+mn-ea"/>
              </a:rPr>
              <a:t>0.6~0.7</a:t>
            </a:r>
            <a:r>
              <a:rPr lang="zh-CN" altLang="zh-CN" sz="1600" dirty="0">
                <a:cs typeface="+mn-ea"/>
              </a:rPr>
              <a:t>）。</a:t>
            </a:r>
            <a:endParaRPr lang="en-US" altLang="zh-CN" sz="1600" dirty="0">
              <a:cs typeface="+mn-ea"/>
            </a:endParaRPr>
          </a:p>
          <a:p>
            <a:pPr algn="l">
              <a:lnSpc>
                <a:spcPct val="150000"/>
              </a:lnSpc>
            </a:pPr>
            <a:r>
              <a:rPr lang="en-US" altLang="zh-CN" sz="1600" dirty="0">
                <a:cs typeface="+mn-ea"/>
              </a:rPr>
              <a:t>    </a:t>
            </a:r>
            <a:r>
              <a:rPr lang="zh-CN" altLang="zh-CN" sz="1600" dirty="0">
                <a:cs typeface="+mn-ea"/>
              </a:rPr>
              <a:t>品质因数：谐振峰尖锐程度（品质因数值越高，谐振越明显）。</a:t>
            </a:r>
          </a:p>
          <a:p>
            <a:pPr algn="l">
              <a:lnSpc>
                <a:spcPct val="150000"/>
              </a:lnSpc>
            </a:pPr>
            <a:r>
              <a:rPr lang="en-US" altLang="zh-CN" sz="1600" dirty="0">
                <a:cs typeface="+mn-ea"/>
              </a:rPr>
              <a:t>3.</a:t>
            </a:r>
            <a:r>
              <a:rPr lang="zh-CN" altLang="zh-CN" sz="1600" dirty="0">
                <a:cs typeface="+mn-ea"/>
              </a:rPr>
              <a:t>优化措施：</a:t>
            </a:r>
            <a:endParaRPr lang="en-US" altLang="zh-CN" sz="1600" dirty="0">
              <a:cs typeface="+mn-ea"/>
            </a:endParaRPr>
          </a:p>
          <a:p>
            <a:pPr algn="l">
              <a:lnSpc>
                <a:spcPct val="150000"/>
              </a:lnSpc>
            </a:pPr>
            <a:r>
              <a:rPr lang="en-US" altLang="zh-CN" sz="1600" dirty="0">
                <a:cs typeface="+mn-ea"/>
              </a:rPr>
              <a:t>    </a:t>
            </a:r>
            <a:r>
              <a:rPr lang="zh-CN" altLang="zh-CN" sz="1600" dirty="0">
                <a:cs typeface="+mn-ea"/>
              </a:rPr>
              <a:t>在传感器结构中添加阻尼材料（如硅胶层）</a:t>
            </a:r>
            <a:r>
              <a:rPr lang="zh-CN" altLang="en-US" sz="1600" dirty="0">
                <a:cs typeface="+mn-ea"/>
              </a:rPr>
              <a:t>；</a:t>
            </a:r>
            <a:r>
              <a:rPr lang="zh-CN" altLang="zh-CN" sz="1600" dirty="0">
                <a:cs typeface="+mn-ea"/>
              </a:rPr>
              <a:t>电路端采用低通滤波抑制高频振荡。</a:t>
            </a:r>
          </a:p>
        </p:txBody>
      </p:sp>
    </p:spTree>
    <p:extLst>
      <p:ext uri="{BB962C8B-B14F-4D97-AF65-F5344CB8AC3E}">
        <p14:creationId xmlns:p14="http://schemas.microsoft.com/office/powerpoint/2010/main" val="239124279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554015" y="2113643"/>
            <a:ext cx="5070000" cy="2757715"/>
            <a:chOff x="3561000" y="1785257"/>
            <a:chExt cx="5070000" cy="2757715"/>
          </a:xfrm>
        </p:grpSpPr>
        <p:sp>
          <p:nvSpPr>
            <p:cNvPr id="7" name="椭圆 6"/>
            <p:cNvSpPr/>
            <p:nvPr/>
          </p:nvSpPr>
          <p:spPr>
            <a:xfrm>
              <a:off x="5523152" y="1785257"/>
              <a:ext cx="1145697" cy="1145697"/>
            </a:xfrm>
            <a:prstGeom prst="ellipse">
              <a:avLst/>
            </a:prstGeom>
            <a:solidFill>
              <a:srgbClr val="57658E"/>
            </a:solidFill>
            <a:ln w="31750">
              <a:solidFill>
                <a:srgbClr val="FBFB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solidFill>
                    <a:srgbClr val="FCFBFC"/>
                  </a:solidFill>
                  <a:cs typeface="+mn-ea"/>
                  <a:sym typeface="+mn-lt"/>
                </a:rPr>
                <a:t>02</a:t>
              </a:r>
              <a:endParaRPr lang="zh-CN" altLang="en-US" sz="4000" dirty="0">
                <a:solidFill>
                  <a:srgbClr val="FCFBFC"/>
                </a:solidFill>
                <a:cs typeface="+mn-ea"/>
                <a:sym typeface="+mn-lt"/>
              </a:endParaRPr>
            </a:p>
          </p:txBody>
        </p:sp>
        <p:sp>
          <p:nvSpPr>
            <p:cNvPr id="8" name="文本框 7"/>
            <p:cNvSpPr txBox="1"/>
            <p:nvPr/>
          </p:nvSpPr>
          <p:spPr>
            <a:xfrm>
              <a:off x="5941060" y="3100585"/>
              <a:ext cx="309880" cy="829945"/>
            </a:xfrm>
            <a:prstGeom prst="rect">
              <a:avLst/>
            </a:prstGeom>
            <a:noFill/>
          </p:spPr>
          <p:txBody>
            <a:bodyPr wrap="none" rtlCol="0">
              <a:spAutoFit/>
            </a:bodyPr>
            <a:lstStyle/>
            <a:p>
              <a:pPr algn="ctr"/>
              <a:endParaRPr lang="zh-CN" altLang="en-US" sz="4800">
                <a:solidFill>
                  <a:srgbClr val="57658E"/>
                </a:solidFill>
                <a:cs typeface="+mn-ea"/>
                <a:sym typeface="+mn-lt"/>
              </a:endParaRPr>
            </a:p>
          </p:txBody>
        </p:sp>
        <p:sp>
          <p:nvSpPr>
            <p:cNvPr id="9" name="文本框 8"/>
            <p:cNvSpPr txBox="1"/>
            <p:nvPr/>
          </p:nvSpPr>
          <p:spPr>
            <a:xfrm>
              <a:off x="3561000" y="3908270"/>
              <a:ext cx="5070000" cy="506730"/>
            </a:xfrm>
            <a:prstGeom prst="rect">
              <a:avLst/>
            </a:prstGeom>
            <a:noFill/>
          </p:spPr>
          <p:txBody>
            <a:bodyPr wrap="square" rtlCol="0">
              <a:spAutoFit/>
            </a:bodyPr>
            <a:lstStyle/>
            <a:p>
              <a:pPr algn="ctr">
                <a:lnSpc>
                  <a:spcPct val="150000"/>
                </a:lnSpc>
              </a:pPr>
              <a:endParaRPr lang="en-US" altLang="zh-CN">
                <a:solidFill>
                  <a:srgbClr val="57658E"/>
                </a:solidFill>
                <a:cs typeface="+mn-ea"/>
                <a:sym typeface="+mn-lt"/>
              </a:endParaRPr>
            </a:p>
          </p:txBody>
        </p:sp>
        <p:cxnSp>
          <p:nvCxnSpPr>
            <p:cNvPr id="11" name="直接连接符 10"/>
            <p:cNvCxnSpPr/>
            <p:nvPr/>
          </p:nvCxnSpPr>
          <p:spPr>
            <a:xfrm>
              <a:off x="5631543" y="4542972"/>
              <a:ext cx="928914" cy="0"/>
            </a:xfrm>
            <a:prstGeom prst="line">
              <a:avLst/>
            </a:prstGeom>
            <a:ln w="127000" cap="rnd">
              <a:solidFill>
                <a:srgbClr val="E9DAC6"/>
              </a:solidFill>
              <a:round/>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29EA8E0B-9075-4BA7-AEBA-1B9A2067B0CF}"/>
              </a:ext>
            </a:extLst>
          </p:cNvPr>
          <p:cNvSpPr txBox="1"/>
          <p:nvPr/>
        </p:nvSpPr>
        <p:spPr>
          <a:xfrm>
            <a:off x="4303911" y="3617447"/>
            <a:ext cx="3570208" cy="769441"/>
          </a:xfrm>
          <a:prstGeom prst="rect">
            <a:avLst/>
          </a:prstGeom>
          <a:noFill/>
        </p:spPr>
        <p:txBody>
          <a:bodyPr wrap="none" rtlCol="0">
            <a:spAutoFit/>
          </a:bodyPr>
          <a:lstStyle/>
          <a:p>
            <a:r>
              <a:rPr lang="zh-CN" altLang="en-US" sz="4400" b="1" dirty="0">
                <a:solidFill>
                  <a:srgbClr val="57658E"/>
                </a:solidFill>
                <a:cs typeface="+mn-ea"/>
                <a:sym typeface="+mn-lt"/>
              </a:rPr>
              <a:t>工程背景分析</a:t>
            </a:r>
          </a:p>
        </p:txBody>
      </p:sp>
    </p:spTree>
    <p:extLst>
      <p:ext uri="{BB962C8B-B14F-4D97-AF65-F5344CB8AC3E}">
        <p14:creationId xmlns:p14="http://schemas.microsoft.com/office/powerpoint/2010/main" val="78981007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6031163" y="1947553"/>
            <a:ext cx="5580270" cy="3921136"/>
            <a:chOff x="6611730" y="2036701"/>
            <a:chExt cx="5580270" cy="3921136"/>
          </a:xfrm>
        </p:grpSpPr>
        <p:grpSp>
          <p:nvGrpSpPr>
            <p:cNvPr id="3" name="组合 2"/>
            <p:cNvGrpSpPr/>
            <p:nvPr/>
          </p:nvGrpSpPr>
          <p:grpSpPr>
            <a:xfrm>
              <a:off x="6611730" y="2036701"/>
              <a:ext cx="5580270" cy="911236"/>
              <a:chOff x="5989430" y="2295402"/>
              <a:chExt cx="5580270" cy="911236"/>
            </a:xfrm>
          </p:grpSpPr>
          <p:sp>
            <p:nvSpPr>
              <p:cNvPr id="4" name="圆角矩形 5"/>
              <p:cNvSpPr/>
              <p:nvPr/>
            </p:nvSpPr>
            <p:spPr>
              <a:xfrm>
                <a:off x="5989430" y="2295402"/>
                <a:ext cx="5580270" cy="911236"/>
              </a:xfrm>
              <a:prstGeom prst="roundRect">
                <a:avLst>
                  <a:gd name="adj" fmla="val 50000"/>
                </a:avLst>
              </a:prstGeom>
              <a:noFill/>
              <a:ln>
                <a:solidFill>
                  <a:srgbClr val="5765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6064810" y="2405226"/>
                <a:ext cx="5308844" cy="691589"/>
                <a:chOff x="6064810" y="2437846"/>
                <a:chExt cx="5308844" cy="691589"/>
              </a:xfrm>
            </p:grpSpPr>
            <p:sp>
              <p:nvSpPr>
                <p:cNvPr id="6" name="椭圆 5"/>
                <p:cNvSpPr/>
                <p:nvPr/>
              </p:nvSpPr>
              <p:spPr>
                <a:xfrm>
                  <a:off x="6064810" y="2437846"/>
                  <a:ext cx="691589" cy="691589"/>
                </a:xfrm>
                <a:prstGeom prst="ellipse">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FCFBFC"/>
                      </a:solidFill>
                      <a:cs typeface="+mn-ea"/>
                      <a:sym typeface="+mn-lt"/>
                    </a:rPr>
                    <a:t>01</a:t>
                  </a:r>
                  <a:endParaRPr lang="zh-CN" altLang="en-US">
                    <a:solidFill>
                      <a:srgbClr val="FCFBFC"/>
                    </a:solidFill>
                    <a:cs typeface="+mn-ea"/>
                    <a:sym typeface="+mn-lt"/>
                  </a:endParaRPr>
                </a:p>
              </p:txBody>
            </p:sp>
            <p:sp>
              <p:nvSpPr>
                <p:cNvPr id="7" name="矩形 6"/>
                <p:cNvSpPr/>
                <p:nvPr/>
              </p:nvSpPr>
              <p:spPr>
                <a:xfrm>
                  <a:off x="6852454" y="2437846"/>
                  <a:ext cx="4521200" cy="580095"/>
                </a:xfrm>
                <a:prstGeom prst="rect">
                  <a:avLst/>
                </a:prstGeom>
              </p:spPr>
              <p:txBody>
                <a:bodyPr wrap="square">
                  <a:spAutoFit/>
                </a:bodyPr>
                <a:lstStyle/>
                <a:p>
                  <a:pPr>
                    <a:lnSpc>
                      <a:spcPct val="150000"/>
                    </a:lnSpc>
                  </a:pPr>
                  <a:r>
                    <a:rPr lang="zh-CN" altLang="en-US" sz="2400" dirty="0">
                      <a:solidFill>
                        <a:srgbClr val="57658E"/>
                      </a:solidFill>
                      <a:cs typeface="+mn-ea"/>
                      <a:sym typeface="+mn-lt"/>
                    </a:rPr>
                    <a:t>输电线路安全运行的需求</a:t>
                  </a:r>
                </a:p>
              </p:txBody>
            </p:sp>
          </p:grpSp>
        </p:grpSp>
        <p:grpSp>
          <p:nvGrpSpPr>
            <p:cNvPr id="8" name="组合 7"/>
            <p:cNvGrpSpPr/>
            <p:nvPr/>
          </p:nvGrpSpPr>
          <p:grpSpPr>
            <a:xfrm>
              <a:off x="6611730" y="3541651"/>
              <a:ext cx="5580270" cy="911236"/>
              <a:chOff x="5989430" y="2295402"/>
              <a:chExt cx="5580270" cy="911236"/>
            </a:xfrm>
          </p:grpSpPr>
          <p:sp>
            <p:nvSpPr>
              <p:cNvPr id="9" name="圆角矩形 5"/>
              <p:cNvSpPr/>
              <p:nvPr/>
            </p:nvSpPr>
            <p:spPr>
              <a:xfrm>
                <a:off x="5989430" y="2295402"/>
                <a:ext cx="5580270" cy="911236"/>
              </a:xfrm>
              <a:prstGeom prst="roundRect">
                <a:avLst>
                  <a:gd name="adj" fmla="val 50000"/>
                </a:avLst>
              </a:prstGeom>
              <a:noFill/>
              <a:ln>
                <a:solidFill>
                  <a:srgbClr val="E9DA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0" name="组合 9"/>
              <p:cNvGrpSpPr/>
              <p:nvPr/>
            </p:nvGrpSpPr>
            <p:grpSpPr>
              <a:xfrm>
                <a:off x="6064810" y="2405226"/>
                <a:ext cx="4215665" cy="691589"/>
                <a:chOff x="6064810" y="2437846"/>
                <a:chExt cx="4215665" cy="691589"/>
              </a:xfrm>
            </p:grpSpPr>
            <p:sp>
              <p:nvSpPr>
                <p:cNvPr id="11" name="椭圆 10"/>
                <p:cNvSpPr/>
                <p:nvPr/>
              </p:nvSpPr>
              <p:spPr>
                <a:xfrm>
                  <a:off x="6064810" y="2437846"/>
                  <a:ext cx="691589" cy="691589"/>
                </a:xfrm>
                <a:prstGeom prst="ellipse">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FCFBFC"/>
                      </a:solidFill>
                      <a:cs typeface="+mn-ea"/>
                      <a:sym typeface="+mn-lt"/>
                    </a:rPr>
                    <a:t>02</a:t>
                  </a:r>
                  <a:endParaRPr lang="zh-CN" altLang="en-US">
                    <a:solidFill>
                      <a:srgbClr val="FCFBFC"/>
                    </a:solidFill>
                    <a:cs typeface="+mn-ea"/>
                    <a:sym typeface="+mn-lt"/>
                  </a:endParaRPr>
                </a:p>
              </p:txBody>
            </p:sp>
            <p:sp>
              <p:nvSpPr>
                <p:cNvPr id="12" name="矩形 11"/>
                <p:cNvSpPr/>
                <p:nvPr/>
              </p:nvSpPr>
              <p:spPr>
                <a:xfrm>
                  <a:off x="6892671" y="2452499"/>
                  <a:ext cx="3387804" cy="580095"/>
                </a:xfrm>
                <a:prstGeom prst="rect">
                  <a:avLst/>
                </a:prstGeom>
              </p:spPr>
              <p:txBody>
                <a:bodyPr wrap="square">
                  <a:spAutoFit/>
                </a:bodyPr>
                <a:lstStyle/>
                <a:p>
                  <a:pPr>
                    <a:lnSpc>
                      <a:spcPct val="150000"/>
                    </a:lnSpc>
                  </a:pPr>
                  <a:r>
                    <a:rPr lang="zh-CN" altLang="en-US" sz="2400" dirty="0">
                      <a:solidFill>
                        <a:srgbClr val="57658E"/>
                      </a:solidFill>
                      <a:cs typeface="+mn-ea"/>
                      <a:sym typeface="+mn-lt"/>
                    </a:rPr>
                    <a:t>现有监测技术的不足</a:t>
                  </a:r>
                </a:p>
              </p:txBody>
            </p:sp>
          </p:grpSp>
        </p:grpSp>
        <p:grpSp>
          <p:nvGrpSpPr>
            <p:cNvPr id="13" name="组合 12"/>
            <p:cNvGrpSpPr/>
            <p:nvPr/>
          </p:nvGrpSpPr>
          <p:grpSpPr>
            <a:xfrm>
              <a:off x="6611730" y="5046601"/>
              <a:ext cx="5580270" cy="911236"/>
              <a:chOff x="5989430" y="2295402"/>
              <a:chExt cx="5580270" cy="911236"/>
            </a:xfrm>
          </p:grpSpPr>
          <p:sp>
            <p:nvSpPr>
              <p:cNvPr id="14" name="圆角矩形 5"/>
              <p:cNvSpPr/>
              <p:nvPr/>
            </p:nvSpPr>
            <p:spPr>
              <a:xfrm>
                <a:off x="5989430" y="2295402"/>
                <a:ext cx="5580270" cy="911236"/>
              </a:xfrm>
              <a:prstGeom prst="roundRect">
                <a:avLst>
                  <a:gd name="adj" fmla="val 50000"/>
                </a:avLst>
              </a:prstGeom>
              <a:noFill/>
              <a:ln>
                <a:solidFill>
                  <a:srgbClr val="5765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注重内心体验，喜欢独注重内心体验立思考</a:t>
                </a:r>
              </a:p>
            </p:txBody>
          </p:sp>
          <p:grpSp>
            <p:nvGrpSpPr>
              <p:cNvPr id="15" name="组合 14"/>
              <p:cNvGrpSpPr/>
              <p:nvPr/>
            </p:nvGrpSpPr>
            <p:grpSpPr>
              <a:xfrm>
                <a:off x="6064810" y="2405226"/>
                <a:ext cx="5288169" cy="691589"/>
                <a:chOff x="6064810" y="2437846"/>
                <a:chExt cx="5288169" cy="691589"/>
              </a:xfrm>
            </p:grpSpPr>
            <p:sp>
              <p:nvSpPr>
                <p:cNvPr id="16" name="椭圆 15"/>
                <p:cNvSpPr/>
                <p:nvPr/>
              </p:nvSpPr>
              <p:spPr>
                <a:xfrm>
                  <a:off x="6064810" y="2437846"/>
                  <a:ext cx="691589" cy="691589"/>
                </a:xfrm>
                <a:prstGeom prst="ellipse">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FCFBFC"/>
                      </a:solidFill>
                      <a:cs typeface="+mn-ea"/>
                      <a:sym typeface="+mn-lt"/>
                    </a:rPr>
                    <a:t>03</a:t>
                  </a:r>
                  <a:endParaRPr lang="zh-CN" altLang="en-US">
                    <a:solidFill>
                      <a:srgbClr val="FCFBFC"/>
                    </a:solidFill>
                    <a:cs typeface="+mn-ea"/>
                    <a:sym typeface="+mn-lt"/>
                  </a:endParaRPr>
                </a:p>
              </p:txBody>
            </p:sp>
            <p:sp>
              <p:nvSpPr>
                <p:cNvPr id="17" name="矩形 16"/>
                <p:cNvSpPr/>
                <p:nvPr/>
              </p:nvSpPr>
              <p:spPr>
                <a:xfrm>
                  <a:off x="6831779" y="2440157"/>
                  <a:ext cx="4521200" cy="580095"/>
                </a:xfrm>
                <a:prstGeom prst="rect">
                  <a:avLst/>
                </a:prstGeom>
              </p:spPr>
              <p:txBody>
                <a:bodyPr wrap="square">
                  <a:spAutoFit/>
                </a:bodyPr>
                <a:lstStyle/>
                <a:p>
                  <a:pPr>
                    <a:lnSpc>
                      <a:spcPct val="150000"/>
                    </a:lnSpc>
                  </a:pPr>
                  <a:r>
                    <a:rPr lang="zh-CN" altLang="en-US" sz="2400" dirty="0">
                      <a:solidFill>
                        <a:srgbClr val="57658E"/>
                      </a:solidFill>
                      <a:cs typeface="+mn-ea"/>
                      <a:sym typeface="+mn-lt"/>
                    </a:rPr>
                    <a:t>半导体应变片技术的机遇与挑战</a:t>
                  </a:r>
                </a:p>
              </p:txBody>
            </p:sp>
          </p:grpSp>
        </p:grpSp>
      </p:grpSp>
      <p:sp>
        <p:nvSpPr>
          <p:cNvPr id="36" name="文本框 35"/>
          <p:cNvSpPr txBox="1"/>
          <p:nvPr/>
        </p:nvSpPr>
        <p:spPr>
          <a:xfrm>
            <a:off x="4886961" y="493484"/>
            <a:ext cx="2418080" cy="768350"/>
          </a:xfrm>
          <a:prstGeom prst="rect">
            <a:avLst/>
          </a:prstGeom>
          <a:noFill/>
        </p:spPr>
        <p:txBody>
          <a:bodyPr wrap="none" rtlCol="0">
            <a:spAutoFit/>
          </a:bodyPr>
          <a:lstStyle/>
          <a:p>
            <a:pPr algn="ctr"/>
            <a:r>
              <a:rPr lang="zh-CN" altLang="en-US" sz="4400" b="1" dirty="0">
                <a:solidFill>
                  <a:srgbClr val="57658E"/>
                </a:solidFill>
                <a:cs typeface="+mn-ea"/>
                <a:sym typeface="+mn-lt"/>
              </a:rPr>
              <a:t>主要问题</a:t>
            </a:r>
          </a:p>
        </p:txBody>
      </p:sp>
      <p:cxnSp>
        <p:nvCxnSpPr>
          <p:cNvPr id="37" name="直接连接符 36"/>
          <p:cNvCxnSpPr/>
          <p:nvPr/>
        </p:nvCxnSpPr>
        <p:spPr>
          <a:xfrm>
            <a:off x="5664000" y="1353969"/>
            <a:ext cx="864000" cy="0"/>
          </a:xfrm>
          <a:prstGeom prst="line">
            <a:avLst/>
          </a:prstGeom>
          <a:ln w="88900" cap="rnd">
            <a:solidFill>
              <a:srgbClr val="E9DAC6"/>
            </a:solidFill>
            <a:round/>
          </a:ln>
        </p:spPr>
        <p:style>
          <a:lnRef idx="1">
            <a:schemeClr val="accent1"/>
          </a:lnRef>
          <a:fillRef idx="0">
            <a:schemeClr val="accent1"/>
          </a:fillRef>
          <a:effectRef idx="0">
            <a:schemeClr val="accent1"/>
          </a:effectRef>
          <a:fontRef idx="minor">
            <a:schemeClr val="tx1"/>
          </a:fontRef>
        </p:style>
      </p:cxnSp>
      <p:grpSp>
        <p:nvGrpSpPr>
          <p:cNvPr id="44" name="组合 43"/>
          <p:cNvGrpSpPr/>
          <p:nvPr/>
        </p:nvGrpSpPr>
        <p:grpSpPr>
          <a:xfrm>
            <a:off x="3037214" y="1828801"/>
            <a:ext cx="1345051" cy="1560260"/>
            <a:chOff x="3037214" y="1828801"/>
            <a:chExt cx="1345051" cy="1560260"/>
          </a:xfrm>
        </p:grpSpPr>
        <p:sp>
          <p:nvSpPr>
            <p:cNvPr id="19" name="六边形 18"/>
            <p:cNvSpPr/>
            <p:nvPr/>
          </p:nvSpPr>
          <p:spPr>
            <a:xfrm rot="5400000">
              <a:off x="2929609" y="1936405"/>
              <a:ext cx="1560260" cy="1345051"/>
            </a:xfrm>
            <a:prstGeom prst="hexagon">
              <a:avLst/>
            </a:prstGeom>
            <a:solidFill>
              <a:srgbClr val="57658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FBFC"/>
                </a:solidFill>
                <a:cs typeface="+mn-ea"/>
                <a:sym typeface="+mn-lt"/>
              </a:endParaRPr>
            </a:p>
          </p:txBody>
        </p:sp>
        <p:sp>
          <p:nvSpPr>
            <p:cNvPr id="38" name="文本框 37"/>
            <p:cNvSpPr txBox="1"/>
            <p:nvPr/>
          </p:nvSpPr>
          <p:spPr>
            <a:xfrm>
              <a:off x="3155741" y="2378098"/>
              <a:ext cx="1097280" cy="460375"/>
            </a:xfrm>
            <a:prstGeom prst="rect">
              <a:avLst/>
            </a:prstGeom>
            <a:noFill/>
          </p:spPr>
          <p:txBody>
            <a:bodyPr wrap="none" rtlCol="0">
              <a:spAutoFit/>
            </a:bodyPr>
            <a:lstStyle/>
            <a:p>
              <a:r>
                <a:rPr lang="zh-CN" altLang="en-US" sz="2400">
                  <a:solidFill>
                    <a:srgbClr val="FCFBFC"/>
                  </a:solidFill>
                  <a:cs typeface="+mn-ea"/>
                  <a:sym typeface="+mn-lt"/>
                </a:rPr>
                <a:t>重要性</a:t>
              </a:r>
            </a:p>
          </p:txBody>
        </p:sp>
      </p:grpSp>
      <p:grpSp>
        <p:nvGrpSpPr>
          <p:cNvPr id="45" name="组合 44"/>
          <p:cNvGrpSpPr/>
          <p:nvPr/>
        </p:nvGrpSpPr>
        <p:grpSpPr>
          <a:xfrm>
            <a:off x="3703781" y="3241470"/>
            <a:ext cx="1345051" cy="1560260"/>
            <a:chOff x="3703781" y="3241470"/>
            <a:chExt cx="1345051" cy="1560260"/>
          </a:xfrm>
        </p:grpSpPr>
        <p:sp>
          <p:nvSpPr>
            <p:cNvPr id="22" name="六边形 21"/>
            <p:cNvSpPr/>
            <p:nvPr/>
          </p:nvSpPr>
          <p:spPr>
            <a:xfrm rot="5400000">
              <a:off x="3596176" y="3349074"/>
              <a:ext cx="1560260" cy="1345051"/>
            </a:xfrm>
            <a:prstGeom prst="hexagon">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FBFC"/>
                </a:solidFill>
                <a:cs typeface="+mn-ea"/>
                <a:sym typeface="+mn-lt"/>
              </a:endParaRPr>
            </a:p>
          </p:txBody>
        </p:sp>
        <p:sp>
          <p:nvSpPr>
            <p:cNvPr id="39" name="文本框 38"/>
            <p:cNvSpPr txBox="1"/>
            <p:nvPr/>
          </p:nvSpPr>
          <p:spPr>
            <a:xfrm>
              <a:off x="3822308" y="3790767"/>
              <a:ext cx="961390" cy="460375"/>
            </a:xfrm>
            <a:prstGeom prst="rect">
              <a:avLst/>
            </a:prstGeom>
            <a:noFill/>
          </p:spPr>
          <p:txBody>
            <a:bodyPr wrap="none" rtlCol="0">
              <a:spAutoFit/>
            </a:bodyPr>
            <a:lstStyle/>
            <a:p>
              <a:r>
                <a:rPr lang="en-US" altLang="zh-CN" sz="2400">
                  <a:solidFill>
                    <a:srgbClr val="FCFBFC"/>
                  </a:solidFill>
                  <a:cs typeface="+mn-ea"/>
                  <a:sym typeface="+mn-lt"/>
                </a:rPr>
                <a:t>  </a:t>
              </a:r>
              <a:r>
                <a:rPr lang="zh-CN" altLang="en-US" sz="2400">
                  <a:solidFill>
                    <a:srgbClr val="FCFBFC"/>
                  </a:solidFill>
                  <a:cs typeface="+mn-ea"/>
                  <a:sym typeface="+mn-lt"/>
                </a:rPr>
                <a:t>优势</a:t>
              </a:r>
            </a:p>
          </p:txBody>
        </p:sp>
      </p:grpSp>
      <p:grpSp>
        <p:nvGrpSpPr>
          <p:cNvPr id="47" name="组合 46"/>
          <p:cNvGrpSpPr/>
          <p:nvPr/>
        </p:nvGrpSpPr>
        <p:grpSpPr>
          <a:xfrm>
            <a:off x="2976122" y="4632391"/>
            <a:ext cx="1345051" cy="1560260"/>
            <a:chOff x="2976122" y="4632391"/>
            <a:chExt cx="1345051" cy="1560260"/>
          </a:xfrm>
        </p:grpSpPr>
        <p:sp>
          <p:nvSpPr>
            <p:cNvPr id="28" name="六边形 27"/>
            <p:cNvSpPr/>
            <p:nvPr/>
          </p:nvSpPr>
          <p:spPr>
            <a:xfrm rot="5400000">
              <a:off x="2868517" y="4739995"/>
              <a:ext cx="1560260" cy="1345051"/>
            </a:xfrm>
            <a:prstGeom prst="hexagon">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FBFC"/>
                </a:solidFill>
                <a:cs typeface="+mn-ea"/>
                <a:sym typeface="+mn-lt"/>
              </a:endParaRPr>
            </a:p>
          </p:txBody>
        </p:sp>
        <p:sp>
          <p:nvSpPr>
            <p:cNvPr id="40" name="文本框 39"/>
            <p:cNvSpPr txBox="1"/>
            <p:nvPr/>
          </p:nvSpPr>
          <p:spPr>
            <a:xfrm>
              <a:off x="3094649" y="5181688"/>
              <a:ext cx="961390" cy="460375"/>
            </a:xfrm>
            <a:prstGeom prst="rect">
              <a:avLst/>
            </a:prstGeom>
            <a:noFill/>
          </p:spPr>
          <p:txBody>
            <a:bodyPr wrap="none" rtlCol="0">
              <a:spAutoFit/>
            </a:bodyPr>
            <a:lstStyle/>
            <a:p>
              <a:r>
                <a:rPr lang="en-US" altLang="zh-CN" sz="2400">
                  <a:solidFill>
                    <a:srgbClr val="FCFBFC"/>
                  </a:solidFill>
                  <a:cs typeface="+mn-ea"/>
                  <a:sym typeface="+mn-lt"/>
                </a:rPr>
                <a:t>  </a:t>
              </a:r>
              <a:r>
                <a:rPr lang="zh-CN" altLang="en-US" sz="2400">
                  <a:solidFill>
                    <a:srgbClr val="FCFBFC"/>
                  </a:solidFill>
                  <a:cs typeface="+mn-ea"/>
                  <a:sym typeface="+mn-lt"/>
                </a:rPr>
                <a:t>机遇</a:t>
              </a:r>
            </a:p>
          </p:txBody>
        </p:sp>
      </p:grpSp>
      <p:grpSp>
        <p:nvGrpSpPr>
          <p:cNvPr id="48" name="组合 47"/>
          <p:cNvGrpSpPr/>
          <p:nvPr/>
        </p:nvGrpSpPr>
        <p:grpSpPr>
          <a:xfrm>
            <a:off x="1472354" y="4632391"/>
            <a:ext cx="1402497" cy="1560260"/>
            <a:chOff x="1472354" y="4632391"/>
            <a:chExt cx="1402497" cy="1560260"/>
          </a:xfrm>
        </p:grpSpPr>
        <p:sp>
          <p:nvSpPr>
            <p:cNvPr id="32" name="六边形 31"/>
            <p:cNvSpPr/>
            <p:nvPr/>
          </p:nvSpPr>
          <p:spPr>
            <a:xfrm rot="5400000">
              <a:off x="1364749" y="4739995"/>
              <a:ext cx="1560260" cy="1345051"/>
            </a:xfrm>
            <a:prstGeom prst="hexagon">
              <a:avLst/>
            </a:prstGeom>
            <a:solidFill>
              <a:srgbClr val="57658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FBFC"/>
                </a:solidFill>
                <a:cs typeface="+mn-ea"/>
                <a:sym typeface="+mn-lt"/>
              </a:endParaRPr>
            </a:p>
          </p:txBody>
        </p:sp>
        <p:sp>
          <p:nvSpPr>
            <p:cNvPr id="41" name="文本框 40"/>
            <p:cNvSpPr txBox="1"/>
            <p:nvPr/>
          </p:nvSpPr>
          <p:spPr>
            <a:xfrm>
              <a:off x="1472771" y="5189308"/>
              <a:ext cx="1402080" cy="460375"/>
            </a:xfrm>
            <a:prstGeom prst="rect">
              <a:avLst/>
            </a:prstGeom>
            <a:noFill/>
          </p:spPr>
          <p:txBody>
            <a:bodyPr wrap="none" rtlCol="0">
              <a:spAutoFit/>
            </a:bodyPr>
            <a:lstStyle/>
            <a:p>
              <a:r>
                <a:rPr lang="zh-CN" altLang="en-US" sz="2400">
                  <a:solidFill>
                    <a:srgbClr val="FCFBFC"/>
                  </a:solidFill>
                  <a:cs typeface="+mn-ea"/>
                  <a:sym typeface="+mn-lt"/>
                </a:rPr>
                <a:t>行业需求</a:t>
              </a:r>
            </a:p>
          </p:txBody>
        </p:sp>
      </p:grpSp>
      <p:grpSp>
        <p:nvGrpSpPr>
          <p:cNvPr id="49" name="组合 48"/>
          <p:cNvGrpSpPr/>
          <p:nvPr/>
        </p:nvGrpSpPr>
        <p:grpSpPr>
          <a:xfrm>
            <a:off x="682172" y="3241470"/>
            <a:ext cx="1345051" cy="1560260"/>
            <a:chOff x="682172" y="3241470"/>
            <a:chExt cx="1345051" cy="1560260"/>
          </a:xfrm>
        </p:grpSpPr>
        <p:sp>
          <p:nvSpPr>
            <p:cNvPr id="25" name="六边形 24"/>
            <p:cNvSpPr/>
            <p:nvPr/>
          </p:nvSpPr>
          <p:spPr>
            <a:xfrm rot="5400000">
              <a:off x="574567" y="3349074"/>
              <a:ext cx="1560260" cy="1345051"/>
            </a:xfrm>
            <a:prstGeom prst="hexagon">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FBFC"/>
                </a:solidFill>
                <a:cs typeface="+mn-ea"/>
                <a:sym typeface="+mn-lt"/>
              </a:endParaRPr>
            </a:p>
          </p:txBody>
        </p:sp>
        <p:sp>
          <p:nvSpPr>
            <p:cNvPr id="42" name="文本框 41"/>
            <p:cNvSpPr txBox="1"/>
            <p:nvPr/>
          </p:nvSpPr>
          <p:spPr>
            <a:xfrm>
              <a:off x="800699" y="3790767"/>
              <a:ext cx="961390" cy="460375"/>
            </a:xfrm>
            <a:prstGeom prst="rect">
              <a:avLst/>
            </a:prstGeom>
            <a:noFill/>
          </p:spPr>
          <p:txBody>
            <a:bodyPr wrap="none" rtlCol="0">
              <a:spAutoFit/>
            </a:bodyPr>
            <a:lstStyle/>
            <a:p>
              <a:r>
                <a:rPr lang="en-US" altLang="zh-CN" sz="2400">
                  <a:solidFill>
                    <a:srgbClr val="FCFBFC"/>
                  </a:solidFill>
                  <a:cs typeface="+mn-ea"/>
                  <a:sym typeface="+mn-lt"/>
                </a:rPr>
                <a:t>  </a:t>
              </a:r>
              <a:r>
                <a:rPr lang="zh-CN" altLang="en-US" sz="2400">
                  <a:solidFill>
                    <a:srgbClr val="FCFBFC"/>
                  </a:solidFill>
                  <a:cs typeface="+mn-ea"/>
                  <a:sym typeface="+mn-lt"/>
                </a:rPr>
                <a:t>挑战</a:t>
              </a:r>
            </a:p>
          </p:txBody>
        </p:sp>
      </p:grpSp>
      <p:grpSp>
        <p:nvGrpSpPr>
          <p:cNvPr id="46" name="组合 45"/>
          <p:cNvGrpSpPr/>
          <p:nvPr/>
        </p:nvGrpSpPr>
        <p:grpSpPr>
          <a:xfrm>
            <a:off x="2224238" y="3241470"/>
            <a:ext cx="1345051" cy="1560260"/>
            <a:chOff x="2224238" y="3241470"/>
            <a:chExt cx="1345051" cy="1560260"/>
          </a:xfrm>
        </p:grpSpPr>
        <p:sp>
          <p:nvSpPr>
            <p:cNvPr id="2" name="六边形 1"/>
            <p:cNvSpPr/>
            <p:nvPr/>
          </p:nvSpPr>
          <p:spPr>
            <a:xfrm rot="5400000">
              <a:off x="2116633" y="3349074"/>
              <a:ext cx="1560260" cy="1345051"/>
            </a:xfrm>
            <a:prstGeom prst="hexagon">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FBFC"/>
                </a:solidFill>
                <a:cs typeface="+mn-ea"/>
                <a:sym typeface="+mn-lt"/>
              </a:endParaRPr>
            </a:p>
          </p:txBody>
        </p:sp>
        <p:sp>
          <p:nvSpPr>
            <p:cNvPr id="43" name="文本框 42"/>
            <p:cNvSpPr txBox="1"/>
            <p:nvPr/>
          </p:nvSpPr>
          <p:spPr>
            <a:xfrm>
              <a:off x="2342765" y="3790767"/>
              <a:ext cx="1097280" cy="460375"/>
            </a:xfrm>
            <a:prstGeom prst="rect">
              <a:avLst/>
            </a:prstGeom>
            <a:noFill/>
          </p:spPr>
          <p:txBody>
            <a:bodyPr wrap="none" rtlCol="0">
              <a:spAutoFit/>
            </a:bodyPr>
            <a:lstStyle/>
            <a:p>
              <a:r>
                <a:rPr lang="zh-CN" altLang="en-US" sz="2400">
                  <a:solidFill>
                    <a:srgbClr val="FCFBFC"/>
                  </a:solidFill>
                  <a:cs typeface="+mn-ea"/>
                  <a:sym typeface="+mn-lt"/>
                </a:rPr>
                <a:t>局限性</a:t>
              </a:r>
            </a:p>
          </p:txBody>
        </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244476"/>
            <a:ext cx="12192000" cy="2643893"/>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p:cNvSpPr txBox="1"/>
          <p:nvPr/>
        </p:nvSpPr>
        <p:spPr>
          <a:xfrm>
            <a:off x="2983377" y="1981285"/>
            <a:ext cx="6391493" cy="769441"/>
          </a:xfrm>
          <a:prstGeom prst="rect">
            <a:avLst/>
          </a:prstGeom>
          <a:noFill/>
        </p:spPr>
        <p:txBody>
          <a:bodyPr wrap="none" rtlCol="0">
            <a:spAutoFit/>
          </a:bodyPr>
          <a:lstStyle/>
          <a:p>
            <a:pPr algn="ctr"/>
            <a:r>
              <a:rPr lang="zh-CN" altLang="en-US" sz="4400" dirty="0">
                <a:solidFill>
                  <a:schemeClr val="bg1"/>
                </a:solidFill>
                <a:cs typeface="+mn-ea"/>
                <a:sym typeface="+mn-lt"/>
              </a:rPr>
              <a:t>输电线路安全运行的需求</a:t>
            </a:r>
          </a:p>
        </p:txBody>
      </p:sp>
      <p:cxnSp>
        <p:nvCxnSpPr>
          <p:cNvPr id="17" name="直接连接符 16"/>
          <p:cNvCxnSpPr/>
          <p:nvPr/>
        </p:nvCxnSpPr>
        <p:spPr>
          <a:xfrm>
            <a:off x="5596413" y="3181191"/>
            <a:ext cx="999172" cy="0"/>
          </a:xfrm>
          <a:prstGeom prst="line">
            <a:avLst/>
          </a:prstGeom>
          <a:ln w="60325" cap="rnd">
            <a:solidFill>
              <a:schemeClr val="bg1"/>
            </a:solidFill>
            <a:round/>
          </a:ln>
        </p:spPr>
        <p:style>
          <a:lnRef idx="1">
            <a:schemeClr val="accent1"/>
          </a:lnRef>
          <a:fillRef idx="0">
            <a:schemeClr val="accent1"/>
          </a:fillRef>
          <a:effectRef idx="0">
            <a:schemeClr val="accent1"/>
          </a:effectRef>
          <a:fontRef idx="minor">
            <a:schemeClr val="tx1"/>
          </a:fontRef>
        </p:style>
      </p:cxnSp>
      <p:grpSp>
        <p:nvGrpSpPr>
          <p:cNvPr id="121" name="组合 120"/>
          <p:cNvGrpSpPr/>
          <p:nvPr/>
        </p:nvGrpSpPr>
        <p:grpSpPr>
          <a:xfrm>
            <a:off x="-240049" y="2839490"/>
            <a:ext cx="11636800" cy="3585020"/>
            <a:chOff x="6518485" y="3943834"/>
            <a:chExt cx="4630099" cy="2082851"/>
          </a:xfrm>
        </p:grpSpPr>
        <p:sp>
          <p:nvSpPr>
            <p:cNvPr id="123" name="文本框 122"/>
            <p:cNvSpPr txBox="1"/>
            <p:nvPr/>
          </p:nvSpPr>
          <p:spPr>
            <a:xfrm>
              <a:off x="7124586" y="4608072"/>
              <a:ext cx="4023998" cy="1418613"/>
            </a:xfrm>
            <a:prstGeom prst="rect">
              <a:avLst/>
            </a:prstGeom>
            <a:noFill/>
          </p:spPr>
          <p:txBody>
            <a:bodyPr wrap="square" rtlCol="0">
              <a:noAutofit/>
            </a:bodyPr>
            <a:lstStyle/>
            <a:p>
              <a:pPr>
                <a:lnSpc>
                  <a:spcPct val="150000"/>
                </a:lnSpc>
              </a:pPr>
              <a:r>
                <a:rPr lang="zh-CN" altLang="en-US" sz="2000" b="1" dirty="0">
                  <a:solidFill>
                    <a:srgbClr val="57658E"/>
                  </a:solidFill>
                  <a:latin typeface="+mn-ea"/>
                  <a:cs typeface="+mn-ea"/>
                  <a:sym typeface="+mn-lt"/>
                </a:rPr>
                <a:t>挑战：</a:t>
              </a:r>
              <a:r>
                <a:rPr lang="zh-CN" altLang="en-US" sz="2000" dirty="0">
                  <a:solidFill>
                    <a:srgbClr val="57658E"/>
                  </a:solidFill>
                  <a:latin typeface="+mn-ea"/>
                  <a:cs typeface="+mn-ea"/>
                  <a:sym typeface="+mn-lt"/>
                </a:rPr>
                <a:t>输电线路横担是铁塔上支撑导线和绝缘子的关键部件，长期承受导线自重、风载荷、覆冰荷及极端天气（如台风、冰雪）带来的动态应力。若横担因应力集中或疲劳损伤发生断裂，可能导致倒塔、断电等重大事故，威胁电网安全。传统人工巡检或定期维护难以实时捕捉应力变化，存在滞后性和盲区。</a:t>
              </a:r>
              <a:endParaRPr lang="en-US" altLang="zh-CN" sz="2000" dirty="0">
                <a:solidFill>
                  <a:srgbClr val="57658E"/>
                </a:solidFill>
                <a:latin typeface="+mn-ea"/>
                <a:cs typeface="+mn-ea"/>
                <a:sym typeface="+mn-lt"/>
              </a:endParaRPr>
            </a:p>
            <a:p>
              <a:pPr>
                <a:lnSpc>
                  <a:spcPct val="150000"/>
                </a:lnSpc>
              </a:pPr>
              <a:r>
                <a:rPr lang="zh-CN" altLang="en-US" sz="2000" b="1" dirty="0">
                  <a:solidFill>
                    <a:srgbClr val="57658E"/>
                  </a:solidFill>
                  <a:latin typeface="+mn-ea"/>
                  <a:cs typeface="+mn-ea"/>
                  <a:sym typeface="+mn-lt"/>
                </a:rPr>
                <a:t>需求：</a:t>
              </a:r>
              <a:r>
                <a:rPr lang="zh-CN" altLang="en-US" sz="2000" dirty="0">
                  <a:solidFill>
                    <a:srgbClr val="57658E"/>
                  </a:solidFill>
                  <a:latin typeface="+mn-ea"/>
                  <a:cs typeface="+mn-ea"/>
                  <a:sym typeface="+mn-lt"/>
                </a:rPr>
                <a:t>需要一种高精度、实时、可靠的应力监测技术，以提升电网安全运行水平。</a:t>
              </a:r>
            </a:p>
          </p:txBody>
        </p:sp>
        <p:pic>
          <p:nvPicPr>
            <p:cNvPr id="125" name="图片 14" descr="integral"/>
            <p:cNvPicPr>
              <a:picLocks noChangeAspect="1"/>
            </p:cNvPicPr>
            <p:nvPr/>
          </p:nvPicPr>
          <p:blipFill>
            <a:blip r:embed="rId2"/>
            <a:stretch>
              <a:fillRect/>
            </a:stretch>
          </p:blipFill>
          <p:spPr>
            <a:xfrm>
              <a:off x="6518485" y="3943834"/>
              <a:ext cx="756000" cy="756000"/>
            </a:xfrm>
            <a:prstGeom prst="rect">
              <a:avLst/>
            </a:prstGeom>
          </p:spPr>
        </p:pic>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464510" y="493484"/>
            <a:ext cx="5262979" cy="769441"/>
          </a:xfrm>
          <a:prstGeom prst="rect">
            <a:avLst/>
          </a:prstGeom>
          <a:noFill/>
        </p:spPr>
        <p:txBody>
          <a:bodyPr wrap="none" rtlCol="0">
            <a:spAutoFit/>
          </a:bodyPr>
          <a:lstStyle/>
          <a:p>
            <a:pPr algn="ctr"/>
            <a:r>
              <a:rPr lang="zh-CN" altLang="en-US" sz="4400" b="1" dirty="0">
                <a:solidFill>
                  <a:srgbClr val="57658E"/>
                </a:solidFill>
                <a:cs typeface="+mn-ea"/>
                <a:sym typeface="+mn-lt"/>
              </a:rPr>
              <a:t>现有监测技术的不足</a:t>
            </a:r>
          </a:p>
        </p:txBody>
      </p:sp>
      <p:cxnSp>
        <p:nvCxnSpPr>
          <p:cNvPr id="47" name="直接连接符 46"/>
          <p:cNvCxnSpPr/>
          <p:nvPr/>
        </p:nvCxnSpPr>
        <p:spPr>
          <a:xfrm>
            <a:off x="5664000" y="1353969"/>
            <a:ext cx="864000" cy="0"/>
          </a:xfrm>
          <a:prstGeom prst="line">
            <a:avLst/>
          </a:prstGeom>
          <a:ln w="88900" cap="rnd">
            <a:solidFill>
              <a:srgbClr val="E9DAC6"/>
            </a:solidFill>
            <a:round/>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796053" y="1941936"/>
            <a:ext cx="10545681" cy="3931883"/>
            <a:chOff x="673094" y="2098456"/>
            <a:chExt cx="10790344" cy="3932225"/>
          </a:xfrm>
        </p:grpSpPr>
        <p:grpSp>
          <p:nvGrpSpPr>
            <p:cNvPr id="4" name="组合 3"/>
            <p:cNvGrpSpPr/>
            <p:nvPr/>
          </p:nvGrpSpPr>
          <p:grpSpPr>
            <a:xfrm>
              <a:off x="673094" y="2098456"/>
              <a:ext cx="3124956" cy="3922005"/>
              <a:chOff x="673094" y="2098456"/>
              <a:chExt cx="3124956" cy="3922005"/>
            </a:xfrm>
          </p:grpSpPr>
          <p:sp>
            <p:nvSpPr>
              <p:cNvPr id="6" name="矩形 5"/>
              <p:cNvSpPr/>
              <p:nvPr/>
            </p:nvSpPr>
            <p:spPr>
              <a:xfrm>
                <a:off x="673094" y="2098456"/>
                <a:ext cx="3124956" cy="3922005"/>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cs typeface="+mn-ea"/>
                  <a:sym typeface="+mn-lt"/>
                </a:endParaRPr>
              </a:p>
            </p:txBody>
          </p:sp>
          <p:grpSp>
            <p:nvGrpSpPr>
              <p:cNvPr id="7" name="组合 6"/>
              <p:cNvGrpSpPr/>
              <p:nvPr/>
            </p:nvGrpSpPr>
            <p:grpSpPr>
              <a:xfrm>
                <a:off x="862266" y="2447372"/>
                <a:ext cx="2810717" cy="2904027"/>
                <a:chOff x="876780" y="2472420"/>
                <a:chExt cx="2810717" cy="2904027"/>
              </a:xfrm>
            </p:grpSpPr>
            <p:grpSp>
              <p:nvGrpSpPr>
                <p:cNvPr id="8" name="组合 7"/>
                <p:cNvGrpSpPr/>
                <p:nvPr/>
              </p:nvGrpSpPr>
              <p:grpSpPr>
                <a:xfrm>
                  <a:off x="876780" y="3558316"/>
                  <a:ext cx="2810717" cy="1818131"/>
                  <a:chOff x="876780" y="3228115"/>
                  <a:chExt cx="2810717" cy="1818131"/>
                </a:xfrm>
              </p:grpSpPr>
              <p:sp>
                <p:nvSpPr>
                  <p:cNvPr id="11" name="文本框 10"/>
                  <p:cNvSpPr txBox="1"/>
                  <p:nvPr/>
                </p:nvSpPr>
                <p:spPr>
                  <a:xfrm>
                    <a:off x="1241930" y="3228115"/>
                    <a:ext cx="2127247" cy="523265"/>
                  </a:xfrm>
                  <a:prstGeom prst="rect">
                    <a:avLst/>
                  </a:prstGeom>
                  <a:noFill/>
                </p:spPr>
                <p:txBody>
                  <a:bodyPr wrap="square" rtlCol="0">
                    <a:spAutoFit/>
                  </a:bodyPr>
                  <a:lstStyle/>
                  <a:p>
                    <a:pPr algn="ctr"/>
                    <a:r>
                      <a:rPr lang="zh-CN" altLang="en-US" sz="2800" dirty="0">
                        <a:solidFill>
                          <a:srgbClr val="FCFBFC"/>
                        </a:solidFill>
                        <a:cs typeface="+mn-ea"/>
                        <a:sym typeface="+mn-lt"/>
                      </a:rPr>
                      <a:t>光纤传感器</a:t>
                    </a:r>
                  </a:p>
                </p:txBody>
              </p:sp>
              <p:sp>
                <p:nvSpPr>
                  <p:cNvPr id="13" name="文本框 12"/>
                  <p:cNvSpPr txBox="1"/>
                  <p:nvPr/>
                </p:nvSpPr>
                <p:spPr>
                  <a:xfrm>
                    <a:off x="876780" y="4172469"/>
                    <a:ext cx="2810717" cy="873777"/>
                  </a:xfrm>
                  <a:prstGeom prst="rect">
                    <a:avLst/>
                  </a:prstGeom>
                  <a:noFill/>
                </p:spPr>
                <p:txBody>
                  <a:bodyPr wrap="square" rtlCol="0">
                    <a:spAutoFit/>
                  </a:bodyPr>
                  <a:lstStyle/>
                  <a:p>
                    <a:pPr algn="ctr">
                      <a:lnSpc>
                        <a:spcPct val="150000"/>
                      </a:lnSpc>
                    </a:pPr>
                    <a:r>
                      <a:rPr lang="zh-CN" altLang="en-US" dirty="0">
                        <a:solidFill>
                          <a:srgbClr val="FCFBFC"/>
                        </a:solidFill>
                        <a:cs typeface="+mn-ea"/>
                        <a:sym typeface="+mn-lt"/>
                      </a:rPr>
                      <a:t>精度高但成本昂贵，安装复杂，易受电磁干扰</a:t>
                    </a:r>
                  </a:p>
                </p:txBody>
              </p:sp>
              <p:cxnSp>
                <p:nvCxnSpPr>
                  <p:cNvPr id="14" name="直接连接符 13"/>
                  <p:cNvCxnSpPr/>
                  <p:nvPr/>
                </p:nvCxnSpPr>
                <p:spPr>
                  <a:xfrm>
                    <a:off x="1981555" y="4024087"/>
                    <a:ext cx="648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pic>
              <p:nvPicPr>
                <p:cNvPr id="15" name="图片 7" descr="assessed-badge"/>
                <p:cNvPicPr>
                  <a:picLocks noChangeAspect="1"/>
                </p:cNvPicPr>
                <p:nvPr/>
              </p:nvPicPr>
              <p:blipFill>
                <a:blip r:embed="rId2"/>
                <a:stretch>
                  <a:fillRect/>
                </a:stretch>
              </p:blipFill>
              <p:spPr>
                <a:xfrm>
                  <a:off x="1824770" y="2472420"/>
                  <a:ext cx="961571" cy="961571"/>
                </a:xfrm>
                <a:prstGeom prst="rect">
                  <a:avLst/>
                </a:prstGeom>
              </p:spPr>
            </p:pic>
          </p:grpSp>
        </p:grpSp>
        <p:grpSp>
          <p:nvGrpSpPr>
            <p:cNvPr id="16" name="组合 15"/>
            <p:cNvGrpSpPr/>
            <p:nvPr/>
          </p:nvGrpSpPr>
          <p:grpSpPr>
            <a:xfrm>
              <a:off x="4533522" y="2098456"/>
              <a:ext cx="3124956" cy="3922005"/>
              <a:chOff x="4533523" y="2098456"/>
              <a:chExt cx="3124956" cy="3922005"/>
            </a:xfrm>
          </p:grpSpPr>
          <p:sp>
            <p:nvSpPr>
              <p:cNvPr id="17" name="矩形 16"/>
              <p:cNvSpPr/>
              <p:nvPr/>
            </p:nvSpPr>
            <p:spPr>
              <a:xfrm>
                <a:off x="4533523" y="2098456"/>
                <a:ext cx="3124956" cy="3922005"/>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18" name="组合 17"/>
              <p:cNvGrpSpPr/>
              <p:nvPr/>
            </p:nvGrpSpPr>
            <p:grpSpPr>
              <a:xfrm>
                <a:off x="4690643" y="2433349"/>
                <a:ext cx="2810717" cy="2969782"/>
                <a:chOff x="4690641" y="2444374"/>
                <a:chExt cx="2810717" cy="2969782"/>
              </a:xfrm>
            </p:grpSpPr>
            <p:pic>
              <p:nvPicPr>
                <p:cNvPr id="20" name="图片 5" descr="RFQ-logo"/>
                <p:cNvPicPr>
                  <a:picLocks noChangeAspect="1"/>
                </p:cNvPicPr>
                <p:nvPr/>
              </p:nvPicPr>
              <p:blipFill>
                <a:blip r:embed="rId3"/>
                <a:stretch>
                  <a:fillRect/>
                </a:stretch>
              </p:blipFill>
              <p:spPr>
                <a:xfrm>
                  <a:off x="5587168" y="2444374"/>
                  <a:ext cx="1017663" cy="1017663"/>
                </a:xfrm>
                <a:prstGeom prst="rect">
                  <a:avLst/>
                </a:prstGeom>
              </p:spPr>
            </p:pic>
            <p:grpSp>
              <p:nvGrpSpPr>
                <p:cNvPr id="21" name="组合 20"/>
                <p:cNvGrpSpPr/>
                <p:nvPr/>
              </p:nvGrpSpPr>
              <p:grpSpPr>
                <a:xfrm>
                  <a:off x="4690641" y="3557437"/>
                  <a:ext cx="2810717" cy="1856719"/>
                  <a:chOff x="900197" y="3227236"/>
                  <a:chExt cx="2810717" cy="1856719"/>
                </a:xfrm>
              </p:grpSpPr>
              <p:sp>
                <p:nvSpPr>
                  <p:cNvPr id="22" name="文本框 21"/>
                  <p:cNvSpPr txBox="1"/>
                  <p:nvPr/>
                </p:nvSpPr>
                <p:spPr>
                  <a:xfrm>
                    <a:off x="1247043" y="3227236"/>
                    <a:ext cx="2117022" cy="523266"/>
                  </a:xfrm>
                  <a:prstGeom prst="rect">
                    <a:avLst/>
                  </a:prstGeom>
                  <a:noFill/>
                </p:spPr>
                <p:txBody>
                  <a:bodyPr wrap="square" rtlCol="0">
                    <a:spAutoFit/>
                  </a:bodyPr>
                  <a:lstStyle/>
                  <a:p>
                    <a:pPr algn="ctr"/>
                    <a:r>
                      <a:rPr lang="zh-CN" altLang="en-US" sz="2800" dirty="0">
                        <a:solidFill>
                          <a:srgbClr val="FCFBFC"/>
                        </a:solidFill>
                        <a:cs typeface="+mn-ea"/>
                        <a:sym typeface="+mn-lt"/>
                      </a:rPr>
                      <a:t>电阻应变片</a:t>
                    </a:r>
                  </a:p>
                </p:txBody>
              </p:sp>
              <p:sp>
                <p:nvSpPr>
                  <p:cNvPr id="23" name="文本框 22"/>
                  <p:cNvSpPr txBox="1"/>
                  <p:nvPr/>
                </p:nvSpPr>
                <p:spPr>
                  <a:xfrm>
                    <a:off x="900197" y="4210178"/>
                    <a:ext cx="2810717" cy="873777"/>
                  </a:xfrm>
                  <a:prstGeom prst="rect">
                    <a:avLst/>
                  </a:prstGeom>
                  <a:noFill/>
                </p:spPr>
                <p:txBody>
                  <a:bodyPr wrap="square" rtlCol="0">
                    <a:spAutoFit/>
                  </a:bodyPr>
                  <a:lstStyle/>
                  <a:p>
                    <a:pPr algn="ctr">
                      <a:lnSpc>
                        <a:spcPct val="150000"/>
                      </a:lnSpc>
                    </a:pPr>
                    <a:r>
                      <a:rPr lang="zh-CN" altLang="en-US" dirty="0">
                        <a:solidFill>
                          <a:srgbClr val="FCFBFC"/>
                        </a:solidFill>
                        <a:cs typeface="+mn-ea"/>
                        <a:sym typeface="+mn-lt"/>
                      </a:rPr>
                      <a:t>温漂大，长期稳定性差，需要复杂信号调理电路</a:t>
                    </a:r>
                  </a:p>
                </p:txBody>
              </p:sp>
              <p:cxnSp>
                <p:nvCxnSpPr>
                  <p:cNvPr id="24" name="直接连接符 23"/>
                  <p:cNvCxnSpPr/>
                  <p:nvPr/>
                </p:nvCxnSpPr>
                <p:spPr>
                  <a:xfrm>
                    <a:off x="1981555" y="4024087"/>
                    <a:ext cx="648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grpSp>
          <p:nvGrpSpPr>
            <p:cNvPr id="29" name="组合 28"/>
            <p:cNvGrpSpPr/>
            <p:nvPr/>
          </p:nvGrpSpPr>
          <p:grpSpPr>
            <a:xfrm>
              <a:off x="8338481" y="2108676"/>
              <a:ext cx="3124957" cy="3922005"/>
              <a:chOff x="8338481" y="2108676"/>
              <a:chExt cx="3124957" cy="3922005"/>
            </a:xfrm>
          </p:grpSpPr>
          <p:sp>
            <p:nvSpPr>
              <p:cNvPr id="42" name="矩形 41"/>
              <p:cNvSpPr/>
              <p:nvPr/>
            </p:nvSpPr>
            <p:spPr>
              <a:xfrm>
                <a:off x="8338481" y="2108676"/>
                <a:ext cx="3124956" cy="3922005"/>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cs typeface="+mn-ea"/>
                  <a:sym typeface="+mn-lt"/>
                </a:endParaRPr>
              </a:p>
            </p:txBody>
          </p:sp>
          <p:grpSp>
            <p:nvGrpSpPr>
              <p:cNvPr id="48" name="组合 47"/>
              <p:cNvGrpSpPr/>
              <p:nvPr/>
            </p:nvGrpSpPr>
            <p:grpSpPr>
              <a:xfrm>
                <a:off x="8652721" y="2447372"/>
                <a:ext cx="2810717" cy="3003984"/>
                <a:chOff x="8773874" y="2472420"/>
                <a:chExt cx="2810717" cy="3003984"/>
              </a:xfrm>
            </p:grpSpPr>
            <p:pic>
              <p:nvPicPr>
                <p:cNvPr id="49" name="图片 5" descr="certified-supplier"/>
                <p:cNvPicPr>
                  <a:picLocks noChangeAspect="1"/>
                </p:cNvPicPr>
                <p:nvPr/>
              </p:nvPicPr>
              <p:blipFill>
                <a:blip r:embed="rId4"/>
                <a:stretch>
                  <a:fillRect/>
                </a:stretch>
              </p:blipFill>
              <p:spPr>
                <a:xfrm>
                  <a:off x="9541328" y="2472420"/>
                  <a:ext cx="961571" cy="961571"/>
                </a:xfrm>
                <a:prstGeom prst="rect">
                  <a:avLst/>
                </a:prstGeom>
              </p:spPr>
            </p:pic>
            <p:grpSp>
              <p:nvGrpSpPr>
                <p:cNvPr id="50" name="组合 49"/>
                <p:cNvGrpSpPr/>
                <p:nvPr/>
              </p:nvGrpSpPr>
              <p:grpSpPr>
                <a:xfrm>
                  <a:off x="8773874" y="3582684"/>
                  <a:ext cx="2810717" cy="1893720"/>
                  <a:chOff x="1057316" y="3252483"/>
                  <a:chExt cx="2810717" cy="1893720"/>
                </a:xfrm>
              </p:grpSpPr>
              <p:sp>
                <p:nvSpPr>
                  <p:cNvPr id="51" name="文本框 50"/>
                  <p:cNvSpPr txBox="1"/>
                  <p:nvPr/>
                </p:nvSpPr>
                <p:spPr>
                  <a:xfrm>
                    <a:off x="1250959" y="3252483"/>
                    <a:ext cx="2118223" cy="523266"/>
                  </a:xfrm>
                  <a:prstGeom prst="rect">
                    <a:avLst/>
                  </a:prstGeom>
                  <a:noFill/>
                </p:spPr>
                <p:txBody>
                  <a:bodyPr wrap="square" rtlCol="0">
                    <a:spAutoFit/>
                  </a:bodyPr>
                  <a:lstStyle/>
                  <a:p>
                    <a:pPr algn="ctr"/>
                    <a:r>
                      <a:rPr lang="zh-CN" altLang="en-US" sz="2800" dirty="0">
                        <a:solidFill>
                          <a:srgbClr val="FCFBFC"/>
                        </a:solidFill>
                        <a:cs typeface="+mn-ea"/>
                        <a:sym typeface="+mn-lt"/>
                      </a:rPr>
                      <a:t>振动监测</a:t>
                    </a:r>
                  </a:p>
                </p:txBody>
              </p:sp>
              <p:sp>
                <p:nvSpPr>
                  <p:cNvPr id="52" name="文本框 51"/>
                  <p:cNvSpPr txBox="1"/>
                  <p:nvPr/>
                </p:nvSpPr>
                <p:spPr>
                  <a:xfrm>
                    <a:off x="1057316" y="4272426"/>
                    <a:ext cx="2810717" cy="873777"/>
                  </a:xfrm>
                  <a:prstGeom prst="rect">
                    <a:avLst/>
                  </a:prstGeom>
                  <a:noFill/>
                </p:spPr>
                <p:txBody>
                  <a:bodyPr wrap="square" rtlCol="0">
                    <a:spAutoFit/>
                  </a:bodyPr>
                  <a:lstStyle/>
                  <a:p>
                    <a:pPr algn="ctr">
                      <a:lnSpc>
                        <a:spcPct val="150000"/>
                      </a:lnSpc>
                    </a:pPr>
                    <a:r>
                      <a:rPr lang="zh-CN" altLang="en-US" dirty="0">
                        <a:solidFill>
                          <a:srgbClr val="FCFBFC"/>
                        </a:solidFill>
                        <a:cs typeface="+mn-ea"/>
                        <a:sym typeface="+mn-lt"/>
                      </a:rPr>
                      <a:t>仅能间接反映结构状态，无法直接测量应力</a:t>
                    </a:r>
                  </a:p>
                </p:txBody>
              </p:sp>
              <p:cxnSp>
                <p:nvCxnSpPr>
                  <p:cNvPr id="53" name="直接连接符 52"/>
                  <p:cNvCxnSpPr/>
                  <p:nvPr/>
                </p:nvCxnSpPr>
                <p:spPr>
                  <a:xfrm>
                    <a:off x="1981555" y="4024087"/>
                    <a:ext cx="648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2959" y="493484"/>
            <a:ext cx="8006080" cy="768350"/>
          </a:xfrm>
          <a:prstGeom prst="rect">
            <a:avLst/>
          </a:prstGeom>
          <a:noFill/>
        </p:spPr>
        <p:txBody>
          <a:bodyPr wrap="none" rtlCol="0">
            <a:spAutoFit/>
          </a:bodyPr>
          <a:lstStyle/>
          <a:p>
            <a:pPr algn="ctr"/>
            <a:r>
              <a:rPr lang="zh-CN" altLang="en-US" sz="4400" b="1" dirty="0">
                <a:solidFill>
                  <a:srgbClr val="57658E"/>
                </a:solidFill>
                <a:cs typeface="+mn-ea"/>
                <a:sym typeface="+mn-lt"/>
              </a:rPr>
              <a:t>半导体应变片技术的机遇与挑战</a:t>
            </a:r>
          </a:p>
        </p:txBody>
      </p:sp>
      <p:sp>
        <p:nvSpPr>
          <p:cNvPr id="19" name="矩形 18"/>
          <p:cNvSpPr/>
          <p:nvPr>
            <p:custDataLst>
              <p:tags r:id="rId1"/>
            </p:custDataLst>
          </p:nvPr>
        </p:nvSpPr>
        <p:spPr>
          <a:xfrm>
            <a:off x="996669" y="2809702"/>
            <a:ext cx="2875783" cy="2351793"/>
          </a:xfrm>
          <a:prstGeom prst="rect">
            <a:avLst/>
          </a:prstGeom>
          <a:solidFill>
            <a:srgbClr val="57658E"/>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2214" tIns="142214" rIns="142214" bIns="650483" numCol="1" spcCol="1270" anchor="t" anchorCtr="0">
            <a:noAutofit/>
          </a:bodyPr>
          <a:lstStyle/>
          <a:p>
            <a:pPr marL="285750" lvl="1" indent="-285750" algn="l" defTabSz="2044700">
              <a:lnSpc>
                <a:spcPct val="90000"/>
              </a:lnSpc>
              <a:spcBef>
                <a:spcPct val="0"/>
              </a:spcBef>
              <a:spcAft>
                <a:spcPct val="15000"/>
              </a:spcAft>
              <a:buChar char="•"/>
            </a:pPr>
            <a:endParaRPr lang="zh-CN" altLang="en-US" sz="4600" kern="1200">
              <a:cs typeface="+mn-ea"/>
              <a:sym typeface="+mn-lt"/>
            </a:endParaRPr>
          </a:p>
          <a:p>
            <a:pPr marL="285750" lvl="1" indent="-285750" algn="l" defTabSz="2044700">
              <a:lnSpc>
                <a:spcPct val="90000"/>
              </a:lnSpc>
              <a:spcBef>
                <a:spcPct val="0"/>
              </a:spcBef>
              <a:spcAft>
                <a:spcPct val="15000"/>
              </a:spcAft>
              <a:buChar char="•"/>
            </a:pPr>
            <a:endParaRPr lang="zh-CN" altLang="en-US" sz="4600" kern="1200">
              <a:cs typeface="+mn-ea"/>
              <a:sym typeface="+mn-lt"/>
            </a:endParaRPr>
          </a:p>
        </p:txBody>
      </p:sp>
      <p:sp>
        <p:nvSpPr>
          <p:cNvPr id="20" name="矩形: 圆角 19"/>
          <p:cNvSpPr/>
          <p:nvPr>
            <p:custDataLst>
              <p:tags r:id="rId2"/>
            </p:custDataLst>
          </p:nvPr>
        </p:nvSpPr>
        <p:spPr>
          <a:xfrm>
            <a:off x="1395754" y="4823862"/>
            <a:ext cx="2257415" cy="640005"/>
          </a:xfrm>
          <a:prstGeom prst="roundRect">
            <a:avLst>
              <a:gd name="adj" fmla="val 50000"/>
            </a:avLst>
          </a:prstGeom>
          <a:solidFill>
            <a:srgbClr val="E9DAC6"/>
          </a:solidFill>
          <a:ln w="5080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6928" tIns="94543" rIns="126928" bIns="94543" numCol="1" spcCol="1270" anchor="ctr" anchorCtr="0">
            <a:noAutofit/>
          </a:bodyPr>
          <a:lstStyle/>
          <a:p>
            <a:pPr marL="0" lvl="0" indent="0" algn="ctr" defTabSz="2266950">
              <a:lnSpc>
                <a:spcPct val="90000"/>
              </a:lnSpc>
              <a:spcBef>
                <a:spcPct val="0"/>
              </a:spcBef>
              <a:spcAft>
                <a:spcPct val="35000"/>
              </a:spcAft>
              <a:buNone/>
            </a:pPr>
            <a:r>
              <a:rPr lang="zh-CN" altLang="en-US" sz="2400" kern="1200">
                <a:solidFill>
                  <a:srgbClr val="FCFBFC"/>
                </a:solidFill>
                <a:cs typeface="+mn-ea"/>
                <a:sym typeface="+mn-lt"/>
              </a:rPr>
              <a:t>环境适应性</a:t>
            </a:r>
          </a:p>
        </p:txBody>
      </p:sp>
      <p:sp>
        <p:nvSpPr>
          <p:cNvPr id="21" name="矩形 20"/>
          <p:cNvSpPr/>
          <p:nvPr>
            <p:custDataLst>
              <p:tags r:id="rId3"/>
            </p:custDataLst>
          </p:nvPr>
        </p:nvSpPr>
        <p:spPr>
          <a:xfrm>
            <a:off x="4502379" y="2809702"/>
            <a:ext cx="3083560" cy="2334163"/>
          </a:xfrm>
          <a:prstGeom prst="rect">
            <a:avLst/>
          </a:prstGeom>
          <a:solidFill>
            <a:srgbClr val="57658E"/>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2214" tIns="650483" rIns="142214" bIns="142214" numCol="1" spcCol="1270" anchor="t" anchorCtr="0">
            <a:noAutofit/>
          </a:bodyPr>
          <a:lstStyle/>
          <a:p>
            <a:pPr marL="285750" lvl="1" indent="-285750" algn="l" defTabSz="2044700">
              <a:lnSpc>
                <a:spcPct val="90000"/>
              </a:lnSpc>
              <a:spcBef>
                <a:spcPct val="0"/>
              </a:spcBef>
              <a:spcAft>
                <a:spcPct val="15000"/>
              </a:spcAft>
              <a:buChar char="•"/>
            </a:pPr>
            <a:endParaRPr lang="zh-CN" altLang="en-US" sz="4600" kern="1200">
              <a:cs typeface="+mn-ea"/>
              <a:sym typeface="+mn-lt"/>
            </a:endParaRPr>
          </a:p>
          <a:p>
            <a:pPr marL="285750" lvl="1" indent="-285750" algn="l" defTabSz="2044700">
              <a:lnSpc>
                <a:spcPct val="90000"/>
              </a:lnSpc>
              <a:spcBef>
                <a:spcPct val="0"/>
              </a:spcBef>
              <a:spcAft>
                <a:spcPct val="15000"/>
              </a:spcAft>
              <a:buChar char="•"/>
            </a:pPr>
            <a:endParaRPr lang="zh-CN" altLang="en-US" sz="4600" kern="1200">
              <a:cs typeface="+mn-ea"/>
              <a:sym typeface="+mn-lt"/>
            </a:endParaRPr>
          </a:p>
        </p:txBody>
      </p:sp>
      <p:sp>
        <p:nvSpPr>
          <p:cNvPr id="22" name="箭头: 环形 21"/>
          <p:cNvSpPr/>
          <p:nvPr>
            <p:custDataLst>
              <p:tags r:id="rId4"/>
            </p:custDataLst>
          </p:nvPr>
        </p:nvSpPr>
        <p:spPr>
          <a:xfrm>
            <a:off x="6314237" y="1549540"/>
            <a:ext cx="3357025" cy="3357025"/>
          </a:xfrm>
          <a:prstGeom prst="circularArrow">
            <a:avLst>
              <a:gd name="adj1" fmla="val 673"/>
              <a:gd name="adj2" fmla="val 273786"/>
              <a:gd name="adj3" fmla="val 20022896"/>
              <a:gd name="adj4" fmla="val 12575511"/>
              <a:gd name="adj5" fmla="val 2650"/>
            </a:avLst>
          </a:prstGeom>
          <a:solidFill>
            <a:srgbClr val="57658E"/>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cs typeface="+mn-ea"/>
              <a:sym typeface="+mn-lt"/>
            </a:endParaRPr>
          </a:p>
        </p:txBody>
      </p:sp>
      <p:sp>
        <p:nvSpPr>
          <p:cNvPr id="23" name="矩形 22"/>
          <p:cNvSpPr/>
          <p:nvPr>
            <p:custDataLst>
              <p:tags r:id="rId5"/>
            </p:custDataLst>
          </p:nvPr>
        </p:nvSpPr>
        <p:spPr>
          <a:xfrm>
            <a:off x="8060919" y="2827525"/>
            <a:ext cx="3083560" cy="2334163"/>
          </a:xfrm>
          <a:prstGeom prst="rect">
            <a:avLst/>
          </a:prstGeom>
          <a:solidFill>
            <a:srgbClr val="57658E"/>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2214" tIns="142214" rIns="142214" bIns="650483" numCol="1" spcCol="1270" anchor="t" anchorCtr="0">
            <a:noAutofit/>
          </a:bodyPr>
          <a:lstStyle/>
          <a:p>
            <a:pPr marL="285750" lvl="1" indent="-285750" algn="l" defTabSz="2044700">
              <a:lnSpc>
                <a:spcPct val="90000"/>
              </a:lnSpc>
              <a:spcBef>
                <a:spcPct val="0"/>
              </a:spcBef>
              <a:spcAft>
                <a:spcPct val="15000"/>
              </a:spcAft>
              <a:buChar char="•"/>
            </a:pPr>
            <a:endParaRPr lang="zh-CN" altLang="en-US" sz="4600" kern="1200" dirty="0">
              <a:cs typeface="+mn-ea"/>
              <a:sym typeface="+mn-lt"/>
            </a:endParaRPr>
          </a:p>
          <a:p>
            <a:pPr marL="285750" lvl="1" indent="-285750" algn="l" defTabSz="2044700">
              <a:lnSpc>
                <a:spcPct val="90000"/>
              </a:lnSpc>
              <a:spcBef>
                <a:spcPct val="0"/>
              </a:spcBef>
              <a:spcAft>
                <a:spcPct val="15000"/>
              </a:spcAft>
              <a:buChar char="•"/>
            </a:pPr>
            <a:endParaRPr lang="zh-CN" altLang="en-US" sz="4600" kern="1200" dirty="0">
              <a:cs typeface="+mn-ea"/>
              <a:sym typeface="+mn-lt"/>
            </a:endParaRPr>
          </a:p>
        </p:txBody>
      </p:sp>
      <p:sp>
        <p:nvSpPr>
          <p:cNvPr id="24" name="矩形: 圆角 23"/>
          <p:cNvSpPr/>
          <p:nvPr>
            <p:custDataLst>
              <p:tags r:id="rId6"/>
            </p:custDataLst>
          </p:nvPr>
        </p:nvSpPr>
        <p:spPr>
          <a:xfrm>
            <a:off x="8538831" y="4799004"/>
            <a:ext cx="2257415" cy="640005"/>
          </a:xfrm>
          <a:prstGeom prst="roundRect">
            <a:avLst>
              <a:gd name="adj" fmla="val 50000"/>
            </a:avLst>
          </a:prstGeom>
          <a:solidFill>
            <a:srgbClr val="E9DAC6"/>
          </a:solidFill>
          <a:ln w="5080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6928" tIns="94543" rIns="126928" bIns="94543" numCol="1" spcCol="1270" anchor="ctr" anchorCtr="0">
            <a:noAutofit/>
          </a:bodyPr>
          <a:lstStyle/>
          <a:p>
            <a:pPr marL="0" lvl="0" indent="0" algn="ctr" defTabSz="2266950">
              <a:lnSpc>
                <a:spcPct val="90000"/>
              </a:lnSpc>
              <a:spcBef>
                <a:spcPct val="0"/>
              </a:spcBef>
              <a:spcAft>
                <a:spcPct val="35000"/>
              </a:spcAft>
              <a:buNone/>
            </a:pPr>
            <a:r>
              <a:rPr lang="zh-CN" altLang="en-US" sz="2400" kern="1200">
                <a:solidFill>
                  <a:srgbClr val="FCFBFC"/>
                </a:solidFill>
                <a:cs typeface="+mn-ea"/>
                <a:sym typeface="+mn-lt"/>
              </a:rPr>
              <a:t>智能化需求</a:t>
            </a:r>
          </a:p>
        </p:txBody>
      </p:sp>
      <p:sp>
        <p:nvSpPr>
          <p:cNvPr id="25" name="矩形: 圆角 24"/>
          <p:cNvSpPr/>
          <p:nvPr>
            <p:custDataLst>
              <p:tags r:id="rId7"/>
            </p:custDataLst>
          </p:nvPr>
        </p:nvSpPr>
        <p:spPr>
          <a:xfrm>
            <a:off x="4965833" y="2588048"/>
            <a:ext cx="2257415" cy="640005"/>
          </a:xfrm>
          <a:prstGeom prst="roundRect">
            <a:avLst>
              <a:gd name="adj" fmla="val 50000"/>
            </a:avLst>
          </a:prstGeom>
          <a:solidFill>
            <a:srgbClr val="E9DAC6"/>
          </a:solidFill>
          <a:ln w="5080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6928" tIns="94543" rIns="126928" bIns="94543" numCol="1" spcCol="1270" anchor="ctr" anchorCtr="0">
            <a:noAutofit/>
          </a:bodyPr>
          <a:lstStyle/>
          <a:p>
            <a:pPr marL="0" lvl="0" indent="0" algn="ctr" defTabSz="2266950">
              <a:lnSpc>
                <a:spcPct val="90000"/>
              </a:lnSpc>
              <a:spcBef>
                <a:spcPct val="0"/>
              </a:spcBef>
              <a:spcAft>
                <a:spcPct val="35000"/>
              </a:spcAft>
              <a:buNone/>
            </a:pPr>
            <a:r>
              <a:rPr lang="zh-CN" altLang="en-US" sz="2400" kern="1200" dirty="0">
                <a:solidFill>
                  <a:srgbClr val="FCFBFC"/>
                </a:solidFill>
                <a:cs typeface="+mn-ea"/>
                <a:sym typeface="+mn-lt"/>
              </a:rPr>
              <a:t>工程适用性</a:t>
            </a:r>
            <a:endParaRPr lang="en-US" altLang="zh-CN" sz="2400" kern="1200" dirty="0">
              <a:solidFill>
                <a:srgbClr val="FCFBFC"/>
              </a:solidFill>
              <a:cs typeface="+mn-ea"/>
              <a:sym typeface="+mn-lt"/>
            </a:endParaRPr>
          </a:p>
        </p:txBody>
      </p:sp>
      <p:sp>
        <p:nvSpPr>
          <p:cNvPr id="26" name="箭头: 环形 25"/>
          <p:cNvSpPr/>
          <p:nvPr>
            <p:custDataLst>
              <p:tags r:id="rId8"/>
            </p:custDataLst>
          </p:nvPr>
        </p:nvSpPr>
        <p:spPr>
          <a:xfrm flipV="1">
            <a:off x="2816197" y="3074854"/>
            <a:ext cx="3357025" cy="3357025"/>
          </a:xfrm>
          <a:prstGeom prst="circularArrow">
            <a:avLst>
              <a:gd name="adj1" fmla="val 673"/>
              <a:gd name="adj2" fmla="val 273786"/>
              <a:gd name="adj3" fmla="val 20022896"/>
              <a:gd name="adj4" fmla="val 12575511"/>
              <a:gd name="adj5" fmla="val 2650"/>
            </a:avLst>
          </a:prstGeom>
          <a:solidFill>
            <a:srgbClr val="57658E"/>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cs typeface="+mn-ea"/>
              <a:sym typeface="+mn-lt"/>
            </a:endParaRPr>
          </a:p>
        </p:txBody>
      </p:sp>
      <p:sp>
        <p:nvSpPr>
          <p:cNvPr id="27" name="文本框 26"/>
          <p:cNvSpPr txBox="1"/>
          <p:nvPr>
            <p:custDataLst>
              <p:tags r:id="rId9"/>
            </p:custDataLst>
          </p:nvPr>
        </p:nvSpPr>
        <p:spPr>
          <a:xfrm>
            <a:off x="1357959" y="2960465"/>
            <a:ext cx="2218367" cy="1704697"/>
          </a:xfrm>
          <a:prstGeom prst="rect">
            <a:avLst/>
          </a:prstGeom>
          <a:noFill/>
        </p:spPr>
        <p:txBody>
          <a:bodyPr wrap="square" rtlCol="0">
            <a:spAutoFit/>
          </a:bodyPr>
          <a:lstStyle/>
          <a:p>
            <a:pPr algn="ctr">
              <a:lnSpc>
                <a:spcPct val="150000"/>
              </a:lnSpc>
            </a:pPr>
            <a:r>
              <a:rPr lang="zh-CN" altLang="en-US" dirty="0">
                <a:solidFill>
                  <a:srgbClr val="FCFBFC"/>
                </a:solidFill>
                <a:cs typeface="+mn-ea"/>
                <a:sym typeface="+mn-lt"/>
              </a:rPr>
              <a:t>需解决野外环境（如极端温度、湿度、电磁干扰）下的长期稳定性问题</a:t>
            </a:r>
          </a:p>
        </p:txBody>
      </p:sp>
      <p:sp>
        <p:nvSpPr>
          <p:cNvPr id="28" name="文本框 27"/>
          <p:cNvSpPr txBox="1"/>
          <p:nvPr>
            <p:custDataLst>
              <p:tags r:id="rId10"/>
            </p:custDataLst>
          </p:nvPr>
        </p:nvSpPr>
        <p:spPr>
          <a:xfrm>
            <a:off x="5021101" y="3458915"/>
            <a:ext cx="2146880" cy="1289199"/>
          </a:xfrm>
          <a:prstGeom prst="rect">
            <a:avLst/>
          </a:prstGeom>
          <a:noFill/>
        </p:spPr>
        <p:txBody>
          <a:bodyPr wrap="square" rtlCol="0">
            <a:spAutoFit/>
          </a:bodyPr>
          <a:lstStyle/>
          <a:p>
            <a:pPr algn="ctr">
              <a:lnSpc>
                <a:spcPct val="150000"/>
              </a:lnSpc>
            </a:pPr>
            <a:r>
              <a:rPr lang="zh-CN" altLang="en-US" dirty="0">
                <a:solidFill>
                  <a:srgbClr val="FCFBFC"/>
                </a:solidFill>
                <a:cs typeface="+mn-ea"/>
                <a:sym typeface="+mn-lt"/>
              </a:rPr>
              <a:t>需开发适用于输电线路的不停电安装与校准技术</a:t>
            </a:r>
          </a:p>
        </p:txBody>
      </p:sp>
      <p:sp>
        <p:nvSpPr>
          <p:cNvPr id="29" name="文本框 28"/>
          <p:cNvSpPr txBox="1"/>
          <p:nvPr>
            <p:custDataLst>
              <p:tags r:id="rId11"/>
            </p:custDataLst>
          </p:nvPr>
        </p:nvSpPr>
        <p:spPr>
          <a:xfrm>
            <a:off x="8376336" y="3173569"/>
            <a:ext cx="2582404" cy="1289199"/>
          </a:xfrm>
          <a:prstGeom prst="rect">
            <a:avLst/>
          </a:prstGeom>
          <a:noFill/>
        </p:spPr>
        <p:txBody>
          <a:bodyPr wrap="square" rtlCol="0">
            <a:spAutoFit/>
          </a:bodyPr>
          <a:lstStyle/>
          <a:p>
            <a:pPr algn="ctr">
              <a:lnSpc>
                <a:spcPct val="150000"/>
              </a:lnSpc>
            </a:pPr>
            <a:r>
              <a:rPr lang="zh-CN" altLang="en-US" dirty="0">
                <a:solidFill>
                  <a:srgbClr val="FCFBFC"/>
                </a:solidFill>
                <a:cs typeface="+mn-ea"/>
                <a:sym typeface="+mn-lt"/>
              </a:rPr>
              <a:t>需结合物联网和边缘计算，实现数据实时传输与智能预警</a:t>
            </a:r>
          </a:p>
        </p:txBody>
      </p:sp>
      <p:cxnSp>
        <p:nvCxnSpPr>
          <p:cNvPr id="30" name="直接连接符 29"/>
          <p:cNvCxnSpPr/>
          <p:nvPr/>
        </p:nvCxnSpPr>
        <p:spPr>
          <a:xfrm>
            <a:off x="5664000" y="1353969"/>
            <a:ext cx="864000" cy="0"/>
          </a:xfrm>
          <a:prstGeom prst="line">
            <a:avLst/>
          </a:prstGeom>
          <a:ln w="88900" cap="rnd">
            <a:solidFill>
              <a:srgbClr val="E9DAC6"/>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554015" y="2113643"/>
            <a:ext cx="5070000" cy="2757715"/>
            <a:chOff x="3561000" y="1785257"/>
            <a:chExt cx="5070000" cy="2757715"/>
          </a:xfrm>
        </p:grpSpPr>
        <p:sp>
          <p:nvSpPr>
            <p:cNvPr id="7" name="椭圆 6"/>
            <p:cNvSpPr/>
            <p:nvPr/>
          </p:nvSpPr>
          <p:spPr>
            <a:xfrm>
              <a:off x="5523152" y="1785257"/>
              <a:ext cx="1145697" cy="1145697"/>
            </a:xfrm>
            <a:prstGeom prst="ellipse">
              <a:avLst/>
            </a:prstGeom>
            <a:solidFill>
              <a:srgbClr val="57658E"/>
            </a:solidFill>
            <a:ln w="31750">
              <a:solidFill>
                <a:srgbClr val="FBFB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solidFill>
                    <a:srgbClr val="FCFBFC"/>
                  </a:solidFill>
                  <a:cs typeface="+mn-ea"/>
                  <a:sym typeface="+mn-lt"/>
                </a:rPr>
                <a:t>03</a:t>
              </a:r>
              <a:endParaRPr lang="zh-CN" altLang="en-US" sz="4000" dirty="0">
                <a:solidFill>
                  <a:srgbClr val="FCFBFC"/>
                </a:solidFill>
                <a:cs typeface="+mn-ea"/>
                <a:sym typeface="+mn-lt"/>
              </a:endParaRPr>
            </a:p>
          </p:txBody>
        </p:sp>
        <p:sp>
          <p:nvSpPr>
            <p:cNvPr id="8" name="文本框 7"/>
            <p:cNvSpPr txBox="1"/>
            <p:nvPr/>
          </p:nvSpPr>
          <p:spPr>
            <a:xfrm>
              <a:off x="5941060" y="3100585"/>
              <a:ext cx="309880" cy="829945"/>
            </a:xfrm>
            <a:prstGeom prst="rect">
              <a:avLst/>
            </a:prstGeom>
            <a:noFill/>
          </p:spPr>
          <p:txBody>
            <a:bodyPr wrap="none" rtlCol="0">
              <a:spAutoFit/>
            </a:bodyPr>
            <a:lstStyle/>
            <a:p>
              <a:pPr algn="ctr"/>
              <a:endParaRPr lang="zh-CN" altLang="en-US" sz="4800">
                <a:solidFill>
                  <a:srgbClr val="57658E"/>
                </a:solidFill>
                <a:cs typeface="+mn-ea"/>
                <a:sym typeface="+mn-lt"/>
              </a:endParaRPr>
            </a:p>
          </p:txBody>
        </p:sp>
        <p:sp>
          <p:nvSpPr>
            <p:cNvPr id="9" name="文本框 8"/>
            <p:cNvSpPr txBox="1"/>
            <p:nvPr/>
          </p:nvSpPr>
          <p:spPr>
            <a:xfrm>
              <a:off x="3561000" y="3908270"/>
              <a:ext cx="5070000" cy="506730"/>
            </a:xfrm>
            <a:prstGeom prst="rect">
              <a:avLst/>
            </a:prstGeom>
            <a:noFill/>
          </p:spPr>
          <p:txBody>
            <a:bodyPr wrap="square" rtlCol="0">
              <a:spAutoFit/>
            </a:bodyPr>
            <a:lstStyle/>
            <a:p>
              <a:pPr algn="ctr">
                <a:lnSpc>
                  <a:spcPct val="150000"/>
                </a:lnSpc>
              </a:pPr>
              <a:endParaRPr lang="en-US" altLang="zh-CN">
                <a:solidFill>
                  <a:srgbClr val="57658E"/>
                </a:solidFill>
                <a:cs typeface="+mn-ea"/>
                <a:sym typeface="+mn-lt"/>
              </a:endParaRPr>
            </a:p>
          </p:txBody>
        </p:sp>
        <p:cxnSp>
          <p:nvCxnSpPr>
            <p:cNvPr id="11" name="直接连接符 10"/>
            <p:cNvCxnSpPr/>
            <p:nvPr/>
          </p:nvCxnSpPr>
          <p:spPr>
            <a:xfrm>
              <a:off x="5631543" y="4542972"/>
              <a:ext cx="928914" cy="0"/>
            </a:xfrm>
            <a:prstGeom prst="line">
              <a:avLst/>
            </a:prstGeom>
            <a:ln w="127000" cap="rnd">
              <a:solidFill>
                <a:srgbClr val="E9DAC6"/>
              </a:solidFill>
              <a:round/>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29EA8E0B-9075-4BA7-AEBA-1B9A2067B0CF}"/>
              </a:ext>
            </a:extLst>
          </p:cNvPr>
          <p:cNvSpPr txBox="1"/>
          <p:nvPr/>
        </p:nvSpPr>
        <p:spPr>
          <a:xfrm>
            <a:off x="3746639" y="3682304"/>
            <a:ext cx="4698722" cy="769441"/>
          </a:xfrm>
          <a:prstGeom prst="rect">
            <a:avLst/>
          </a:prstGeom>
          <a:noFill/>
        </p:spPr>
        <p:txBody>
          <a:bodyPr wrap="none" rtlCol="0">
            <a:spAutoFit/>
          </a:bodyPr>
          <a:lstStyle/>
          <a:p>
            <a:r>
              <a:rPr lang="zh-CN" altLang="en-US" sz="4400" b="1" dirty="0">
                <a:solidFill>
                  <a:srgbClr val="57658E"/>
                </a:solidFill>
                <a:cs typeface="+mn-ea"/>
                <a:sym typeface="+mn-lt"/>
              </a:rPr>
              <a:t>监测系统方案设计</a:t>
            </a:r>
          </a:p>
        </p:txBody>
      </p:sp>
    </p:spTree>
    <p:extLst>
      <p:ext uri="{BB962C8B-B14F-4D97-AF65-F5344CB8AC3E}">
        <p14:creationId xmlns:p14="http://schemas.microsoft.com/office/powerpoint/2010/main" val="231792140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29EA8E0B-9075-4BA7-AEBA-1B9A2067B0CF}"/>
              </a:ext>
            </a:extLst>
          </p:cNvPr>
          <p:cNvSpPr txBox="1"/>
          <p:nvPr/>
        </p:nvSpPr>
        <p:spPr>
          <a:xfrm>
            <a:off x="5019288" y="1183717"/>
            <a:ext cx="2419252" cy="646331"/>
          </a:xfrm>
          <a:prstGeom prst="rect">
            <a:avLst/>
          </a:prstGeom>
          <a:noFill/>
        </p:spPr>
        <p:txBody>
          <a:bodyPr wrap="none" rtlCol="0">
            <a:spAutoFit/>
          </a:bodyPr>
          <a:lstStyle/>
          <a:p>
            <a:r>
              <a:rPr lang="en-US" altLang="zh-CN" sz="3600" b="1" dirty="0">
                <a:solidFill>
                  <a:srgbClr val="57658E"/>
                </a:solidFill>
                <a:cs typeface="+mn-ea"/>
                <a:sym typeface="+mn-lt"/>
              </a:rPr>
              <a:t>1.</a:t>
            </a:r>
            <a:r>
              <a:rPr lang="zh-CN" altLang="en-US" sz="3600" b="1" dirty="0">
                <a:solidFill>
                  <a:srgbClr val="57658E"/>
                </a:solidFill>
                <a:cs typeface="+mn-ea"/>
                <a:sym typeface="+mn-lt"/>
              </a:rPr>
              <a:t>总体架构</a:t>
            </a:r>
          </a:p>
        </p:txBody>
      </p:sp>
      <p:grpSp>
        <p:nvGrpSpPr>
          <p:cNvPr id="5" name="组合 4">
            <a:extLst>
              <a:ext uri="{FF2B5EF4-FFF2-40B4-BE49-F238E27FC236}">
                <a16:creationId xmlns:a16="http://schemas.microsoft.com/office/drawing/2014/main" id="{EF148FC9-C51C-4599-81E1-FF8A61833EA7}"/>
              </a:ext>
            </a:extLst>
          </p:cNvPr>
          <p:cNvGrpSpPr/>
          <p:nvPr/>
        </p:nvGrpSpPr>
        <p:grpSpPr>
          <a:xfrm>
            <a:off x="4132853" y="1307934"/>
            <a:ext cx="269839" cy="4640742"/>
            <a:chOff x="2360815" y="1349497"/>
            <a:chExt cx="269839" cy="4640742"/>
          </a:xfrm>
        </p:grpSpPr>
        <p:cxnSp>
          <p:nvCxnSpPr>
            <p:cNvPr id="3" name="直接连接符 2">
              <a:extLst>
                <a:ext uri="{FF2B5EF4-FFF2-40B4-BE49-F238E27FC236}">
                  <a16:creationId xmlns:a16="http://schemas.microsoft.com/office/drawing/2014/main" id="{A8AFC3B3-CDAE-49FE-AE9E-D26E84462338}"/>
                </a:ext>
              </a:extLst>
            </p:cNvPr>
            <p:cNvCxnSpPr/>
            <p:nvPr/>
          </p:nvCxnSpPr>
          <p:spPr>
            <a:xfrm>
              <a:off x="2502131" y="1396538"/>
              <a:ext cx="0" cy="4497186"/>
            </a:xfrm>
            <a:prstGeom prst="line">
              <a:avLst/>
            </a:prstGeom>
            <a:ln w="28575">
              <a:solidFill>
                <a:srgbClr val="57658E"/>
              </a:solidFill>
            </a:ln>
          </p:spPr>
          <p:style>
            <a:lnRef idx="1">
              <a:schemeClr val="accent1"/>
            </a:lnRef>
            <a:fillRef idx="0">
              <a:schemeClr val="accent1"/>
            </a:fillRef>
            <a:effectRef idx="0">
              <a:schemeClr val="accent1"/>
            </a:effectRef>
            <a:fontRef idx="minor">
              <a:schemeClr val="tx1"/>
            </a:fontRef>
          </p:style>
        </p:cxnSp>
        <p:sp>
          <p:nvSpPr>
            <p:cNvPr id="4" name="椭圆 3">
              <a:extLst>
                <a:ext uri="{FF2B5EF4-FFF2-40B4-BE49-F238E27FC236}">
                  <a16:creationId xmlns:a16="http://schemas.microsoft.com/office/drawing/2014/main" id="{E954CF12-2C3E-4C52-8A11-D6F641EBD481}"/>
                </a:ext>
              </a:extLst>
            </p:cNvPr>
            <p:cNvSpPr/>
            <p:nvPr/>
          </p:nvSpPr>
          <p:spPr>
            <a:xfrm>
              <a:off x="2375524" y="1349497"/>
              <a:ext cx="253214" cy="249381"/>
            </a:xfrm>
            <a:prstGeom prst="ellipse">
              <a:avLst/>
            </a:prstGeom>
            <a:solidFill>
              <a:srgbClr val="5765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C28D6D5E-16B5-4BC9-9A13-EB7DF9BB1345}"/>
                </a:ext>
              </a:extLst>
            </p:cNvPr>
            <p:cNvSpPr/>
            <p:nvPr/>
          </p:nvSpPr>
          <p:spPr>
            <a:xfrm>
              <a:off x="2375524" y="2444684"/>
              <a:ext cx="253214" cy="249381"/>
            </a:xfrm>
            <a:prstGeom prst="ellipse">
              <a:avLst/>
            </a:prstGeom>
            <a:solidFill>
              <a:srgbClr val="5765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54B5FCF8-C1EF-461D-B3FA-775A710074E5}"/>
                </a:ext>
              </a:extLst>
            </p:cNvPr>
            <p:cNvSpPr/>
            <p:nvPr/>
          </p:nvSpPr>
          <p:spPr>
            <a:xfrm>
              <a:off x="2360815" y="4578020"/>
              <a:ext cx="253214" cy="249381"/>
            </a:xfrm>
            <a:prstGeom prst="ellipse">
              <a:avLst/>
            </a:prstGeom>
            <a:solidFill>
              <a:srgbClr val="5765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745349E6-D42E-4909-A4B3-4EA048887BD5}"/>
                </a:ext>
              </a:extLst>
            </p:cNvPr>
            <p:cNvSpPr/>
            <p:nvPr/>
          </p:nvSpPr>
          <p:spPr>
            <a:xfrm>
              <a:off x="2360815" y="5740858"/>
              <a:ext cx="253214" cy="249381"/>
            </a:xfrm>
            <a:prstGeom prst="ellipse">
              <a:avLst/>
            </a:prstGeom>
            <a:solidFill>
              <a:srgbClr val="5765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59AB289-5FE5-49C4-AD27-9B7A277C5EAB}"/>
                </a:ext>
              </a:extLst>
            </p:cNvPr>
            <p:cNvSpPr/>
            <p:nvPr/>
          </p:nvSpPr>
          <p:spPr>
            <a:xfrm>
              <a:off x="2377440" y="3539872"/>
              <a:ext cx="253214" cy="249381"/>
            </a:xfrm>
            <a:prstGeom prst="ellipse">
              <a:avLst/>
            </a:prstGeom>
            <a:solidFill>
              <a:srgbClr val="57658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文本框 16">
            <a:extLst>
              <a:ext uri="{FF2B5EF4-FFF2-40B4-BE49-F238E27FC236}">
                <a16:creationId xmlns:a16="http://schemas.microsoft.com/office/drawing/2014/main" id="{2BF97A28-7E56-4220-8F26-AC7400748898}"/>
              </a:ext>
            </a:extLst>
          </p:cNvPr>
          <p:cNvSpPr txBox="1"/>
          <p:nvPr/>
        </p:nvSpPr>
        <p:spPr>
          <a:xfrm>
            <a:off x="5019288" y="2204645"/>
            <a:ext cx="3342582" cy="646331"/>
          </a:xfrm>
          <a:prstGeom prst="rect">
            <a:avLst/>
          </a:prstGeom>
          <a:noFill/>
        </p:spPr>
        <p:txBody>
          <a:bodyPr wrap="none" rtlCol="0">
            <a:spAutoFit/>
          </a:bodyPr>
          <a:lstStyle/>
          <a:p>
            <a:r>
              <a:rPr lang="en-US" altLang="zh-CN" sz="3600" b="1" dirty="0">
                <a:solidFill>
                  <a:srgbClr val="57658E"/>
                </a:solidFill>
                <a:cs typeface="+mn-ea"/>
                <a:sym typeface="+mn-lt"/>
              </a:rPr>
              <a:t>2.</a:t>
            </a:r>
            <a:r>
              <a:rPr lang="zh-CN" altLang="en-US" sz="3600" b="1" dirty="0">
                <a:solidFill>
                  <a:srgbClr val="57658E"/>
                </a:solidFill>
                <a:cs typeface="+mn-ea"/>
                <a:sym typeface="+mn-lt"/>
              </a:rPr>
              <a:t>电桥测量电路</a:t>
            </a:r>
          </a:p>
        </p:txBody>
      </p:sp>
      <p:sp>
        <p:nvSpPr>
          <p:cNvPr id="18" name="文本框 17">
            <a:extLst>
              <a:ext uri="{FF2B5EF4-FFF2-40B4-BE49-F238E27FC236}">
                <a16:creationId xmlns:a16="http://schemas.microsoft.com/office/drawing/2014/main" id="{452CD367-6118-4020-BB2E-B71507039D0F}"/>
              </a:ext>
            </a:extLst>
          </p:cNvPr>
          <p:cNvSpPr txBox="1"/>
          <p:nvPr/>
        </p:nvSpPr>
        <p:spPr>
          <a:xfrm>
            <a:off x="5019287" y="3299833"/>
            <a:ext cx="3342582" cy="646331"/>
          </a:xfrm>
          <a:prstGeom prst="rect">
            <a:avLst/>
          </a:prstGeom>
          <a:noFill/>
        </p:spPr>
        <p:txBody>
          <a:bodyPr wrap="none" rtlCol="0">
            <a:spAutoFit/>
          </a:bodyPr>
          <a:lstStyle/>
          <a:p>
            <a:r>
              <a:rPr lang="en-US" altLang="zh-CN" sz="3600" b="1" dirty="0">
                <a:solidFill>
                  <a:srgbClr val="57658E"/>
                </a:solidFill>
                <a:cs typeface="+mn-ea"/>
                <a:sym typeface="+mn-lt"/>
              </a:rPr>
              <a:t>3.</a:t>
            </a:r>
            <a:r>
              <a:rPr lang="zh-CN" altLang="en-US" sz="3600" b="1" dirty="0">
                <a:solidFill>
                  <a:srgbClr val="57658E"/>
                </a:solidFill>
                <a:cs typeface="+mn-ea"/>
                <a:sym typeface="+mn-lt"/>
              </a:rPr>
              <a:t>温度补偿电路</a:t>
            </a:r>
          </a:p>
        </p:txBody>
      </p:sp>
      <p:sp>
        <p:nvSpPr>
          <p:cNvPr id="19" name="文本框 18">
            <a:extLst>
              <a:ext uri="{FF2B5EF4-FFF2-40B4-BE49-F238E27FC236}">
                <a16:creationId xmlns:a16="http://schemas.microsoft.com/office/drawing/2014/main" id="{EE633A22-004A-4B51-92A2-A36E289AFA75}"/>
              </a:ext>
            </a:extLst>
          </p:cNvPr>
          <p:cNvSpPr txBox="1"/>
          <p:nvPr/>
        </p:nvSpPr>
        <p:spPr>
          <a:xfrm>
            <a:off x="5019287" y="4371287"/>
            <a:ext cx="3342582" cy="646331"/>
          </a:xfrm>
          <a:prstGeom prst="rect">
            <a:avLst/>
          </a:prstGeom>
          <a:noFill/>
        </p:spPr>
        <p:txBody>
          <a:bodyPr wrap="none" rtlCol="0">
            <a:spAutoFit/>
          </a:bodyPr>
          <a:lstStyle/>
          <a:p>
            <a:r>
              <a:rPr lang="en-US" altLang="zh-CN" sz="3600" b="1" dirty="0">
                <a:solidFill>
                  <a:srgbClr val="57658E"/>
                </a:solidFill>
                <a:cs typeface="+mn-ea"/>
                <a:sym typeface="+mn-lt"/>
              </a:rPr>
              <a:t>4.</a:t>
            </a:r>
            <a:r>
              <a:rPr lang="zh-CN" altLang="en-US" sz="3600" b="1" dirty="0">
                <a:solidFill>
                  <a:srgbClr val="57658E"/>
                </a:solidFill>
                <a:cs typeface="+mn-ea"/>
                <a:sym typeface="+mn-lt"/>
              </a:rPr>
              <a:t>通信方案设计</a:t>
            </a:r>
          </a:p>
        </p:txBody>
      </p:sp>
      <p:sp>
        <p:nvSpPr>
          <p:cNvPr id="20" name="文本框 19">
            <a:extLst>
              <a:ext uri="{FF2B5EF4-FFF2-40B4-BE49-F238E27FC236}">
                <a16:creationId xmlns:a16="http://schemas.microsoft.com/office/drawing/2014/main" id="{6D7CE6FC-588E-42C8-B3E4-F54CA80313BA}"/>
              </a:ext>
            </a:extLst>
          </p:cNvPr>
          <p:cNvSpPr txBox="1"/>
          <p:nvPr/>
        </p:nvSpPr>
        <p:spPr>
          <a:xfrm>
            <a:off x="5019288" y="5415949"/>
            <a:ext cx="2419252" cy="646331"/>
          </a:xfrm>
          <a:prstGeom prst="rect">
            <a:avLst/>
          </a:prstGeom>
          <a:noFill/>
        </p:spPr>
        <p:txBody>
          <a:bodyPr wrap="none" rtlCol="0">
            <a:spAutoFit/>
          </a:bodyPr>
          <a:lstStyle/>
          <a:p>
            <a:r>
              <a:rPr lang="en-US" altLang="zh-CN" sz="3600" b="1" dirty="0">
                <a:solidFill>
                  <a:srgbClr val="57658E"/>
                </a:solidFill>
                <a:cs typeface="+mn-ea"/>
                <a:sym typeface="+mn-lt"/>
              </a:rPr>
              <a:t>5.</a:t>
            </a:r>
            <a:r>
              <a:rPr lang="zh-CN" altLang="en-US" sz="3600" b="1" dirty="0">
                <a:solidFill>
                  <a:srgbClr val="57658E"/>
                </a:solidFill>
                <a:cs typeface="+mn-ea"/>
                <a:sym typeface="+mn-lt"/>
              </a:rPr>
              <a:t>电源设计</a:t>
            </a:r>
          </a:p>
        </p:txBody>
      </p:sp>
    </p:spTree>
    <p:extLst>
      <p:ext uri="{BB962C8B-B14F-4D97-AF65-F5344CB8AC3E}">
        <p14:creationId xmlns:p14="http://schemas.microsoft.com/office/powerpoint/2010/main" val="11970688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DF7F561D-0828-4479-92B1-A5A632B14BD2}"/>
              </a:ext>
            </a:extLst>
          </p:cNvPr>
          <p:cNvGrpSpPr/>
          <p:nvPr/>
        </p:nvGrpSpPr>
        <p:grpSpPr>
          <a:xfrm>
            <a:off x="6505517" y="1929908"/>
            <a:ext cx="4902200" cy="2203031"/>
            <a:chOff x="2482" y="2628"/>
            <a:chExt cx="7720" cy="2962"/>
          </a:xfrm>
        </p:grpSpPr>
        <p:sp>
          <p:nvSpPr>
            <p:cNvPr id="15" name="矩形 14">
              <a:extLst>
                <a:ext uri="{FF2B5EF4-FFF2-40B4-BE49-F238E27FC236}">
                  <a16:creationId xmlns:a16="http://schemas.microsoft.com/office/drawing/2014/main" id="{064CEA00-869F-43E9-99F7-A788CC17C9E6}"/>
                </a:ext>
              </a:extLst>
            </p:cNvPr>
            <p:cNvSpPr/>
            <p:nvPr>
              <p:custDataLst>
                <p:tags r:id="rId1"/>
              </p:custDataLst>
            </p:nvPr>
          </p:nvSpPr>
          <p:spPr>
            <a:xfrm>
              <a:off x="2482" y="2628"/>
              <a:ext cx="7720" cy="2962"/>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dirty="0">
                <a:solidFill>
                  <a:srgbClr val="FCFBFC"/>
                </a:solidFill>
                <a:cs typeface="+mn-ea"/>
                <a:sym typeface="+mn-lt"/>
              </a:endParaRPr>
            </a:p>
          </p:txBody>
        </p:sp>
        <p:sp>
          <p:nvSpPr>
            <p:cNvPr id="14" name="文本框 13">
              <a:extLst>
                <a:ext uri="{FF2B5EF4-FFF2-40B4-BE49-F238E27FC236}">
                  <a16:creationId xmlns:a16="http://schemas.microsoft.com/office/drawing/2014/main" id="{003C4DED-7396-4E1F-ACCB-C424331E78BD}"/>
                </a:ext>
              </a:extLst>
            </p:cNvPr>
            <p:cNvSpPr txBox="1"/>
            <p:nvPr/>
          </p:nvSpPr>
          <p:spPr>
            <a:xfrm>
              <a:off x="3060" y="2905"/>
              <a:ext cx="6826" cy="2549"/>
            </a:xfrm>
            <a:prstGeom prst="rect">
              <a:avLst/>
            </a:prstGeom>
            <a:noFill/>
          </p:spPr>
          <p:txBody>
            <a:bodyPr wrap="square" rtlCol="0">
              <a:spAutoFit/>
            </a:bodyPr>
            <a:lstStyle/>
            <a:p>
              <a:pPr>
                <a:lnSpc>
                  <a:spcPct val="150000"/>
                </a:lnSpc>
              </a:pPr>
              <a:r>
                <a:rPr lang="zh-CN" altLang="en-US" sz="1600" kern="100" dirty="0">
                  <a:solidFill>
                    <a:schemeClr val="bg1"/>
                  </a:solidFill>
                  <a:latin typeface="+mn-ea"/>
                  <a:cs typeface="Times New Roman" panose="02020603050405020304" pitchFamily="18" charset="0"/>
                </a:rPr>
                <a:t>基于半导体应变片的输电线路横担应力监测系统主要包括半导体应变式电阻传感器、应力检测单元电桥测量电路及温度补偿电路、放大及</a:t>
              </a:r>
              <a:r>
                <a:rPr lang="en-US" altLang="zh-CN" sz="1600" kern="100" dirty="0">
                  <a:solidFill>
                    <a:schemeClr val="bg1"/>
                  </a:solidFill>
                  <a:latin typeface="+mn-ea"/>
                  <a:cs typeface="Times New Roman" panose="02020603050405020304" pitchFamily="18" charset="0"/>
                </a:rPr>
                <a:t>V/F</a:t>
              </a:r>
              <a:r>
                <a:rPr lang="zh-CN" altLang="en-US" sz="1600" kern="100" dirty="0">
                  <a:solidFill>
                    <a:schemeClr val="bg1"/>
                  </a:solidFill>
                  <a:latin typeface="+mn-ea"/>
                  <a:cs typeface="Times New Roman" panose="02020603050405020304" pitchFamily="18" charset="0"/>
                </a:rPr>
                <a:t>电路、单片机、显示单元及供电电源六大部分。</a:t>
              </a:r>
              <a:endParaRPr lang="zh-CN" altLang="zh-CN" sz="1600" kern="100" dirty="0">
                <a:solidFill>
                  <a:schemeClr val="bg1"/>
                </a:solidFill>
                <a:latin typeface="+mn-ea"/>
                <a:cs typeface="Times New Roman" panose="02020603050405020304" pitchFamily="18" charset="0"/>
              </a:endParaRPr>
            </a:p>
          </p:txBody>
        </p:sp>
      </p:grpSp>
      <p:pic>
        <p:nvPicPr>
          <p:cNvPr id="3" name="图片 2">
            <a:extLst>
              <a:ext uri="{FF2B5EF4-FFF2-40B4-BE49-F238E27FC236}">
                <a16:creationId xmlns:a16="http://schemas.microsoft.com/office/drawing/2014/main" id="{35AE5122-E2BD-45FB-A853-A4FD71FE6C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9802" y="1048757"/>
            <a:ext cx="4902200" cy="5210537"/>
          </a:xfrm>
          <a:prstGeom prst="rect">
            <a:avLst/>
          </a:prstGeom>
        </p:spPr>
      </p:pic>
      <p:sp>
        <p:nvSpPr>
          <p:cNvPr id="9" name="文本框 8">
            <a:extLst>
              <a:ext uri="{FF2B5EF4-FFF2-40B4-BE49-F238E27FC236}">
                <a16:creationId xmlns:a16="http://schemas.microsoft.com/office/drawing/2014/main" id="{8C835D99-9C27-4A45-A4BA-56DE267524FB}"/>
              </a:ext>
            </a:extLst>
          </p:cNvPr>
          <p:cNvSpPr txBox="1"/>
          <p:nvPr/>
        </p:nvSpPr>
        <p:spPr>
          <a:xfrm>
            <a:off x="8024137" y="857400"/>
            <a:ext cx="2031326" cy="646331"/>
          </a:xfrm>
          <a:prstGeom prst="rect">
            <a:avLst/>
          </a:prstGeom>
          <a:noFill/>
        </p:spPr>
        <p:txBody>
          <a:bodyPr wrap="none" rtlCol="0">
            <a:spAutoFit/>
          </a:bodyPr>
          <a:lstStyle/>
          <a:p>
            <a:pPr algn="ctr"/>
            <a:r>
              <a:rPr lang="zh-CN" altLang="en-US" sz="3600" b="1" dirty="0">
                <a:solidFill>
                  <a:srgbClr val="57658E"/>
                </a:solidFill>
                <a:cs typeface="+mn-ea"/>
                <a:sym typeface="+mn-lt"/>
              </a:rPr>
              <a:t>总体框架</a:t>
            </a:r>
          </a:p>
        </p:txBody>
      </p:sp>
      <p:sp>
        <p:nvSpPr>
          <p:cNvPr id="10" name="文本框 9">
            <a:extLst>
              <a:ext uri="{FF2B5EF4-FFF2-40B4-BE49-F238E27FC236}">
                <a16:creationId xmlns:a16="http://schemas.microsoft.com/office/drawing/2014/main" id="{317235B0-4621-403F-A85A-058651CB3E32}"/>
              </a:ext>
            </a:extLst>
          </p:cNvPr>
          <p:cNvSpPr txBox="1"/>
          <p:nvPr/>
        </p:nvSpPr>
        <p:spPr>
          <a:xfrm>
            <a:off x="3163016" y="6350734"/>
            <a:ext cx="1415772" cy="338554"/>
          </a:xfrm>
          <a:prstGeom prst="rect">
            <a:avLst/>
          </a:prstGeom>
          <a:noFill/>
        </p:spPr>
        <p:txBody>
          <a:bodyPr wrap="none" rtlCol="0">
            <a:spAutoFit/>
          </a:bodyPr>
          <a:lstStyle/>
          <a:p>
            <a:r>
              <a:rPr lang="zh-CN" altLang="en-US" sz="1600" dirty="0"/>
              <a:t>系统总体框图</a:t>
            </a:r>
          </a:p>
        </p:txBody>
      </p:sp>
    </p:spTree>
    <p:extLst>
      <p:ext uri="{BB962C8B-B14F-4D97-AF65-F5344CB8AC3E}">
        <p14:creationId xmlns:p14="http://schemas.microsoft.com/office/powerpoint/2010/main" val="29853699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custDataLst>
              <p:tags r:id="rId1"/>
            </p:custDataLst>
          </p:nvPr>
        </p:nvGrpSpPr>
        <p:grpSpPr>
          <a:xfrm>
            <a:off x="955950" y="573174"/>
            <a:ext cx="4901884" cy="5711652"/>
            <a:chOff x="831259" y="2185154"/>
            <a:chExt cx="4901884" cy="4123573"/>
          </a:xfrm>
        </p:grpSpPr>
        <p:grpSp>
          <p:nvGrpSpPr>
            <p:cNvPr id="33" name="组合 32"/>
            <p:cNvGrpSpPr/>
            <p:nvPr/>
          </p:nvGrpSpPr>
          <p:grpSpPr>
            <a:xfrm>
              <a:off x="831259" y="2185154"/>
              <a:ext cx="4901884" cy="1953255"/>
              <a:chOff x="831259" y="2243210"/>
              <a:chExt cx="4901884" cy="1953255"/>
            </a:xfrm>
          </p:grpSpPr>
          <p:sp>
            <p:nvSpPr>
              <p:cNvPr id="8" name="矩形 7"/>
              <p:cNvSpPr/>
              <p:nvPr>
                <p:custDataLst>
                  <p:tags r:id="rId13"/>
                </p:custDataLst>
              </p:nvPr>
            </p:nvSpPr>
            <p:spPr>
              <a:xfrm>
                <a:off x="831259" y="2243210"/>
                <a:ext cx="4901884" cy="1953255"/>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p:grpSp>
            <p:nvGrpSpPr>
              <p:cNvPr id="9" name="组合 8"/>
              <p:cNvGrpSpPr/>
              <p:nvPr/>
            </p:nvGrpSpPr>
            <p:grpSpPr>
              <a:xfrm>
                <a:off x="1035562" y="2318473"/>
                <a:ext cx="4458607" cy="1491973"/>
                <a:chOff x="2668373" y="2016497"/>
                <a:chExt cx="4458607" cy="1491973"/>
              </a:xfrm>
            </p:grpSpPr>
            <p:sp>
              <p:nvSpPr>
                <p:cNvPr id="10" name="文本框 9"/>
                <p:cNvSpPr txBox="1"/>
                <p:nvPr>
                  <p:custDataLst>
                    <p:tags r:id="rId14"/>
                  </p:custDataLst>
                </p:nvPr>
              </p:nvSpPr>
              <p:spPr>
                <a:xfrm>
                  <a:off x="2668373" y="2016497"/>
                  <a:ext cx="2031325" cy="358584"/>
                </a:xfrm>
                <a:prstGeom prst="rect">
                  <a:avLst/>
                </a:prstGeom>
                <a:noFill/>
              </p:spPr>
              <p:txBody>
                <a:bodyPr wrap="none" rtlCol="0">
                  <a:spAutoFit/>
                </a:bodyPr>
                <a:lstStyle/>
                <a:p>
                  <a:pPr algn="l"/>
                  <a:r>
                    <a:rPr lang="zh-CN" altLang="en-US" sz="2400" b="1" dirty="0">
                      <a:solidFill>
                        <a:srgbClr val="FCFBFC"/>
                      </a:solidFill>
                      <a:cs typeface="+mn-ea"/>
                      <a:sym typeface="+mn-lt"/>
                    </a:rPr>
                    <a:t>半导体应变片</a:t>
                  </a:r>
                </a:p>
              </p:txBody>
            </p:sp>
            <p:sp>
              <p:nvSpPr>
                <p:cNvPr id="11" name="文本框 10"/>
                <p:cNvSpPr txBox="1"/>
                <p:nvPr>
                  <p:custDataLst>
                    <p:tags r:id="rId15"/>
                  </p:custDataLst>
                </p:nvPr>
              </p:nvSpPr>
              <p:spPr>
                <a:xfrm>
                  <a:off x="2813003" y="2610416"/>
                  <a:ext cx="4313977" cy="898054"/>
                </a:xfrm>
                <a:prstGeom prst="rect">
                  <a:avLst/>
                </a:prstGeom>
                <a:noFill/>
              </p:spPr>
              <p:txBody>
                <a:bodyPr wrap="square" rtlCol="0">
                  <a:spAutoFit/>
                </a:bodyPr>
                <a:lstStyle/>
                <a:p>
                  <a:pPr>
                    <a:lnSpc>
                      <a:spcPct val="150000"/>
                    </a:lnSpc>
                  </a:pPr>
                  <a:r>
                    <a:rPr lang="zh-CN" altLang="en-US" sz="1600" dirty="0">
                      <a:solidFill>
                        <a:srgbClr val="FCFBFC"/>
                      </a:solidFill>
                      <a:cs typeface="+mn-ea"/>
                      <a:sym typeface="+mn-lt"/>
                    </a:rPr>
                    <a:t>尺寸、横向效应、机械滞后都很小，灵敏系数极大，因而输出也大，可以不需要放大器直接与记录仪器连接，使得测量系统简化。</a:t>
                  </a:r>
                </a:p>
              </p:txBody>
            </p:sp>
            <p:cxnSp>
              <p:nvCxnSpPr>
                <p:cNvPr id="12" name="直接连接符 11"/>
                <p:cNvCxnSpPr/>
                <p:nvPr>
                  <p:custDataLst>
                    <p:tags r:id="rId16"/>
                  </p:custDataLst>
                </p:nvPr>
              </p:nvCxnSpPr>
              <p:spPr>
                <a:xfrm>
                  <a:off x="2813003" y="2504344"/>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nvGrpSpPr>
            <p:cNvPr id="34" name="组合 33"/>
            <p:cNvGrpSpPr/>
            <p:nvPr/>
          </p:nvGrpSpPr>
          <p:grpSpPr>
            <a:xfrm>
              <a:off x="831259" y="4338954"/>
              <a:ext cx="4901884" cy="1969773"/>
              <a:chOff x="831259" y="2053519"/>
              <a:chExt cx="4901884" cy="1969773"/>
            </a:xfrm>
          </p:grpSpPr>
          <p:sp>
            <p:nvSpPr>
              <p:cNvPr id="35" name="矩形 34"/>
              <p:cNvSpPr/>
              <p:nvPr>
                <p:custDataLst>
                  <p:tags r:id="rId9"/>
                </p:custDataLst>
              </p:nvPr>
            </p:nvSpPr>
            <p:spPr>
              <a:xfrm>
                <a:off x="831259" y="2053519"/>
                <a:ext cx="4901884" cy="1969773"/>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CFBFC"/>
                  </a:solidFill>
                  <a:cs typeface="+mn-ea"/>
                  <a:sym typeface="+mn-lt"/>
                </a:endParaRPr>
              </a:p>
            </p:txBody>
          </p:sp>
          <p:grpSp>
            <p:nvGrpSpPr>
              <p:cNvPr id="36" name="组合 35"/>
              <p:cNvGrpSpPr/>
              <p:nvPr/>
            </p:nvGrpSpPr>
            <p:grpSpPr>
              <a:xfrm>
                <a:off x="919185" y="2224322"/>
                <a:ext cx="4574984" cy="1527804"/>
                <a:chOff x="2551996" y="1922346"/>
                <a:chExt cx="4574984" cy="1527804"/>
              </a:xfrm>
            </p:grpSpPr>
            <p:sp>
              <p:nvSpPr>
                <p:cNvPr id="37" name="文本框 36"/>
                <p:cNvSpPr txBox="1"/>
                <p:nvPr>
                  <p:custDataLst>
                    <p:tags r:id="rId10"/>
                  </p:custDataLst>
                </p:nvPr>
              </p:nvSpPr>
              <p:spPr>
                <a:xfrm>
                  <a:off x="2551996" y="1922346"/>
                  <a:ext cx="2031325" cy="358584"/>
                </a:xfrm>
                <a:prstGeom prst="rect">
                  <a:avLst/>
                </a:prstGeom>
                <a:noFill/>
              </p:spPr>
              <p:txBody>
                <a:bodyPr wrap="none" rtlCol="0">
                  <a:spAutoFit/>
                </a:bodyPr>
                <a:lstStyle/>
                <a:p>
                  <a:pPr algn="l"/>
                  <a:r>
                    <a:rPr lang="zh-CN" altLang="en-US" sz="2400" b="1" dirty="0">
                      <a:cs typeface="+mn-ea"/>
                      <a:sym typeface="+mn-lt"/>
                    </a:rPr>
                    <a:t>电桥测量电路</a:t>
                  </a:r>
                </a:p>
              </p:txBody>
            </p:sp>
            <p:sp>
              <p:nvSpPr>
                <p:cNvPr id="38" name="文本框 37"/>
                <p:cNvSpPr txBox="1"/>
                <p:nvPr>
                  <p:custDataLst>
                    <p:tags r:id="rId11"/>
                  </p:custDataLst>
                </p:nvPr>
              </p:nvSpPr>
              <p:spPr>
                <a:xfrm>
                  <a:off x="2813003" y="2552096"/>
                  <a:ext cx="4313977" cy="898054"/>
                </a:xfrm>
                <a:prstGeom prst="rect">
                  <a:avLst/>
                </a:prstGeom>
                <a:noFill/>
              </p:spPr>
              <p:txBody>
                <a:bodyPr wrap="square" rtlCol="0">
                  <a:spAutoFit/>
                </a:bodyPr>
                <a:lstStyle/>
                <a:p>
                  <a:pPr>
                    <a:lnSpc>
                      <a:spcPct val="150000"/>
                    </a:lnSpc>
                  </a:pPr>
                  <a:r>
                    <a:rPr lang="zh-CN" altLang="en-US" sz="1600" dirty="0">
                      <a:solidFill>
                        <a:schemeClr val="tx1"/>
                      </a:solidFill>
                      <a:cs typeface="+mn-ea"/>
                      <a:sym typeface="+mn-lt"/>
                    </a:rPr>
                    <a:t>采用直流电桥电路中的全桥差动方式。该差动桥路的输出电压和电压灵敏度比单片提高了</a:t>
                  </a:r>
                  <a:r>
                    <a:rPr lang="en-US" altLang="zh-CN" sz="1600" dirty="0">
                      <a:solidFill>
                        <a:schemeClr val="tx1"/>
                      </a:solidFill>
                      <a:cs typeface="+mn-ea"/>
                      <a:sym typeface="+mn-lt"/>
                    </a:rPr>
                    <a:t>4</a:t>
                  </a:r>
                  <a:r>
                    <a:rPr lang="zh-CN" altLang="en-US" sz="1600" dirty="0">
                      <a:solidFill>
                        <a:schemeClr val="tx1"/>
                      </a:solidFill>
                      <a:cs typeface="+mn-ea"/>
                      <a:sym typeface="+mn-lt"/>
                    </a:rPr>
                    <a:t>倍，比半桥差动电路提高了</a:t>
                  </a:r>
                  <a:r>
                    <a:rPr lang="en-US" altLang="zh-CN" sz="1600" dirty="0">
                      <a:solidFill>
                        <a:schemeClr val="tx1"/>
                      </a:solidFill>
                      <a:cs typeface="+mn-ea"/>
                      <a:sym typeface="+mn-lt"/>
                    </a:rPr>
                    <a:t>1</a:t>
                  </a:r>
                  <a:r>
                    <a:rPr lang="zh-CN" altLang="en-US" sz="1600" dirty="0">
                      <a:solidFill>
                        <a:schemeClr val="tx1"/>
                      </a:solidFill>
                      <a:cs typeface="+mn-ea"/>
                      <a:sym typeface="+mn-lt"/>
                    </a:rPr>
                    <a:t>倍。</a:t>
                  </a:r>
                  <a:endParaRPr lang="en-US" altLang="zh-CN" sz="1600" dirty="0">
                    <a:solidFill>
                      <a:schemeClr val="tx1"/>
                    </a:solidFill>
                    <a:cs typeface="+mn-ea"/>
                    <a:sym typeface="+mn-lt"/>
                  </a:endParaRPr>
                </a:p>
              </p:txBody>
            </p:sp>
            <p:cxnSp>
              <p:nvCxnSpPr>
                <p:cNvPr id="39" name="直接连接符 38"/>
                <p:cNvCxnSpPr/>
                <p:nvPr>
                  <p:custDataLst>
                    <p:tags r:id="rId12"/>
                  </p:custDataLst>
                </p:nvPr>
              </p:nvCxnSpPr>
              <p:spPr>
                <a:xfrm>
                  <a:off x="2813003" y="2385644"/>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grpSp>
        <p:nvGrpSpPr>
          <p:cNvPr id="42" name="组合 41"/>
          <p:cNvGrpSpPr/>
          <p:nvPr/>
        </p:nvGrpSpPr>
        <p:grpSpPr>
          <a:xfrm>
            <a:off x="6583550" y="573174"/>
            <a:ext cx="4901884" cy="3133897"/>
            <a:chOff x="831257" y="1995995"/>
            <a:chExt cx="4901884" cy="1483348"/>
          </a:xfrm>
        </p:grpSpPr>
        <p:sp>
          <p:nvSpPr>
            <p:cNvPr id="49" name="矩形 48"/>
            <p:cNvSpPr/>
            <p:nvPr>
              <p:custDataLst>
                <p:tags r:id="rId6"/>
              </p:custDataLst>
            </p:nvPr>
          </p:nvSpPr>
          <p:spPr>
            <a:xfrm>
              <a:off x="831257" y="1995995"/>
              <a:ext cx="4901884" cy="1483348"/>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CFBFC"/>
                </a:solidFill>
                <a:cs typeface="+mn-ea"/>
                <a:sym typeface="+mn-lt"/>
              </a:endParaRPr>
            </a:p>
          </p:txBody>
        </p:sp>
        <p:grpSp>
          <p:nvGrpSpPr>
            <p:cNvPr id="50" name="组合 49"/>
            <p:cNvGrpSpPr/>
            <p:nvPr/>
          </p:nvGrpSpPr>
          <p:grpSpPr>
            <a:xfrm>
              <a:off x="1038165" y="2043939"/>
              <a:ext cx="2031325" cy="357323"/>
              <a:chOff x="2670976" y="1741963"/>
              <a:chExt cx="2031325" cy="357323"/>
            </a:xfrm>
          </p:grpSpPr>
          <p:sp>
            <p:nvSpPr>
              <p:cNvPr id="51" name="文本框 50"/>
              <p:cNvSpPr txBox="1"/>
              <p:nvPr>
                <p:custDataLst>
                  <p:tags r:id="rId7"/>
                </p:custDataLst>
              </p:nvPr>
            </p:nvSpPr>
            <p:spPr>
              <a:xfrm>
                <a:off x="2670976" y="1741963"/>
                <a:ext cx="2031325" cy="357323"/>
              </a:xfrm>
              <a:prstGeom prst="rect">
                <a:avLst/>
              </a:prstGeom>
              <a:noFill/>
            </p:spPr>
            <p:txBody>
              <a:bodyPr wrap="none" rtlCol="0">
                <a:spAutoFit/>
              </a:bodyPr>
              <a:lstStyle/>
              <a:p>
                <a:pPr algn="l"/>
                <a:r>
                  <a:rPr lang="zh-CN" altLang="en-US" sz="2400" b="1" dirty="0">
                    <a:cs typeface="+mn-ea"/>
                    <a:sym typeface="+mn-lt"/>
                  </a:rPr>
                  <a:t>温度补偿电路</a:t>
                </a:r>
              </a:p>
            </p:txBody>
          </p:sp>
          <p:cxnSp>
            <p:nvCxnSpPr>
              <p:cNvPr id="53" name="直接连接符 52"/>
              <p:cNvCxnSpPr/>
              <p:nvPr>
                <p:custDataLst>
                  <p:tags r:id="rId8"/>
                </p:custDataLst>
              </p:nvPr>
            </p:nvCxnSpPr>
            <p:spPr>
              <a:xfrm>
                <a:off x="2853347" y="1970390"/>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sp>
        <p:nvSpPr>
          <p:cNvPr id="3" name="文本框 2"/>
          <p:cNvSpPr txBox="1"/>
          <p:nvPr/>
        </p:nvSpPr>
        <p:spPr>
          <a:xfrm>
            <a:off x="6996691" y="1215528"/>
            <a:ext cx="4064000" cy="2264210"/>
          </a:xfrm>
          <a:prstGeom prst="rect">
            <a:avLst/>
          </a:prstGeom>
          <a:noFill/>
        </p:spPr>
        <p:txBody>
          <a:bodyPr wrap="square" rtlCol="0">
            <a:spAutoFit/>
          </a:bodyPr>
          <a:lstStyle/>
          <a:p>
            <a:pPr>
              <a:lnSpc>
                <a:spcPct val="150000"/>
              </a:lnSpc>
            </a:pPr>
            <a:r>
              <a:rPr lang="en-US" altLang="zh-CN" sz="1600" dirty="0">
                <a:solidFill>
                  <a:schemeClr val="tx1"/>
                </a:solidFill>
              </a:rPr>
              <a:t>1.</a:t>
            </a:r>
            <a:r>
              <a:rPr lang="zh-CN" altLang="en-US" sz="1600" dirty="0">
                <a:solidFill>
                  <a:schemeClr val="tx1"/>
                </a:solidFill>
              </a:rPr>
              <a:t>电桥补偿法</a:t>
            </a:r>
            <a:endParaRPr lang="en-US" altLang="zh-CN" sz="1600" dirty="0">
              <a:solidFill>
                <a:schemeClr val="tx1"/>
              </a:solidFill>
            </a:endParaRPr>
          </a:p>
          <a:p>
            <a:pPr>
              <a:lnSpc>
                <a:spcPct val="150000"/>
              </a:lnSpc>
            </a:pPr>
            <a:r>
              <a:rPr lang="en-US" altLang="zh-CN" sz="1600" dirty="0"/>
              <a:t>2.</a:t>
            </a:r>
            <a:r>
              <a:rPr lang="zh-CN" altLang="en-US" sz="1600" dirty="0"/>
              <a:t> 在桥路中并联或串联</a:t>
            </a:r>
            <a:r>
              <a:rPr lang="en-US" altLang="zh-CN" sz="1600" dirty="0"/>
              <a:t>NTC</a:t>
            </a:r>
            <a:r>
              <a:rPr lang="zh-CN" altLang="en-US" sz="1600" dirty="0"/>
              <a:t>热敏电阻，当环境温度升高时，热敏电阻阻值下降，可抵消温漂影响。</a:t>
            </a:r>
            <a:endParaRPr lang="en-US" altLang="zh-CN" sz="1600" dirty="0"/>
          </a:p>
          <a:p>
            <a:pPr>
              <a:lnSpc>
                <a:spcPct val="150000"/>
              </a:lnSpc>
            </a:pPr>
            <a:r>
              <a:rPr lang="en-US" altLang="zh-CN" sz="1600" dirty="0"/>
              <a:t>3.</a:t>
            </a:r>
            <a:r>
              <a:rPr lang="zh-CN" altLang="en-US" sz="1600" dirty="0"/>
              <a:t>采用分段线性补偿算法，或者结合现场校准数据训练</a:t>
            </a:r>
            <a:r>
              <a:rPr lang="en-US" altLang="zh-CN" sz="1600" dirty="0"/>
              <a:t>AI</a:t>
            </a:r>
            <a:r>
              <a:rPr lang="zh-CN" altLang="en-US" sz="1600" dirty="0"/>
              <a:t>模型（如</a:t>
            </a:r>
            <a:r>
              <a:rPr lang="en-US" altLang="zh-CN" sz="1600" dirty="0"/>
              <a:t>LSTM</a:t>
            </a:r>
            <a:r>
              <a:rPr lang="zh-CN" altLang="en-US" sz="1600" dirty="0"/>
              <a:t>网络等）。</a:t>
            </a:r>
            <a:endParaRPr lang="zh-CN" altLang="en-US" sz="1600" dirty="0">
              <a:solidFill>
                <a:schemeClr val="tx1"/>
              </a:solidFill>
            </a:endParaRPr>
          </a:p>
        </p:txBody>
      </p:sp>
      <p:sp>
        <p:nvSpPr>
          <p:cNvPr id="28" name="矩形 27">
            <a:extLst>
              <a:ext uri="{FF2B5EF4-FFF2-40B4-BE49-F238E27FC236}">
                <a16:creationId xmlns:a16="http://schemas.microsoft.com/office/drawing/2014/main" id="{CDD1A9D3-A5FD-461E-9173-27607827925B}"/>
              </a:ext>
            </a:extLst>
          </p:cNvPr>
          <p:cNvSpPr/>
          <p:nvPr>
            <p:custDataLst>
              <p:tags r:id="rId2"/>
            </p:custDataLst>
          </p:nvPr>
        </p:nvSpPr>
        <p:spPr>
          <a:xfrm>
            <a:off x="6577749" y="3956453"/>
            <a:ext cx="4901884" cy="2328373"/>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p:sp>
        <p:nvSpPr>
          <p:cNvPr id="29" name="文本框 28">
            <a:extLst>
              <a:ext uri="{FF2B5EF4-FFF2-40B4-BE49-F238E27FC236}">
                <a16:creationId xmlns:a16="http://schemas.microsoft.com/office/drawing/2014/main" id="{AD85E0CC-2BDE-4498-A20C-A92724FB9616}"/>
              </a:ext>
            </a:extLst>
          </p:cNvPr>
          <p:cNvSpPr txBox="1"/>
          <p:nvPr>
            <p:custDataLst>
              <p:tags r:id="rId3"/>
            </p:custDataLst>
          </p:nvPr>
        </p:nvSpPr>
        <p:spPr>
          <a:xfrm>
            <a:off x="6680761" y="4047445"/>
            <a:ext cx="1415772" cy="461665"/>
          </a:xfrm>
          <a:prstGeom prst="rect">
            <a:avLst/>
          </a:prstGeom>
          <a:noFill/>
        </p:spPr>
        <p:txBody>
          <a:bodyPr wrap="none" rtlCol="0">
            <a:spAutoFit/>
          </a:bodyPr>
          <a:lstStyle/>
          <a:p>
            <a:pPr algn="l"/>
            <a:r>
              <a:rPr lang="zh-CN" altLang="en-US" sz="2400" b="1" dirty="0">
                <a:solidFill>
                  <a:srgbClr val="FCFBFC"/>
                </a:solidFill>
                <a:cs typeface="+mn-ea"/>
                <a:sym typeface="+mn-lt"/>
              </a:rPr>
              <a:t>供电电源</a:t>
            </a:r>
          </a:p>
        </p:txBody>
      </p:sp>
      <p:cxnSp>
        <p:nvCxnSpPr>
          <p:cNvPr id="30" name="直接连接符 29">
            <a:extLst>
              <a:ext uri="{FF2B5EF4-FFF2-40B4-BE49-F238E27FC236}">
                <a16:creationId xmlns:a16="http://schemas.microsoft.com/office/drawing/2014/main" id="{2D380A63-C339-40E2-86D5-6A72B5A7709C}"/>
              </a:ext>
            </a:extLst>
          </p:cNvPr>
          <p:cNvCxnSpPr/>
          <p:nvPr>
            <p:custDataLst>
              <p:tags r:id="rId4"/>
            </p:custDataLst>
          </p:nvPr>
        </p:nvCxnSpPr>
        <p:spPr>
          <a:xfrm>
            <a:off x="6848647" y="4582187"/>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E7A401B8-9521-4DE8-AB62-33D11CAAD3F8}"/>
              </a:ext>
            </a:extLst>
          </p:cNvPr>
          <p:cNvSpPr txBox="1"/>
          <p:nvPr>
            <p:custDataLst>
              <p:tags r:id="rId5"/>
            </p:custDataLst>
          </p:nvPr>
        </p:nvSpPr>
        <p:spPr>
          <a:xfrm>
            <a:off x="6996691" y="4634195"/>
            <a:ext cx="4313977" cy="1525546"/>
          </a:xfrm>
          <a:prstGeom prst="rect">
            <a:avLst/>
          </a:prstGeom>
          <a:noFill/>
        </p:spPr>
        <p:txBody>
          <a:bodyPr wrap="square" rtlCol="0">
            <a:spAutoFit/>
          </a:bodyPr>
          <a:lstStyle/>
          <a:p>
            <a:pPr>
              <a:lnSpc>
                <a:spcPct val="150000"/>
              </a:lnSpc>
            </a:pPr>
            <a:r>
              <a:rPr lang="zh-CN" altLang="en-US" sz="1600" dirty="0">
                <a:solidFill>
                  <a:srgbClr val="FCFBFC"/>
                </a:solidFill>
                <a:cs typeface="+mn-ea"/>
                <a:sym typeface="+mn-lt"/>
              </a:rPr>
              <a:t>供电电源采用太阳能</a:t>
            </a:r>
            <a:r>
              <a:rPr lang="en-US" altLang="zh-CN" sz="1600" dirty="0">
                <a:solidFill>
                  <a:srgbClr val="FCFBFC"/>
                </a:solidFill>
                <a:cs typeface="+mn-ea"/>
                <a:sym typeface="+mn-lt"/>
              </a:rPr>
              <a:t>+</a:t>
            </a:r>
            <a:r>
              <a:rPr lang="zh-CN" altLang="en-US" sz="1600" dirty="0">
                <a:solidFill>
                  <a:srgbClr val="FCFBFC"/>
                </a:solidFill>
                <a:cs typeface="+mn-ea"/>
                <a:sym typeface="+mn-lt"/>
              </a:rPr>
              <a:t>蓄电池的方式进行供电，为电桥测量电路、温度补偿电路、放大电路、</a:t>
            </a:r>
            <a:r>
              <a:rPr lang="en-US" altLang="zh-CN" sz="1600" dirty="0">
                <a:solidFill>
                  <a:srgbClr val="FCFBFC"/>
                </a:solidFill>
                <a:cs typeface="+mn-ea"/>
                <a:sym typeface="+mn-lt"/>
              </a:rPr>
              <a:t>V/F</a:t>
            </a:r>
            <a:r>
              <a:rPr lang="zh-CN" altLang="en-US" sz="1600" dirty="0">
                <a:solidFill>
                  <a:srgbClr val="FCFBFC"/>
                </a:solidFill>
                <a:cs typeface="+mn-ea"/>
                <a:sym typeface="+mn-lt"/>
              </a:rPr>
              <a:t>电路、单片机及显示单元供电，以便使各个功能模块正常工作。</a:t>
            </a:r>
          </a:p>
        </p:txBody>
      </p:sp>
    </p:spTree>
    <p:extLst>
      <p:ext uri="{BB962C8B-B14F-4D97-AF65-F5344CB8AC3E}">
        <p14:creationId xmlns:p14="http://schemas.microsoft.com/office/powerpoint/2010/main" val="68023680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905164" y="689955"/>
            <a:ext cx="4901884" cy="5419900"/>
            <a:chOff x="761250" y="2056664"/>
            <a:chExt cx="4901884" cy="4209742"/>
          </a:xfrm>
        </p:grpSpPr>
        <p:sp>
          <p:nvSpPr>
            <p:cNvPr id="8" name="矩形 7"/>
            <p:cNvSpPr/>
            <p:nvPr>
              <p:custDataLst>
                <p:tags r:id="rId4"/>
              </p:custDataLst>
            </p:nvPr>
          </p:nvSpPr>
          <p:spPr>
            <a:xfrm>
              <a:off x="761250" y="2056664"/>
              <a:ext cx="4901884" cy="4209742"/>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p:grpSp>
          <p:nvGrpSpPr>
            <p:cNvPr id="9" name="组合 8"/>
            <p:cNvGrpSpPr/>
            <p:nvPr/>
          </p:nvGrpSpPr>
          <p:grpSpPr>
            <a:xfrm>
              <a:off x="1052188" y="2155350"/>
              <a:ext cx="4361192" cy="3658783"/>
              <a:chOff x="2684999" y="1853374"/>
              <a:chExt cx="4361192" cy="3658783"/>
            </a:xfrm>
          </p:grpSpPr>
          <p:sp>
            <p:nvSpPr>
              <p:cNvPr id="10" name="文本框 9"/>
              <p:cNvSpPr txBox="1"/>
              <p:nvPr>
                <p:custDataLst>
                  <p:tags r:id="rId5"/>
                </p:custDataLst>
              </p:nvPr>
            </p:nvSpPr>
            <p:spPr>
              <a:xfrm>
                <a:off x="2684999" y="1853374"/>
                <a:ext cx="1415772" cy="358584"/>
              </a:xfrm>
              <a:prstGeom prst="rect">
                <a:avLst/>
              </a:prstGeom>
              <a:noFill/>
            </p:spPr>
            <p:txBody>
              <a:bodyPr wrap="none" rtlCol="0">
                <a:spAutoFit/>
              </a:bodyPr>
              <a:lstStyle/>
              <a:p>
                <a:pPr algn="l"/>
                <a:r>
                  <a:rPr lang="zh-CN" altLang="en-US" sz="2400" b="1" dirty="0">
                    <a:solidFill>
                      <a:srgbClr val="FCFBFC"/>
                    </a:solidFill>
                    <a:cs typeface="+mn-ea"/>
                    <a:sym typeface="+mn-lt"/>
                  </a:rPr>
                  <a:t>放大电路</a:t>
                </a:r>
              </a:p>
            </p:txBody>
          </p:sp>
          <p:sp>
            <p:nvSpPr>
              <p:cNvPr id="11" name="文本框 10"/>
              <p:cNvSpPr txBox="1"/>
              <p:nvPr>
                <p:custDataLst>
                  <p:tags r:id="rId6"/>
                </p:custDataLst>
              </p:nvPr>
            </p:nvSpPr>
            <p:spPr>
              <a:xfrm>
                <a:off x="2732214" y="3753501"/>
                <a:ext cx="4313977" cy="1758656"/>
              </a:xfrm>
              <a:prstGeom prst="rect">
                <a:avLst/>
              </a:prstGeom>
              <a:noFill/>
            </p:spPr>
            <p:txBody>
              <a:bodyPr wrap="square" rtlCol="0">
                <a:spAutoFit/>
              </a:bodyPr>
              <a:lstStyle/>
              <a:p>
                <a:pPr>
                  <a:lnSpc>
                    <a:spcPct val="150000"/>
                  </a:lnSpc>
                </a:pPr>
                <a:r>
                  <a:rPr lang="zh-CN" altLang="en-US" sz="1600" b="1" dirty="0">
                    <a:solidFill>
                      <a:srgbClr val="FCFBFC"/>
                    </a:solidFill>
                    <a:cs typeface="+mn-ea"/>
                    <a:sym typeface="+mn-lt"/>
                  </a:rPr>
                  <a:t>要求：</a:t>
                </a:r>
              </a:p>
              <a:p>
                <a:pPr>
                  <a:lnSpc>
                    <a:spcPct val="150000"/>
                  </a:lnSpc>
                </a:pPr>
                <a:r>
                  <a:rPr lang="zh-CN" altLang="en-US" sz="1600" dirty="0">
                    <a:solidFill>
                      <a:srgbClr val="FCFBFC"/>
                    </a:solidFill>
                    <a:cs typeface="+mn-ea"/>
                    <a:sym typeface="+mn-lt"/>
                  </a:rPr>
                  <a:t>高共模抑制比，低噪声，可调增益（</a:t>
                </a:r>
                <a:r>
                  <a:rPr lang="en-US" altLang="zh-CN" sz="1600" dirty="0">
                    <a:solidFill>
                      <a:srgbClr val="FCFBFC"/>
                    </a:solidFill>
                    <a:cs typeface="+mn-ea"/>
                    <a:sym typeface="+mn-lt"/>
                  </a:rPr>
                  <a:t>50~1000</a:t>
                </a:r>
                <a:r>
                  <a:rPr lang="zh-CN" altLang="en-US" sz="1600" dirty="0">
                    <a:solidFill>
                      <a:srgbClr val="FCFBFC"/>
                    </a:solidFill>
                    <a:cs typeface="+mn-ea"/>
                    <a:sym typeface="+mn-lt"/>
                  </a:rPr>
                  <a:t>倍）</a:t>
                </a:r>
              </a:p>
              <a:p>
                <a:pPr>
                  <a:lnSpc>
                    <a:spcPct val="150000"/>
                  </a:lnSpc>
                </a:pPr>
                <a:r>
                  <a:rPr lang="zh-CN" altLang="en-US" sz="1600" b="1" dirty="0">
                    <a:solidFill>
                      <a:srgbClr val="FCFBFC"/>
                    </a:solidFill>
                    <a:cs typeface="+mn-ea"/>
                    <a:sym typeface="+mn-lt"/>
                  </a:rPr>
                  <a:t>滤波设计：</a:t>
                </a:r>
              </a:p>
              <a:p>
                <a:pPr>
                  <a:lnSpc>
                    <a:spcPct val="150000"/>
                  </a:lnSpc>
                </a:pPr>
                <a:r>
                  <a:rPr lang="zh-CN" altLang="en-US" sz="1600" dirty="0">
                    <a:solidFill>
                      <a:srgbClr val="FCFBFC"/>
                    </a:solidFill>
                    <a:cs typeface="+mn-ea"/>
                    <a:sym typeface="+mn-lt"/>
                  </a:rPr>
                  <a:t>截止频率：</a:t>
                </a:r>
                <a:r>
                  <a:rPr lang="en-US" altLang="zh-CN" sz="1600" dirty="0">
                    <a:solidFill>
                      <a:srgbClr val="FCFBFC"/>
                    </a:solidFill>
                    <a:cs typeface="+mn-ea"/>
                    <a:sym typeface="+mn-lt"/>
                  </a:rPr>
                  <a:t>100Hz</a:t>
                </a:r>
                <a:r>
                  <a:rPr lang="zh-CN" altLang="en-US" sz="1600" dirty="0">
                    <a:solidFill>
                      <a:srgbClr val="FCFBFC"/>
                    </a:solidFill>
                    <a:cs typeface="+mn-ea"/>
                    <a:sym typeface="+mn-lt"/>
                  </a:rPr>
                  <a:t>（抑制高频振动噪声）</a:t>
                </a:r>
              </a:p>
              <a:p>
                <a:pPr>
                  <a:lnSpc>
                    <a:spcPct val="150000"/>
                  </a:lnSpc>
                </a:pPr>
                <a:r>
                  <a:rPr lang="zh-CN" altLang="en-US" sz="1600" dirty="0">
                    <a:solidFill>
                      <a:srgbClr val="FCFBFC"/>
                    </a:solidFill>
                    <a:cs typeface="+mn-ea"/>
                    <a:sym typeface="+mn-lt"/>
                  </a:rPr>
                  <a:t>运放：</a:t>
                </a:r>
                <a:r>
                  <a:rPr lang="en-US" altLang="zh-CN" sz="1600" dirty="0">
                    <a:solidFill>
                      <a:srgbClr val="FCFBFC"/>
                    </a:solidFill>
                    <a:cs typeface="+mn-ea"/>
                    <a:sym typeface="+mn-lt"/>
                  </a:rPr>
                  <a:t>OPA2188</a:t>
                </a:r>
                <a:r>
                  <a:rPr lang="zh-CN" altLang="en-US" sz="1600" dirty="0">
                    <a:solidFill>
                      <a:srgbClr val="FCFBFC"/>
                    </a:solidFill>
                    <a:cs typeface="+mn-ea"/>
                    <a:sym typeface="+mn-lt"/>
                  </a:rPr>
                  <a:t>（低偏置电流、轨到轨输出）</a:t>
                </a:r>
              </a:p>
            </p:txBody>
          </p:sp>
          <p:cxnSp>
            <p:nvCxnSpPr>
              <p:cNvPr id="12" name="直接连接符 11"/>
              <p:cNvCxnSpPr/>
              <p:nvPr>
                <p:custDataLst>
                  <p:tags r:id="rId7"/>
                </p:custDataLst>
              </p:nvPr>
            </p:nvCxnSpPr>
            <p:spPr>
              <a:xfrm>
                <a:off x="2852885" y="2355465"/>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nvGrpSpPr>
          <p:cNvPr id="42" name="组合 41"/>
          <p:cNvGrpSpPr/>
          <p:nvPr/>
        </p:nvGrpSpPr>
        <p:grpSpPr>
          <a:xfrm>
            <a:off x="6528866" y="689957"/>
            <a:ext cx="4901884" cy="5419898"/>
            <a:chOff x="831259" y="2017486"/>
            <a:chExt cx="4901884" cy="4194930"/>
          </a:xfrm>
        </p:grpSpPr>
        <p:sp>
          <p:nvSpPr>
            <p:cNvPr id="49" name="矩形 48"/>
            <p:cNvSpPr/>
            <p:nvPr>
              <p:custDataLst>
                <p:tags r:id="rId1"/>
              </p:custDataLst>
            </p:nvPr>
          </p:nvSpPr>
          <p:spPr>
            <a:xfrm>
              <a:off x="831259" y="2017486"/>
              <a:ext cx="4901884" cy="4194930"/>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CFBFC"/>
                </a:solidFill>
                <a:cs typeface="+mn-ea"/>
                <a:sym typeface="+mn-lt"/>
              </a:endParaRPr>
            </a:p>
          </p:txBody>
        </p:sp>
        <p:grpSp>
          <p:nvGrpSpPr>
            <p:cNvPr id="50" name="组合 49"/>
            <p:cNvGrpSpPr/>
            <p:nvPr/>
          </p:nvGrpSpPr>
          <p:grpSpPr>
            <a:xfrm>
              <a:off x="1059173" y="2155350"/>
              <a:ext cx="1723549" cy="465730"/>
              <a:chOff x="2691984" y="1853374"/>
              <a:chExt cx="1723549" cy="465730"/>
            </a:xfrm>
          </p:grpSpPr>
          <p:sp>
            <p:nvSpPr>
              <p:cNvPr id="51" name="文本框 50"/>
              <p:cNvSpPr txBox="1"/>
              <p:nvPr>
                <p:custDataLst>
                  <p:tags r:id="rId2"/>
                </p:custDataLst>
              </p:nvPr>
            </p:nvSpPr>
            <p:spPr>
              <a:xfrm>
                <a:off x="2691984" y="1853374"/>
                <a:ext cx="1723549" cy="357323"/>
              </a:xfrm>
              <a:prstGeom prst="rect">
                <a:avLst/>
              </a:prstGeom>
              <a:noFill/>
            </p:spPr>
            <p:txBody>
              <a:bodyPr wrap="none" rtlCol="0">
                <a:spAutoFit/>
              </a:bodyPr>
              <a:lstStyle/>
              <a:p>
                <a:pPr algn="l"/>
                <a:r>
                  <a:rPr lang="zh-CN" altLang="en-US" sz="2400" b="1" dirty="0">
                    <a:cs typeface="+mn-ea"/>
                    <a:sym typeface="+mn-lt"/>
                  </a:rPr>
                  <a:t>零漂和蠕变</a:t>
                </a:r>
              </a:p>
            </p:txBody>
          </p:sp>
          <p:cxnSp>
            <p:nvCxnSpPr>
              <p:cNvPr id="53" name="直接连接符 52"/>
              <p:cNvCxnSpPr/>
              <p:nvPr>
                <p:custDataLst>
                  <p:tags r:id="rId3"/>
                </p:custDataLst>
              </p:nvPr>
            </p:nvCxnSpPr>
            <p:spPr>
              <a:xfrm>
                <a:off x="2820096" y="2319104"/>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sp>
        <p:nvSpPr>
          <p:cNvPr id="3" name="文本框 2"/>
          <p:cNvSpPr txBox="1"/>
          <p:nvPr/>
        </p:nvSpPr>
        <p:spPr>
          <a:xfrm>
            <a:off x="7154892" y="2834643"/>
            <a:ext cx="4064000" cy="3002873"/>
          </a:xfrm>
          <a:prstGeom prst="rect">
            <a:avLst/>
          </a:prstGeom>
          <a:noFill/>
        </p:spPr>
        <p:txBody>
          <a:bodyPr wrap="square" rtlCol="0">
            <a:spAutoFit/>
          </a:bodyPr>
          <a:lstStyle/>
          <a:p>
            <a:pPr>
              <a:lnSpc>
                <a:spcPct val="150000"/>
              </a:lnSpc>
            </a:pPr>
            <a:r>
              <a:rPr lang="zh-CN" altLang="en-US" sz="1600" b="1" dirty="0">
                <a:solidFill>
                  <a:schemeClr val="tx1"/>
                </a:solidFill>
              </a:rPr>
              <a:t>要求：</a:t>
            </a:r>
          </a:p>
          <a:p>
            <a:pPr>
              <a:lnSpc>
                <a:spcPct val="150000"/>
              </a:lnSpc>
            </a:pPr>
            <a:r>
              <a:rPr lang="zh-CN" altLang="en-US" sz="1600" dirty="0">
                <a:solidFill>
                  <a:schemeClr val="tx1"/>
                </a:solidFill>
              </a:rPr>
              <a:t>输入范围：</a:t>
            </a:r>
            <a:r>
              <a:rPr lang="en-US" altLang="zh-CN" sz="1600" dirty="0">
                <a:solidFill>
                  <a:schemeClr val="tx1"/>
                </a:solidFill>
              </a:rPr>
              <a:t>0~3.3V</a:t>
            </a:r>
            <a:r>
              <a:rPr lang="zh-CN" altLang="en-US" sz="1600" dirty="0">
                <a:solidFill>
                  <a:schemeClr val="tx1"/>
                </a:solidFill>
              </a:rPr>
              <a:t>（对应应变片满量程输出）</a:t>
            </a:r>
          </a:p>
          <a:p>
            <a:pPr>
              <a:lnSpc>
                <a:spcPct val="150000"/>
              </a:lnSpc>
            </a:pPr>
            <a:r>
              <a:rPr lang="zh-CN" altLang="en-US" sz="1600" dirty="0">
                <a:solidFill>
                  <a:schemeClr val="tx1"/>
                </a:solidFill>
              </a:rPr>
              <a:t>输出频率：</a:t>
            </a:r>
            <a:r>
              <a:rPr lang="en-US" altLang="zh-CN" sz="1600" dirty="0">
                <a:solidFill>
                  <a:schemeClr val="tx1"/>
                </a:solidFill>
              </a:rPr>
              <a:t>0~10kHz</a:t>
            </a:r>
            <a:r>
              <a:rPr lang="zh-CN" altLang="en-US" sz="1600" dirty="0">
                <a:solidFill>
                  <a:schemeClr val="tx1"/>
                </a:solidFill>
              </a:rPr>
              <a:t>（线性度</a:t>
            </a:r>
            <a:r>
              <a:rPr lang="en-US" altLang="zh-CN" sz="1600" dirty="0">
                <a:solidFill>
                  <a:schemeClr val="tx1"/>
                </a:solidFill>
              </a:rPr>
              <a:t>&lt;0.1%</a:t>
            </a:r>
            <a:r>
              <a:rPr lang="zh-CN" altLang="en-US" sz="1600" dirty="0">
                <a:solidFill>
                  <a:schemeClr val="tx1"/>
                </a:solidFill>
              </a:rPr>
              <a:t>）</a:t>
            </a:r>
          </a:p>
          <a:p>
            <a:pPr>
              <a:lnSpc>
                <a:spcPct val="150000"/>
              </a:lnSpc>
            </a:pPr>
            <a:r>
              <a:rPr lang="zh-CN" altLang="en-US" sz="1600" dirty="0">
                <a:solidFill>
                  <a:schemeClr val="tx1"/>
                </a:solidFill>
              </a:rPr>
              <a:t>功耗：</a:t>
            </a:r>
            <a:r>
              <a:rPr lang="en-US" altLang="zh-CN" sz="1600" dirty="0">
                <a:solidFill>
                  <a:schemeClr val="tx1"/>
                </a:solidFill>
              </a:rPr>
              <a:t>&lt; 5mA</a:t>
            </a:r>
            <a:r>
              <a:rPr lang="zh-CN" altLang="en-US" sz="1600" dirty="0">
                <a:solidFill>
                  <a:schemeClr val="tx1"/>
                </a:solidFill>
              </a:rPr>
              <a:t>（适合电池供电）</a:t>
            </a:r>
          </a:p>
          <a:p>
            <a:pPr>
              <a:lnSpc>
                <a:spcPct val="150000"/>
              </a:lnSpc>
            </a:pPr>
            <a:r>
              <a:rPr lang="zh-CN" altLang="en-US" sz="1600" b="1" dirty="0">
                <a:solidFill>
                  <a:schemeClr val="tx1"/>
                </a:solidFill>
              </a:rPr>
              <a:t>模块功能：</a:t>
            </a:r>
          </a:p>
          <a:p>
            <a:pPr>
              <a:lnSpc>
                <a:spcPct val="150000"/>
              </a:lnSpc>
            </a:pPr>
            <a:r>
              <a:rPr lang="zh-CN" altLang="en-US" sz="1600" dirty="0">
                <a:solidFill>
                  <a:schemeClr val="tx1"/>
                </a:solidFill>
              </a:rPr>
              <a:t>专用</a:t>
            </a:r>
            <a:r>
              <a:rPr lang="en-US" altLang="zh-CN" sz="1600" dirty="0">
                <a:solidFill>
                  <a:schemeClr val="tx1"/>
                </a:solidFill>
              </a:rPr>
              <a:t>V/F</a:t>
            </a:r>
            <a:r>
              <a:rPr lang="zh-CN" altLang="en-US" sz="1600" dirty="0">
                <a:solidFill>
                  <a:schemeClr val="tx1"/>
                </a:solidFill>
              </a:rPr>
              <a:t>芯片：低成本，高线性度</a:t>
            </a:r>
          </a:p>
          <a:p>
            <a:pPr>
              <a:lnSpc>
                <a:spcPct val="150000"/>
              </a:lnSpc>
            </a:pPr>
            <a:r>
              <a:rPr lang="zh-CN" altLang="en-US" sz="1600" dirty="0">
                <a:solidFill>
                  <a:schemeClr val="tx1"/>
                </a:solidFill>
              </a:rPr>
              <a:t>光耦隔离：防止接地环路干扰</a:t>
            </a:r>
          </a:p>
        </p:txBody>
      </p:sp>
      <p:grpSp>
        <p:nvGrpSpPr>
          <p:cNvPr id="16" name="组合 15">
            <a:extLst>
              <a:ext uri="{FF2B5EF4-FFF2-40B4-BE49-F238E27FC236}">
                <a16:creationId xmlns:a16="http://schemas.microsoft.com/office/drawing/2014/main" id="{957C0E00-59F7-4A7F-83FC-8E0FE1E40AAD}"/>
              </a:ext>
            </a:extLst>
          </p:cNvPr>
          <p:cNvGrpSpPr/>
          <p:nvPr/>
        </p:nvGrpSpPr>
        <p:grpSpPr>
          <a:xfrm>
            <a:off x="1073800" y="1768930"/>
            <a:ext cx="4564611" cy="1082605"/>
            <a:chOff x="647305" y="2026314"/>
            <a:chExt cx="4901884" cy="1193649"/>
          </a:xfrm>
        </p:grpSpPr>
        <p:sp>
          <p:nvSpPr>
            <p:cNvPr id="17" name="矩形 16">
              <a:extLst>
                <a:ext uri="{FF2B5EF4-FFF2-40B4-BE49-F238E27FC236}">
                  <a16:creationId xmlns:a16="http://schemas.microsoft.com/office/drawing/2014/main" id="{5016EAB1-BAE1-4E1F-9500-3C917AB0E844}"/>
                </a:ext>
              </a:extLst>
            </p:cNvPr>
            <p:cNvSpPr/>
            <p:nvPr/>
          </p:nvSpPr>
          <p:spPr>
            <a:xfrm>
              <a:off x="647305" y="2026314"/>
              <a:ext cx="4901884" cy="119335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a:extLst>
                <a:ext uri="{FF2B5EF4-FFF2-40B4-BE49-F238E27FC236}">
                  <a16:creationId xmlns:a16="http://schemas.microsoft.com/office/drawing/2014/main" id="{C478C5A5-52E4-4642-9E6A-CA105D4EDA0D}"/>
                </a:ext>
              </a:extLst>
            </p:cNvPr>
            <p:cNvPicPr/>
            <p:nvPr/>
          </p:nvPicPr>
          <p:blipFill>
            <a:blip r:embed="rId9" cstate="print">
              <a:extLst>
                <a:ext uri="{28A0092B-C50C-407E-A947-70E740481C1C}">
                  <a14:useLocalDpi xmlns:a14="http://schemas.microsoft.com/office/drawing/2010/main" val="0"/>
                </a:ext>
              </a:extLst>
            </a:blip>
            <a:stretch>
              <a:fillRect/>
            </a:stretch>
          </p:blipFill>
          <p:spPr>
            <a:xfrm>
              <a:off x="742239" y="2148718"/>
              <a:ext cx="4806950" cy="1071245"/>
            </a:xfrm>
            <a:prstGeom prst="rect">
              <a:avLst/>
            </a:prstGeom>
          </p:spPr>
        </p:pic>
      </p:grpSp>
      <p:grpSp>
        <p:nvGrpSpPr>
          <p:cNvPr id="21" name="组合 20">
            <a:extLst>
              <a:ext uri="{FF2B5EF4-FFF2-40B4-BE49-F238E27FC236}">
                <a16:creationId xmlns:a16="http://schemas.microsoft.com/office/drawing/2014/main" id="{5514DB25-341B-4B71-97AE-212FA7531950}"/>
              </a:ext>
            </a:extLst>
          </p:cNvPr>
          <p:cNvGrpSpPr/>
          <p:nvPr/>
        </p:nvGrpSpPr>
        <p:grpSpPr>
          <a:xfrm>
            <a:off x="6614253" y="1918303"/>
            <a:ext cx="4731109" cy="792900"/>
            <a:chOff x="647305" y="4056610"/>
            <a:chExt cx="4901884" cy="894875"/>
          </a:xfrm>
        </p:grpSpPr>
        <p:sp>
          <p:nvSpPr>
            <p:cNvPr id="22" name="矩形 21">
              <a:extLst>
                <a:ext uri="{FF2B5EF4-FFF2-40B4-BE49-F238E27FC236}">
                  <a16:creationId xmlns:a16="http://schemas.microsoft.com/office/drawing/2014/main" id="{A8636F81-D5BA-4FFB-9E3D-987819869FC6}"/>
                </a:ext>
              </a:extLst>
            </p:cNvPr>
            <p:cNvSpPr/>
            <p:nvPr/>
          </p:nvSpPr>
          <p:spPr>
            <a:xfrm>
              <a:off x="647305" y="4056610"/>
              <a:ext cx="4901884" cy="8948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图片 22">
              <a:extLst>
                <a:ext uri="{FF2B5EF4-FFF2-40B4-BE49-F238E27FC236}">
                  <a16:creationId xmlns:a16="http://schemas.microsoft.com/office/drawing/2014/main" id="{AE42AAFD-4428-4992-B33C-91CF644EE576}"/>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736888" y="4348908"/>
              <a:ext cx="4722717" cy="310277"/>
            </a:xfrm>
            <a:prstGeom prst="rect">
              <a:avLst/>
            </a:prstGeom>
          </p:spPr>
        </p:pic>
      </p:grpSp>
    </p:spTree>
    <p:extLst>
      <p:ext uri="{BB962C8B-B14F-4D97-AF65-F5344CB8AC3E}">
        <p14:creationId xmlns:p14="http://schemas.microsoft.com/office/powerpoint/2010/main" val="237426341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831259" y="689955"/>
            <a:ext cx="4901884" cy="5419900"/>
            <a:chOff x="831259" y="2017485"/>
            <a:chExt cx="4901884" cy="4209742"/>
          </a:xfrm>
        </p:grpSpPr>
        <p:sp>
          <p:nvSpPr>
            <p:cNvPr id="8" name="矩形 7"/>
            <p:cNvSpPr/>
            <p:nvPr>
              <p:custDataLst>
                <p:tags r:id="rId4"/>
              </p:custDataLst>
            </p:nvPr>
          </p:nvSpPr>
          <p:spPr>
            <a:xfrm>
              <a:off x="831259" y="2017485"/>
              <a:ext cx="4901884" cy="4209742"/>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p:grpSp>
          <p:nvGrpSpPr>
            <p:cNvPr id="9" name="组合 8"/>
            <p:cNvGrpSpPr/>
            <p:nvPr/>
          </p:nvGrpSpPr>
          <p:grpSpPr>
            <a:xfrm>
              <a:off x="1052188" y="2155350"/>
              <a:ext cx="4441981" cy="3791625"/>
              <a:chOff x="2684999" y="1853374"/>
              <a:chExt cx="4441981" cy="3791625"/>
            </a:xfrm>
          </p:grpSpPr>
          <p:sp>
            <p:nvSpPr>
              <p:cNvPr id="10" name="文本框 9"/>
              <p:cNvSpPr txBox="1"/>
              <p:nvPr>
                <p:custDataLst>
                  <p:tags r:id="rId5"/>
                </p:custDataLst>
              </p:nvPr>
            </p:nvSpPr>
            <p:spPr>
              <a:xfrm>
                <a:off x="2684999" y="1853374"/>
                <a:ext cx="1107996" cy="358584"/>
              </a:xfrm>
              <a:prstGeom prst="rect">
                <a:avLst/>
              </a:prstGeom>
              <a:noFill/>
            </p:spPr>
            <p:txBody>
              <a:bodyPr wrap="none" rtlCol="0">
                <a:spAutoFit/>
              </a:bodyPr>
              <a:lstStyle/>
              <a:p>
                <a:pPr algn="l"/>
                <a:r>
                  <a:rPr lang="zh-CN" altLang="en-US" sz="2400" b="1" dirty="0">
                    <a:solidFill>
                      <a:srgbClr val="FCFBFC"/>
                    </a:solidFill>
                    <a:cs typeface="+mn-ea"/>
                    <a:sym typeface="+mn-lt"/>
                  </a:rPr>
                  <a:t>单片机</a:t>
                </a:r>
              </a:p>
            </p:txBody>
          </p:sp>
          <p:sp>
            <p:nvSpPr>
              <p:cNvPr id="11" name="文本框 10"/>
              <p:cNvSpPr txBox="1"/>
              <p:nvPr>
                <p:custDataLst>
                  <p:tags r:id="rId6"/>
                </p:custDataLst>
              </p:nvPr>
            </p:nvSpPr>
            <p:spPr>
              <a:xfrm>
                <a:off x="2813003" y="2452007"/>
                <a:ext cx="4313977" cy="3192992"/>
              </a:xfrm>
              <a:prstGeom prst="rect">
                <a:avLst/>
              </a:prstGeom>
              <a:noFill/>
            </p:spPr>
            <p:txBody>
              <a:bodyPr wrap="square" rtlCol="0">
                <a:spAutoFit/>
              </a:bodyPr>
              <a:lstStyle/>
              <a:p>
                <a:pPr indent="457200" algn="just">
                  <a:lnSpc>
                    <a:spcPct val="150000"/>
                  </a:lnSpc>
                </a:pPr>
                <a:r>
                  <a:rPr lang="zh-CN" altLang="zh-CN" sz="1600" dirty="0">
                    <a:solidFill>
                      <a:srgbClr val="FCFBFC"/>
                    </a:solidFill>
                    <a:cs typeface="+mn-ea"/>
                  </a:rPr>
                  <a:t>单片机用于接受放大电路及</a:t>
                </a:r>
                <a:r>
                  <a:rPr lang="en-US" altLang="zh-CN" sz="1600" dirty="0">
                    <a:solidFill>
                      <a:srgbClr val="FCFBFC"/>
                    </a:solidFill>
                    <a:cs typeface="+mn-ea"/>
                  </a:rPr>
                  <a:t>V/F</a:t>
                </a:r>
                <a:r>
                  <a:rPr lang="zh-CN" altLang="zh-CN" sz="1600" dirty="0">
                    <a:solidFill>
                      <a:srgbClr val="FCFBFC"/>
                    </a:solidFill>
                    <a:cs typeface="+mn-ea"/>
                  </a:rPr>
                  <a:t>电路输出的频率信号，并将其上传至监测设备，并由显示设备显示横担应变状态。</a:t>
                </a:r>
                <a:endParaRPr lang="en-US" altLang="zh-CN" sz="1600" dirty="0">
                  <a:solidFill>
                    <a:srgbClr val="FCFBFC"/>
                  </a:solidFill>
                  <a:cs typeface="+mn-ea"/>
                </a:endParaRPr>
              </a:p>
              <a:p>
                <a:pPr indent="457200" algn="just">
                  <a:lnSpc>
                    <a:spcPct val="150000"/>
                  </a:lnSpc>
                </a:pPr>
                <a:r>
                  <a:rPr lang="zh-CN" altLang="zh-CN" sz="1600" dirty="0">
                    <a:solidFill>
                      <a:srgbClr val="FCFBFC"/>
                    </a:solidFill>
                    <a:cs typeface="+mn-ea"/>
                  </a:rPr>
                  <a:t>由于监测终端安装在高压输电铁塔上，系统受环境影响较大，现场需要对数据做一些降噪滤波处理，中心控制模块承担着数据采集和数据处理转换的多重任务，同时考虑到装置的功能扩展和二次开发，该方案中控制器选用意法半导体公司的低功耗芯片</a:t>
                </a:r>
                <a:r>
                  <a:rPr lang="en-US" altLang="zh-CN" sz="1600" dirty="0">
                    <a:solidFill>
                      <a:srgbClr val="FCFBFC"/>
                    </a:solidFill>
                    <a:cs typeface="+mn-ea"/>
                  </a:rPr>
                  <a:t>STM32F407ZGT6</a:t>
                </a:r>
                <a:r>
                  <a:rPr lang="zh-CN" altLang="zh-CN" sz="1600" dirty="0">
                    <a:solidFill>
                      <a:srgbClr val="FCFBFC"/>
                    </a:solidFill>
                    <a:cs typeface="+mn-ea"/>
                  </a:rPr>
                  <a:t>，它以</a:t>
                </a:r>
                <a:r>
                  <a:rPr lang="en-US" altLang="zh-CN" sz="1600" dirty="0">
                    <a:solidFill>
                      <a:srgbClr val="FCFBFC"/>
                    </a:solidFill>
                    <a:cs typeface="+mn-ea"/>
                  </a:rPr>
                  <a:t> Cortex-M4 </a:t>
                </a:r>
                <a:r>
                  <a:rPr lang="zh-CN" altLang="zh-CN" sz="1600" dirty="0">
                    <a:solidFill>
                      <a:srgbClr val="FCFBFC"/>
                    </a:solidFill>
                    <a:cs typeface="+mn-ea"/>
                  </a:rPr>
                  <a:t>为内核，是一款多功能、低功耗的</a:t>
                </a:r>
                <a:r>
                  <a:rPr lang="en-US" altLang="zh-CN" sz="1600" dirty="0">
                    <a:solidFill>
                      <a:srgbClr val="FCFBFC"/>
                    </a:solidFill>
                    <a:cs typeface="+mn-ea"/>
                  </a:rPr>
                  <a:t> 32 </a:t>
                </a:r>
                <a:r>
                  <a:rPr lang="zh-CN" altLang="zh-CN" sz="1600" dirty="0">
                    <a:solidFill>
                      <a:srgbClr val="FCFBFC"/>
                    </a:solidFill>
                    <a:cs typeface="+mn-ea"/>
                  </a:rPr>
                  <a:t>位微处理器。</a:t>
                </a:r>
              </a:p>
            </p:txBody>
          </p:sp>
          <p:cxnSp>
            <p:nvCxnSpPr>
              <p:cNvPr id="12" name="直接连接符 11"/>
              <p:cNvCxnSpPr/>
              <p:nvPr>
                <p:custDataLst>
                  <p:tags r:id="rId7"/>
                </p:custDataLst>
              </p:nvPr>
            </p:nvCxnSpPr>
            <p:spPr>
              <a:xfrm>
                <a:off x="2813003" y="2252158"/>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nvGrpSpPr>
          <p:cNvPr id="42" name="组合 41"/>
          <p:cNvGrpSpPr/>
          <p:nvPr/>
        </p:nvGrpSpPr>
        <p:grpSpPr>
          <a:xfrm>
            <a:off x="6528866" y="689957"/>
            <a:ext cx="4901884" cy="5419898"/>
            <a:chOff x="831259" y="2017486"/>
            <a:chExt cx="4901884" cy="4194930"/>
          </a:xfrm>
        </p:grpSpPr>
        <p:sp>
          <p:nvSpPr>
            <p:cNvPr id="49" name="矩形 48"/>
            <p:cNvSpPr/>
            <p:nvPr>
              <p:custDataLst>
                <p:tags r:id="rId1"/>
              </p:custDataLst>
            </p:nvPr>
          </p:nvSpPr>
          <p:spPr>
            <a:xfrm>
              <a:off x="831259" y="2017486"/>
              <a:ext cx="4901884" cy="4194930"/>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CFBFC"/>
                </a:solidFill>
                <a:cs typeface="+mn-ea"/>
                <a:sym typeface="+mn-lt"/>
              </a:endParaRPr>
            </a:p>
          </p:txBody>
        </p:sp>
        <p:grpSp>
          <p:nvGrpSpPr>
            <p:cNvPr id="50" name="组合 49"/>
            <p:cNvGrpSpPr/>
            <p:nvPr/>
          </p:nvGrpSpPr>
          <p:grpSpPr>
            <a:xfrm>
              <a:off x="1059173" y="2155350"/>
              <a:ext cx="1415772" cy="388217"/>
              <a:chOff x="2691984" y="1853374"/>
              <a:chExt cx="1415772" cy="388217"/>
            </a:xfrm>
          </p:grpSpPr>
          <p:sp>
            <p:nvSpPr>
              <p:cNvPr id="51" name="文本框 50"/>
              <p:cNvSpPr txBox="1"/>
              <p:nvPr>
                <p:custDataLst>
                  <p:tags r:id="rId2"/>
                </p:custDataLst>
              </p:nvPr>
            </p:nvSpPr>
            <p:spPr>
              <a:xfrm>
                <a:off x="2691984" y="1853374"/>
                <a:ext cx="1415772" cy="357323"/>
              </a:xfrm>
              <a:prstGeom prst="rect">
                <a:avLst/>
              </a:prstGeom>
              <a:noFill/>
            </p:spPr>
            <p:txBody>
              <a:bodyPr wrap="none" rtlCol="0">
                <a:spAutoFit/>
              </a:bodyPr>
              <a:lstStyle/>
              <a:p>
                <a:pPr algn="l"/>
                <a:r>
                  <a:rPr lang="zh-CN" altLang="en-US" sz="2400" b="1" dirty="0">
                    <a:cs typeface="+mn-ea"/>
                    <a:sym typeface="+mn-lt"/>
                  </a:rPr>
                  <a:t>监控中心</a:t>
                </a:r>
              </a:p>
            </p:txBody>
          </p:sp>
          <p:cxnSp>
            <p:nvCxnSpPr>
              <p:cNvPr id="53" name="直接连接符 52"/>
              <p:cNvCxnSpPr/>
              <p:nvPr>
                <p:custDataLst>
                  <p:tags r:id="rId3"/>
                </p:custDataLst>
              </p:nvPr>
            </p:nvCxnSpPr>
            <p:spPr>
              <a:xfrm>
                <a:off x="2795158" y="2241591"/>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sp>
        <p:nvSpPr>
          <p:cNvPr id="3" name="文本框 2"/>
          <p:cNvSpPr txBox="1"/>
          <p:nvPr/>
        </p:nvSpPr>
        <p:spPr>
          <a:xfrm>
            <a:off x="7038514" y="1453505"/>
            <a:ext cx="4064000" cy="4480201"/>
          </a:xfrm>
          <a:prstGeom prst="rect">
            <a:avLst/>
          </a:prstGeom>
          <a:noFill/>
        </p:spPr>
        <p:txBody>
          <a:bodyPr wrap="square" rtlCol="0">
            <a:spAutoFit/>
          </a:bodyPr>
          <a:lstStyle/>
          <a:p>
            <a:pPr indent="266700" algn="just">
              <a:lnSpc>
                <a:spcPct val="150000"/>
              </a:lnSpc>
            </a:pPr>
            <a:r>
              <a:rPr lang="zh-CN" altLang="zh-CN" sz="1600" dirty="0"/>
              <a:t>输电线路在线监测技术由终端传感器、状态监测装置、通信网络和在线监测数据中心等组成</a:t>
            </a:r>
            <a:r>
              <a:rPr lang="zh-CN" altLang="en-US" sz="1600" dirty="0"/>
              <a:t>。</a:t>
            </a:r>
            <a:endParaRPr lang="en-US" altLang="zh-CN" sz="1600" dirty="0"/>
          </a:p>
          <a:p>
            <a:pPr indent="266700" algn="just">
              <a:lnSpc>
                <a:spcPct val="150000"/>
              </a:lnSpc>
            </a:pPr>
            <a:r>
              <a:rPr lang="zh-CN" altLang="zh-CN" sz="1600" dirty="0"/>
              <a:t>监控中心能够实现输电线路状态运行管理中各大系统信息查询，包括数据、表格、图形等信息的整体交互查询，是实现智能化电网的核心组成部分。</a:t>
            </a:r>
            <a:endParaRPr lang="en-US" altLang="zh-CN" sz="1600" dirty="0"/>
          </a:p>
          <a:p>
            <a:pPr indent="266700" algn="just">
              <a:lnSpc>
                <a:spcPct val="150000"/>
              </a:lnSpc>
            </a:pPr>
            <a:r>
              <a:rPr lang="zh-CN" altLang="zh-CN" sz="1600" dirty="0"/>
              <a:t>在输电线路铁塔应力监测系统中，监控中心由</a:t>
            </a:r>
            <a:r>
              <a:rPr lang="en-US" altLang="zh-CN" sz="1600" dirty="0"/>
              <a:t> PC </a:t>
            </a:r>
            <a:r>
              <a:rPr lang="zh-CN" altLang="zh-CN" sz="1600" dirty="0"/>
              <a:t>机、专家软件等组成，负责接入监测终端数据并提供状态信息的展示、诊断、预警、分析、评估和预测，全面监测和管理输电线路铁塔运行状态。</a:t>
            </a:r>
          </a:p>
        </p:txBody>
      </p:sp>
    </p:spTree>
    <p:extLst>
      <p:ext uri="{BB962C8B-B14F-4D97-AF65-F5344CB8AC3E}">
        <p14:creationId xmlns:p14="http://schemas.microsoft.com/office/powerpoint/2010/main" val="64181572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28162" y="493484"/>
            <a:ext cx="3535680" cy="768350"/>
          </a:xfrm>
          <a:prstGeom prst="rect">
            <a:avLst/>
          </a:prstGeom>
          <a:noFill/>
        </p:spPr>
        <p:txBody>
          <a:bodyPr wrap="none" rtlCol="0">
            <a:spAutoFit/>
          </a:bodyPr>
          <a:lstStyle/>
          <a:p>
            <a:pPr algn="ctr"/>
            <a:r>
              <a:rPr lang="zh-CN" altLang="en-US" sz="4400" b="1" dirty="0">
                <a:solidFill>
                  <a:srgbClr val="57658E"/>
                </a:solidFill>
                <a:cs typeface="+mn-ea"/>
                <a:sym typeface="+mn-lt"/>
              </a:rPr>
              <a:t>电桥测量电路</a:t>
            </a:r>
          </a:p>
        </p:txBody>
      </p:sp>
      <p:cxnSp>
        <p:nvCxnSpPr>
          <p:cNvPr id="31" name="直接连接符 30"/>
          <p:cNvCxnSpPr/>
          <p:nvPr/>
        </p:nvCxnSpPr>
        <p:spPr>
          <a:xfrm>
            <a:off x="5664000" y="1353969"/>
            <a:ext cx="864000" cy="0"/>
          </a:xfrm>
          <a:prstGeom prst="line">
            <a:avLst/>
          </a:prstGeom>
          <a:ln w="88900" cap="rnd">
            <a:solidFill>
              <a:srgbClr val="E9DAC6"/>
            </a:solidFill>
            <a:round/>
          </a:ln>
        </p:spPr>
        <p:style>
          <a:lnRef idx="1">
            <a:schemeClr val="accent1"/>
          </a:lnRef>
          <a:fillRef idx="0">
            <a:schemeClr val="accent1"/>
          </a:fillRef>
          <a:effectRef idx="0">
            <a:schemeClr val="accent1"/>
          </a:effectRef>
          <a:fontRef idx="minor">
            <a:schemeClr val="tx1"/>
          </a:fontRef>
        </p:style>
      </p:cxnSp>
      <p:grpSp>
        <p:nvGrpSpPr>
          <p:cNvPr id="33" name="组合 32"/>
          <p:cNvGrpSpPr/>
          <p:nvPr>
            <p:custDataLst>
              <p:tags r:id="rId1"/>
            </p:custDataLst>
          </p:nvPr>
        </p:nvGrpSpPr>
        <p:grpSpPr>
          <a:xfrm>
            <a:off x="831215" y="1725930"/>
            <a:ext cx="4902200" cy="2499995"/>
            <a:chOff x="831259" y="2017486"/>
            <a:chExt cx="4902200" cy="2500035"/>
          </a:xfrm>
        </p:grpSpPr>
        <p:sp>
          <p:nvSpPr>
            <p:cNvPr id="8" name="矩形 7"/>
            <p:cNvSpPr/>
            <p:nvPr>
              <p:custDataLst>
                <p:tags r:id="rId3"/>
              </p:custDataLst>
            </p:nvPr>
          </p:nvSpPr>
          <p:spPr>
            <a:xfrm>
              <a:off x="831259" y="2017486"/>
              <a:ext cx="4902200" cy="2500035"/>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p:grpSp>
          <p:nvGrpSpPr>
            <p:cNvPr id="9" name="组合 8"/>
            <p:cNvGrpSpPr/>
            <p:nvPr/>
          </p:nvGrpSpPr>
          <p:grpSpPr>
            <a:xfrm>
              <a:off x="1125213" y="2163029"/>
              <a:ext cx="4462780" cy="2246666"/>
              <a:chOff x="2758024" y="1861053"/>
              <a:chExt cx="4462780" cy="2246666"/>
            </a:xfrm>
          </p:grpSpPr>
          <p:sp>
            <p:nvSpPr>
              <p:cNvPr id="10" name="文本框 9"/>
              <p:cNvSpPr txBox="1"/>
              <p:nvPr>
                <p:custDataLst>
                  <p:tags r:id="rId4"/>
                </p:custDataLst>
              </p:nvPr>
            </p:nvSpPr>
            <p:spPr>
              <a:xfrm>
                <a:off x="2758024" y="1861053"/>
                <a:ext cx="2011680" cy="460375"/>
              </a:xfrm>
              <a:prstGeom prst="rect">
                <a:avLst/>
              </a:prstGeom>
              <a:noFill/>
            </p:spPr>
            <p:txBody>
              <a:bodyPr wrap="none" rtlCol="0">
                <a:spAutoFit/>
              </a:bodyPr>
              <a:lstStyle/>
              <a:p>
                <a:r>
                  <a:rPr lang="zh-CN" altLang="en-US" sz="2400">
                    <a:solidFill>
                      <a:srgbClr val="FCFBFC"/>
                    </a:solidFill>
                    <a:cs typeface="+mn-ea"/>
                    <a:sym typeface="+mn-lt"/>
                  </a:rPr>
                  <a:t>全桥差动电路</a:t>
                </a:r>
              </a:p>
            </p:txBody>
          </p:sp>
          <p:sp>
            <p:nvSpPr>
              <p:cNvPr id="11" name="文本框 10"/>
              <p:cNvSpPr txBox="1"/>
              <p:nvPr>
                <p:custDataLst>
                  <p:tags r:id="rId5"/>
                </p:custDataLst>
              </p:nvPr>
            </p:nvSpPr>
            <p:spPr>
              <a:xfrm>
                <a:off x="2758024" y="2549404"/>
                <a:ext cx="4462780" cy="1558315"/>
              </a:xfrm>
              <a:prstGeom prst="rect">
                <a:avLst/>
              </a:prstGeom>
              <a:noFill/>
            </p:spPr>
            <p:txBody>
              <a:bodyPr wrap="square" rtlCol="0">
                <a:noAutofit/>
              </a:bodyPr>
              <a:lstStyle/>
              <a:p>
                <a:pPr>
                  <a:lnSpc>
                    <a:spcPct val="150000"/>
                  </a:lnSpc>
                </a:pPr>
                <a:r>
                  <a:rPr lang="zh-CN" altLang="en-US" sz="1600" dirty="0">
                    <a:solidFill>
                      <a:srgbClr val="FCFBFC"/>
                    </a:solidFill>
                    <a:cs typeface="+mn-ea"/>
                    <a:sym typeface="+mn-lt"/>
                  </a:rPr>
                  <a:t>将四个半导体应变片分别粘贴在横担的四个对称位置，使其中两个应变片受拉应力，另外两个受压应力，将两个应变符号相同的接入相对应的桥臂上。</a:t>
                </a:r>
              </a:p>
            </p:txBody>
          </p:sp>
          <p:cxnSp>
            <p:nvCxnSpPr>
              <p:cNvPr id="12" name="直接连接符 11"/>
              <p:cNvCxnSpPr/>
              <p:nvPr>
                <p:custDataLst>
                  <p:tags r:id="rId6"/>
                </p:custDataLst>
              </p:nvPr>
            </p:nvCxnSpPr>
            <p:spPr>
              <a:xfrm>
                <a:off x="2916039" y="2422118"/>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pic>
        <p:nvPicPr>
          <p:cNvPr id="4" name="图片 1" descr="29a28c69c3f9380d12b44cf42e3c77db"/>
          <p:cNvPicPr>
            <a:picLocks noChangeAspect="1"/>
          </p:cNvPicPr>
          <p:nvPr/>
        </p:nvPicPr>
        <p:blipFill rotWithShape="1">
          <a:blip r:embed="rId8"/>
          <a:srcRect b="12769"/>
          <a:stretch/>
        </p:blipFill>
        <p:spPr>
          <a:xfrm>
            <a:off x="7625231" y="1257797"/>
            <a:ext cx="3283585" cy="2633345"/>
          </a:xfrm>
          <a:prstGeom prst="rect">
            <a:avLst/>
          </a:prstGeom>
        </p:spPr>
      </p:pic>
      <p:sp>
        <p:nvSpPr>
          <p:cNvPr id="5" name="矩形 4"/>
          <p:cNvSpPr/>
          <p:nvPr>
            <p:custDataLst>
              <p:tags r:id="rId2"/>
            </p:custDataLst>
          </p:nvPr>
        </p:nvSpPr>
        <p:spPr>
          <a:xfrm>
            <a:off x="7542530" y="4336415"/>
            <a:ext cx="3602990" cy="1925320"/>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mc:AlternateContent xmlns:mc="http://schemas.openxmlformats.org/markup-compatibility/2006" xmlns:a14="http://schemas.microsoft.com/office/drawing/2010/main">
        <mc:Choice Requires="a14">
          <p:sp>
            <p:nvSpPr>
              <p:cNvPr id="6" name="文本框 5"/>
              <p:cNvSpPr txBox="1"/>
              <p:nvPr/>
            </p:nvSpPr>
            <p:spPr>
              <a:xfrm>
                <a:off x="7750810" y="4432300"/>
                <a:ext cx="3235960" cy="1471295"/>
              </a:xfrm>
              <a:prstGeom prst="rect">
                <a:avLst/>
              </a:prstGeom>
              <a:noFill/>
            </p:spPr>
            <p:txBody>
              <a:bodyPr wrap="square" rtlCol="0">
                <a:spAutoFit/>
              </a:bodyPr>
              <a:lstStyle/>
              <a:p>
                <a:pPr indent="0" fontAlgn="auto">
                  <a:lnSpc>
                    <a:spcPct val="150000"/>
                  </a:lnSpc>
                </a:pPr>
                <a:r>
                  <a:rPr lang="zh-CN" altLang="en-US" sz="1600">
                    <a:solidFill>
                      <a:srgbClr val="FCFBFC"/>
                    </a:solidFill>
                    <a:cs typeface="+mn-ea"/>
                  </a:rPr>
                  <a:t>由此可知，</a:t>
                </a:r>
                <a14:m>
                  <m:oMath xmlns:m="http://schemas.openxmlformats.org/officeDocument/2006/math">
                    <m:sSub>
                      <m:sSubPr>
                        <m:ctrlPr>
                          <a:rPr lang="zh-CN" altLang="en-US" sz="1600" i="1">
                            <a:solidFill>
                              <a:srgbClr val="FCFBFC"/>
                            </a:solidFill>
                            <a:latin typeface="Cambria Math" panose="02040503050406030204" pitchFamily="18" charset="0"/>
                            <a:cs typeface="+mn-ea"/>
                          </a:rPr>
                        </m:ctrlPr>
                      </m:sSubPr>
                      <m:e>
                        <m:r>
                          <a:rPr lang="zh-CN" altLang="en-US" sz="1600">
                            <a:solidFill>
                              <a:srgbClr val="FCFBFC"/>
                            </a:solidFill>
                            <a:latin typeface="Cambria Math" panose="02040503050406030204" charset="0"/>
                            <a:cs typeface="+mn-ea"/>
                          </a:rPr>
                          <m:t>𝑈</m:t>
                        </m:r>
                      </m:e>
                      <m:sub>
                        <m:r>
                          <a:rPr lang="zh-CN" altLang="en-US" sz="1600">
                            <a:solidFill>
                              <a:srgbClr val="FCFBFC"/>
                            </a:solidFill>
                            <a:latin typeface="Cambria Math" panose="02040503050406030204" charset="0"/>
                            <a:cs typeface="+mn-ea"/>
                          </a:rPr>
                          <m:t>𝑂</m:t>
                        </m:r>
                      </m:sub>
                    </m:sSub>
                  </m:oMath>
                </a14:m>
                <a:r>
                  <a:rPr lang="zh-CN" altLang="en-US" sz="1600">
                    <a:solidFill>
                      <a:srgbClr val="FCFBFC"/>
                    </a:solidFill>
                    <a:cs typeface="+mn-ea"/>
                  </a:rPr>
                  <a:t>与</a:t>
                </a:r>
                <a14:m>
                  <m:oMath xmlns:m="http://schemas.openxmlformats.org/officeDocument/2006/math">
                    <m:f>
                      <m:fPr>
                        <m:ctrlPr>
                          <a:rPr lang="zh-CN" altLang="en-US" sz="1600" i="1">
                            <a:solidFill>
                              <a:srgbClr val="FCFBFC"/>
                            </a:solidFill>
                            <a:latin typeface="Cambria Math" panose="02040503050406030204" pitchFamily="18" charset="0"/>
                            <a:cs typeface="+mn-ea"/>
                          </a:rPr>
                        </m:ctrlPr>
                      </m:fPr>
                      <m:num>
                        <m:r>
                          <a:rPr lang="zh-CN" altLang="en-US" sz="1600">
                            <a:solidFill>
                              <a:srgbClr val="FCFBFC"/>
                            </a:solidFill>
                            <a:latin typeface="Cambria Math" panose="02040503050406030204" charset="0"/>
                            <a:cs typeface="+mn-ea"/>
                          </a:rPr>
                          <m:t>∆</m:t>
                        </m:r>
                        <m:sSub>
                          <m:sSubPr>
                            <m:ctrlPr>
                              <a:rPr lang="zh-CN" altLang="en-US" sz="1600" i="1">
                                <a:solidFill>
                                  <a:srgbClr val="FCFBFC"/>
                                </a:solidFill>
                                <a:latin typeface="Cambria Math" panose="02040503050406030204" pitchFamily="18" charset="0"/>
                                <a:cs typeface="+mn-ea"/>
                              </a:rPr>
                            </m:ctrlPr>
                          </m:sSubPr>
                          <m:e>
                            <m:r>
                              <a:rPr lang="zh-CN" altLang="en-US" sz="1600">
                                <a:solidFill>
                                  <a:srgbClr val="FCFBFC"/>
                                </a:solidFill>
                                <a:latin typeface="Cambria Math" panose="02040503050406030204" charset="0"/>
                                <a:cs typeface="+mn-ea"/>
                              </a:rPr>
                              <m:t>𝑅</m:t>
                            </m:r>
                          </m:e>
                          <m:sub>
                            <m:r>
                              <a:rPr lang="zh-CN" altLang="en-US" sz="1600">
                                <a:solidFill>
                                  <a:srgbClr val="FCFBFC"/>
                                </a:solidFill>
                                <a:latin typeface="Cambria Math" panose="02040503050406030204" charset="0"/>
                                <a:cs typeface="+mn-ea"/>
                              </a:rPr>
                              <m:t>1</m:t>
                            </m:r>
                          </m:sub>
                        </m:sSub>
                      </m:num>
                      <m:den>
                        <m:sSub>
                          <m:sSubPr>
                            <m:ctrlPr>
                              <a:rPr lang="zh-CN" altLang="en-US" sz="1600" i="1">
                                <a:solidFill>
                                  <a:srgbClr val="FCFBFC"/>
                                </a:solidFill>
                                <a:latin typeface="Cambria Math" panose="02040503050406030204" pitchFamily="18" charset="0"/>
                                <a:cs typeface="+mn-ea"/>
                              </a:rPr>
                            </m:ctrlPr>
                          </m:sSubPr>
                          <m:e>
                            <m:r>
                              <a:rPr lang="zh-CN" altLang="en-US" sz="1600">
                                <a:solidFill>
                                  <a:srgbClr val="FCFBFC"/>
                                </a:solidFill>
                                <a:latin typeface="Cambria Math" panose="02040503050406030204" charset="0"/>
                                <a:cs typeface="+mn-ea"/>
                              </a:rPr>
                              <m:t>𝑅</m:t>
                            </m:r>
                          </m:e>
                          <m:sub>
                            <m:r>
                              <a:rPr lang="zh-CN" altLang="en-US" sz="1600">
                                <a:solidFill>
                                  <a:srgbClr val="FCFBFC"/>
                                </a:solidFill>
                                <a:latin typeface="Cambria Math" panose="02040503050406030204" charset="0"/>
                                <a:cs typeface="+mn-ea"/>
                              </a:rPr>
                              <m:t>1</m:t>
                            </m:r>
                          </m:sub>
                        </m:sSub>
                      </m:den>
                    </m:f>
                  </m:oMath>
                </a14:m>
                <a:r>
                  <a:rPr lang="zh-CN" altLang="en-US" sz="1600">
                    <a:solidFill>
                      <a:srgbClr val="FCFBFC"/>
                    </a:solidFill>
                    <a:cs typeface="+mn-ea"/>
                  </a:rPr>
                  <a:t>呈线性关系，差动电桥无非线性误差，电压灵敏度</a:t>
                </a:r>
                <a14:m>
                  <m:oMath xmlns:m="http://schemas.openxmlformats.org/officeDocument/2006/math">
                    <m:sSub>
                      <m:sSubPr>
                        <m:ctrlPr>
                          <a:rPr lang="zh-CN" altLang="en-US" sz="1600" i="1">
                            <a:solidFill>
                              <a:srgbClr val="FCFBFC"/>
                            </a:solidFill>
                            <a:latin typeface="Cambria Math" panose="02040503050406030204" pitchFamily="18" charset="0"/>
                            <a:cs typeface="+mn-ea"/>
                          </a:rPr>
                        </m:ctrlPr>
                      </m:sSubPr>
                      <m:e>
                        <m:r>
                          <a:rPr lang="zh-CN" altLang="en-US" sz="1600">
                            <a:solidFill>
                              <a:srgbClr val="FCFBFC"/>
                            </a:solidFill>
                            <a:latin typeface="Cambria Math" panose="02040503050406030204" charset="0"/>
                            <a:cs typeface="+mn-ea"/>
                          </a:rPr>
                          <m:t>𝑆</m:t>
                        </m:r>
                      </m:e>
                      <m:sub>
                        <m:r>
                          <a:rPr lang="zh-CN" altLang="en-US" sz="1600">
                            <a:solidFill>
                              <a:srgbClr val="FCFBFC"/>
                            </a:solidFill>
                            <a:latin typeface="Cambria Math" panose="02040503050406030204" charset="0"/>
                            <a:cs typeface="+mn-ea"/>
                          </a:rPr>
                          <m:t>𝑉</m:t>
                        </m:r>
                      </m:sub>
                    </m:sSub>
                  </m:oMath>
                </a14:m>
                <a:r>
                  <a:rPr lang="zh-CN" altLang="en-US" sz="1600">
                    <a:solidFill>
                      <a:srgbClr val="FCFBFC"/>
                    </a:solidFill>
                    <a:cs typeface="+mn-ea"/>
                  </a:rPr>
                  <a:t>比使用一只应变片提高了4倍</a:t>
                </a:r>
              </a:p>
            </p:txBody>
          </p:sp>
        </mc:Choice>
        <mc:Fallback xmlns="">
          <p:sp>
            <p:nvSpPr>
              <p:cNvPr id="6" name="文本框 5"/>
              <p:cNvSpPr txBox="1">
                <a:spLocks noRot="1" noChangeAspect="1" noMove="1" noResize="1" noEditPoints="1" noAdjustHandles="1" noChangeArrowheads="1" noChangeShapeType="1" noTextEdit="1"/>
              </p:cNvSpPr>
              <p:nvPr/>
            </p:nvSpPr>
            <p:spPr>
              <a:xfrm>
                <a:off x="7750810" y="4432300"/>
                <a:ext cx="3235960" cy="1471295"/>
              </a:xfrm>
              <a:prstGeom prst="rect">
                <a:avLst/>
              </a:prstGeom>
              <a:blipFill rotWithShape="1">
                <a:blip r:embed="rId9"/>
                <a:stretch>
                  <a:fillRect/>
                </a:stretch>
              </a:blipFill>
            </p:spPr>
            <p:txBody>
              <a:bodyPr/>
              <a:lstStyle/>
              <a:p>
                <a:r>
                  <a:rPr lang="zh-CN" altLang="en-US">
                    <a:noFill/>
                  </a:rPr>
                  <a:t> </a:t>
                </a:r>
              </a:p>
            </p:txBody>
          </p:sp>
        </mc:Fallback>
      </mc:AlternateContent>
      <p:pic>
        <p:nvPicPr>
          <p:cNvPr id="7" name="图片 6"/>
          <p:cNvPicPr>
            <a:picLocks noChangeAspect="1"/>
          </p:cNvPicPr>
          <p:nvPr/>
        </p:nvPicPr>
        <p:blipFill>
          <a:blip r:embed="rId10"/>
          <a:srcRect t="39395"/>
          <a:stretch>
            <a:fillRect/>
          </a:stretch>
        </p:blipFill>
        <p:spPr>
          <a:xfrm>
            <a:off x="831215" y="5033010"/>
            <a:ext cx="6667500" cy="1233805"/>
          </a:xfrm>
          <a:prstGeom prst="rect">
            <a:avLst/>
          </a:prstGeom>
        </p:spPr>
      </p:pic>
      <p:pic>
        <p:nvPicPr>
          <p:cNvPr id="13" name="图片 12"/>
          <p:cNvPicPr>
            <a:picLocks noChangeAspect="1"/>
          </p:cNvPicPr>
          <p:nvPr/>
        </p:nvPicPr>
        <p:blipFill>
          <a:blip r:embed="rId10"/>
          <a:srcRect l="24810" b="58422"/>
          <a:stretch>
            <a:fillRect/>
          </a:stretch>
        </p:blipFill>
        <p:spPr>
          <a:xfrm>
            <a:off x="831215" y="4279265"/>
            <a:ext cx="5013325" cy="846455"/>
          </a:xfrm>
          <a:prstGeom prst="rect">
            <a:avLst/>
          </a:prstGeom>
        </p:spPr>
      </p:pic>
      <p:sp>
        <p:nvSpPr>
          <p:cNvPr id="15" name="文本框 14">
            <a:extLst>
              <a:ext uri="{FF2B5EF4-FFF2-40B4-BE49-F238E27FC236}">
                <a16:creationId xmlns:a16="http://schemas.microsoft.com/office/drawing/2014/main" id="{4F621216-FDBC-4D40-B914-06D33834D663}"/>
              </a:ext>
            </a:extLst>
          </p:cNvPr>
          <p:cNvSpPr txBox="1"/>
          <p:nvPr/>
        </p:nvSpPr>
        <p:spPr>
          <a:xfrm>
            <a:off x="8533546" y="3887371"/>
            <a:ext cx="1620957" cy="338554"/>
          </a:xfrm>
          <a:prstGeom prst="rect">
            <a:avLst/>
          </a:prstGeom>
          <a:noFill/>
        </p:spPr>
        <p:txBody>
          <a:bodyPr wrap="none" rtlCol="0">
            <a:spAutoFit/>
          </a:bodyPr>
          <a:lstStyle/>
          <a:p>
            <a:r>
              <a:rPr lang="zh-CN" altLang="en-US" sz="1600" dirty="0"/>
              <a:t>全桥差动电路图</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28162" y="493484"/>
            <a:ext cx="3535680" cy="768350"/>
          </a:xfrm>
          <a:prstGeom prst="rect">
            <a:avLst/>
          </a:prstGeom>
          <a:noFill/>
        </p:spPr>
        <p:txBody>
          <a:bodyPr wrap="none" rtlCol="0">
            <a:spAutoFit/>
          </a:bodyPr>
          <a:lstStyle/>
          <a:p>
            <a:pPr algn="ctr"/>
            <a:r>
              <a:rPr lang="zh-CN" altLang="en-US" sz="4400" b="1" dirty="0">
                <a:solidFill>
                  <a:srgbClr val="57658E"/>
                </a:solidFill>
                <a:cs typeface="+mn-ea"/>
                <a:sym typeface="+mn-lt"/>
              </a:rPr>
              <a:t>温度补偿电路</a:t>
            </a:r>
          </a:p>
        </p:txBody>
      </p:sp>
      <p:cxnSp>
        <p:nvCxnSpPr>
          <p:cNvPr id="31" name="直接连接符 30"/>
          <p:cNvCxnSpPr/>
          <p:nvPr/>
        </p:nvCxnSpPr>
        <p:spPr>
          <a:xfrm>
            <a:off x="5664000" y="1353969"/>
            <a:ext cx="864000" cy="0"/>
          </a:xfrm>
          <a:prstGeom prst="line">
            <a:avLst/>
          </a:prstGeom>
          <a:ln w="88900" cap="rnd">
            <a:solidFill>
              <a:srgbClr val="E9DAC6"/>
            </a:solidFill>
            <a:round/>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1491615" y="1725930"/>
            <a:ext cx="4902200" cy="4177030"/>
            <a:chOff x="2349" y="2718"/>
            <a:chExt cx="7720" cy="6578"/>
          </a:xfrm>
        </p:grpSpPr>
        <p:grpSp>
          <p:nvGrpSpPr>
            <p:cNvPr id="33" name="组合 32"/>
            <p:cNvGrpSpPr/>
            <p:nvPr>
              <p:custDataLst>
                <p:tags r:id="rId1"/>
              </p:custDataLst>
            </p:nvPr>
          </p:nvGrpSpPr>
          <p:grpSpPr>
            <a:xfrm>
              <a:off x="2349" y="2718"/>
              <a:ext cx="7720" cy="6579"/>
              <a:chOff x="831259" y="2017486"/>
              <a:chExt cx="4902200" cy="4427856"/>
            </a:xfrm>
          </p:grpSpPr>
          <p:sp>
            <p:nvSpPr>
              <p:cNvPr id="8" name="矩形 7"/>
              <p:cNvSpPr/>
              <p:nvPr>
                <p:custDataLst>
                  <p:tags r:id="rId2"/>
                </p:custDataLst>
              </p:nvPr>
            </p:nvSpPr>
            <p:spPr>
              <a:xfrm>
                <a:off x="831259" y="2017486"/>
                <a:ext cx="4902200" cy="4427856"/>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p:grpSp>
            <p:nvGrpSpPr>
              <p:cNvPr id="9" name="组合 8"/>
              <p:cNvGrpSpPr/>
              <p:nvPr/>
            </p:nvGrpSpPr>
            <p:grpSpPr>
              <a:xfrm>
                <a:off x="1125213" y="2163029"/>
                <a:ext cx="4462780" cy="1866295"/>
                <a:chOff x="2758024" y="1861053"/>
                <a:chExt cx="4462780" cy="1866295"/>
              </a:xfrm>
            </p:grpSpPr>
            <p:sp>
              <p:nvSpPr>
                <p:cNvPr id="10" name="文本框 9"/>
                <p:cNvSpPr txBox="1"/>
                <p:nvPr>
                  <p:custDataLst>
                    <p:tags r:id="rId3"/>
                  </p:custDataLst>
                </p:nvPr>
              </p:nvSpPr>
              <p:spPr>
                <a:xfrm>
                  <a:off x="2758024" y="1861053"/>
                  <a:ext cx="1706880" cy="487946"/>
                </a:xfrm>
                <a:prstGeom prst="rect">
                  <a:avLst/>
                </a:prstGeom>
                <a:noFill/>
              </p:spPr>
              <p:txBody>
                <a:bodyPr wrap="square" rtlCol="0">
                  <a:spAutoFit/>
                </a:bodyPr>
                <a:lstStyle/>
                <a:p>
                  <a:r>
                    <a:rPr lang="zh-CN" altLang="en-US" sz="2400">
                      <a:solidFill>
                        <a:srgbClr val="FCFBFC"/>
                      </a:solidFill>
                      <a:cs typeface="+mn-ea"/>
                      <a:sym typeface="+mn-lt"/>
                    </a:rPr>
                    <a:t>电桥补偿法</a:t>
                  </a:r>
                </a:p>
              </p:txBody>
            </p:sp>
            <p:sp>
              <p:nvSpPr>
                <p:cNvPr id="11" name="文本框 10"/>
                <p:cNvSpPr txBox="1"/>
                <p:nvPr>
                  <p:custDataLst>
                    <p:tags r:id="rId4"/>
                  </p:custDataLst>
                </p:nvPr>
              </p:nvSpPr>
              <p:spPr>
                <a:xfrm>
                  <a:off x="2758024" y="2549404"/>
                  <a:ext cx="4462780" cy="1177944"/>
                </a:xfrm>
                <a:prstGeom prst="rect">
                  <a:avLst/>
                </a:prstGeom>
                <a:noFill/>
              </p:spPr>
              <p:txBody>
                <a:bodyPr wrap="square" rtlCol="0">
                  <a:noAutofit/>
                </a:bodyPr>
                <a:lstStyle/>
                <a:p>
                  <a:pPr>
                    <a:lnSpc>
                      <a:spcPct val="150000"/>
                    </a:lnSpc>
                  </a:pPr>
                  <a:r>
                    <a:rPr lang="zh-CN" altLang="en-US" sz="1600" dirty="0">
                      <a:solidFill>
                        <a:srgbClr val="FCFBFC"/>
                      </a:solidFill>
                      <a:cs typeface="+mn-ea"/>
                      <a:sym typeface="+mn-lt"/>
                    </a:rPr>
                    <a:t>利用电桥相邻相等二臂同时产生大小相等、符号相同的电阻量而不会破坏电桥平衡的特性来达到补偿的目的。</a:t>
                  </a:r>
                </a:p>
                <a:p>
                  <a:pPr>
                    <a:lnSpc>
                      <a:spcPct val="150000"/>
                    </a:lnSpc>
                  </a:pPr>
                  <a:endParaRPr lang="zh-CN" altLang="en-US" sz="1600" dirty="0">
                    <a:solidFill>
                      <a:srgbClr val="FCFBFC"/>
                    </a:solidFill>
                    <a:cs typeface="+mn-ea"/>
                    <a:sym typeface="+mn-lt"/>
                  </a:endParaRPr>
                </a:p>
              </p:txBody>
            </p:sp>
            <p:cxnSp>
              <p:nvCxnSpPr>
                <p:cNvPr id="12" name="直接连接符 11"/>
                <p:cNvCxnSpPr/>
                <p:nvPr>
                  <p:custDataLst>
                    <p:tags r:id="rId5"/>
                  </p:custDataLst>
                </p:nvPr>
              </p:nvCxnSpPr>
              <p:spPr>
                <a:xfrm>
                  <a:off x="2916039" y="2422118"/>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13" name="文本框 12"/>
                <p:cNvSpPr txBox="1"/>
                <p:nvPr/>
              </p:nvSpPr>
              <p:spPr>
                <a:xfrm>
                  <a:off x="2812" y="5886"/>
                  <a:ext cx="6826" cy="3272"/>
                </a:xfrm>
                <a:prstGeom prst="rect">
                  <a:avLst/>
                </a:prstGeom>
                <a:noFill/>
              </p:spPr>
              <p:txBody>
                <a:bodyPr wrap="square" rtlCol="0">
                  <a:spAutoFit/>
                </a:bodyPr>
                <a:lstStyle/>
                <a:p>
                  <a:pPr indent="0" algn="l" fontAlgn="auto">
                    <a:lnSpc>
                      <a:spcPct val="150000"/>
                    </a:lnSpc>
                  </a:pPr>
                  <a14:m>
                    <m:oMath xmlns:m="http://schemas.openxmlformats.org/officeDocument/2006/math">
                      <m:sSub>
                        <m:sSubPr>
                          <m:ctrlPr>
                            <a:rPr lang="zh-CN" altLang="en-US" sz="1600" i="1">
                              <a:solidFill>
                                <a:srgbClr val="FCFBFC"/>
                              </a:solidFill>
                              <a:latin typeface="Cambria Math" panose="02040503050406030204" pitchFamily="18" charset="0"/>
                              <a:cs typeface="+mn-ea"/>
                              <a:sym typeface="+mn-lt"/>
                            </a:rPr>
                          </m:ctrlPr>
                        </m:sSubPr>
                        <m:e>
                          <m:r>
                            <a:rPr lang="zh-CN" altLang="en-US" sz="1600">
                              <a:solidFill>
                                <a:srgbClr val="FCFBFC"/>
                              </a:solidFill>
                              <a:latin typeface="Cambria Math" panose="02040503050406030204" charset="0"/>
                              <a:cs typeface="+mn-ea"/>
                              <a:sym typeface="+mn-lt"/>
                            </a:rPr>
                            <m:t>𝑅</m:t>
                          </m:r>
                        </m:e>
                        <m:sub>
                          <m:r>
                            <a:rPr lang="zh-CN" altLang="en-US" sz="1600">
                              <a:solidFill>
                                <a:srgbClr val="FCFBFC"/>
                              </a:solidFill>
                              <a:latin typeface="Cambria Math" panose="02040503050406030204" charset="0"/>
                              <a:cs typeface="+mn-ea"/>
                              <a:sym typeface="+mn-lt"/>
                            </a:rPr>
                            <m:t>1</m:t>
                          </m:r>
                        </m:sub>
                      </m:sSub>
                      <m:r>
                        <a:rPr lang="zh-CN" altLang="en-US" sz="1600">
                          <a:solidFill>
                            <a:srgbClr val="FCFBFC"/>
                          </a:solidFill>
                          <a:latin typeface="Cambria Math" panose="02040503050406030204" charset="0"/>
                          <a:cs typeface="+mn-ea"/>
                          <a:sym typeface="+mn-lt"/>
                        </a:rPr>
                        <m:t>、</m:t>
                      </m:r>
                      <m:sSub>
                        <m:sSubPr>
                          <m:ctrlPr>
                            <a:rPr lang="zh-CN" altLang="en-US" sz="1600" i="1">
                              <a:solidFill>
                                <a:srgbClr val="FCFBFC"/>
                              </a:solidFill>
                              <a:latin typeface="Cambria Math" panose="02040503050406030204" pitchFamily="18" charset="0"/>
                              <a:cs typeface="+mn-ea"/>
                              <a:sym typeface="+mn-lt"/>
                            </a:rPr>
                          </m:ctrlPr>
                        </m:sSubPr>
                        <m:e>
                          <m:r>
                            <a:rPr lang="zh-CN" altLang="en-US" sz="1600">
                              <a:solidFill>
                                <a:srgbClr val="FCFBFC"/>
                              </a:solidFill>
                              <a:latin typeface="Cambria Math" panose="02040503050406030204" charset="0"/>
                              <a:cs typeface="+mn-ea"/>
                              <a:sym typeface="+mn-lt"/>
                            </a:rPr>
                            <m:t>𝑅</m:t>
                          </m:r>
                        </m:e>
                        <m:sub>
                          <m:r>
                            <a:rPr lang="zh-CN" altLang="en-US" sz="1600">
                              <a:solidFill>
                                <a:srgbClr val="FCFBFC"/>
                              </a:solidFill>
                              <a:latin typeface="Cambria Math" panose="02040503050406030204" charset="0"/>
                              <a:cs typeface="+mn-ea"/>
                              <a:sym typeface="+mn-lt"/>
                            </a:rPr>
                            <m:t>2</m:t>
                          </m:r>
                        </m:sub>
                      </m:sSub>
                    </m:oMath>
                  </a14:m>
                  <a:r>
                    <a:rPr lang="zh-CN" altLang="en-US" sz="1600">
                      <a:solidFill>
                        <a:srgbClr val="FCFBFC"/>
                      </a:solidFill>
                      <a:cs typeface="+mn-ea"/>
                      <a:sym typeface="+mn-lt"/>
                    </a:rPr>
                    <a:t>两应变片完全相同，当温度变化时，两应变片的电阻变化</a:t>
                  </a:r>
                  <a14:m>
                    <m:oMath xmlns:m="http://schemas.openxmlformats.org/officeDocument/2006/math">
                      <m:r>
                        <a:rPr lang="zh-CN" altLang="en-US" sz="1600">
                          <a:solidFill>
                            <a:srgbClr val="FCFBFC"/>
                          </a:solidFill>
                          <a:latin typeface="Cambria Math" panose="02040503050406030204" charset="0"/>
                          <a:cs typeface="+mn-ea"/>
                          <a:sym typeface="+mn-lt"/>
                        </a:rPr>
                        <m:t>∆</m:t>
                      </m:r>
                      <m:sSub>
                        <m:sSubPr>
                          <m:ctrlPr>
                            <a:rPr lang="zh-CN" altLang="en-US" sz="1600" i="1">
                              <a:solidFill>
                                <a:srgbClr val="FCFBFC"/>
                              </a:solidFill>
                              <a:latin typeface="Cambria Math" panose="02040503050406030204" pitchFamily="18" charset="0"/>
                              <a:cs typeface="+mn-ea"/>
                              <a:sym typeface="+mn-lt"/>
                            </a:rPr>
                          </m:ctrlPr>
                        </m:sSubPr>
                        <m:e>
                          <m:r>
                            <a:rPr lang="zh-CN" altLang="en-US" sz="1600">
                              <a:solidFill>
                                <a:srgbClr val="FCFBFC"/>
                              </a:solidFill>
                              <a:latin typeface="Cambria Math" panose="02040503050406030204" charset="0"/>
                              <a:cs typeface="+mn-ea"/>
                              <a:sym typeface="+mn-lt"/>
                            </a:rPr>
                            <m:t>𝑅</m:t>
                          </m:r>
                        </m:e>
                        <m:sub>
                          <m:r>
                            <a:rPr lang="zh-CN" altLang="en-US" sz="1600">
                              <a:solidFill>
                                <a:srgbClr val="FCFBFC"/>
                              </a:solidFill>
                              <a:latin typeface="Cambria Math" panose="02040503050406030204" charset="0"/>
                              <a:cs typeface="+mn-ea"/>
                              <a:sym typeface="+mn-lt"/>
                            </a:rPr>
                            <m:t>1</m:t>
                          </m:r>
                        </m:sub>
                      </m:sSub>
                    </m:oMath>
                  </a14:m>
                  <a:br>
                    <a:rPr lang="zh-CN" altLang="en-US" sz="1600">
                      <a:solidFill>
                        <a:srgbClr val="FCFBFC"/>
                      </a:solidFill>
                      <a:latin typeface="Cambria Math" panose="02040503050406030204" charset="0"/>
                      <a:cs typeface="+mn-ea"/>
                      <a:sym typeface="+mn-lt"/>
                    </a:rPr>
                  </a:br>
                  <a14:m>
                    <m:oMath xmlns:m="http://schemas.openxmlformats.org/officeDocument/2006/math">
                      <m:r>
                        <a:rPr lang="zh-CN" altLang="en-US" sz="1600">
                          <a:solidFill>
                            <a:srgbClr val="FCFBFC"/>
                          </a:solidFill>
                          <a:latin typeface="Cambria Math" panose="02040503050406030204" charset="0"/>
                          <a:cs typeface="+mn-ea"/>
                          <a:sym typeface="+mn-lt"/>
                        </a:rPr>
                        <m:t>∆</m:t>
                      </m:r>
                      <m:sSub>
                        <m:sSubPr>
                          <m:ctrlPr>
                            <a:rPr lang="zh-CN" altLang="en-US" sz="1600" i="1">
                              <a:solidFill>
                                <a:srgbClr val="FCFBFC"/>
                              </a:solidFill>
                              <a:latin typeface="Cambria Math" panose="02040503050406030204" pitchFamily="18" charset="0"/>
                              <a:cs typeface="+mn-ea"/>
                              <a:sym typeface="+mn-lt"/>
                            </a:rPr>
                          </m:ctrlPr>
                        </m:sSubPr>
                        <m:e>
                          <m:r>
                            <a:rPr lang="zh-CN" altLang="en-US" sz="1600">
                              <a:solidFill>
                                <a:srgbClr val="FCFBFC"/>
                              </a:solidFill>
                              <a:latin typeface="Cambria Math" panose="02040503050406030204" charset="0"/>
                              <a:cs typeface="+mn-ea"/>
                              <a:sym typeface="+mn-lt"/>
                            </a:rPr>
                            <m:t>𝑅</m:t>
                          </m:r>
                        </m:e>
                        <m:sub>
                          <m:r>
                            <a:rPr lang="zh-CN" altLang="en-US" sz="1600">
                              <a:solidFill>
                                <a:srgbClr val="FCFBFC"/>
                              </a:solidFill>
                              <a:latin typeface="Cambria Math" panose="02040503050406030204" charset="0"/>
                              <a:cs typeface="+mn-ea"/>
                              <a:sym typeface="+mn-lt"/>
                            </a:rPr>
                            <m:t>2</m:t>
                          </m:r>
                        </m:sub>
                      </m:sSub>
                    </m:oMath>
                  </a14:m>
                  <a:r>
                    <a:rPr lang="zh-CN" altLang="en-US" sz="1600">
                      <a:solidFill>
                        <a:srgbClr val="FCFBFC"/>
                      </a:solidFill>
                      <a:cs typeface="+mn-ea"/>
                      <a:sym typeface="+mn-lt"/>
                    </a:rPr>
                    <a:t>符号相同、数值相等，电桥仍满足平衡条件无输出。因此，电桥输出仅与被测试件的应变有关，而与环境温度无关。</a:t>
                  </a:r>
                  <a:endParaRPr lang="zh-CN" altLang="en-US" sz="1600">
                    <a:solidFill>
                      <a:srgbClr val="FCFBFC"/>
                    </a:solidFill>
                    <a:cs typeface="+mn-ea"/>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2812" y="5886"/>
                  <a:ext cx="6826" cy="3272"/>
                </a:xfrm>
                <a:prstGeom prst="rect">
                  <a:avLst/>
                </a:prstGeom>
                <a:blipFill rotWithShape="1">
                  <a:blip r:embed="rId7"/>
                </a:blipFill>
              </p:spPr>
              <p:txBody>
                <a:bodyPr/>
                <a:lstStyle/>
                <a:p>
                  <a:r>
                    <a:rPr lang="zh-CN" altLang="en-US">
                      <a:noFill/>
                    </a:rPr>
                    <a:t> </a:t>
                  </a:r>
                </a:p>
              </p:txBody>
            </p:sp>
          </mc:Fallback>
        </mc:AlternateContent>
      </p:grpSp>
      <p:pic>
        <p:nvPicPr>
          <p:cNvPr id="7" name="图片 6" descr="45cc4c3ec8833629f02e1455d054aa5c"/>
          <p:cNvPicPr>
            <a:picLocks noChangeAspect="1"/>
          </p:cNvPicPr>
          <p:nvPr/>
        </p:nvPicPr>
        <p:blipFill rotWithShape="1">
          <a:blip r:embed="rId8"/>
          <a:srcRect l="-1" r="-2156" b="23143"/>
          <a:stretch/>
        </p:blipFill>
        <p:spPr>
          <a:xfrm>
            <a:off x="7540568" y="2151826"/>
            <a:ext cx="3059583" cy="2944530"/>
          </a:xfrm>
          <a:prstGeom prst="rect">
            <a:avLst/>
          </a:prstGeom>
        </p:spPr>
      </p:pic>
      <p:sp>
        <p:nvSpPr>
          <p:cNvPr id="3" name="文本框 2">
            <a:extLst>
              <a:ext uri="{FF2B5EF4-FFF2-40B4-BE49-F238E27FC236}">
                <a16:creationId xmlns:a16="http://schemas.microsoft.com/office/drawing/2014/main" id="{A79C02FF-4690-4379-91F6-5CCAE2421F36}"/>
              </a:ext>
            </a:extLst>
          </p:cNvPr>
          <p:cNvSpPr txBox="1"/>
          <p:nvPr/>
        </p:nvSpPr>
        <p:spPr>
          <a:xfrm>
            <a:off x="8259880" y="5220392"/>
            <a:ext cx="1620957" cy="338554"/>
          </a:xfrm>
          <a:prstGeom prst="rect">
            <a:avLst/>
          </a:prstGeom>
          <a:noFill/>
        </p:spPr>
        <p:txBody>
          <a:bodyPr wrap="none" rtlCol="0">
            <a:spAutoFit/>
          </a:bodyPr>
          <a:lstStyle/>
          <a:p>
            <a:r>
              <a:rPr lang="zh-CN" altLang="en-US" sz="1600" dirty="0"/>
              <a:t>电桥补偿电路图</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328160" y="493484"/>
            <a:ext cx="3535680" cy="768350"/>
          </a:xfrm>
          <a:prstGeom prst="rect">
            <a:avLst/>
          </a:prstGeom>
          <a:noFill/>
        </p:spPr>
        <p:txBody>
          <a:bodyPr wrap="none" rtlCol="0">
            <a:spAutoFit/>
          </a:bodyPr>
          <a:lstStyle/>
          <a:p>
            <a:pPr algn="ctr"/>
            <a:r>
              <a:rPr lang="zh-CN" altLang="en-US" sz="4400" b="1" dirty="0">
                <a:solidFill>
                  <a:srgbClr val="57658E"/>
                </a:solidFill>
                <a:cs typeface="+mn-ea"/>
                <a:sym typeface="+mn-lt"/>
              </a:rPr>
              <a:t>温度补偿电路</a:t>
            </a:r>
          </a:p>
        </p:txBody>
      </p:sp>
      <p:sp>
        <p:nvSpPr>
          <p:cNvPr id="31" name="箭头: 右 30"/>
          <p:cNvSpPr/>
          <p:nvPr>
            <p:custDataLst>
              <p:tags r:id="rId1"/>
            </p:custDataLst>
          </p:nvPr>
        </p:nvSpPr>
        <p:spPr>
          <a:xfrm>
            <a:off x="3734062" y="2513243"/>
            <a:ext cx="711200" cy="696686"/>
          </a:xfrm>
          <a:prstGeom prst="rightArrow">
            <a:avLst/>
          </a:prstGeom>
          <a:solidFill>
            <a:srgbClr val="57658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箭头: 右 31"/>
          <p:cNvSpPr/>
          <p:nvPr>
            <p:custDataLst>
              <p:tags r:id="rId2"/>
            </p:custDataLst>
          </p:nvPr>
        </p:nvSpPr>
        <p:spPr>
          <a:xfrm>
            <a:off x="7841606" y="2513243"/>
            <a:ext cx="711200" cy="696686"/>
          </a:xfrm>
          <a:prstGeom prst="rightArrow">
            <a:avLst/>
          </a:prstGeom>
          <a:solidFill>
            <a:srgbClr val="57658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0" name="组合 39"/>
          <p:cNvGrpSpPr/>
          <p:nvPr>
            <p:custDataLst>
              <p:tags r:id="rId3"/>
            </p:custDataLst>
          </p:nvPr>
        </p:nvGrpSpPr>
        <p:grpSpPr>
          <a:xfrm>
            <a:off x="4831037" y="2171241"/>
            <a:ext cx="2858792" cy="4145954"/>
            <a:chOff x="4606065" y="1822898"/>
            <a:chExt cx="2858792" cy="4145954"/>
          </a:xfrm>
        </p:grpSpPr>
        <p:grpSp>
          <p:nvGrpSpPr>
            <p:cNvPr id="29" name="组合 28"/>
            <p:cNvGrpSpPr/>
            <p:nvPr/>
          </p:nvGrpSpPr>
          <p:grpSpPr>
            <a:xfrm>
              <a:off x="4606065" y="3555527"/>
              <a:ext cx="2858792" cy="2413325"/>
              <a:chOff x="4606065" y="3555527"/>
              <a:chExt cx="2858792" cy="2413325"/>
            </a:xfrm>
          </p:grpSpPr>
          <p:sp>
            <p:nvSpPr>
              <p:cNvPr id="13" name="文本框 12"/>
              <p:cNvSpPr txBox="1"/>
              <p:nvPr>
                <p:custDataLst>
                  <p:tags r:id="rId18"/>
                </p:custDataLst>
              </p:nvPr>
            </p:nvSpPr>
            <p:spPr>
              <a:xfrm flipH="1">
                <a:off x="5115346" y="3555527"/>
                <a:ext cx="1840230" cy="523220"/>
              </a:xfrm>
              <a:prstGeom prst="rect">
                <a:avLst/>
              </a:prstGeom>
              <a:noFill/>
            </p:spPr>
            <p:txBody>
              <a:bodyPr wrap="square" rtlCol="0">
                <a:spAutoFit/>
              </a:bodyPr>
              <a:lstStyle/>
              <a:p>
                <a:pPr algn="ctr"/>
                <a:r>
                  <a:rPr lang="zh-CN" altLang="en-US" sz="2800" dirty="0">
                    <a:solidFill>
                      <a:srgbClr val="57658E"/>
                    </a:solidFill>
                    <a:cs typeface="+mn-ea"/>
                    <a:sym typeface="+mn-lt"/>
                  </a:rPr>
                  <a:t>热敏电阻</a:t>
                </a:r>
              </a:p>
            </p:txBody>
          </p:sp>
          <p:cxnSp>
            <p:nvCxnSpPr>
              <p:cNvPr id="14" name="直线 16"/>
              <p:cNvCxnSpPr/>
              <p:nvPr>
                <p:custDataLst>
                  <p:tags r:id="rId19"/>
                </p:custDataLst>
              </p:nvPr>
            </p:nvCxnSpPr>
            <p:spPr>
              <a:xfrm>
                <a:off x="5760226" y="4160792"/>
                <a:ext cx="468000" cy="0"/>
              </a:xfrm>
              <a:prstGeom prst="line">
                <a:avLst/>
              </a:prstGeom>
              <a:ln w="63500" cap="rnd">
                <a:solidFill>
                  <a:srgbClr val="57658E"/>
                </a:solidFill>
                <a:round/>
              </a:ln>
            </p:spPr>
            <p:style>
              <a:lnRef idx="1">
                <a:schemeClr val="accent1"/>
              </a:lnRef>
              <a:fillRef idx="0">
                <a:schemeClr val="accent1"/>
              </a:fillRef>
              <a:effectRef idx="0">
                <a:schemeClr val="accent1"/>
              </a:effectRef>
              <a:fontRef idx="minor">
                <a:schemeClr val="tx1"/>
              </a:fontRef>
            </p:style>
          </p:cxnSp>
          <p:sp>
            <p:nvSpPr>
              <p:cNvPr id="26" name="文本框 25"/>
              <p:cNvSpPr txBox="1"/>
              <p:nvPr>
                <p:custDataLst>
                  <p:tags r:id="rId20"/>
                </p:custDataLst>
              </p:nvPr>
            </p:nvSpPr>
            <p:spPr>
              <a:xfrm flipH="1">
                <a:off x="4606065" y="4263449"/>
                <a:ext cx="2858792" cy="1705403"/>
              </a:xfrm>
              <a:prstGeom prst="rect">
                <a:avLst/>
              </a:prstGeom>
              <a:noFill/>
            </p:spPr>
            <p:txBody>
              <a:bodyPr wrap="square" rtlCol="0">
                <a:spAutoFit/>
              </a:bodyPr>
              <a:lstStyle/>
              <a:p>
                <a:pPr algn="ctr">
                  <a:lnSpc>
                    <a:spcPct val="150000"/>
                  </a:lnSpc>
                </a:pPr>
                <a:r>
                  <a:rPr lang="zh-CN" altLang="en-US" dirty="0">
                    <a:solidFill>
                      <a:srgbClr val="57658E"/>
                    </a:solidFill>
                    <a:latin typeface="+mn-ea"/>
                    <a:cs typeface="+mn-ea"/>
                    <a:sym typeface="+mn-lt"/>
                  </a:rPr>
                  <a:t>在桥路中并联或串联NTC热敏电阻，当环境温度升高时，热敏电阻阻值下降可抵消温漂影响</a:t>
                </a:r>
              </a:p>
            </p:txBody>
          </p:sp>
        </p:grpSp>
        <p:grpSp>
          <p:nvGrpSpPr>
            <p:cNvPr id="37" name="组合 36"/>
            <p:cNvGrpSpPr/>
            <p:nvPr/>
          </p:nvGrpSpPr>
          <p:grpSpPr>
            <a:xfrm>
              <a:off x="5228117" y="1822898"/>
              <a:ext cx="1380691" cy="1380691"/>
              <a:chOff x="5523156" y="1822898"/>
              <a:chExt cx="1380691" cy="1380691"/>
            </a:xfrm>
          </p:grpSpPr>
          <p:sp>
            <p:nvSpPr>
              <p:cNvPr id="16" name="椭圆 15"/>
              <p:cNvSpPr/>
              <p:nvPr>
                <p:custDataLst>
                  <p:tags r:id="rId16"/>
                </p:custDataLst>
              </p:nvPr>
            </p:nvSpPr>
            <p:spPr>
              <a:xfrm>
                <a:off x="5523156" y="1822898"/>
                <a:ext cx="1380691" cy="1380691"/>
              </a:xfrm>
              <a:prstGeom prst="ellipse">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3" name="图片 12" descr="electronics"/>
              <p:cNvPicPr>
                <a:picLocks noChangeAspect="1"/>
              </p:cNvPicPr>
              <p:nvPr>
                <p:custDataLst>
                  <p:tags r:id="rId17"/>
                </p:custDataLst>
              </p:nvPr>
            </p:nvPicPr>
            <p:blipFill>
              <a:blip r:embed="rId22"/>
              <a:stretch>
                <a:fillRect/>
              </a:stretch>
            </p:blipFill>
            <p:spPr>
              <a:xfrm>
                <a:off x="5784215" y="2083957"/>
                <a:ext cx="858573" cy="858573"/>
              </a:xfrm>
              <a:prstGeom prst="rect">
                <a:avLst/>
              </a:prstGeom>
            </p:spPr>
          </p:pic>
        </p:grpSp>
      </p:grpSp>
      <p:grpSp>
        <p:nvGrpSpPr>
          <p:cNvPr id="39" name="组合 38"/>
          <p:cNvGrpSpPr/>
          <p:nvPr>
            <p:custDataLst>
              <p:tags r:id="rId4"/>
            </p:custDataLst>
          </p:nvPr>
        </p:nvGrpSpPr>
        <p:grpSpPr>
          <a:xfrm>
            <a:off x="888928" y="2171241"/>
            <a:ext cx="2610787" cy="3879063"/>
            <a:chOff x="888928" y="1822898"/>
            <a:chExt cx="2610787" cy="3879063"/>
          </a:xfrm>
        </p:grpSpPr>
        <p:grpSp>
          <p:nvGrpSpPr>
            <p:cNvPr id="28" name="组合 27"/>
            <p:cNvGrpSpPr/>
            <p:nvPr/>
          </p:nvGrpSpPr>
          <p:grpSpPr>
            <a:xfrm>
              <a:off x="888928" y="3541455"/>
              <a:ext cx="2610787" cy="2160506"/>
              <a:chOff x="888928" y="3541455"/>
              <a:chExt cx="2610787" cy="2160506"/>
            </a:xfrm>
          </p:grpSpPr>
          <p:sp>
            <p:nvSpPr>
              <p:cNvPr id="6" name="文本框 5"/>
              <p:cNvSpPr txBox="1"/>
              <p:nvPr>
                <p:custDataLst>
                  <p:tags r:id="rId13"/>
                </p:custDataLst>
              </p:nvPr>
            </p:nvSpPr>
            <p:spPr>
              <a:xfrm flipH="1">
                <a:off x="888928" y="3541455"/>
                <a:ext cx="2459650" cy="523220"/>
              </a:xfrm>
              <a:prstGeom prst="rect">
                <a:avLst/>
              </a:prstGeom>
              <a:noFill/>
            </p:spPr>
            <p:txBody>
              <a:bodyPr wrap="square" rtlCol="0">
                <a:spAutoFit/>
              </a:bodyPr>
              <a:lstStyle/>
              <a:p>
                <a:pPr algn="ctr"/>
                <a:r>
                  <a:rPr lang="zh-CN" altLang="en-US" sz="2800" dirty="0">
                    <a:solidFill>
                      <a:srgbClr val="57658E"/>
                    </a:solidFill>
                    <a:cs typeface="+mn-ea"/>
                    <a:sym typeface="+mn-lt"/>
                  </a:rPr>
                  <a:t>半导体缺点</a:t>
                </a:r>
              </a:p>
            </p:txBody>
          </p:sp>
          <p:cxnSp>
            <p:nvCxnSpPr>
              <p:cNvPr id="7" name="直线 16"/>
              <p:cNvCxnSpPr/>
              <p:nvPr>
                <p:custDataLst>
                  <p:tags r:id="rId14"/>
                </p:custDataLst>
              </p:nvPr>
            </p:nvCxnSpPr>
            <p:spPr>
              <a:xfrm>
                <a:off x="1801890" y="4218981"/>
                <a:ext cx="468000" cy="0"/>
              </a:xfrm>
              <a:prstGeom prst="line">
                <a:avLst/>
              </a:prstGeom>
              <a:ln w="63500" cap="rnd">
                <a:solidFill>
                  <a:srgbClr val="57658E"/>
                </a:solidFill>
                <a:round/>
              </a:ln>
            </p:spPr>
            <p:style>
              <a:lnRef idx="1">
                <a:schemeClr val="accent1"/>
              </a:lnRef>
              <a:fillRef idx="0">
                <a:schemeClr val="accent1"/>
              </a:fillRef>
              <a:effectRef idx="0">
                <a:schemeClr val="accent1"/>
              </a:effectRef>
              <a:fontRef idx="minor">
                <a:schemeClr val="tx1"/>
              </a:fontRef>
            </p:style>
          </p:cxnSp>
          <p:sp>
            <p:nvSpPr>
              <p:cNvPr id="8" name="文本框 7"/>
              <p:cNvSpPr txBox="1"/>
              <p:nvPr>
                <p:custDataLst>
                  <p:tags r:id="rId15"/>
                </p:custDataLst>
              </p:nvPr>
            </p:nvSpPr>
            <p:spPr>
              <a:xfrm flipH="1">
                <a:off x="1040065" y="4412056"/>
                <a:ext cx="2459650" cy="1289905"/>
              </a:xfrm>
              <a:prstGeom prst="rect">
                <a:avLst/>
              </a:prstGeom>
              <a:noFill/>
            </p:spPr>
            <p:txBody>
              <a:bodyPr wrap="square" rtlCol="0">
                <a:spAutoFit/>
              </a:bodyPr>
              <a:lstStyle/>
              <a:p>
                <a:pPr algn="l">
                  <a:lnSpc>
                    <a:spcPct val="150000"/>
                  </a:lnSpc>
                </a:pPr>
                <a:r>
                  <a:rPr lang="en-US" altLang="zh-CN" dirty="0">
                    <a:solidFill>
                      <a:srgbClr val="57658E"/>
                    </a:solidFill>
                    <a:latin typeface="+mn-ea"/>
                    <a:cs typeface="+mn-ea"/>
                    <a:sym typeface="+mn-lt"/>
                  </a:rPr>
                  <a:t>半导体应变片的电阻值和灵敏系数受温度影响较大</a:t>
                </a:r>
              </a:p>
            </p:txBody>
          </p:sp>
        </p:grpSp>
        <p:grpSp>
          <p:nvGrpSpPr>
            <p:cNvPr id="36" name="组合 35"/>
            <p:cNvGrpSpPr/>
            <p:nvPr/>
          </p:nvGrpSpPr>
          <p:grpSpPr>
            <a:xfrm>
              <a:off x="1345545" y="1822898"/>
              <a:ext cx="1380691" cy="1380691"/>
              <a:chOff x="1410661" y="1822898"/>
              <a:chExt cx="1380691" cy="1380691"/>
            </a:xfrm>
          </p:grpSpPr>
          <p:sp>
            <p:nvSpPr>
              <p:cNvPr id="9" name="椭圆 8"/>
              <p:cNvSpPr/>
              <p:nvPr>
                <p:custDataLst>
                  <p:tags r:id="rId11"/>
                </p:custDataLst>
              </p:nvPr>
            </p:nvSpPr>
            <p:spPr>
              <a:xfrm>
                <a:off x="1410661" y="1822898"/>
                <a:ext cx="1380691" cy="1380691"/>
              </a:xfrm>
              <a:prstGeom prst="ellipse">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4" name="图片 18" descr="feeds"/>
              <p:cNvPicPr>
                <a:picLocks noChangeAspect="1"/>
              </p:cNvPicPr>
              <p:nvPr>
                <p:custDataLst>
                  <p:tags r:id="rId12"/>
                </p:custDataLst>
              </p:nvPr>
            </p:nvPicPr>
            <p:blipFill>
              <a:blip r:embed="rId23"/>
              <a:stretch>
                <a:fillRect/>
              </a:stretch>
            </p:blipFill>
            <p:spPr>
              <a:xfrm>
                <a:off x="1671720" y="2083957"/>
                <a:ext cx="858573" cy="858573"/>
              </a:xfrm>
              <a:prstGeom prst="rect">
                <a:avLst/>
              </a:prstGeom>
            </p:spPr>
          </p:pic>
        </p:grpSp>
      </p:grpSp>
      <p:grpSp>
        <p:nvGrpSpPr>
          <p:cNvPr id="41" name="组合 40"/>
          <p:cNvGrpSpPr/>
          <p:nvPr>
            <p:custDataLst>
              <p:tags r:id="rId5"/>
            </p:custDataLst>
          </p:nvPr>
        </p:nvGrpSpPr>
        <p:grpSpPr>
          <a:xfrm>
            <a:off x="8939730" y="2171241"/>
            <a:ext cx="3090493" cy="4458796"/>
            <a:chOff x="8939730" y="1822898"/>
            <a:chExt cx="3090493" cy="4458796"/>
          </a:xfrm>
        </p:grpSpPr>
        <p:grpSp>
          <p:nvGrpSpPr>
            <p:cNvPr id="30" name="组合 29"/>
            <p:cNvGrpSpPr/>
            <p:nvPr/>
          </p:nvGrpSpPr>
          <p:grpSpPr>
            <a:xfrm>
              <a:off x="8939730" y="3541455"/>
              <a:ext cx="3090493" cy="2740239"/>
              <a:chOff x="8939730" y="3541455"/>
              <a:chExt cx="3090493" cy="2740239"/>
            </a:xfrm>
          </p:grpSpPr>
          <p:sp>
            <p:nvSpPr>
              <p:cNvPr id="20" name="文本框 19"/>
              <p:cNvSpPr txBox="1"/>
              <p:nvPr>
                <p:custDataLst>
                  <p:tags r:id="rId8"/>
                </p:custDataLst>
              </p:nvPr>
            </p:nvSpPr>
            <p:spPr>
              <a:xfrm flipH="1">
                <a:off x="9196912" y="3541455"/>
                <a:ext cx="2086887" cy="523220"/>
              </a:xfrm>
              <a:prstGeom prst="rect">
                <a:avLst/>
              </a:prstGeom>
              <a:noFill/>
            </p:spPr>
            <p:txBody>
              <a:bodyPr wrap="square" rtlCol="0">
                <a:spAutoFit/>
              </a:bodyPr>
              <a:lstStyle/>
              <a:p>
                <a:pPr algn="ctr"/>
                <a:r>
                  <a:rPr lang="zh-CN" altLang="en-US" sz="2800" dirty="0">
                    <a:solidFill>
                      <a:srgbClr val="57658E"/>
                    </a:solidFill>
                    <a:cs typeface="+mn-ea"/>
                    <a:sym typeface="+mn-lt"/>
                  </a:rPr>
                  <a:t>算法补偿</a:t>
                </a:r>
              </a:p>
            </p:txBody>
          </p:sp>
          <p:cxnSp>
            <p:nvCxnSpPr>
              <p:cNvPr id="21" name="直线 16"/>
              <p:cNvCxnSpPr/>
              <p:nvPr>
                <p:custDataLst>
                  <p:tags r:id="rId9"/>
                </p:custDataLst>
              </p:nvPr>
            </p:nvCxnSpPr>
            <p:spPr>
              <a:xfrm>
                <a:off x="10016977" y="4197680"/>
                <a:ext cx="468000" cy="0"/>
              </a:xfrm>
              <a:prstGeom prst="line">
                <a:avLst/>
              </a:prstGeom>
              <a:ln w="63500" cap="rnd">
                <a:solidFill>
                  <a:srgbClr val="57658E"/>
                </a:solidFill>
                <a:round/>
              </a:ln>
            </p:spPr>
            <p:style>
              <a:lnRef idx="1">
                <a:schemeClr val="accent1"/>
              </a:lnRef>
              <a:fillRef idx="0">
                <a:schemeClr val="accent1"/>
              </a:fillRef>
              <a:effectRef idx="0">
                <a:schemeClr val="accent1"/>
              </a:effectRef>
              <a:fontRef idx="minor">
                <a:schemeClr val="tx1"/>
              </a:fontRef>
            </p:style>
          </p:cxnSp>
          <p:sp>
            <p:nvSpPr>
              <p:cNvPr id="27" name="文本框 26"/>
              <p:cNvSpPr txBox="1"/>
              <p:nvPr>
                <p:custDataLst>
                  <p:tags r:id="rId10"/>
                </p:custDataLst>
              </p:nvPr>
            </p:nvSpPr>
            <p:spPr>
              <a:xfrm flipH="1">
                <a:off x="8939730" y="4160792"/>
                <a:ext cx="3090493" cy="2120902"/>
              </a:xfrm>
              <a:prstGeom prst="rect">
                <a:avLst/>
              </a:prstGeom>
              <a:noFill/>
            </p:spPr>
            <p:txBody>
              <a:bodyPr wrap="square" rtlCol="0">
                <a:spAutoFit/>
              </a:bodyPr>
              <a:lstStyle/>
              <a:p>
                <a:pPr>
                  <a:lnSpc>
                    <a:spcPct val="150000"/>
                  </a:lnSpc>
                </a:pPr>
                <a:r>
                  <a:rPr lang="en-US" altLang="zh-CN" dirty="0">
                    <a:solidFill>
                      <a:srgbClr val="57658E"/>
                    </a:solidFill>
                    <a:latin typeface="+mn-ea"/>
                    <a:cs typeface="+mn-ea"/>
                    <a:sym typeface="+mn-lt"/>
                  </a:rPr>
                  <a:t>1.</a:t>
                </a:r>
                <a:r>
                  <a:rPr lang="zh-CN" altLang="en-US" dirty="0">
                    <a:solidFill>
                      <a:srgbClr val="57658E"/>
                    </a:solidFill>
                    <a:latin typeface="+mn-ea"/>
                    <a:cs typeface="+mn-ea"/>
                    <a:sym typeface="+mn-lt"/>
                  </a:rPr>
                  <a:t>分段线性补偿算法</a:t>
                </a:r>
              </a:p>
              <a:p>
                <a:pPr>
                  <a:lnSpc>
                    <a:spcPct val="150000"/>
                  </a:lnSpc>
                </a:pPr>
                <a:r>
                  <a:rPr lang="en-US" altLang="zh-CN" dirty="0">
                    <a:solidFill>
                      <a:srgbClr val="57658E"/>
                    </a:solidFill>
                    <a:latin typeface="+mn-ea"/>
                    <a:cs typeface="+mn-ea"/>
                    <a:sym typeface="+mn-lt"/>
                  </a:rPr>
                  <a:t>2.</a:t>
                </a:r>
                <a:r>
                  <a:rPr lang="zh-CN" altLang="en-US" dirty="0">
                    <a:solidFill>
                      <a:srgbClr val="57658E"/>
                    </a:solidFill>
                    <a:latin typeface="+mn-ea"/>
                    <a:cs typeface="+mn-ea"/>
                    <a:sym typeface="+mn-lt"/>
                  </a:rPr>
                  <a:t>结合现场校准数据训练</a:t>
                </a:r>
                <a:r>
                  <a:rPr lang="en-US" altLang="zh-CN" dirty="0">
                    <a:solidFill>
                      <a:srgbClr val="57658E"/>
                    </a:solidFill>
                    <a:latin typeface="+mn-ea"/>
                    <a:cs typeface="+mn-ea"/>
                    <a:sym typeface="+mn-lt"/>
                  </a:rPr>
                  <a:t>AI</a:t>
                </a:r>
                <a:r>
                  <a:rPr lang="zh-CN" altLang="en-US" dirty="0">
                    <a:solidFill>
                      <a:srgbClr val="57658E"/>
                    </a:solidFill>
                    <a:latin typeface="+mn-ea"/>
                    <a:cs typeface="+mn-ea"/>
                    <a:sym typeface="+mn-lt"/>
                  </a:rPr>
                  <a:t>模型（如</a:t>
                </a:r>
                <a:r>
                  <a:rPr lang="en-US" altLang="zh-CN" dirty="0">
                    <a:solidFill>
                      <a:srgbClr val="57658E"/>
                    </a:solidFill>
                    <a:latin typeface="+mn-ea"/>
                    <a:cs typeface="+mn-ea"/>
                    <a:sym typeface="+mn-lt"/>
                  </a:rPr>
                  <a:t>LSTM</a:t>
                </a:r>
                <a:r>
                  <a:rPr lang="zh-CN" altLang="en-US" dirty="0">
                    <a:solidFill>
                      <a:srgbClr val="57658E"/>
                    </a:solidFill>
                    <a:latin typeface="+mn-ea"/>
                    <a:cs typeface="+mn-ea"/>
                    <a:sym typeface="+mn-lt"/>
                  </a:rPr>
                  <a:t>网络）：预测环境温度变化趋势，提前调整补偿量</a:t>
                </a:r>
              </a:p>
            </p:txBody>
          </p:sp>
        </p:grpSp>
        <p:grpSp>
          <p:nvGrpSpPr>
            <p:cNvPr id="38" name="组合 37"/>
            <p:cNvGrpSpPr/>
            <p:nvPr/>
          </p:nvGrpSpPr>
          <p:grpSpPr>
            <a:xfrm>
              <a:off x="9560632" y="1822898"/>
              <a:ext cx="1380691" cy="1380691"/>
              <a:chOff x="9635652" y="1822898"/>
              <a:chExt cx="1380691" cy="1380691"/>
            </a:xfrm>
          </p:grpSpPr>
          <p:sp>
            <p:nvSpPr>
              <p:cNvPr id="23" name="椭圆 22"/>
              <p:cNvSpPr/>
              <p:nvPr>
                <p:custDataLst>
                  <p:tags r:id="rId6"/>
                </p:custDataLst>
              </p:nvPr>
            </p:nvSpPr>
            <p:spPr>
              <a:xfrm>
                <a:off x="9635652" y="1822898"/>
                <a:ext cx="1380691" cy="1380691"/>
              </a:xfrm>
              <a:prstGeom prst="ellipse">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5" name="图片 13" descr="bags"/>
              <p:cNvPicPr>
                <a:picLocks noChangeAspect="1"/>
              </p:cNvPicPr>
              <p:nvPr>
                <p:custDataLst>
                  <p:tags r:id="rId7"/>
                </p:custDataLst>
              </p:nvPr>
            </p:nvPicPr>
            <p:blipFill>
              <a:blip r:embed="rId24"/>
              <a:stretch>
                <a:fillRect/>
              </a:stretch>
            </p:blipFill>
            <p:spPr>
              <a:xfrm>
                <a:off x="9920372" y="2107618"/>
                <a:ext cx="811250" cy="811250"/>
              </a:xfrm>
              <a:prstGeom prst="rect">
                <a:avLst/>
              </a:prstGeom>
            </p:spPr>
          </p:pic>
        </p:grpSp>
      </p:grpSp>
      <p:cxnSp>
        <p:nvCxnSpPr>
          <p:cNvPr id="43" name="直接连接符 42"/>
          <p:cNvCxnSpPr/>
          <p:nvPr/>
        </p:nvCxnSpPr>
        <p:spPr>
          <a:xfrm>
            <a:off x="5664000" y="1353969"/>
            <a:ext cx="864000" cy="0"/>
          </a:xfrm>
          <a:prstGeom prst="line">
            <a:avLst/>
          </a:prstGeom>
          <a:ln w="88900" cap="rnd">
            <a:solidFill>
              <a:srgbClr val="E9DAC6"/>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495993" y="493484"/>
            <a:ext cx="5200015" cy="768350"/>
          </a:xfrm>
          <a:prstGeom prst="rect">
            <a:avLst/>
          </a:prstGeom>
          <a:noFill/>
        </p:spPr>
        <p:txBody>
          <a:bodyPr wrap="none" rtlCol="0">
            <a:spAutoFit/>
          </a:bodyPr>
          <a:lstStyle/>
          <a:p>
            <a:pPr algn="ctr"/>
            <a:r>
              <a:rPr lang="zh-CN" altLang="en-US" sz="4400">
                <a:solidFill>
                  <a:srgbClr val="57658E"/>
                </a:solidFill>
                <a:cs typeface="+mn-ea"/>
                <a:sym typeface="+mn-lt"/>
              </a:rPr>
              <a:t>串联</a:t>
            </a:r>
            <a:r>
              <a:rPr lang="en-US" altLang="zh-CN" sz="4400">
                <a:solidFill>
                  <a:srgbClr val="57658E"/>
                </a:solidFill>
                <a:cs typeface="+mn-ea"/>
                <a:sym typeface="+mn-lt"/>
              </a:rPr>
              <a:t>NTC</a:t>
            </a:r>
            <a:r>
              <a:rPr lang="zh-CN" altLang="en-US" sz="4400">
                <a:solidFill>
                  <a:srgbClr val="57658E"/>
                </a:solidFill>
                <a:cs typeface="+mn-ea"/>
                <a:sym typeface="+mn-lt"/>
              </a:rPr>
              <a:t>电阻补偿法</a:t>
            </a:r>
          </a:p>
        </p:txBody>
      </p:sp>
      <p:pic>
        <p:nvPicPr>
          <p:cNvPr id="33" name="图片 12" descr="electronics"/>
          <p:cNvPicPr>
            <a:picLocks noChangeAspect="1"/>
          </p:cNvPicPr>
          <p:nvPr>
            <p:custDataLst>
              <p:tags r:id="rId1"/>
            </p:custDataLst>
          </p:nvPr>
        </p:nvPicPr>
        <p:blipFill>
          <a:blip r:embed="rId4"/>
          <a:stretch>
            <a:fillRect/>
          </a:stretch>
        </p:blipFill>
        <p:spPr>
          <a:xfrm>
            <a:off x="5714365" y="2432050"/>
            <a:ext cx="858520" cy="858520"/>
          </a:xfrm>
          <a:prstGeom prst="rect">
            <a:avLst/>
          </a:prstGeom>
        </p:spPr>
      </p:pic>
      <p:pic>
        <p:nvPicPr>
          <p:cNvPr id="35" name="图片 13" descr="bags"/>
          <p:cNvPicPr>
            <a:picLocks noChangeAspect="1"/>
          </p:cNvPicPr>
          <p:nvPr>
            <p:custDataLst>
              <p:tags r:id="rId2"/>
            </p:custDataLst>
          </p:nvPr>
        </p:nvPicPr>
        <p:blipFill>
          <a:blip r:embed="rId5"/>
          <a:stretch>
            <a:fillRect/>
          </a:stretch>
        </p:blipFill>
        <p:spPr>
          <a:xfrm>
            <a:off x="9845040" y="2455545"/>
            <a:ext cx="810895" cy="810895"/>
          </a:xfrm>
          <a:prstGeom prst="rect">
            <a:avLst/>
          </a:prstGeom>
        </p:spPr>
      </p:pic>
      <p:cxnSp>
        <p:nvCxnSpPr>
          <p:cNvPr id="43" name="直接连接符 42"/>
          <p:cNvCxnSpPr/>
          <p:nvPr/>
        </p:nvCxnSpPr>
        <p:spPr>
          <a:xfrm>
            <a:off x="5664000" y="1353969"/>
            <a:ext cx="864000" cy="0"/>
          </a:xfrm>
          <a:prstGeom prst="line">
            <a:avLst/>
          </a:prstGeom>
          <a:ln w="88900" cap="rnd">
            <a:solidFill>
              <a:srgbClr val="E9DAC6"/>
            </a:solidFill>
            <a:round/>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677545" y="1622425"/>
            <a:ext cx="4064000" cy="4892675"/>
          </a:xfrm>
          <a:prstGeom prst="rect">
            <a:avLst/>
          </a:prstGeom>
          <a:noFill/>
        </p:spPr>
        <p:txBody>
          <a:bodyPr wrap="square" rtlCol="0">
            <a:spAutoFit/>
          </a:bodyPr>
          <a:lstStyle/>
          <a:p>
            <a:pPr indent="0" fontAlgn="auto">
              <a:lnSpc>
                <a:spcPct val="150000"/>
              </a:lnSpc>
            </a:pPr>
            <a:r>
              <a:rPr lang="zh-CN" altLang="en-US" sz="1600" dirty="0">
                <a:solidFill>
                  <a:srgbClr val="57658E"/>
                </a:solidFill>
                <a:cs typeface="+mn-ea"/>
              </a:rPr>
              <a:t>对于零点温漂补偿，通常采用串并联电阻，以调整应变计电阻的电阻温度系数实现全桥平衡，达到应变计的零点温漂补偿目的；</a:t>
            </a:r>
          </a:p>
          <a:p>
            <a:pPr indent="0" fontAlgn="auto">
              <a:lnSpc>
                <a:spcPct val="150000"/>
              </a:lnSpc>
            </a:pPr>
            <a:r>
              <a:rPr lang="zh-CN" altLang="en-US" sz="1600" dirty="0">
                <a:solidFill>
                  <a:srgbClr val="57658E"/>
                </a:solidFill>
                <a:cs typeface="+mn-ea"/>
              </a:rPr>
              <a:t>对于灵敏度温漂补偿，通常采用串并联具有负温度系数的器件，例如热敏电阻和二极管等，以调整应变计输入电压，实现灵敏度温漂补偿。</a:t>
            </a:r>
          </a:p>
          <a:p>
            <a:pPr indent="0" fontAlgn="auto">
              <a:lnSpc>
                <a:spcPct val="150000"/>
              </a:lnSpc>
            </a:pPr>
            <a:endParaRPr lang="zh-CN" altLang="en-US" sz="1600" dirty="0">
              <a:solidFill>
                <a:srgbClr val="57658E"/>
              </a:solidFill>
              <a:cs typeface="+mn-ea"/>
            </a:endParaRPr>
          </a:p>
          <a:p>
            <a:pPr indent="0" fontAlgn="auto">
              <a:lnSpc>
                <a:spcPct val="150000"/>
              </a:lnSpc>
            </a:pPr>
            <a:r>
              <a:rPr lang="zh-CN" altLang="en-US" sz="1600" dirty="0">
                <a:solidFill>
                  <a:srgbClr val="57658E"/>
                </a:solidFill>
                <a:cs typeface="+mn-ea"/>
              </a:rPr>
              <a:t>右图展示了典型恒压供电的应变计温度补偿电路图。其中并联电阻</a:t>
            </a:r>
            <a:r>
              <a:rPr lang="en-US" altLang="zh-CN" sz="1600" dirty="0">
                <a:solidFill>
                  <a:srgbClr val="57658E"/>
                </a:solidFill>
                <a:cs typeface="+mn-ea"/>
              </a:rPr>
              <a:t> Rp </a:t>
            </a:r>
            <a:r>
              <a:rPr lang="zh-CN" altLang="en-US" sz="1600" dirty="0">
                <a:solidFill>
                  <a:srgbClr val="57658E"/>
                </a:solidFill>
                <a:cs typeface="+mn-ea"/>
              </a:rPr>
              <a:t>用于调整电阻</a:t>
            </a:r>
            <a:r>
              <a:rPr lang="en-US" altLang="zh-CN" sz="1600" dirty="0">
                <a:solidFill>
                  <a:srgbClr val="57658E"/>
                </a:solidFill>
                <a:cs typeface="+mn-ea"/>
              </a:rPr>
              <a:t> R3 </a:t>
            </a:r>
            <a:r>
              <a:rPr lang="zh-CN" altLang="en-US" sz="1600" dirty="0">
                <a:solidFill>
                  <a:srgbClr val="57658E"/>
                </a:solidFill>
                <a:cs typeface="+mn-ea"/>
              </a:rPr>
              <a:t>温度系数，实现零点温漂补偿；</a:t>
            </a:r>
            <a:r>
              <a:rPr lang="en-US" altLang="zh-CN" sz="1600" dirty="0">
                <a:solidFill>
                  <a:srgbClr val="57658E"/>
                </a:solidFill>
                <a:cs typeface="+mn-ea"/>
              </a:rPr>
              <a:t>RT </a:t>
            </a:r>
            <a:r>
              <a:rPr lang="zh-CN" altLang="en-US" sz="1600" dirty="0">
                <a:solidFill>
                  <a:srgbClr val="57658E"/>
                </a:solidFill>
                <a:cs typeface="+mn-ea"/>
              </a:rPr>
              <a:t>起到分压作用，以调整应变计的输入电压，实现灵敏度温漂补偿。</a:t>
            </a:r>
          </a:p>
        </p:txBody>
      </p:sp>
      <p:pic>
        <p:nvPicPr>
          <p:cNvPr id="5" name="图片 4" descr="屏幕截图 2025-04-14 213903"/>
          <p:cNvPicPr>
            <a:picLocks noChangeAspect="1"/>
          </p:cNvPicPr>
          <p:nvPr/>
        </p:nvPicPr>
        <p:blipFill>
          <a:blip r:embed="rId6"/>
          <a:stretch>
            <a:fillRect/>
          </a:stretch>
        </p:blipFill>
        <p:spPr>
          <a:xfrm>
            <a:off x="5172248" y="1804642"/>
            <a:ext cx="6500129" cy="2683568"/>
          </a:xfrm>
          <a:prstGeom prst="rect">
            <a:avLst/>
          </a:prstGeom>
        </p:spPr>
      </p:pic>
      <p:pic>
        <p:nvPicPr>
          <p:cNvPr id="10" name="图片 9" descr="屏幕截图 2025-04-14 214509"/>
          <p:cNvPicPr>
            <a:picLocks noChangeAspect="1"/>
          </p:cNvPicPr>
          <p:nvPr/>
        </p:nvPicPr>
        <p:blipFill>
          <a:blip r:embed="rId7"/>
          <a:stretch>
            <a:fillRect/>
          </a:stretch>
        </p:blipFill>
        <p:spPr>
          <a:xfrm>
            <a:off x="6644378" y="4708518"/>
            <a:ext cx="3285490" cy="1524000"/>
          </a:xfrm>
          <a:prstGeom prst="rect">
            <a:avLst/>
          </a:prstGeom>
        </p:spPr>
      </p:pic>
      <p:sp>
        <p:nvSpPr>
          <p:cNvPr id="9" name="文本框 8">
            <a:extLst>
              <a:ext uri="{FF2B5EF4-FFF2-40B4-BE49-F238E27FC236}">
                <a16:creationId xmlns:a16="http://schemas.microsoft.com/office/drawing/2014/main" id="{5CFD4CD7-24BC-45A8-846C-ACC33A9EC90D}"/>
              </a:ext>
            </a:extLst>
          </p:cNvPr>
          <p:cNvSpPr txBox="1"/>
          <p:nvPr/>
        </p:nvSpPr>
        <p:spPr>
          <a:xfrm>
            <a:off x="6655907" y="6283549"/>
            <a:ext cx="3262432" cy="338554"/>
          </a:xfrm>
          <a:prstGeom prst="rect">
            <a:avLst/>
          </a:prstGeom>
          <a:noFill/>
        </p:spPr>
        <p:txBody>
          <a:bodyPr wrap="none" rtlCol="0">
            <a:spAutoFit/>
          </a:bodyPr>
          <a:lstStyle/>
          <a:p>
            <a:r>
              <a:rPr lang="zh-CN" altLang="en-US" sz="1600" dirty="0"/>
              <a:t>恒压供电的应变计温度补偿电路图</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86959" y="493484"/>
            <a:ext cx="2418080" cy="768350"/>
          </a:xfrm>
          <a:prstGeom prst="rect">
            <a:avLst/>
          </a:prstGeom>
          <a:noFill/>
        </p:spPr>
        <p:txBody>
          <a:bodyPr wrap="none" rtlCol="0">
            <a:spAutoFit/>
          </a:bodyPr>
          <a:lstStyle/>
          <a:p>
            <a:pPr algn="ctr"/>
            <a:r>
              <a:rPr lang="zh-CN" altLang="en-US" sz="4400">
                <a:solidFill>
                  <a:srgbClr val="57658E"/>
                </a:solidFill>
                <a:cs typeface="+mn-ea"/>
                <a:sym typeface="+mn-lt"/>
              </a:rPr>
              <a:t>算法补偿</a:t>
            </a:r>
          </a:p>
        </p:txBody>
      </p:sp>
      <p:sp>
        <p:nvSpPr>
          <p:cNvPr id="19" name="矩形 18"/>
          <p:cNvSpPr/>
          <p:nvPr>
            <p:custDataLst>
              <p:tags r:id="rId1"/>
            </p:custDataLst>
          </p:nvPr>
        </p:nvSpPr>
        <p:spPr>
          <a:xfrm>
            <a:off x="1058317" y="2714096"/>
            <a:ext cx="2875783" cy="2183206"/>
          </a:xfrm>
          <a:prstGeom prst="rect">
            <a:avLst/>
          </a:prstGeom>
          <a:solidFill>
            <a:srgbClr val="57658E"/>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2214" tIns="142214" rIns="142214" bIns="650483" numCol="1" spcCol="1270" anchor="t" anchorCtr="0">
            <a:noAutofit/>
          </a:bodyPr>
          <a:lstStyle/>
          <a:p>
            <a:pPr marL="285750" lvl="1" indent="-285750" algn="l" defTabSz="2044700">
              <a:lnSpc>
                <a:spcPct val="90000"/>
              </a:lnSpc>
              <a:spcBef>
                <a:spcPct val="0"/>
              </a:spcBef>
              <a:spcAft>
                <a:spcPct val="15000"/>
              </a:spcAft>
              <a:buChar char="•"/>
            </a:pPr>
            <a:endParaRPr lang="zh-CN" altLang="en-US" sz="4600" kern="1200">
              <a:cs typeface="+mn-ea"/>
              <a:sym typeface="+mn-lt"/>
            </a:endParaRPr>
          </a:p>
          <a:p>
            <a:pPr marL="285750" lvl="1" indent="-285750" algn="l" defTabSz="2044700">
              <a:lnSpc>
                <a:spcPct val="90000"/>
              </a:lnSpc>
              <a:spcBef>
                <a:spcPct val="0"/>
              </a:spcBef>
              <a:spcAft>
                <a:spcPct val="15000"/>
              </a:spcAft>
              <a:buChar char="•"/>
            </a:pPr>
            <a:endParaRPr lang="zh-CN" altLang="en-US" sz="4600" kern="1200">
              <a:cs typeface="+mn-ea"/>
              <a:sym typeface="+mn-lt"/>
            </a:endParaRPr>
          </a:p>
        </p:txBody>
      </p:sp>
      <p:sp>
        <p:nvSpPr>
          <p:cNvPr id="20" name="矩形: 圆角 19"/>
          <p:cNvSpPr/>
          <p:nvPr>
            <p:custDataLst>
              <p:tags r:id="rId2"/>
            </p:custDataLst>
          </p:nvPr>
        </p:nvSpPr>
        <p:spPr>
          <a:xfrm>
            <a:off x="1205230" y="4536440"/>
            <a:ext cx="2513965" cy="640080"/>
          </a:xfrm>
          <a:prstGeom prst="roundRect">
            <a:avLst>
              <a:gd name="adj" fmla="val 50000"/>
            </a:avLst>
          </a:prstGeom>
          <a:solidFill>
            <a:srgbClr val="E9DAC6"/>
          </a:solidFill>
          <a:ln w="5080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6928" tIns="94543" rIns="126928" bIns="94543" numCol="1" spcCol="1270" anchor="ctr" anchorCtr="0">
            <a:noAutofit/>
          </a:bodyPr>
          <a:lstStyle/>
          <a:p>
            <a:pPr marL="0" lvl="0" indent="0" algn="ctr" defTabSz="2266950">
              <a:lnSpc>
                <a:spcPct val="90000"/>
              </a:lnSpc>
              <a:spcBef>
                <a:spcPct val="0"/>
              </a:spcBef>
              <a:spcAft>
                <a:spcPct val="35000"/>
              </a:spcAft>
              <a:buNone/>
            </a:pPr>
            <a:r>
              <a:rPr lang="zh-CN" altLang="en-US" sz="2400" kern="1200">
                <a:solidFill>
                  <a:srgbClr val="FCFBFC"/>
                </a:solidFill>
                <a:cs typeface="+mn-ea"/>
                <a:sym typeface="+mn-lt"/>
              </a:rPr>
              <a:t>建立数学模型</a:t>
            </a:r>
          </a:p>
        </p:txBody>
      </p:sp>
      <p:sp>
        <p:nvSpPr>
          <p:cNvPr id="21" name="矩形 20"/>
          <p:cNvSpPr/>
          <p:nvPr>
            <p:custDataLst>
              <p:tags r:id="rId3"/>
            </p:custDataLst>
          </p:nvPr>
        </p:nvSpPr>
        <p:spPr>
          <a:xfrm>
            <a:off x="4512945" y="2165985"/>
            <a:ext cx="3083560" cy="3700780"/>
          </a:xfrm>
          <a:prstGeom prst="rect">
            <a:avLst/>
          </a:prstGeom>
          <a:solidFill>
            <a:srgbClr val="57658E"/>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2214" tIns="650483" rIns="142214" bIns="142214" numCol="1" spcCol="1270" anchor="t" anchorCtr="0">
            <a:noAutofit/>
          </a:bodyPr>
          <a:lstStyle/>
          <a:p>
            <a:pPr marL="285750" lvl="1" indent="-285750" algn="l" defTabSz="2044700">
              <a:lnSpc>
                <a:spcPct val="90000"/>
              </a:lnSpc>
              <a:spcBef>
                <a:spcPct val="0"/>
              </a:spcBef>
              <a:spcAft>
                <a:spcPct val="15000"/>
              </a:spcAft>
              <a:buChar char="•"/>
            </a:pPr>
            <a:endParaRPr lang="zh-CN" altLang="en-US" sz="4600" kern="1200">
              <a:cs typeface="+mn-ea"/>
              <a:sym typeface="+mn-lt"/>
            </a:endParaRPr>
          </a:p>
          <a:p>
            <a:pPr marL="285750" lvl="1" indent="-285750" algn="l" defTabSz="2044700">
              <a:lnSpc>
                <a:spcPct val="90000"/>
              </a:lnSpc>
              <a:spcBef>
                <a:spcPct val="0"/>
              </a:spcBef>
              <a:spcAft>
                <a:spcPct val="15000"/>
              </a:spcAft>
              <a:buChar char="•"/>
            </a:pPr>
            <a:endParaRPr lang="zh-CN" altLang="en-US" sz="4600" kern="1200">
              <a:cs typeface="+mn-ea"/>
              <a:sym typeface="+mn-lt"/>
            </a:endParaRPr>
          </a:p>
        </p:txBody>
      </p:sp>
      <p:sp>
        <p:nvSpPr>
          <p:cNvPr id="22" name="箭头: 环形 21"/>
          <p:cNvSpPr/>
          <p:nvPr>
            <p:custDataLst>
              <p:tags r:id="rId4"/>
            </p:custDataLst>
          </p:nvPr>
        </p:nvSpPr>
        <p:spPr>
          <a:xfrm rot="240000">
            <a:off x="6340774" y="1013322"/>
            <a:ext cx="3357025" cy="3357025"/>
          </a:xfrm>
          <a:prstGeom prst="circularArrow">
            <a:avLst>
              <a:gd name="adj1" fmla="val 673"/>
              <a:gd name="adj2" fmla="val 273786"/>
              <a:gd name="adj3" fmla="val 20022896"/>
              <a:gd name="adj4" fmla="val 12575511"/>
              <a:gd name="adj5" fmla="val 2650"/>
            </a:avLst>
          </a:prstGeom>
          <a:solidFill>
            <a:srgbClr val="57658E"/>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cs typeface="+mn-ea"/>
              <a:sym typeface="+mn-lt"/>
            </a:endParaRPr>
          </a:p>
        </p:txBody>
      </p:sp>
      <p:sp>
        <p:nvSpPr>
          <p:cNvPr id="23" name="矩形 22"/>
          <p:cNvSpPr/>
          <p:nvPr>
            <p:custDataLst>
              <p:tags r:id="rId5"/>
            </p:custDataLst>
          </p:nvPr>
        </p:nvSpPr>
        <p:spPr>
          <a:xfrm>
            <a:off x="8071485" y="2207895"/>
            <a:ext cx="3083560" cy="3356610"/>
          </a:xfrm>
          <a:prstGeom prst="rect">
            <a:avLst/>
          </a:prstGeom>
          <a:solidFill>
            <a:srgbClr val="57658E"/>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2214" tIns="142214" rIns="142214" bIns="650483" numCol="1" spcCol="1270" anchor="t" anchorCtr="0">
            <a:noAutofit/>
          </a:bodyPr>
          <a:lstStyle/>
          <a:p>
            <a:pPr marL="285750" lvl="1" indent="-285750" algn="l" defTabSz="2044700">
              <a:lnSpc>
                <a:spcPct val="90000"/>
              </a:lnSpc>
              <a:spcBef>
                <a:spcPct val="0"/>
              </a:spcBef>
              <a:spcAft>
                <a:spcPct val="15000"/>
              </a:spcAft>
              <a:buChar char="•"/>
            </a:pPr>
            <a:endParaRPr lang="zh-CN" altLang="en-US" sz="4600" kern="1200">
              <a:cs typeface="+mn-ea"/>
              <a:sym typeface="+mn-lt"/>
            </a:endParaRPr>
          </a:p>
          <a:p>
            <a:pPr marL="285750" lvl="1" indent="-285750" algn="l" defTabSz="2044700">
              <a:lnSpc>
                <a:spcPct val="90000"/>
              </a:lnSpc>
              <a:spcBef>
                <a:spcPct val="0"/>
              </a:spcBef>
              <a:spcAft>
                <a:spcPct val="15000"/>
              </a:spcAft>
              <a:buChar char="•"/>
            </a:pPr>
            <a:endParaRPr lang="zh-CN" altLang="en-US" sz="4600" kern="1200">
              <a:cs typeface="+mn-ea"/>
              <a:sym typeface="+mn-lt"/>
            </a:endParaRPr>
          </a:p>
        </p:txBody>
      </p:sp>
      <p:sp>
        <p:nvSpPr>
          <p:cNvPr id="24" name="矩形: 圆角 23"/>
          <p:cNvSpPr/>
          <p:nvPr>
            <p:custDataLst>
              <p:tags r:id="rId6"/>
            </p:custDataLst>
          </p:nvPr>
        </p:nvSpPr>
        <p:spPr>
          <a:xfrm>
            <a:off x="8484787" y="5249016"/>
            <a:ext cx="2257415" cy="640005"/>
          </a:xfrm>
          <a:prstGeom prst="roundRect">
            <a:avLst>
              <a:gd name="adj" fmla="val 50000"/>
            </a:avLst>
          </a:prstGeom>
          <a:solidFill>
            <a:srgbClr val="E9DAC6"/>
          </a:solidFill>
          <a:ln w="5080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6928" tIns="94543" rIns="126928" bIns="94543" numCol="1" spcCol="1270" anchor="ctr" anchorCtr="0">
            <a:noAutofit/>
          </a:bodyPr>
          <a:lstStyle/>
          <a:p>
            <a:pPr marL="0" lvl="0" indent="0" algn="ctr" defTabSz="2266950">
              <a:lnSpc>
                <a:spcPct val="90000"/>
              </a:lnSpc>
              <a:spcBef>
                <a:spcPct val="0"/>
              </a:spcBef>
              <a:spcAft>
                <a:spcPct val="35000"/>
              </a:spcAft>
              <a:buNone/>
            </a:pPr>
            <a:r>
              <a:rPr lang="zh-CN" altLang="en-US" sz="2400">
                <a:solidFill>
                  <a:srgbClr val="FCFBFC"/>
                </a:solidFill>
                <a:cs typeface="+mn-ea"/>
                <a:sym typeface="+mn-lt"/>
              </a:rPr>
              <a:t>编写算法</a:t>
            </a:r>
          </a:p>
        </p:txBody>
      </p:sp>
      <p:sp>
        <p:nvSpPr>
          <p:cNvPr id="25" name="矩形: 圆角 24"/>
          <p:cNvSpPr/>
          <p:nvPr>
            <p:custDataLst>
              <p:tags r:id="rId7"/>
            </p:custDataLst>
          </p:nvPr>
        </p:nvSpPr>
        <p:spPr>
          <a:xfrm>
            <a:off x="4926247" y="1837822"/>
            <a:ext cx="2257415" cy="640005"/>
          </a:xfrm>
          <a:prstGeom prst="roundRect">
            <a:avLst>
              <a:gd name="adj" fmla="val 50000"/>
            </a:avLst>
          </a:prstGeom>
          <a:solidFill>
            <a:srgbClr val="E9DAC6"/>
          </a:solidFill>
          <a:ln w="50800">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6928" tIns="94543" rIns="126928" bIns="94543" numCol="1" spcCol="1270" anchor="ctr" anchorCtr="0">
            <a:noAutofit/>
          </a:bodyPr>
          <a:lstStyle/>
          <a:p>
            <a:pPr marL="0" lvl="0" indent="0" algn="ctr" defTabSz="2266950">
              <a:lnSpc>
                <a:spcPct val="90000"/>
              </a:lnSpc>
              <a:spcBef>
                <a:spcPct val="0"/>
              </a:spcBef>
              <a:spcAft>
                <a:spcPct val="35000"/>
              </a:spcAft>
              <a:buNone/>
            </a:pPr>
            <a:r>
              <a:rPr lang="zh-CN" altLang="en-US" sz="2400" kern="1200">
                <a:solidFill>
                  <a:srgbClr val="FCFBFC"/>
                </a:solidFill>
                <a:cs typeface="+mn-ea"/>
                <a:sym typeface="+mn-lt"/>
              </a:rPr>
              <a:t>采集数据</a:t>
            </a:r>
          </a:p>
        </p:txBody>
      </p:sp>
      <p:sp>
        <p:nvSpPr>
          <p:cNvPr id="26" name="箭头: 环形 25"/>
          <p:cNvSpPr/>
          <p:nvPr>
            <p:custDataLst>
              <p:tags r:id="rId8"/>
            </p:custDataLst>
          </p:nvPr>
        </p:nvSpPr>
        <p:spPr>
          <a:xfrm rot="1320000" flipV="1">
            <a:off x="2713355" y="3732530"/>
            <a:ext cx="2448560" cy="2739390"/>
          </a:xfrm>
          <a:prstGeom prst="circularArrow">
            <a:avLst>
              <a:gd name="adj1" fmla="val 673"/>
              <a:gd name="adj2" fmla="val 273786"/>
              <a:gd name="adj3" fmla="val 20022896"/>
              <a:gd name="adj4" fmla="val 12513446"/>
              <a:gd name="adj5" fmla="val 2650"/>
            </a:avLst>
          </a:prstGeom>
          <a:solidFill>
            <a:srgbClr val="57658E"/>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zh-CN" altLang="en-US">
              <a:cs typeface="+mn-ea"/>
              <a:sym typeface="+mn-lt"/>
            </a:endParaRPr>
          </a:p>
        </p:txBody>
      </p:sp>
      <p:sp>
        <p:nvSpPr>
          <p:cNvPr id="27" name="文本框 26"/>
          <p:cNvSpPr txBox="1"/>
          <p:nvPr>
            <p:custDataLst>
              <p:tags r:id="rId9"/>
            </p:custDataLst>
          </p:nvPr>
        </p:nvSpPr>
        <p:spPr>
          <a:xfrm>
            <a:off x="1204595" y="2880360"/>
            <a:ext cx="2597785" cy="1568450"/>
          </a:xfrm>
          <a:prstGeom prst="rect">
            <a:avLst/>
          </a:prstGeom>
          <a:noFill/>
        </p:spPr>
        <p:txBody>
          <a:bodyPr wrap="square" rtlCol="0">
            <a:spAutoFit/>
          </a:bodyPr>
          <a:lstStyle/>
          <a:p>
            <a:pPr algn="ctr">
              <a:lnSpc>
                <a:spcPct val="150000"/>
              </a:lnSpc>
            </a:pPr>
            <a:r>
              <a:rPr lang="zh-CN" altLang="en-US" sz="1600">
                <a:solidFill>
                  <a:srgbClr val="FCFBFC"/>
                </a:solidFill>
                <a:cs typeface="+mn-ea"/>
                <a:sym typeface="+mn-lt"/>
              </a:rPr>
              <a:t>分段线性补偿法：测量多个温度点的补偿值，每两个相邻的点使用线性关系计算出补偿值</a:t>
            </a:r>
          </a:p>
        </p:txBody>
      </p:sp>
      <p:sp>
        <p:nvSpPr>
          <p:cNvPr id="28" name="文本框 27"/>
          <p:cNvSpPr txBox="1"/>
          <p:nvPr>
            <p:custDataLst>
              <p:tags r:id="rId10"/>
            </p:custDataLst>
          </p:nvPr>
        </p:nvSpPr>
        <p:spPr>
          <a:xfrm>
            <a:off x="4763752" y="2679353"/>
            <a:ext cx="2582404" cy="3046095"/>
          </a:xfrm>
          <a:prstGeom prst="rect">
            <a:avLst/>
          </a:prstGeom>
          <a:noFill/>
        </p:spPr>
        <p:txBody>
          <a:bodyPr wrap="square" rtlCol="0">
            <a:spAutoFit/>
          </a:bodyPr>
          <a:lstStyle/>
          <a:p>
            <a:pPr algn="ctr">
              <a:lnSpc>
                <a:spcPct val="150000"/>
              </a:lnSpc>
            </a:pPr>
            <a:r>
              <a:rPr lang="zh-CN" altLang="en-US" sz="1600">
                <a:solidFill>
                  <a:srgbClr val="FCFBFC"/>
                </a:solidFill>
                <a:cs typeface="+mn-ea"/>
                <a:sym typeface="+mn-lt"/>
              </a:rPr>
              <a:t>将电路放到一个可控温度设备中（温循实验箱），在确定的温度范围内设置多个温度，采集不同温度下半导体应变片在零应变情况下的电阻值，并记录对应的温度值，就可得到温度和补偿值的数据表。</a:t>
            </a:r>
          </a:p>
        </p:txBody>
      </p:sp>
      <p:sp>
        <p:nvSpPr>
          <p:cNvPr id="29" name="文本框 28"/>
          <p:cNvSpPr txBox="1"/>
          <p:nvPr>
            <p:custDataLst>
              <p:tags r:id="rId11"/>
            </p:custDataLst>
          </p:nvPr>
        </p:nvSpPr>
        <p:spPr>
          <a:xfrm>
            <a:off x="8307687" y="2490758"/>
            <a:ext cx="2582404" cy="2676525"/>
          </a:xfrm>
          <a:prstGeom prst="rect">
            <a:avLst/>
          </a:prstGeom>
          <a:noFill/>
        </p:spPr>
        <p:txBody>
          <a:bodyPr wrap="square" rtlCol="0">
            <a:spAutoFit/>
          </a:bodyPr>
          <a:lstStyle/>
          <a:p>
            <a:pPr algn="ctr">
              <a:lnSpc>
                <a:spcPct val="150000"/>
              </a:lnSpc>
            </a:pPr>
            <a:r>
              <a:rPr lang="zh-CN" altLang="en-US" sz="1600">
                <a:solidFill>
                  <a:srgbClr val="FCFBFC"/>
                </a:solidFill>
                <a:cs typeface="+mn-ea"/>
                <a:sym typeface="+mn-lt"/>
              </a:rPr>
              <a:t>根据数学模型，编写算法，将温度与测量结果之间的关系转换为可执行的程序代码。将算法集成到相关的应用软件中，以便在实际使用中进行温度补偿。分段线性查表代码如图：</a:t>
            </a:r>
          </a:p>
        </p:txBody>
      </p:sp>
      <p:cxnSp>
        <p:nvCxnSpPr>
          <p:cNvPr id="30" name="直接连接符 29"/>
          <p:cNvCxnSpPr/>
          <p:nvPr/>
        </p:nvCxnSpPr>
        <p:spPr>
          <a:xfrm>
            <a:off x="5664000" y="1353969"/>
            <a:ext cx="864000" cy="0"/>
          </a:xfrm>
          <a:prstGeom prst="line">
            <a:avLst/>
          </a:prstGeom>
          <a:ln w="88900" cap="rnd">
            <a:solidFill>
              <a:srgbClr val="E9DAC6"/>
            </a:solidFill>
            <a:roun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425450" y="493395"/>
            <a:ext cx="5115560" cy="2138045"/>
            <a:chOff x="670" y="777"/>
            <a:chExt cx="8056" cy="3367"/>
          </a:xfrm>
        </p:grpSpPr>
        <p:pic>
          <p:nvPicPr>
            <p:cNvPr id="3" name="图片 2"/>
            <p:cNvPicPr>
              <a:picLocks noChangeAspect="1"/>
            </p:cNvPicPr>
            <p:nvPr/>
          </p:nvPicPr>
          <p:blipFill>
            <a:blip r:embed="rId14"/>
            <a:stretch>
              <a:fillRect/>
            </a:stretch>
          </p:blipFill>
          <p:spPr>
            <a:xfrm>
              <a:off x="670" y="1214"/>
              <a:ext cx="6001" cy="2931"/>
            </a:xfrm>
            <a:prstGeom prst="rect">
              <a:avLst/>
            </a:prstGeom>
          </p:spPr>
        </p:pic>
        <p:sp>
          <p:nvSpPr>
            <p:cNvPr id="4" name="文本框 3"/>
            <p:cNvSpPr txBox="1"/>
            <p:nvPr/>
          </p:nvSpPr>
          <p:spPr>
            <a:xfrm>
              <a:off x="2326" y="777"/>
              <a:ext cx="6400" cy="483"/>
            </a:xfrm>
            <a:prstGeom prst="rect">
              <a:avLst/>
            </a:prstGeom>
            <a:noFill/>
          </p:spPr>
          <p:txBody>
            <a:bodyPr wrap="square" rtlCol="0">
              <a:spAutoFit/>
            </a:bodyPr>
            <a:lstStyle/>
            <a:p>
              <a:r>
                <a:rPr lang="zh-CN" altLang="en-US" sz="1400"/>
                <a:t>温度线性补偿关系曲线</a:t>
              </a:r>
            </a:p>
          </p:txBody>
        </p:sp>
      </p:grpSp>
      <p:grpSp>
        <p:nvGrpSpPr>
          <p:cNvPr id="7" name="组合 6"/>
          <p:cNvGrpSpPr/>
          <p:nvPr/>
        </p:nvGrpSpPr>
        <p:grpSpPr>
          <a:xfrm>
            <a:off x="7852410" y="101600"/>
            <a:ext cx="5121275" cy="2105660"/>
            <a:chOff x="12366" y="1026"/>
            <a:chExt cx="8065" cy="3316"/>
          </a:xfrm>
        </p:grpSpPr>
        <p:pic>
          <p:nvPicPr>
            <p:cNvPr id="5" name="图片 4"/>
            <p:cNvPicPr>
              <a:picLocks noChangeAspect="1"/>
            </p:cNvPicPr>
            <p:nvPr/>
          </p:nvPicPr>
          <p:blipFill>
            <a:blip r:embed="rId15"/>
            <a:stretch>
              <a:fillRect/>
            </a:stretch>
          </p:blipFill>
          <p:spPr>
            <a:xfrm>
              <a:off x="12366" y="1558"/>
              <a:ext cx="6088" cy="2785"/>
            </a:xfrm>
            <a:prstGeom prst="rect">
              <a:avLst/>
            </a:prstGeom>
          </p:spPr>
        </p:pic>
        <p:sp>
          <p:nvSpPr>
            <p:cNvPr id="6" name="文本框 5"/>
            <p:cNvSpPr txBox="1"/>
            <p:nvPr/>
          </p:nvSpPr>
          <p:spPr>
            <a:xfrm>
              <a:off x="14031" y="1026"/>
              <a:ext cx="6400" cy="483"/>
            </a:xfrm>
            <a:prstGeom prst="rect">
              <a:avLst/>
            </a:prstGeom>
            <a:noFill/>
          </p:spPr>
          <p:txBody>
            <a:bodyPr wrap="square" rtlCol="0">
              <a:spAutoFit/>
            </a:bodyPr>
            <a:lstStyle/>
            <a:p>
              <a:r>
                <a:rPr lang="zh-CN" altLang="en-US" sz="1400">
                  <a:solidFill>
                    <a:schemeClr val="tx1"/>
                  </a:solidFill>
                  <a:cs typeface="+mn-ea"/>
                  <a:sym typeface="+mn-lt"/>
                </a:rPr>
                <a:t>分段线性查表代码</a:t>
              </a:r>
            </a:p>
          </p:txBody>
        </p:sp>
      </p:grpSp>
      <p:grpSp>
        <p:nvGrpSpPr>
          <p:cNvPr id="11" name="组合 10"/>
          <p:cNvGrpSpPr/>
          <p:nvPr/>
        </p:nvGrpSpPr>
        <p:grpSpPr>
          <a:xfrm>
            <a:off x="857250" y="6040755"/>
            <a:ext cx="10530840" cy="688975"/>
            <a:chOff x="1350" y="9513"/>
            <a:chExt cx="16584" cy="1085"/>
          </a:xfrm>
        </p:grpSpPr>
        <p:sp>
          <p:nvSpPr>
            <p:cNvPr id="10" name="矩形 9"/>
            <p:cNvSpPr/>
            <p:nvPr>
              <p:custDataLst>
                <p:tags r:id="rId12"/>
              </p:custDataLst>
            </p:nvPr>
          </p:nvSpPr>
          <p:spPr>
            <a:xfrm>
              <a:off x="1350" y="9513"/>
              <a:ext cx="16584" cy="1080"/>
            </a:xfrm>
            <a:prstGeom prst="rect">
              <a:avLst/>
            </a:prstGeom>
            <a:solidFill>
              <a:srgbClr val="57658E"/>
            </a:solidFill>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2214" tIns="650483" rIns="142214" bIns="142214" numCol="1" spcCol="1270" anchor="t" anchorCtr="0">
              <a:noAutofit/>
            </a:bodyPr>
            <a:lstStyle/>
            <a:p>
              <a:pPr marL="285750" lvl="1" indent="-285750" algn="l" defTabSz="2044700">
                <a:lnSpc>
                  <a:spcPct val="90000"/>
                </a:lnSpc>
                <a:spcBef>
                  <a:spcPct val="0"/>
                </a:spcBef>
                <a:spcAft>
                  <a:spcPct val="15000"/>
                </a:spcAft>
                <a:buChar char="•"/>
              </a:pPr>
              <a:endParaRPr lang="zh-CN" altLang="en-US" sz="4600" kern="1200">
                <a:cs typeface="+mn-ea"/>
                <a:sym typeface="+mn-lt"/>
              </a:endParaRPr>
            </a:p>
            <a:p>
              <a:pPr marL="285750" lvl="1" indent="-285750" algn="l" defTabSz="2044700">
                <a:lnSpc>
                  <a:spcPct val="90000"/>
                </a:lnSpc>
                <a:spcBef>
                  <a:spcPct val="0"/>
                </a:spcBef>
                <a:spcAft>
                  <a:spcPct val="15000"/>
                </a:spcAft>
                <a:buChar char="•"/>
              </a:pPr>
              <a:endParaRPr lang="zh-CN" altLang="en-US" sz="4600" kern="1200">
                <a:cs typeface="+mn-ea"/>
                <a:sym typeface="+mn-lt"/>
              </a:endParaRPr>
            </a:p>
          </p:txBody>
        </p:sp>
        <p:sp>
          <p:nvSpPr>
            <p:cNvPr id="9" name="文本框 8"/>
            <p:cNvSpPr txBox="1"/>
            <p:nvPr/>
          </p:nvSpPr>
          <p:spPr>
            <a:xfrm>
              <a:off x="1565" y="9582"/>
              <a:ext cx="16291" cy="1016"/>
            </a:xfrm>
            <a:prstGeom prst="rect">
              <a:avLst/>
            </a:prstGeom>
            <a:noFill/>
          </p:spPr>
          <p:txBody>
            <a:bodyPr wrap="square" rtlCol="0">
              <a:spAutoFit/>
            </a:bodyPr>
            <a:lstStyle/>
            <a:p>
              <a:r>
                <a:rPr lang="zh-CN" altLang="en-US">
                  <a:solidFill>
                    <a:schemeClr val="bg1"/>
                  </a:solidFill>
                </a:rPr>
                <a:t>测试和验证：将带有温度补偿软件的电路放入温循实验箱，通过连续切换温度对算法进行测试和验证，确保其在实际应用中的准确性和可靠性。</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371ABA02-9778-4EF4-907D-10A2B8C8328A}"/>
              </a:ext>
            </a:extLst>
          </p:cNvPr>
          <p:cNvGrpSpPr/>
          <p:nvPr/>
        </p:nvGrpSpPr>
        <p:grpSpPr>
          <a:xfrm>
            <a:off x="773897" y="1924843"/>
            <a:ext cx="3171825" cy="4494522"/>
            <a:chOff x="1040" y="2662"/>
            <a:chExt cx="4995" cy="6880"/>
          </a:xfrm>
        </p:grpSpPr>
        <p:sp>
          <p:nvSpPr>
            <p:cNvPr id="31" name="标题 1">
              <a:extLst>
                <a:ext uri="{FF2B5EF4-FFF2-40B4-BE49-F238E27FC236}">
                  <a16:creationId xmlns:a16="http://schemas.microsoft.com/office/drawing/2014/main" id="{C582B88B-82EC-4BA3-9F02-1DD4B707A64D}"/>
                </a:ext>
              </a:extLst>
            </p:cNvPr>
            <p:cNvSpPr txBox="1"/>
            <p:nvPr/>
          </p:nvSpPr>
          <p:spPr>
            <a:xfrm>
              <a:off x="1040" y="2662"/>
              <a:ext cx="4995" cy="6880"/>
            </a:xfrm>
            <a:custGeom>
              <a:avLst/>
              <a:gdLst>
                <a:gd name="connsiteX0" fmla="*/ 511200 w 4870807"/>
                <a:gd name="connsiteY0" fmla="*/ 0 h 4588775"/>
                <a:gd name="connsiteX1" fmla="*/ 4870807 w 4870807"/>
                <a:gd name="connsiteY1" fmla="*/ 0 h 4588775"/>
                <a:gd name="connsiteX2" fmla="*/ 4870807 w 4870807"/>
                <a:gd name="connsiteY2" fmla="*/ 494880 h 4588775"/>
                <a:gd name="connsiteX3" fmla="*/ 4870807 w 4870807"/>
                <a:gd name="connsiteY3" fmla="*/ 511200 h 4588775"/>
                <a:gd name="connsiteX4" fmla="*/ 4870807 w 4870807"/>
                <a:gd name="connsiteY4" fmla="*/ 3566375 h 4588775"/>
                <a:gd name="connsiteX5" fmla="*/ 4870807 w 4870807"/>
                <a:gd name="connsiteY5" fmla="*/ 4077575 h 4588775"/>
                <a:gd name="connsiteX6" fmla="*/ 4870807 w 4870807"/>
                <a:gd name="connsiteY6" fmla="*/ 4106760 h 4588775"/>
                <a:gd name="connsiteX7" fmla="*/ 4867865 w 4870807"/>
                <a:gd name="connsiteY7" fmla="*/ 4106760 h 4588775"/>
                <a:gd name="connsiteX8" fmla="*/ 4860421 w 4870807"/>
                <a:gd name="connsiteY8" fmla="*/ 4180600 h 4588775"/>
                <a:gd name="connsiteX9" fmla="*/ 4359607 w 4870807"/>
                <a:gd name="connsiteY9" fmla="*/ 4588775 h 4588775"/>
                <a:gd name="connsiteX10" fmla="*/ 0 w 4870807"/>
                <a:gd name="connsiteY10" fmla="*/ 4588774 h 4588775"/>
                <a:gd name="connsiteX11" fmla="*/ 0 w 4870807"/>
                <a:gd name="connsiteY11" fmla="*/ 4106760 h 4588775"/>
                <a:gd name="connsiteX12" fmla="*/ 0 w 4870807"/>
                <a:gd name="connsiteY12" fmla="*/ 4077575 h 4588775"/>
                <a:gd name="connsiteX13" fmla="*/ 0 w 4870807"/>
                <a:gd name="connsiteY13" fmla="*/ 1022399 h 4588775"/>
                <a:gd name="connsiteX14" fmla="*/ 0 w 4870807"/>
                <a:gd name="connsiteY14" fmla="*/ 511200 h 4588775"/>
                <a:gd name="connsiteX15" fmla="*/ 0 w 4870807"/>
                <a:gd name="connsiteY15" fmla="*/ 494880 h 4588775"/>
                <a:gd name="connsiteX16" fmla="*/ 1646 w 4870807"/>
                <a:gd name="connsiteY16" fmla="*/ 494880 h 4588775"/>
                <a:gd name="connsiteX17" fmla="*/ 10386 w 4870807"/>
                <a:gd name="connsiteY17" fmla="*/ 408175 h 4588775"/>
                <a:gd name="connsiteX18" fmla="*/ 511200 w 4870807"/>
                <a:gd name="connsiteY18" fmla="*/ 0 h 4588775"/>
              </a:gdLst>
              <a:ahLst/>
              <a:cxnLst/>
              <a:rect l="l" t="t" r="r" b="b"/>
              <a:pathLst>
                <a:path w="4870807" h="4588775">
                  <a:moveTo>
                    <a:pt x="511200" y="0"/>
                  </a:moveTo>
                  <a:lnTo>
                    <a:pt x="4870807" y="0"/>
                  </a:lnTo>
                  <a:lnTo>
                    <a:pt x="4870807" y="494880"/>
                  </a:lnTo>
                  <a:lnTo>
                    <a:pt x="4870807" y="511200"/>
                  </a:lnTo>
                  <a:lnTo>
                    <a:pt x="4870807" y="3566375"/>
                  </a:lnTo>
                  <a:lnTo>
                    <a:pt x="4870807" y="4077575"/>
                  </a:lnTo>
                  <a:lnTo>
                    <a:pt x="4870807" y="4106760"/>
                  </a:lnTo>
                  <a:lnTo>
                    <a:pt x="4867865" y="4106760"/>
                  </a:lnTo>
                  <a:lnTo>
                    <a:pt x="4860421" y="4180600"/>
                  </a:lnTo>
                  <a:cubicBezTo>
                    <a:pt x="4812754" y="4413545"/>
                    <a:pt x="4606644" y="4588775"/>
                    <a:pt x="4359607" y="4588775"/>
                  </a:cubicBezTo>
                  <a:lnTo>
                    <a:pt x="0" y="4588774"/>
                  </a:lnTo>
                  <a:lnTo>
                    <a:pt x="0" y="4106760"/>
                  </a:lnTo>
                  <a:lnTo>
                    <a:pt x="0" y="4077575"/>
                  </a:lnTo>
                  <a:lnTo>
                    <a:pt x="0" y="1022399"/>
                  </a:lnTo>
                  <a:lnTo>
                    <a:pt x="0" y="511200"/>
                  </a:lnTo>
                  <a:lnTo>
                    <a:pt x="0" y="494880"/>
                  </a:lnTo>
                  <a:lnTo>
                    <a:pt x="1646" y="494880"/>
                  </a:lnTo>
                  <a:lnTo>
                    <a:pt x="10386" y="408175"/>
                  </a:lnTo>
                  <a:cubicBezTo>
                    <a:pt x="58054" y="175230"/>
                    <a:pt x="264163" y="0"/>
                    <a:pt x="511200" y="0"/>
                  </a:cubicBezTo>
                  <a:close/>
                </a:path>
              </a:pathLst>
            </a:custGeom>
            <a:solidFill>
              <a:schemeClr val="bg1"/>
            </a:solidFill>
            <a:ln w="25400" cap="sq">
              <a:solidFill>
                <a:srgbClr val="3B5085"/>
              </a:solidFill>
              <a:miter/>
            </a:ln>
          </p:spPr>
          <p:txBody>
            <a:bodyPr vert="horz" wrap="square" lIns="91440" tIns="45720" rIns="91440" bIns="45720" rtlCol="0" anchor="ctr"/>
            <a:lstStyle/>
            <a:p>
              <a:pPr algn="ctr">
                <a:lnSpc>
                  <a:spcPct val="110000"/>
                </a:lnSpc>
              </a:pPr>
              <a:endParaRPr kumimoji="1" lang="zh-CN" altLang="en-US" dirty="0"/>
            </a:p>
          </p:txBody>
        </p:sp>
        <p:sp>
          <p:nvSpPr>
            <p:cNvPr id="32" name="标题 1">
              <a:extLst>
                <a:ext uri="{FF2B5EF4-FFF2-40B4-BE49-F238E27FC236}">
                  <a16:creationId xmlns:a16="http://schemas.microsoft.com/office/drawing/2014/main" id="{90EE8AB5-9168-4AC5-BD0F-F2B95AAC7D74}"/>
                </a:ext>
              </a:extLst>
            </p:cNvPr>
            <p:cNvSpPr txBox="1"/>
            <p:nvPr/>
          </p:nvSpPr>
          <p:spPr>
            <a:xfrm>
              <a:off x="2950" y="3191"/>
              <a:ext cx="1323" cy="1323"/>
            </a:xfrm>
            <a:prstGeom prst="ellipse">
              <a:avLst/>
            </a:prstGeom>
            <a:gradFill>
              <a:gsLst>
                <a:gs pos="67000">
                  <a:schemeClr val="accent1">
                    <a:lumMod val="20000"/>
                    <a:lumOff val="80000"/>
                    <a:alpha val="0"/>
                  </a:schemeClr>
                </a:gs>
                <a:gs pos="100000">
                  <a:schemeClr val="accent1">
                    <a:lumMod val="20000"/>
                    <a:lumOff val="80000"/>
                    <a:alpha val="61000"/>
                  </a:schemeClr>
                </a:gs>
              </a:gsLst>
              <a:path path="circle">
                <a:fillToRect l="50000" t="50000" r="50000" b="50000"/>
              </a:path>
              <a:tileRect/>
            </a:gradFill>
            <a:ln w="15875" cap="sq">
              <a:solidFill>
                <a:srgbClr val="3B5085"/>
              </a:solidFill>
              <a:miter/>
            </a:ln>
          </p:spPr>
          <p:txBody>
            <a:bodyPr vert="horz" wrap="square" lIns="91440" tIns="45720" rIns="91440" bIns="45720" rtlCol="0" anchor="ctr"/>
            <a:lstStyle/>
            <a:p>
              <a:pPr algn="ctr">
                <a:lnSpc>
                  <a:spcPct val="110000"/>
                </a:lnSpc>
              </a:pPr>
              <a:endParaRPr kumimoji="1" lang="zh-CN" altLang="en-US"/>
            </a:p>
          </p:txBody>
        </p:sp>
        <p:sp>
          <p:nvSpPr>
            <p:cNvPr id="33" name="标题 1">
              <a:extLst>
                <a:ext uri="{FF2B5EF4-FFF2-40B4-BE49-F238E27FC236}">
                  <a16:creationId xmlns:a16="http://schemas.microsoft.com/office/drawing/2014/main" id="{92E953AC-0531-4134-8CC9-8F9914321DFA}"/>
                </a:ext>
              </a:extLst>
            </p:cNvPr>
            <p:cNvSpPr txBox="1"/>
            <p:nvPr/>
          </p:nvSpPr>
          <p:spPr>
            <a:xfrm rot="20700000">
              <a:off x="2725" y="3843"/>
              <a:ext cx="1839" cy="419"/>
            </a:xfrm>
            <a:prstGeom prst="arc">
              <a:avLst>
                <a:gd name="adj1" fmla="val 20876651"/>
                <a:gd name="adj2" fmla="val 11634648"/>
              </a:avLst>
            </a:prstGeom>
            <a:noFill/>
            <a:ln w="19050" cap="sq">
              <a:solidFill>
                <a:srgbClr val="3B5085"/>
              </a:solidFill>
              <a:miter/>
            </a:ln>
          </p:spPr>
          <p:txBody>
            <a:bodyPr vert="horz" wrap="square" lIns="91440" tIns="45720" rIns="91440" bIns="45720" rtlCol="0" anchor="ctr"/>
            <a:lstStyle/>
            <a:p>
              <a:pPr algn="ctr">
                <a:lnSpc>
                  <a:spcPct val="100000"/>
                </a:lnSpc>
              </a:pPr>
              <a:endParaRPr kumimoji="1" lang="zh-CN" altLang="en-US"/>
            </a:p>
          </p:txBody>
        </p:sp>
        <p:sp>
          <p:nvSpPr>
            <p:cNvPr id="34" name="标题 1">
              <a:extLst>
                <a:ext uri="{FF2B5EF4-FFF2-40B4-BE49-F238E27FC236}">
                  <a16:creationId xmlns:a16="http://schemas.microsoft.com/office/drawing/2014/main" id="{88E190EC-8315-46C4-9B66-CD8B20B0D275}"/>
                </a:ext>
              </a:extLst>
            </p:cNvPr>
            <p:cNvSpPr txBox="1"/>
            <p:nvPr/>
          </p:nvSpPr>
          <p:spPr>
            <a:xfrm>
              <a:off x="3398" y="3621"/>
              <a:ext cx="428" cy="463"/>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accent1"/>
            </a:solidFill>
            <a:ln cap="sq">
              <a:solidFill>
                <a:srgbClr val="3B5085"/>
              </a:solid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35" name="标题 1">
              <a:extLst>
                <a:ext uri="{FF2B5EF4-FFF2-40B4-BE49-F238E27FC236}">
                  <a16:creationId xmlns:a16="http://schemas.microsoft.com/office/drawing/2014/main" id="{78B2B20F-98F1-4F41-AB8C-FE2A9E015518}"/>
                </a:ext>
              </a:extLst>
            </p:cNvPr>
            <p:cNvSpPr txBox="1"/>
            <p:nvPr/>
          </p:nvSpPr>
          <p:spPr>
            <a:xfrm>
              <a:off x="1548" y="4752"/>
              <a:ext cx="3934" cy="720"/>
            </a:xfrm>
            <a:prstGeom prst="rect">
              <a:avLst/>
            </a:prstGeom>
            <a:noFill/>
            <a:ln>
              <a:noFill/>
            </a:ln>
          </p:spPr>
          <p:txBody>
            <a:bodyPr vert="horz" wrap="square" lIns="0" tIns="0" rIns="0" bIns="0" rtlCol="0" anchor="b"/>
            <a:lstStyle/>
            <a:p>
              <a:pPr algn="ctr">
                <a:lnSpc>
                  <a:spcPct val="130000"/>
                </a:lnSpc>
              </a:pPr>
              <a:r>
                <a:rPr kumimoji="1" lang="en-US" altLang="zh-CN" sz="2400" b="1" dirty="0">
                  <a:ln w="12700">
                    <a:noFill/>
                  </a:ln>
                  <a:solidFill>
                    <a:srgbClr val="262626">
                      <a:alpha val="100000"/>
                    </a:srgbClr>
                  </a:solidFill>
                  <a:latin typeface="+mn-ea"/>
                  <a:cs typeface="思源黑体 CN Bold" panose="020B0800000000000000" charset="-122"/>
                </a:rPr>
                <a:t>远距离覆盖</a:t>
              </a:r>
            </a:p>
          </p:txBody>
        </p:sp>
        <p:sp>
          <p:nvSpPr>
            <p:cNvPr id="36" name="标题 1">
              <a:extLst>
                <a:ext uri="{FF2B5EF4-FFF2-40B4-BE49-F238E27FC236}">
                  <a16:creationId xmlns:a16="http://schemas.microsoft.com/office/drawing/2014/main" id="{0B98DA0F-072F-4F88-85A0-50876EA9BF36}"/>
                </a:ext>
              </a:extLst>
            </p:cNvPr>
            <p:cNvSpPr txBox="1"/>
            <p:nvPr/>
          </p:nvSpPr>
          <p:spPr>
            <a:xfrm>
              <a:off x="1677" y="5731"/>
              <a:ext cx="3934" cy="2492"/>
            </a:xfrm>
            <a:prstGeom prst="rect">
              <a:avLst/>
            </a:prstGeom>
            <a:noFill/>
            <a:ln>
              <a:noFill/>
            </a:ln>
          </p:spPr>
          <p:txBody>
            <a:bodyPr vert="horz" wrap="square" lIns="0" tIns="0" rIns="0" bIns="0" rtlCol="0" anchor="t"/>
            <a:lstStyle/>
            <a:p>
              <a:pPr algn="l">
                <a:lnSpc>
                  <a:spcPct val="150000"/>
                </a:lnSpc>
              </a:pPr>
              <a:r>
                <a:rPr kumimoji="1" lang="en-US" altLang="zh-CN" sz="1600" dirty="0">
                  <a:ln w="12700">
                    <a:noFill/>
                  </a:ln>
                  <a:solidFill>
                    <a:srgbClr val="262626">
                      <a:alpha val="100000"/>
                    </a:srgbClr>
                  </a:solidFill>
                  <a:latin typeface="+mn-ea"/>
                  <a:cs typeface="黑体" panose="02010609060101010101" charset="-122"/>
                </a:rPr>
                <a:t>输电线路铁塔间距3- 10km，通信方案需确保信号稳定传输，覆盖长距离区域。
远距离传输是监测系统的基础，若信号中断，将无法获取横担应力数据。</a:t>
              </a:r>
            </a:p>
          </p:txBody>
        </p:sp>
      </p:grpSp>
      <p:grpSp>
        <p:nvGrpSpPr>
          <p:cNvPr id="37" name="组合 36">
            <a:extLst>
              <a:ext uri="{FF2B5EF4-FFF2-40B4-BE49-F238E27FC236}">
                <a16:creationId xmlns:a16="http://schemas.microsoft.com/office/drawing/2014/main" id="{450E1F89-170E-491F-B3E8-C5DF7078D458}"/>
              </a:ext>
            </a:extLst>
          </p:cNvPr>
          <p:cNvGrpSpPr/>
          <p:nvPr/>
        </p:nvGrpSpPr>
        <p:grpSpPr>
          <a:xfrm>
            <a:off x="4536419" y="1924843"/>
            <a:ext cx="3171825" cy="4494522"/>
            <a:chOff x="7093" y="2788"/>
            <a:chExt cx="4995" cy="6903"/>
          </a:xfrm>
        </p:grpSpPr>
        <p:sp>
          <p:nvSpPr>
            <p:cNvPr id="38" name="标题 1">
              <a:extLst>
                <a:ext uri="{FF2B5EF4-FFF2-40B4-BE49-F238E27FC236}">
                  <a16:creationId xmlns:a16="http://schemas.microsoft.com/office/drawing/2014/main" id="{F9A1FE7A-3286-4271-954E-8ECF5AAD6EFF}"/>
                </a:ext>
              </a:extLst>
            </p:cNvPr>
            <p:cNvSpPr txBox="1"/>
            <p:nvPr/>
          </p:nvSpPr>
          <p:spPr>
            <a:xfrm>
              <a:off x="7093" y="2788"/>
              <a:ext cx="4995" cy="6903"/>
            </a:xfrm>
            <a:custGeom>
              <a:avLst/>
              <a:gdLst>
                <a:gd name="connsiteX0" fmla="*/ 511200 w 4870807"/>
                <a:gd name="connsiteY0" fmla="*/ 0 h 4588775"/>
                <a:gd name="connsiteX1" fmla="*/ 4870807 w 4870807"/>
                <a:gd name="connsiteY1" fmla="*/ 0 h 4588775"/>
                <a:gd name="connsiteX2" fmla="*/ 4870807 w 4870807"/>
                <a:gd name="connsiteY2" fmla="*/ 494880 h 4588775"/>
                <a:gd name="connsiteX3" fmla="*/ 4870807 w 4870807"/>
                <a:gd name="connsiteY3" fmla="*/ 511200 h 4588775"/>
                <a:gd name="connsiteX4" fmla="*/ 4870807 w 4870807"/>
                <a:gd name="connsiteY4" fmla="*/ 3566375 h 4588775"/>
                <a:gd name="connsiteX5" fmla="*/ 4870807 w 4870807"/>
                <a:gd name="connsiteY5" fmla="*/ 4077575 h 4588775"/>
                <a:gd name="connsiteX6" fmla="*/ 4870807 w 4870807"/>
                <a:gd name="connsiteY6" fmla="*/ 4106760 h 4588775"/>
                <a:gd name="connsiteX7" fmla="*/ 4867865 w 4870807"/>
                <a:gd name="connsiteY7" fmla="*/ 4106760 h 4588775"/>
                <a:gd name="connsiteX8" fmla="*/ 4860421 w 4870807"/>
                <a:gd name="connsiteY8" fmla="*/ 4180600 h 4588775"/>
                <a:gd name="connsiteX9" fmla="*/ 4359607 w 4870807"/>
                <a:gd name="connsiteY9" fmla="*/ 4588775 h 4588775"/>
                <a:gd name="connsiteX10" fmla="*/ 0 w 4870807"/>
                <a:gd name="connsiteY10" fmla="*/ 4588774 h 4588775"/>
                <a:gd name="connsiteX11" fmla="*/ 0 w 4870807"/>
                <a:gd name="connsiteY11" fmla="*/ 4106760 h 4588775"/>
                <a:gd name="connsiteX12" fmla="*/ 0 w 4870807"/>
                <a:gd name="connsiteY12" fmla="*/ 4077575 h 4588775"/>
                <a:gd name="connsiteX13" fmla="*/ 0 w 4870807"/>
                <a:gd name="connsiteY13" fmla="*/ 1022399 h 4588775"/>
                <a:gd name="connsiteX14" fmla="*/ 0 w 4870807"/>
                <a:gd name="connsiteY14" fmla="*/ 511200 h 4588775"/>
                <a:gd name="connsiteX15" fmla="*/ 0 w 4870807"/>
                <a:gd name="connsiteY15" fmla="*/ 494880 h 4588775"/>
                <a:gd name="connsiteX16" fmla="*/ 1646 w 4870807"/>
                <a:gd name="connsiteY16" fmla="*/ 494880 h 4588775"/>
                <a:gd name="connsiteX17" fmla="*/ 10386 w 4870807"/>
                <a:gd name="connsiteY17" fmla="*/ 408175 h 4588775"/>
                <a:gd name="connsiteX18" fmla="*/ 511200 w 4870807"/>
                <a:gd name="connsiteY18" fmla="*/ 0 h 4588775"/>
              </a:gdLst>
              <a:ahLst/>
              <a:cxnLst/>
              <a:rect l="l" t="t" r="r" b="b"/>
              <a:pathLst>
                <a:path w="4870807" h="4588775">
                  <a:moveTo>
                    <a:pt x="511200" y="0"/>
                  </a:moveTo>
                  <a:lnTo>
                    <a:pt x="4870807" y="0"/>
                  </a:lnTo>
                  <a:lnTo>
                    <a:pt x="4870807" y="494880"/>
                  </a:lnTo>
                  <a:lnTo>
                    <a:pt x="4870807" y="511200"/>
                  </a:lnTo>
                  <a:lnTo>
                    <a:pt x="4870807" y="3566375"/>
                  </a:lnTo>
                  <a:lnTo>
                    <a:pt x="4870807" y="4077575"/>
                  </a:lnTo>
                  <a:lnTo>
                    <a:pt x="4870807" y="4106760"/>
                  </a:lnTo>
                  <a:lnTo>
                    <a:pt x="4867865" y="4106760"/>
                  </a:lnTo>
                  <a:lnTo>
                    <a:pt x="4860421" y="4180600"/>
                  </a:lnTo>
                  <a:cubicBezTo>
                    <a:pt x="4812754" y="4413545"/>
                    <a:pt x="4606644" y="4588775"/>
                    <a:pt x="4359607" y="4588775"/>
                  </a:cubicBezTo>
                  <a:lnTo>
                    <a:pt x="0" y="4588774"/>
                  </a:lnTo>
                  <a:lnTo>
                    <a:pt x="0" y="4106760"/>
                  </a:lnTo>
                  <a:lnTo>
                    <a:pt x="0" y="4077575"/>
                  </a:lnTo>
                  <a:lnTo>
                    <a:pt x="0" y="1022399"/>
                  </a:lnTo>
                  <a:lnTo>
                    <a:pt x="0" y="511200"/>
                  </a:lnTo>
                  <a:lnTo>
                    <a:pt x="0" y="494880"/>
                  </a:lnTo>
                  <a:lnTo>
                    <a:pt x="1646" y="494880"/>
                  </a:lnTo>
                  <a:lnTo>
                    <a:pt x="10386" y="408175"/>
                  </a:lnTo>
                  <a:cubicBezTo>
                    <a:pt x="58054" y="175230"/>
                    <a:pt x="264163" y="0"/>
                    <a:pt x="511200" y="0"/>
                  </a:cubicBezTo>
                  <a:close/>
                </a:path>
              </a:pathLst>
            </a:custGeom>
            <a:solidFill>
              <a:schemeClr val="bg1"/>
            </a:solidFill>
            <a:ln w="25400" cap="sq">
              <a:solidFill>
                <a:srgbClr val="3B5085"/>
              </a:solidFill>
              <a:miter/>
            </a:ln>
          </p:spPr>
          <p:txBody>
            <a:bodyPr vert="horz" wrap="square" lIns="91440" tIns="45720" rIns="91440" bIns="45720" rtlCol="0" anchor="ctr"/>
            <a:lstStyle/>
            <a:p>
              <a:pPr algn="ctr">
                <a:lnSpc>
                  <a:spcPct val="110000"/>
                </a:lnSpc>
              </a:pPr>
              <a:endParaRPr kumimoji="1" lang="zh-CN" altLang="en-US" dirty="0"/>
            </a:p>
          </p:txBody>
        </p:sp>
        <p:sp>
          <p:nvSpPr>
            <p:cNvPr id="39" name="标题 1">
              <a:extLst>
                <a:ext uri="{FF2B5EF4-FFF2-40B4-BE49-F238E27FC236}">
                  <a16:creationId xmlns:a16="http://schemas.microsoft.com/office/drawing/2014/main" id="{27EC3C44-66B5-4C3D-9551-1DAB241ACF35}"/>
                </a:ext>
              </a:extLst>
            </p:cNvPr>
            <p:cNvSpPr txBox="1"/>
            <p:nvPr/>
          </p:nvSpPr>
          <p:spPr>
            <a:xfrm>
              <a:off x="7601" y="4752"/>
              <a:ext cx="3934" cy="720"/>
            </a:xfrm>
            <a:prstGeom prst="rect">
              <a:avLst/>
            </a:prstGeom>
            <a:noFill/>
            <a:ln>
              <a:noFill/>
            </a:ln>
          </p:spPr>
          <p:txBody>
            <a:bodyPr vert="horz" wrap="square" lIns="0" tIns="0" rIns="0" bIns="0" rtlCol="0" anchor="b"/>
            <a:lstStyle/>
            <a:p>
              <a:pPr algn="ctr">
                <a:lnSpc>
                  <a:spcPct val="130000"/>
                </a:lnSpc>
              </a:pPr>
              <a:r>
                <a:rPr kumimoji="1" lang="en-US" altLang="zh-CN" sz="2400" b="1" dirty="0">
                  <a:ln w="12700">
                    <a:noFill/>
                  </a:ln>
                  <a:solidFill>
                    <a:srgbClr val="262626">
                      <a:alpha val="100000"/>
                    </a:srgbClr>
                  </a:solidFill>
                  <a:latin typeface="+mn-ea"/>
                </a:rPr>
                <a:t>超低功耗</a:t>
              </a:r>
            </a:p>
          </p:txBody>
        </p:sp>
        <p:sp>
          <p:nvSpPr>
            <p:cNvPr id="40" name="标题 1">
              <a:extLst>
                <a:ext uri="{FF2B5EF4-FFF2-40B4-BE49-F238E27FC236}">
                  <a16:creationId xmlns:a16="http://schemas.microsoft.com/office/drawing/2014/main" id="{8CC26CFE-ECA3-49B6-9290-E7DE1D7282EF}"/>
                </a:ext>
              </a:extLst>
            </p:cNvPr>
            <p:cNvSpPr txBox="1"/>
            <p:nvPr/>
          </p:nvSpPr>
          <p:spPr>
            <a:xfrm>
              <a:off x="7656" y="5756"/>
              <a:ext cx="3934" cy="2492"/>
            </a:xfrm>
            <a:prstGeom prst="rect">
              <a:avLst/>
            </a:prstGeom>
            <a:noFill/>
            <a:ln>
              <a:noFill/>
            </a:ln>
          </p:spPr>
          <p:txBody>
            <a:bodyPr vert="horz" wrap="square" lIns="0" tIns="0" rIns="0" bIns="0" rtlCol="0" anchor="t"/>
            <a:lstStyle/>
            <a:p>
              <a:pPr algn="l">
                <a:lnSpc>
                  <a:spcPct val="150000"/>
                </a:lnSpc>
              </a:pPr>
              <a:r>
                <a:rPr kumimoji="1" lang="en-US" altLang="zh-CN" sz="1600" dirty="0">
                  <a:ln w="12700">
                    <a:noFill/>
                  </a:ln>
                  <a:solidFill>
                    <a:srgbClr val="262626">
                      <a:alpha val="100000"/>
                    </a:srgbClr>
                  </a:solidFill>
                  <a:latin typeface="+mn-ea"/>
                </a:rPr>
                <a:t>采用电池供电加太阳能辅助，降低能耗，延长设备使用寿命。
野外环境难以接入市电，低功耗设计可减少更换电池频率，降低维护成本。</a:t>
              </a:r>
              <a:endParaRPr kumimoji="1" lang="zh-CN" altLang="en-US" sz="1600" dirty="0">
                <a:ln w="12700">
                  <a:noFill/>
                </a:ln>
                <a:solidFill>
                  <a:srgbClr val="262626">
                    <a:alpha val="100000"/>
                  </a:srgbClr>
                </a:solidFill>
                <a:latin typeface="+mn-ea"/>
              </a:endParaRPr>
            </a:p>
          </p:txBody>
        </p:sp>
        <p:sp>
          <p:nvSpPr>
            <p:cNvPr id="41" name="标题 1">
              <a:extLst>
                <a:ext uri="{FF2B5EF4-FFF2-40B4-BE49-F238E27FC236}">
                  <a16:creationId xmlns:a16="http://schemas.microsoft.com/office/drawing/2014/main" id="{99DB6CA6-4374-4C01-B260-538C57CA736A}"/>
                </a:ext>
              </a:extLst>
            </p:cNvPr>
            <p:cNvSpPr txBox="1"/>
            <p:nvPr/>
          </p:nvSpPr>
          <p:spPr>
            <a:xfrm>
              <a:off x="8895" y="3191"/>
              <a:ext cx="1323" cy="1323"/>
            </a:xfrm>
            <a:prstGeom prst="ellipse">
              <a:avLst/>
            </a:prstGeom>
            <a:gradFill>
              <a:gsLst>
                <a:gs pos="67000">
                  <a:schemeClr val="accent1">
                    <a:lumMod val="20000"/>
                    <a:lumOff val="80000"/>
                    <a:alpha val="0"/>
                  </a:schemeClr>
                </a:gs>
                <a:gs pos="100000">
                  <a:schemeClr val="accent1">
                    <a:lumMod val="20000"/>
                    <a:lumOff val="80000"/>
                    <a:alpha val="61000"/>
                  </a:schemeClr>
                </a:gs>
              </a:gsLst>
              <a:path path="circle">
                <a:fillToRect l="50000" t="50000" r="50000" b="50000"/>
              </a:path>
              <a:tileRect/>
            </a:gradFill>
            <a:ln w="15875" cap="sq">
              <a:solidFill>
                <a:srgbClr val="3B5085"/>
              </a:solidFill>
              <a:miter/>
            </a:ln>
          </p:spPr>
          <p:txBody>
            <a:bodyPr vert="horz" wrap="square" lIns="91440" tIns="45720" rIns="91440" bIns="45720" rtlCol="0" anchor="ctr"/>
            <a:lstStyle/>
            <a:p>
              <a:pPr algn="ctr">
                <a:lnSpc>
                  <a:spcPct val="110000"/>
                </a:lnSpc>
              </a:pPr>
              <a:endParaRPr kumimoji="1" lang="zh-CN" altLang="en-US"/>
            </a:p>
          </p:txBody>
        </p:sp>
        <p:sp>
          <p:nvSpPr>
            <p:cNvPr id="43" name="标题 1">
              <a:extLst>
                <a:ext uri="{FF2B5EF4-FFF2-40B4-BE49-F238E27FC236}">
                  <a16:creationId xmlns:a16="http://schemas.microsoft.com/office/drawing/2014/main" id="{E4D0ED22-6ECF-429F-88F3-01A58C4D18DB}"/>
                </a:ext>
              </a:extLst>
            </p:cNvPr>
            <p:cNvSpPr txBox="1"/>
            <p:nvPr/>
          </p:nvSpPr>
          <p:spPr>
            <a:xfrm rot="20700000">
              <a:off x="8671" y="3843"/>
              <a:ext cx="1839" cy="419"/>
            </a:xfrm>
            <a:prstGeom prst="arc">
              <a:avLst>
                <a:gd name="adj1" fmla="val 20876651"/>
                <a:gd name="adj2" fmla="val 11634648"/>
              </a:avLst>
            </a:prstGeom>
            <a:noFill/>
            <a:ln w="19050" cap="sq">
              <a:solidFill>
                <a:srgbClr val="3B5085"/>
              </a:solidFill>
              <a:miter/>
            </a:ln>
          </p:spPr>
          <p:txBody>
            <a:bodyPr vert="horz" wrap="square" lIns="91440" tIns="45720" rIns="91440" bIns="45720" rtlCol="0" anchor="ctr"/>
            <a:lstStyle/>
            <a:p>
              <a:pPr algn="ctr">
                <a:lnSpc>
                  <a:spcPct val="100000"/>
                </a:lnSpc>
              </a:pPr>
              <a:endParaRPr kumimoji="1" lang="zh-CN" altLang="en-US"/>
            </a:p>
          </p:txBody>
        </p:sp>
        <p:sp>
          <p:nvSpPr>
            <p:cNvPr id="44" name="标题 1">
              <a:extLst>
                <a:ext uri="{FF2B5EF4-FFF2-40B4-BE49-F238E27FC236}">
                  <a16:creationId xmlns:a16="http://schemas.microsoft.com/office/drawing/2014/main" id="{08A83490-46C4-4F30-A63D-4A870E225CCC}"/>
                </a:ext>
              </a:extLst>
            </p:cNvPr>
            <p:cNvSpPr txBox="1"/>
            <p:nvPr/>
          </p:nvSpPr>
          <p:spPr>
            <a:xfrm>
              <a:off x="9341" y="3604"/>
              <a:ext cx="498" cy="498"/>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accent1"/>
            </a:solidFill>
            <a:ln cap="sq">
              <a:solidFill>
                <a:srgbClr val="3B5085"/>
              </a:solidFill>
              <a:prstDash val="solid"/>
            </a:ln>
            <a:effectLst/>
          </p:spPr>
          <p:txBody>
            <a:bodyPr vert="horz" wrap="square" lIns="91440" tIns="45720" rIns="91440" bIns="45720" rtlCol="0" anchor="t"/>
            <a:lstStyle/>
            <a:p>
              <a:pPr algn="l">
                <a:lnSpc>
                  <a:spcPct val="110000"/>
                </a:lnSpc>
              </a:pPr>
              <a:endParaRPr kumimoji="1" lang="zh-CN" altLang="en-US"/>
            </a:p>
          </p:txBody>
        </p:sp>
      </p:grpSp>
      <p:grpSp>
        <p:nvGrpSpPr>
          <p:cNvPr id="45" name="组合 44">
            <a:extLst>
              <a:ext uri="{FF2B5EF4-FFF2-40B4-BE49-F238E27FC236}">
                <a16:creationId xmlns:a16="http://schemas.microsoft.com/office/drawing/2014/main" id="{1E63CAF9-5536-41E5-9192-E965128069FE}"/>
              </a:ext>
            </a:extLst>
          </p:cNvPr>
          <p:cNvGrpSpPr/>
          <p:nvPr/>
        </p:nvGrpSpPr>
        <p:grpSpPr>
          <a:xfrm>
            <a:off x="8261011" y="1924835"/>
            <a:ext cx="3171825" cy="4494530"/>
            <a:chOff x="13145" y="2662"/>
            <a:chExt cx="4995" cy="7078"/>
          </a:xfrm>
        </p:grpSpPr>
        <p:sp>
          <p:nvSpPr>
            <p:cNvPr id="46" name="标题 1">
              <a:extLst>
                <a:ext uri="{FF2B5EF4-FFF2-40B4-BE49-F238E27FC236}">
                  <a16:creationId xmlns:a16="http://schemas.microsoft.com/office/drawing/2014/main" id="{17DF3083-4164-49D7-BA58-8D1AC7DD76F1}"/>
                </a:ext>
              </a:extLst>
            </p:cNvPr>
            <p:cNvSpPr txBox="1"/>
            <p:nvPr/>
          </p:nvSpPr>
          <p:spPr>
            <a:xfrm>
              <a:off x="13145" y="2662"/>
              <a:ext cx="4995" cy="7078"/>
            </a:xfrm>
            <a:custGeom>
              <a:avLst/>
              <a:gdLst>
                <a:gd name="connsiteX0" fmla="*/ 511200 w 4870807"/>
                <a:gd name="connsiteY0" fmla="*/ 0 h 4588775"/>
                <a:gd name="connsiteX1" fmla="*/ 4870807 w 4870807"/>
                <a:gd name="connsiteY1" fmla="*/ 0 h 4588775"/>
                <a:gd name="connsiteX2" fmla="*/ 4870807 w 4870807"/>
                <a:gd name="connsiteY2" fmla="*/ 494880 h 4588775"/>
                <a:gd name="connsiteX3" fmla="*/ 4870807 w 4870807"/>
                <a:gd name="connsiteY3" fmla="*/ 511200 h 4588775"/>
                <a:gd name="connsiteX4" fmla="*/ 4870807 w 4870807"/>
                <a:gd name="connsiteY4" fmla="*/ 3566375 h 4588775"/>
                <a:gd name="connsiteX5" fmla="*/ 4870807 w 4870807"/>
                <a:gd name="connsiteY5" fmla="*/ 4077575 h 4588775"/>
                <a:gd name="connsiteX6" fmla="*/ 4870807 w 4870807"/>
                <a:gd name="connsiteY6" fmla="*/ 4106760 h 4588775"/>
                <a:gd name="connsiteX7" fmla="*/ 4867865 w 4870807"/>
                <a:gd name="connsiteY7" fmla="*/ 4106760 h 4588775"/>
                <a:gd name="connsiteX8" fmla="*/ 4860421 w 4870807"/>
                <a:gd name="connsiteY8" fmla="*/ 4180600 h 4588775"/>
                <a:gd name="connsiteX9" fmla="*/ 4359607 w 4870807"/>
                <a:gd name="connsiteY9" fmla="*/ 4588775 h 4588775"/>
                <a:gd name="connsiteX10" fmla="*/ 0 w 4870807"/>
                <a:gd name="connsiteY10" fmla="*/ 4588774 h 4588775"/>
                <a:gd name="connsiteX11" fmla="*/ 0 w 4870807"/>
                <a:gd name="connsiteY11" fmla="*/ 4106760 h 4588775"/>
                <a:gd name="connsiteX12" fmla="*/ 0 w 4870807"/>
                <a:gd name="connsiteY12" fmla="*/ 4077575 h 4588775"/>
                <a:gd name="connsiteX13" fmla="*/ 0 w 4870807"/>
                <a:gd name="connsiteY13" fmla="*/ 1022399 h 4588775"/>
                <a:gd name="connsiteX14" fmla="*/ 0 w 4870807"/>
                <a:gd name="connsiteY14" fmla="*/ 511200 h 4588775"/>
                <a:gd name="connsiteX15" fmla="*/ 0 w 4870807"/>
                <a:gd name="connsiteY15" fmla="*/ 494880 h 4588775"/>
                <a:gd name="connsiteX16" fmla="*/ 1646 w 4870807"/>
                <a:gd name="connsiteY16" fmla="*/ 494880 h 4588775"/>
                <a:gd name="connsiteX17" fmla="*/ 10386 w 4870807"/>
                <a:gd name="connsiteY17" fmla="*/ 408175 h 4588775"/>
                <a:gd name="connsiteX18" fmla="*/ 511200 w 4870807"/>
                <a:gd name="connsiteY18" fmla="*/ 0 h 4588775"/>
              </a:gdLst>
              <a:ahLst/>
              <a:cxnLst/>
              <a:rect l="l" t="t" r="r" b="b"/>
              <a:pathLst>
                <a:path w="4870807" h="4588775">
                  <a:moveTo>
                    <a:pt x="511200" y="0"/>
                  </a:moveTo>
                  <a:lnTo>
                    <a:pt x="4870807" y="0"/>
                  </a:lnTo>
                  <a:lnTo>
                    <a:pt x="4870807" y="494880"/>
                  </a:lnTo>
                  <a:lnTo>
                    <a:pt x="4870807" y="511200"/>
                  </a:lnTo>
                  <a:lnTo>
                    <a:pt x="4870807" y="3566375"/>
                  </a:lnTo>
                  <a:lnTo>
                    <a:pt x="4870807" y="4077575"/>
                  </a:lnTo>
                  <a:lnTo>
                    <a:pt x="4870807" y="4106760"/>
                  </a:lnTo>
                  <a:lnTo>
                    <a:pt x="4867865" y="4106760"/>
                  </a:lnTo>
                  <a:lnTo>
                    <a:pt x="4860421" y="4180600"/>
                  </a:lnTo>
                  <a:cubicBezTo>
                    <a:pt x="4812754" y="4413545"/>
                    <a:pt x="4606644" y="4588775"/>
                    <a:pt x="4359607" y="4588775"/>
                  </a:cubicBezTo>
                  <a:lnTo>
                    <a:pt x="0" y="4588774"/>
                  </a:lnTo>
                  <a:lnTo>
                    <a:pt x="0" y="4106760"/>
                  </a:lnTo>
                  <a:lnTo>
                    <a:pt x="0" y="4077575"/>
                  </a:lnTo>
                  <a:lnTo>
                    <a:pt x="0" y="1022399"/>
                  </a:lnTo>
                  <a:lnTo>
                    <a:pt x="0" y="511200"/>
                  </a:lnTo>
                  <a:lnTo>
                    <a:pt x="0" y="494880"/>
                  </a:lnTo>
                  <a:lnTo>
                    <a:pt x="1646" y="494880"/>
                  </a:lnTo>
                  <a:lnTo>
                    <a:pt x="10386" y="408175"/>
                  </a:lnTo>
                  <a:cubicBezTo>
                    <a:pt x="58054" y="175230"/>
                    <a:pt x="264163" y="0"/>
                    <a:pt x="511200" y="0"/>
                  </a:cubicBezTo>
                  <a:close/>
                </a:path>
              </a:pathLst>
            </a:custGeom>
            <a:solidFill>
              <a:schemeClr val="bg1"/>
            </a:solidFill>
            <a:ln w="25400" cap="sq">
              <a:solidFill>
                <a:srgbClr val="3B5085"/>
              </a:solidFill>
              <a:miter/>
            </a:ln>
          </p:spPr>
          <p:txBody>
            <a:bodyPr vert="horz" wrap="square" lIns="91440" tIns="45720" rIns="91440" bIns="45720" rtlCol="0" anchor="ctr"/>
            <a:lstStyle/>
            <a:p>
              <a:pPr algn="ctr">
                <a:lnSpc>
                  <a:spcPct val="110000"/>
                </a:lnSpc>
              </a:pPr>
              <a:endParaRPr kumimoji="1" lang="zh-CN" altLang="en-US" dirty="0"/>
            </a:p>
          </p:txBody>
        </p:sp>
        <p:sp>
          <p:nvSpPr>
            <p:cNvPr id="54" name="标题 1">
              <a:extLst>
                <a:ext uri="{FF2B5EF4-FFF2-40B4-BE49-F238E27FC236}">
                  <a16:creationId xmlns:a16="http://schemas.microsoft.com/office/drawing/2014/main" id="{2C8B5BB3-734E-408D-A15C-4FB973EEA20A}"/>
                </a:ext>
              </a:extLst>
            </p:cNvPr>
            <p:cNvSpPr txBox="1"/>
            <p:nvPr/>
          </p:nvSpPr>
          <p:spPr>
            <a:xfrm>
              <a:off x="13653" y="4752"/>
              <a:ext cx="3934" cy="720"/>
            </a:xfrm>
            <a:prstGeom prst="rect">
              <a:avLst/>
            </a:prstGeom>
            <a:noFill/>
            <a:ln>
              <a:noFill/>
            </a:ln>
          </p:spPr>
          <p:txBody>
            <a:bodyPr vert="horz" wrap="square" lIns="0" tIns="0" rIns="0" bIns="0" rtlCol="0" anchor="b"/>
            <a:lstStyle/>
            <a:p>
              <a:pPr algn="ctr">
                <a:lnSpc>
                  <a:spcPct val="130000"/>
                </a:lnSpc>
              </a:pPr>
              <a:r>
                <a:rPr kumimoji="1" lang="en-US" altLang="zh-CN" sz="2400" b="1" dirty="0">
                  <a:ln w="12700">
                    <a:noFill/>
                  </a:ln>
                  <a:solidFill>
                    <a:srgbClr val="262626">
                      <a:alpha val="100000"/>
                    </a:srgbClr>
                  </a:solidFill>
                  <a:latin typeface="+mn-ea"/>
                </a:rPr>
                <a:t>抗干扰能力</a:t>
              </a:r>
              <a:endParaRPr kumimoji="1" lang="zh-CN" altLang="en-US" sz="2400" b="1" dirty="0">
                <a:ln w="12700">
                  <a:noFill/>
                </a:ln>
                <a:solidFill>
                  <a:srgbClr val="262626">
                    <a:alpha val="100000"/>
                  </a:srgbClr>
                </a:solidFill>
                <a:latin typeface="+mn-ea"/>
              </a:endParaRPr>
            </a:p>
          </p:txBody>
        </p:sp>
        <p:sp>
          <p:nvSpPr>
            <p:cNvPr id="55" name="标题 1">
              <a:extLst>
                <a:ext uri="{FF2B5EF4-FFF2-40B4-BE49-F238E27FC236}">
                  <a16:creationId xmlns:a16="http://schemas.microsoft.com/office/drawing/2014/main" id="{80FDFF8D-2765-4DB4-A70B-95A961563917}"/>
                </a:ext>
              </a:extLst>
            </p:cNvPr>
            <p:cNvSpPr txBox="1"/>
            <p:nvPr/>
          </p:nvSpPr>
          <p:spPr>
            <a:xfrm>
              <a:off x="13797" y="5786"/>
              <a:ext cx="3934" cy="2492"/>
            </a:xfrm>
            <a:prstGeom prst="rect">
              <a:avLst/>
            </a:prstGeom>
            <a:noFill/>
            <a:ln>
              <a:noFill/>
            </a:ln>
          </p:spPr>
          <p:txBody>
            <a:bodyPr vert="horz" wrap="square" lIns="0" tIns="0" rIns="0" bIns="0" rtlCol="0" anchor="t"/>
            <a:lstStyle/>
            <a:p>
              <a:pPr algn="l">
                <a:lnSpc>
                  <a:spcPct val="150000"/>
                </a:lnSpc>
              </a:pPr>
              <a:r>
                <a:rPr kumimoji="1" lang="en-US" altLang="zh-CN" sz="1600" dirty="0">
                  <a:ln w="12700">
                    <a:noFill/>
                  </a:ln>
                  <a:solidFill>
                    <a:srgbClr val="262626">
                      <a:alpha val="100000"/>
                    </a:srgbClr>
                  </a:solidFill>
                  <a:latin typeface="+mn-ea"/>
                </a:rPr>
                <a:t>电磁干扰和恶劣天气影响通信质量，需采用抗干扰技术保障数据传输。
抗干扰性能直接关系到数据的准确性和可靠性，对监测系统至关重要。</a:t>
              </a:r>
              <a:endParaRPr kumimoji="1" lang="zh-CN" altLang="en-US" sz="1600" dirty="0">
                <a:ln w="12700">
                  <a:noFill/>
                </a:ln>
                <a:solidFill>
                  <a:srgbClr val="262626">
                    <a:alpha val="100000"/>
                  </a:srgbClr>
                </a:solidFill>
                <a:latin typeface="+mn-ea"/>
              </a:endParaRPr>
            </a:p>
          </p:txBody>
        </p:sp>
        <p:sp>
          <p:nvSpPr>
            <p:cNvPr id="56" name="标题 1">
              <a:extLst>
                <a:ext uri="{FF2B5EF4-FFF2-40B4-BE49-F238E27FC236}">
                  <a16:creationId xmlns:a16="http://schemas.microsoft.com/office/drawing/2014/main" id="{935CC058-BA49-484A-9345-9C33A8515CC3}"/>
                </a:ext>
              </a:extLst>
            </p:cNvPr>
            <p:cNvSpPr txBox="1"/>
            <p:nvPr/>
          </p:nvSpPr>
          <p:spPr>
            <a:xfrm>
              <a:off x="14948" y="3137"/>
              <a:ext cx="1323" cy="1323"/>
            </a:xfrm>
            <a:prstGeom prst="ellipse">
              <a:avLst/>
            </a:prstGeom>
            <a:gradFill>
              <a:gsLst>
                <a:gs pos="67000">
                  <a:schemeClr val="accent1">
                    <a:lumMod val="20000"/>
                    <a:lumOff val="80000"/>
                    <a:alpha val="0"/>
                  </a:schemeClr>
                </a:gs>
                <a:gs pos="100000">
                  <a:schemeClr val="accent1">
                    <a:lumMod val="20000"/>
                    <a:lumOff val="80000"/>
                    <a:alpha val="61000"/>
                  </a:schemeClr>
                </a:gs>
              </a:gsLst>
              <a:path path="circle">
                <a:fillToRect l="50000" t="50000" r="50000" b="50000"/>
              </a:path>
              <a:tileRect/>
            </a:gradFill>
            <a:ln w="15875" cap="sq">
              <a:solidFill>
                <a:srgbClr val="3B5085"/>
              </a:solidFill>
              <a:miter/>
            </a:ln>
          </p:spPr>
          <p:txBody>
            <a:bodyPr vert="horz" wrap="square" lIns="91440" tIns="45720" rIns="91440" bIns="45720" rtlCol="0" anchor="ctr"/>
            <a:lstStyle/>
            <a:p>
              <a:pPr algn="ctr">
                <a:lnSpc>
                  <a:spcPct val="110000"/>
                </a:lnSpc>
              </a:pPr>
              <a:endParaRPr kumimoji="1" lang="zh-CN" altLang="en-US"/>
            </a:p>
          </p:txBody>
        </p:sp>
        <p:sp>
          <p:nvSpPr>
            <p:cNvPr id="57" name="标题 1">
              <a:extLst>
                <a:ext uri="{FF2B5EF4-FFF2-40B4-BE49-F238E27FC236}">
                  <a16:creationId xmlns:a16="http://schemas.microsoft.com/office/drawing/2014/main" id="{287DBACE-4DF3-42B3-9017-62746EE42AA6}"/>
                </a:ext>
              </a:extLst>
            </p:cNvPr>
            <p:cNvSpPr txBox="1"/>
            <p:nvPr/>
          </p:nvSpPr>
          <p:spPr>
            <a:xfrm rot="20700000">
              <a:off x="14723" y="3788"/>
              <a:ext cx="1839" cy="419"/>
            </a:xfrm>
            <a:prstGeom prst="arc">
              <a:avLst>
                <a:gd name="adj1" fmla="val 20876651"/>
                <a:gd name="adj2" fmla="val 11634648"/>
              </a:avLst>
            </a:prstGeom>
            <a:noFill/>
            <a:ln w="19050" cap="sq">
              <a:solidFill>
                <a:srgbClr val="3B5085"/>
              </a:solidFill>
              <a:miter/>
            </a:ln>
          </p:spPr>
          <p:txBody>
            <a:bodyPr vert="horz" wrap="square" lIns="91440" tIns="45720" rIns="91440" bIns="45720" rtlCol="0" anchor="ctr"/>
            <a:lstStyle/>
            <a:p>
              <a:pPr algn="ctr">
                <a:lnSpc>
                  <a:spcPct val="100000"/>
                </a:lnSpc>
              </a:pPr>
              <a:endParaRPr kumimoji="1" lang="zh-CN" altLang="en-US"/>
            </a:p>
          </p:txBody>
        </p:sp>
        <p:sp>
          <p:nvSpPr>
            <p:cNvPr id="58" name="标题 1">
              <a:extLst>
                <a:ext uri="{FF2B5EF4-FFF2-40B4-BE49-F238E27FC236}">
                  <a16:creationId xmlns:a16="http://schemas.microsoft.com/office/drawing/2014/main" id="{E5B004BC-ECFC-482C-A308-0764AE4E0CBC}"/>
                </a:ext>
              </a:extLst>
            </p:cNvPr>
            <p:cNvSpPr txBox="1"/>
            <p:nvPr/>
          </p:nvSpPr>
          <p:spPr>
            <a:xfrm>
              <a:off x="15300" y="3557"/>
              <a:ext cx="614" cy="538"/>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accent1"/>
            </a:solidFill>
            <a:ln cap="sq">
              <a:solidFill>
                <a:srgbClr val="3B5085"/>
              </a:solidFill>
              <a:prstDash val="solid"/>
            </a:ln>
            <a:effectLst/>
          </p:spPr>
          <p:txBody>
            <a:bodyPr vert="horz" wrap="square" lIns="91440" tIns="45720" rIns="91440" bIns="45720" rtlCol="0" anchor="t"/>
            <a:lstStyle/>
            <a:p>
              <a:pPr algn="l">
                <a:lnSpc>
                  <a:spcPct val="110000"/>
                </a:lnSpc>
              </a:pPr>
              <a:endParaRPr kumimoji="1" lang="zh-CN" altLang="en-US"/>
            </a:p>
          </p:txBody>
        </p:sp>
      </p:grpSp>
      <p:sp>
        <p:nvSpPr>
          <p:cNvPr id="59" name="文本框 58">
            <a:extLst>
              <a:ext uri="{FF2B5EF4-FFF2-40B4-BE49-F238E27FC236}">
                <a16:creationId xmlns:a16="http://schemas.microsoft.com/office/drawing/2014/main" id="{762E31E0-D210-4C02-81FD-39237C2E6DFA}"/>
              </a:ext>
            </a:extLst>
          </p:cNvPr>
          <p:cNvSpPr txBox="1"/>
          <p:nvPr/>
        </p:nvSpPr>
        <p:spPr>
          <a:xfrm>
            <a:off x="223364" y="207351"/>
            <a:ext cx="2954655" cy="646331"/>
          </a:xfrm>
          <a:prstGeom prst="rect">
            <a:avLst/>
          </a:prstGeom>
          <a:noFill/>
        </p:spPr>
        <p:txBody>
          <a:bodyPr wrap="none" rtlCol="0">
            <a:spAutoFit/>
          </a:bodyPr>
          <a:lstStyle/>
          <a:p>
            <a:pPr algn="ctr"/>
            <a:r>
              <a:rPr lang="zh-CN" altLang="en-US" sz="3600" b="1" dirty="0">
                <a:solidFill>
                  <a:srgbClr val="57658E"/>
                </a:solidFill>
                <a:cs typeface="+mn-ea"/>
                <a:sym typeface="+mn-lt"/>
              </a:rPr>
              <a:t>通信方案设计</a:t>
            </a:r>
          </a:p>
        </p:txBody>
      </p:sp>
      <p:sp>
        <p:nvSpPr>
          <p:cNvPr id="60" name="文本框 59">
            <a:extLst>
              <a:ext uri="{FF2B5EF4-FFF2-40B4-BE49-F238E27FC236}">
                <a16:creationId xmlns:a16="http://schemas.microsoft.com/office/drawing/2014/main" id="{2ED5027C-553D-4392-B9BB-4780B6B5F540}"/>
              </a:ext>
            </a:extLst>
          </p:cNvPr>
          <p:cNvSpPr txBox="1"/>
          <p:nvPr/>
        </p:nvSpPr>
        <p:spPr>
          <a:xfrm>
            <a:off x="4922122" y="1077936"/>
            <a:ext cx="2441695" cy="769441"/>
          </a:xfrm>
          <a:prstGeom prst="rect">
            <a:avLst/>
          </a:prstGeom>
          <a:noFill/>
        </p:spPr>
        <p:txBody>
          <a:bodyPr wrap="none" rtlCol="0">
            <a:spAutoFit/>
          </a:bodyPr>
          <a:lstStyle/>
          <a:p>
            <a:pPr algn="ctr"/>
            <a:r>
              <a:rPr lang="zh-CN" altLang="en-US" sz="4400" b="1" dirty="0">
                <a:solidFill>
                  <a:srgbClr val="57658E"/>
                </a:solidFill>
                <a:cs typeface="+mn-ea"/>
                <a:sym typeface="+mn-lt"/>
              </a:rPr>
              <a:t>核心需求</a:t>
            </a:r>
          </a:p>
        </p:txBody>
      </p:sp>
      <p:sp>
        <p:nvSpPr>
          <p:cNvPr id="61" name="文本框 60">
            <a:extLst>
              <a:ext uri="{FF2B5EF4-FFF2-40B4-BE49-F238E27FC236}">
                <a16:creationId xmlns:a16="http://schemas.microsoft.com/office/drawing/2014/main" id="{CEACF08B-342D-4B20-9D43-6105AE81750F}"/>
              </a:ext>
            </a:extLst>
          </p:cNvPr>
          <p:cNvSpPr txBox="1"/>
          <p:nvPr/>
        </p:nvSpPr>
        <p:spPr>
          <a:xfrm>
            <a:off x="205407" y="957737"/>
            <a:ext cx="3245875" cy="458202"/>
          </a:xfrm>
          <a:prstGeom prst="rect">
            <a:avLst/>
          </a:prstGeom>
          <a:noFill/>
        </p:spPr>
        <p:txBody>
          <a:bodyPr wrap="square" rtlCol="0">
            <a:spAutoFit/>
          </a:bodyPr>
          <a:lstStyle/>
          <a:p>
            <a:pPr algn="ctr">
              <a:lnSpc>
                <a:spcPct val="150000"/>
              </a:lnSpc>
            </a:pPr>
            <a:r>
              <a:rPr lang="zh-CN" altLang="en-US" b="1" dirty="0">
                <a:solidFill>
                  <a:srgbClr val="57658E"/>
                </a:solidFill>
                <a:latin typeface="+mn-ea"/>
                <a:cs typeface="+mn-ea"/>
                <a:sym typeface="+mn-lt"/>
              </a:rPr>
              <a:t>野外无公网环境下的可靠传输</a:t>
            </a:r>
            <a:r>
              <a:rPr lang="en-US" altLang="zh-CN" b="1" dirty="0">
                <a:solidFill>
                  <a:srgbClr val="57658E"/>
                </a:solidFill>
                <a:latin typeface="+mn-ea"/>
                <a:cs typeface="+mn-ea"/>
                <a:sym typeface="+mn-lt"/>
              </a:rPr>
              <a:t> </a:t>
            </a:r>
          </a:p>
        </p:txBody>
      </p:sp>
      <p:cxnSp>
        <p:nvCxnSpPr>
          <p:cNvPr id="62" name="直接连接符 61">
            <a:extLst>
              <a:ext uri="{FF2B5EF4-FFF2-40B4-BE49-F238E27FC236}">
                <a16:creationId xmlns:a16="http://schemas.microsoft.com/office/drawing/2014/main" id="{7FD059CF-F09A-4A0E-9E7B-1FCBC7DC988B}"/>
              </a:ext>
            </a:extLst>
          </p:cNvPr>
          <p:cNvCxnSpPr/>
          <p:nvPr/>
        </p:nvCxnSpPr>
        <p:spPr>
          <a:xfrm>
            <a:off x="427776" y="922394"/>
            <a:ext cx="928914" cy="0"/>
          </a:xfrm>
          <a:prstGeom prst="line">
            <a:avLst/>
          </a:prstGeom>
          <a:ln w="127000" cap="rnd">
            <a:solidFill>
              <a:srgbClr val="E9DAC6"/>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711490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944245" y="2231390"/>
            <a:ext cx="3239770" cy="3862070"/>
            <a:chOff x="1040" y="2690"/>
            <a:chExt cx="5102" cy="6082"/>
          </a:xfrm>
        </p:grpSpPr>
        <p:sp>
          <p:nvSpPr>
            <p:cNvPr id="3" name="标题 1"/>
            <p:cNvSpPr txBox="1"/>
            <p:nvPr/>
          </p:nvSpPr>
          <p:spPr>
            <a:xfrm>
              <a:off x="1040" y="2690"/>
              <a:ext cx="1361" cy="1361"/>
            </a:xfrm>
            <a:prstGeom prst="roundRect">
              <a:avLst/>
            </a:prstGeom>
            <a:solidFill>
              <a:srgbClr val="3B5085"/>
            </a:solidFill>
            <a:ln cap="flat">
              <a:solidFill>
                <a:srgbClr val="3B5085"/>
              </a:solidFill>
              <a:prstDash val="solid"/>
              <a:miter/>
            </a:ln>
            <a:effectLst>
              <a:outerShdw blurRad="381000" dist="127000" dir="3000000" algn="t" rotWithShape="0">
                <a:schemeClr val="accent1">
                  <a:alpha val="20000"/>
                </a:schemeClr>
              </a:outerShdw>
            </a:effectLst>
          </p:spPr>
          <p:txBody>
            <a:bodyPr vert="horz" wrap="square" lIns="91440" tIns="45720" rIns="91440" bIns="45720" rtlCol="0" anchor="ctr"/>
            <a:lstStyle/>
            <a:p>
              <a:pPr algn="l">
                <a:lnSpc>
                  <a:spcPct val="100000"/>
                </a:lnSpc>
              </a:pPr>
              <a:endParaRPr kumimoji="1" lang="zh-CN" altLang="en-US"/>
            </a:p>
          </p:txBody>
        </p:sp>
        <p:sp>
          <p:nvSpPr>
            <p:cNvPr id="4" name="标题 1"/>
            <p:cNvSpPr txBox="1"/>
            <p:nvPr/>
          </p:nvSpPr>
          <p:spPr>
            <a:xfrm>
              <a:off x="1355" y="3067"/>
              <a:ext cx="680" cy="563"/>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bg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1040" y="4391"/>
              <a:ext cx="5102" cy="1134"/>
            </a:xfrm>
            <a:prstGeom prst="rect">
              <a:avLst/>
            </a:prstGeom>
            <a:noFill/>
            <a:ln w="12700" cap="sq">
              <a:noFill/>
              <a:miter/>
            </a:ln>
          </p:spPr>
          <p:txBody>
            <a:bodyPr vert="horz" wrap="square" lIns="0" tIns="0" rIns="0" bIns="0" rtlCol="0" anchor="ctr"/>
            <a:lstStyle/>
            <a:p>
              <a:pPr algn="l">
                <a:lnSpc>
                  <a:spcPct val="130000"/>
                </a:lnSpc>
              </a:pPr>
              <a:r>
                <a:rPr kumimoji="1" lang="en-US" altLang="zh-CN" sz="2400" b="1" dirty="0">
                  <a:ln w="12700">
                    <a:noFill/>
                  </a:ln>
                  <a:solidFill>
                    <a:srgbClr val="262626">
                      <a:alpha val="100000"/>
                    </a:srgbClr>
                  </a:solidFill>
                  <a:latin typeface="+mn-ea"/>
                  <a:cs typeface="思源黑体 CN Bold" panose="020B0800000000000000" charset="-122"/>
                </a:rPr>
                <a:t>无公网信号</a:t>
              </a:r>
              <a:endParaRPr kumimoji="1" lang="zh-CN" altLang="en-US" sz="2400" b="1" dirty="0">
                <a:latin typeface="+mn-ea"/>
              </a:endParaRPr>
            </a:p>
          </p:txBody>
        </p:sp>
        <p:sp>
          <p:nvSpPr>
            <p:cNvPr id="6" name="标题 1"/>
            <p:cNvSpPr txBox="1"/>
            <p:nvPr/>
          </p:nvSpPr>
          <p:spPr>
            <a:xfrm>
              <a:off x="1040" y="5588"/>
              <a:ext cx="5102" cy="3184"/>
            </a:xfrm>
            <a:prstGeom prst="rect">
              <a:avLst/>
            </a:prstGeom>
            <a:noFill/>
            <a:ln>
              <a:noFill/>
            </a:ln>
          </p:spPr>
          <p:txBody>
            <a:bodyPr vert="horz" wrap="square" lIns="0" tIns="0" rIns="0" bIns="0" rtlCol="0" anchor="t"/>
            <a:lstStyle/>
            <a:p>
              <a:pPr algn="l">
                <a:lnSpc>
                  <a:spcPct val="150000"/>
                </a:lnSpc>
              </a:pPr>
              <a:r>
                <a:rPr kumimoji="1" lang="en-US" altLang="zh-CN" sz="1600" dirty="0">
                  <a:ln w="12700">
                    <a:noFill/>
                  </a:ln>
                  <a:solidFill>
                    <a:srgbClr val="262626">
                      <a:alpha val="100000"/>
                    </a:srgbClr>
                  </a:solidFill>
                  <a:latin typeface="+mn-ea"/>
                  <a:cs typeface="黑体" panose="02010609060101010101" charset="-122"/>
                </a:rPr>
                <a:t>野外地区公网覆盖不足，需自主搭建通信网络，确保数据传输。
缺乏公网支持，通信方案设计难度增大，需考虑其他通信方式。</a:t>
              </a:r>
            </a:p>
          </p:txBody>
        </p:sp>
      </p:grpSp>
      <p:grpSp>
        <p:nvGrpSpPr>
          <p:cNvPr id="20" name="组合 19"/>
          <p:cNvGrpSpPr/>
          <p:nvPr/>
        </p:nvGrpSpPr>
        <p:grpSpPr>
          <a:xfrm>
            <a:off x="4399915" y="2217420"/>
            <a:ext cx="3243580" cy="3876040"/>
            <a:chOff x="7036" y="2668"/>
            <a:chExt cx="5108" cy="6104"/>
          </a:xfrm>
        </p:grpSpPr>
        <p:sp>
          <p:nvSpPr>
            <p:cNvPr id="2" name="标题 1"/>
            <p:cNvSpPr txBox="1"/>
            <p:nvPr/>
          </p:nvSpPr>
          <p:spPr>
            <a:xfrm>
              <a:off x="7036" y="2668"/>
              <a:ext cx="1361" cy="1361"/>
            </a:xfrm>
            <a:prstGeom prst="roundRect">
              <a:avLst/>
            </a:prstGeom>
            <a:solidFill>
              <a:srgbClr val="3B5085"/>
            </a:solidFill>
            <a:ln cap="flat">
              <a:solidFill>
                <a:srgbClr val="3B5085"/>
              </a:solidFill>
              <a:prstDash val="solid"/>
              <a:miter/>
            </a:ln>
            <a:effectLst>
              <a:outerShdw blurRad="381000" dist="127000" dir="3000000" algn="t" rotWithShape="0">
                <a:schemeClr val="accent2">
                  <a:alpha val="20000"/>
                </a:schemeClr>
              </a:outerShdw>
            </a:effectLst>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a:off x="7376" y="3008"/>
              <a:ext cx="680" cy="680"/>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7042" y="4391"/>
              <a:ext cx="5102" cy="1134"/>
            </a:xfrm>
            <a:prstGeom prst="rect">
              <a:avLst/>
            </a:prstGeom>
            <a:noFill/>
            <a:ln w="12700" cap="sq">
              <a:noFill/>
              <a:miter/>
            </a:ln>
          </p:spPr>
          <p:txBody>
            <a:bodyPr vert="horz" wrap="square" lIns="0" tIns="0" rIns="0" bIns="0" rtlCol="0" anchor="ctr"/>
            <a:lstStyle/>
            <a:p>
              <a:pPr>
                <a:lnSpc>
                  <a:spcPct val="130000"/>
                </a:lnSpc>
              </a:pPr>
              <a:r>
                <a:rPr kumimoji="1" lang="en-US" altLang="zh-CN" sz="2400" b="1" dirty="0">
                  <a:ln w="12700">
                    <a:noFill/>
                  </a:ln>
                  <a:solidFill>
                    <a:srgbClr val="262626">
                      <a:alpha val="100000"/>
                    </a:srgbClr>
                  </a:solidFill>
                  <a:latin typeface="+mn-ea"/>
                </a:rPr>
                <a:t>极端温度</a:t>
              </a:r>
              <a:endParaRPr kumimoji="1" lang="zh-CN" altLang="en-US" sz="2400" b="1" dirty="0">
                <a:ln w="12700">
                  <a:noFill/>
                </a:ln>
                <a:solidFill>
                  <a:srgbClr val="262626">
                    <a:alpha val="100000"/>
                  </a:srgbClr>
                </a:solidFill>
                <a:latin typeface="+mn-ea"/>
              </a:endParaRPr>
            </a:p>
          </p:txBody>
        </p:sp>
        <p:sp>
          <p:nvSpPr>
            <p:cNvPr id="14" name="标题 1"/>
            <p:cNvSpPr txBox="1"/>
            <p:nvPr/>
          </p:nvSpPr>
          <p:spPr>
            <a:xfrm>
              <a:off x="7042" y="5588"/>
              <a:ext cx="5102" cy="3184"/>
            </a:xfrm>
            <a:prstGeom prst="rect">
              <a:avLst/>
            </a:prstGeom>
            <a:noFill/>
            <a:ln>
              <a:noFill/>
            </a:ln>
          </p:spPr>
          <p:txBody>
            <a:bodyPr vert="horz" wrap="square" lIns="0" tIns="0" rIns="0" bIns="0" rtlCol="0" anchor="t"/>
            <a:lstStyle/>
            <a:p>
              <a:pPr algn="l">
                <a:lnSpc>
                  <a:spcPct val="150000"/>
                </a:lnSpc>
              </a:pPr>
              <a:r>
                <a:rPr kumimoji="1" lang="en-US" altLang="zh-CN" sz="1600" dirty="0">
                  <a:ln w="12700">
                    <a:noFill/>
                  </a:ln>
                  <a:solidFill>
                    <a:srgbClr val="262626">
                      <a:alpha val="100000"/>
                    </a:srgbClr>
                  </a:solidFill>
                  <a:latin typeface="+mn-ea"/>
                </a:rPr>
                <a:t>面临极端高温和低温环境，通信设备需具备良好的温度适应性。
极端温度可能影响设备性能，需选择耐高低温的通信组件。</a:t>
              </a:r>
            </a:p>
          </p:txBody>
        </p:sp>
      </p:grpSp>
      <p:grpSp>
        <p:nvGrpSpPr>
          <p:cNvPr id="21" name="组合 20"/>
          <p:cNvGrpSpPr/>
          <p:nvPr/>
        </p:nvGrpSpPr>
        <p:grpSpPr>
          <a:xfrm>
            <a:off x="8187690" y="2231390"/>
            <a:ext cx="3239770" cy="3876040"/>
            <a:chOff x="13038" y="2668"/>
            <a:chExt cx="5102" cy="6104"/>
          </a:xfrm>
        </p:grpSpPr>
        <p:sp>
          <p:nvSpPr>
            <p:cNvPr id="15" name="标题 1"/>
            <p:cNvSpPr txBox="1"/>
            <p:nvPr/>
          </p:nvSpPr>
          <p:spPr>
            <a:xfrm>
              <a:off x="13038" y="2668"/>
              <a:ext cx="1361" cy="1361"/>
            </a:xfrm>
            <a:prstGeom prst="roundRect">
              <a:avLst/>
            </a:prstGeom>
            <a:solidFill>
              <a:srgbClr val="3B5085"/>
            </a:solidFill>
            <a:ln cap="flat">
              <a:solidFill>
                <a:srgbClr val="3B5085"/>
              </a:solidFill>
              <a:prstDash val="solid"/>
              <a:miter/>
            </a:ln>
            <a:effectLst>
              <a:outerShdw blurRad="381000" dist="127000" dir="3000000" algn="t" rotWithShape="0">
                <a:schemeClr val="accent1">
                  <a:alpha val="20000"/>
                </a:schemeClr>
              </a:outerShdw>
            </a:effectLst>
          </p:spPr>
          <p:txBody>
            <a:bodyPr vert="horz" wrap="square" lIns="91440" tIns="45720" rIns="91440" bIns="45720" rtlCol="0" anchor="ctr"/>
            <a:lstStyle/>
            <a:p>
              <a:pPr algn="l">
                <a:lnSpc>
                  <a:spcPct val="110000"/>
                </a:lnSpc>
              </a:pPr>
              <a:endParaRPr kumimoji="1" lang="zh-CN" altLang="en-US"/>
            </a:p>
          </p:txBody>
        </p:sp>
        <p:sp>
          <p:nvSpPr>
            <p:cNvPr id="16" name="标题 1"/>
            <p:cNvSpPr txBox="1"/>
            <p:nvPr/>
          </p:nvSpPr>
          <p:spPr>
            <a:xfrm>
              <a:off x="13378" y="3034"/>
              <a:ext cx="680" cy="629"/>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3038" y="4391"/>
              <a:ext cx="5102" cy="1134"/>
            </a:xfrm>
            <a:prstGeom prst="rect">
              <a:avLst/>
            </a:prstGeom>
            <a:noFill/>
            <a:ln w="12700" cap="sq">
              <a:noFill/>
              <a:miter/>
            </a:ln>
          </p:spPr>
          <p:txBody>
            <a:bodyPr vert="horz" wrap="square" lIns="0" tIns="0" rIns="0" bIns="0" rtlCol="0" anchor="ctr"/>
            <a:lstStyle/>
            <a:p>
              <a:pPr>
                <a:lnSpc>
                  <a:spcPct val="130000"/>
                </a:lnSpc>
              </a:pPr>
              <a:r>
                <a:rPr kumimoji="1" lang="en-US" altLang="zh-CN" sz="2400" b="1" dirty="0">
                  <a:ln w="12700">
                    <a:noFill/>
                  </a:ln>
                  <a:solidFill>
                    <a:srgbClr val="262626">
                      <a:alpha val="100000"/>
                    </a:srgbClr>
                  </a:solidFill>
                  <a:latin typeface="+mn-ea"/>
                </a:rPr>
                <a:t>维护困难</a:t>
              </a:r>
              <a:endParaRPr kumimoji="1" lang="zh-CN" altLang="en-US" sz="2400" b="1" dirty="0">
                <a:ln w="12700">
                  <a:noFill/>
                </a:ln>
                <a:solidFill>
                  <a:srgbClr val="262626">
                    <a:alpha val="100000"/>
                  </a:srgbClr>
                </a:solidFill>
                <a:latin typeface="+mn-ea"/>
              </a:endParaRPr>
            </a:p>
          </p:txBody>
        </p:sp>
        <p:sp>
          <p:nvSpPr>
            <p:cNvPr id="18" name="标题 1"/>
            <p:cNvSpPr txBox="1"/>
            <p:nvPr/>
          </p:nvSpPr>
          <p:spPr>
            <a:xfrm>
              <a:off x="13038" y="5588"/>
              <a:ext cx="5102" cy="3184"/>
            </a:xfrm>
            <a:prstGeom prst="rect">
              <a:avLst/>
            </a:prstGeom>
            <a:noFill/>
            <a:ln>
              <a:noFill/>
            </a:ln>
          </p:spPr>
          <p:txBody>
            <a:bodyPr vert="horz" wrap="square" lIns="0" tIns="0" rIns="0" bIns="0" rtlCol="0" anchor="t"/>
            <a:lstStyle/>
            <a:p>
              <a:pPr algn="l">
                <a:lnSpc>
                  <a:spcPct val="150000"/>
                </a:lnSpc>
              </a:pPr>
              <a:r>
                <a:rPr kumimoji="1" lang="en-US" altLang="zh-CN" sz="1600" dirty="0">
                  <a:ln w="12700">
                    <a:noFill/>
                  </a:ln>
                  <a:solidFill>
                    <a:srgbClr val="262626">
                      <a:alpha val="100000"/>
                    </a:srgbClr>
                  </a:solidFill>
                  <a:latin typeface="+mn-ea"/>
                </a:rPr>
                <a:t>野外环境偏远，设备维护不便，通信方案需具备高可靠性和易维护性。
减少维护工作量可降低人力成本，提高系统运行效率。</a:t>
              </a:r>
            </a:p>
          </p:txBody>
        </p:sp>
      </p:grpSp>
      <p:sp>
        <p:nvSpPr>
          <p:cNvPr id="29" name="文本框 28"/>
          <p:cNvSpPr txBox="1"/>
          <p:nvPr/>
        </p:nvSpPr>
        <p:spPr>
          <a:xfrm>
            <a:off x="4814570" y="949960"/>
            <a:ext cx="2418080" cy="768350"/>
          </a:xfrm>
          <a:prstGeom prst="rect">
            <a:avLst/>
          </a:prstGeom>
          <a:noFill/>
        </p:spPr>
        <p:txBody>
          <a:bodyPr wrap="none" rtlCol="0">
            <a:spAutoFit/>
          </a:bodyPr>
          <a:lstStyle/>
          <a:p>
            <a:pPr algn="ctr"/>
            <a:r>
              <a:rPr lang="zh-CN" altLang="en-US" sz="4400" b="1" dirty="0">
                <a:solidFill>
                  <a:srgbClr val="57658E"/>
                </a:solidFill>
                <a:cs typeface="+mn-ea"/>
                <a:sym typeface="+mn-lt"/>
              </a:rPr>
              <a:t>野外挑战</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843281" y="1785404"/>
            <a:ext cx="2124363" cy="339910"/>
          </a:xfrm>
          <a:prstGeom prst="rect">
            <a:avLst/>
          </a:prstGeom>
          <a:noFill/>
          <a:ln>
            <a:noFill/>
          </a:ln>
        </p:spPr>
        <p:txBody>
          <a:bodyPr vert="horz" wrap="square" lIns="0" tIns="0" rIns="0" bIns="0" rtlCol="0" anchor="b"/>
          <a:lstStyle/>
          <a:p>
            <a:pPr algn="l">
              <a:lnSpc>
                <a:spcPct val="150000"/>
              </a:lnSpc>
            </a:pPr>
            <a:r>
              <a:rPr kumimoji="1" lang="en-US" altLang="zh-CN" sz="2000" b="1" dirty="0">
                <a:ln w="12700">
                  <a:noFill/>
                </a:ln>
                <a:solidFill>
                  <a:srgbClr val="7B4A3A">
                    <a:alpha val="100000"/>
                  </a:srgbClr>
                </a:solidFill>
                <a:latin typeface="+mn-ea"/>
                <a:cs typeface="思源黑体 CN Bold" panose="020B0800000000000000" charset="-122"/>
              </a:rPr>
              <a:t>距离优势</a:t>
            </a:r>
            <a:endParaRPr kumimoji="1" lang="zh-CN" altLang="en-US" sz="2000" b="1" dirty="0">
              <a:latin typeface="+mn-ea"/>
            </a:endParaRPr>
          </a:p>
        </p:txBody>
      </p:sp>
      <p:sp>
        <p:nvSpPr>
          <p:cNvPr id="4" name="标题 1"/>
          <p:cNvSpPr txBox="1"/>
          <p:nvPr/>
        </p:nvSpPr>
        <p:spPr>
          <a:xfrm>
            <a:off x="760154" y="2274889"/>
            <a:ext cx="5698836" cy="878487"/>
          </a:xfrm>
          <a:prstGeom prst="rect">
            <a:avLst/>
          </a:prstGeom>
          <a:noFill/>
          <a:ln>
            <a:noFill/>
          </a:ln>
        </p:spPr>
        <p:txBody>
          <a:bodyPr vert="horz" wrap="square" lIns="0" tIns="0" rIns="0" bIns="0" rtlCol="0" anchor="t"/>
          <a:lstStyle/>
          <a:p>
            <a:pPr marL="285750" indent="-285750" algn="l">
              <a:lnSpc>
                <a:spcPct val="150000"/>
              </a:lnSpc>
              <a:buFont typeface="Arial" panose="020B0604020202020204" pitchFamily="34" charset="0"/>
              <a:buChar char="•"/>
            </a:pPr>
            <a:r>
              <a:rPr kumimoji="1" lang="en-US" altLang="zh-CN" sz="1600" dirty="0">
                <a:ln w="12700">
                  <a:noFill/>
                </a:ln>
                <a:solidFill>
                  <a:srgbClr val="000000">
                    <a:alpha val="100000"/>
                  </a:srgbClr>
                </a:solidFill>
                <a:latin typeface="+mn-ea"/>
                <a:cs typeface="黑体" panose="02010609060101010101" charset="-122"/>
              </a:rPr>
              <a:t>LoRa通信距离可达5- 15km，满足输电线路长距离覆盖需求。</a:t>
            </a:r>
          </a:p>
          <a:p>
            <a:pPr marL="285750" indent="-285750" algn="l">
              <a:lnSpc>
                <a:spcPct val="150000"/>
              </a:lnSpc>
              <a:buFont typeface="Arial" panose="020B0604020202020204" pitchFamily="34" charset="0"/>
              <a:buChar char="•"/>
            </a:pPr>
            <a:r>
              <a:rPr kumimoji="1" lang="en-US" altLang="zh-CN" sz="1600" dirty="0">
                <a:ln w="12700">
                  <a:noFill/>
                </a:ln>
                <a:solidFill>
                  <a:srgbClr val="000000">
                    <a:alpha val="100000"/>
                  </a:srgbClr>
                </a:solidFill>
                <a:latin typeface="+mn-ea"/>
                <a:cs typeface="黑体" panose="02010609060101010101" charset="-122"/>
              </a:rPr>
              <a:t>在无遮挡环境下，LoRa信号传输稳定，可有效降低通信成本。</a:t>
            </a:r>
          </a:p>
        </p:txBody>
      </p:sp>
      <p:sp>
        <p:nvSpPr>
          <p:cNvPr id="5" name="标题 1"/>
          <p:cNvSpPr txBox="1"/>
          <p:nvPr/>
        </p:nvSpPr>
        <p:spPr>
          <a:xfrm>
            <a:off x="843281" y="3153376"/>
            <a:ext cx="1791854" cy="339910"/>
          </a:xfrm>
          <a:prstGeom prst="rect">
            <a:avLst/>
          </a:prstGeom>
          <a:noFill/>
          <a:ln>
            <a:noFill/>
          </a:ln>
        </p:spPr>
        <p:txBody>
          <a:bodyPr vert="horz" wrap="square" lIns="0" tIns="0" rIns="0" bIns="0" rtlCol="0" anchor="b"/>
          <a:lstStyle/>
          <a:p>
            <a:pPr>
              <a:lnSpc>
                <a:spcPct val="150000"/>
              </a:lnSpc>
            </a:pPr>
            <a:r>
              <a:rPr kumimoji="1" lang="en-US" altLang="zh-CN" sz="2000" b="1" dirty="0">
                <a:ln w="12700">
                  <a:noFill/>
                </a:ln>
                <a:solidFill>
                  <a:srgbClr val="7B4A3A">
                    <a:alpha val="100000"/>
                  </a:srgbClr>
                </a:solidFill>
                <a:latin typeface="+mn-ea"/>
              </a:rPr>
              <a:t>功耗控制</a:t>
            </a:r>
            <a:endParaRPr kumimoji="1" lang="zh-CN" altLang="en-US" sz="2000" b="1" dirty="0">
              <a:ln w="12700">
                <a:noFill/>
              </a:ln>
              <a:solidFill>
                <a:srgbClr val="7B4A3A">
                  <a:alpha val="100000"/>
                </a:srgbClr>
              </a:solidFill>
              <a:latin typeface="+mn-ea"/>
            </a:endParaRPr>
          </a:p>
        </p:txBody>
      </p:sp>
      <p:sp>
        <p:nvSpPr>
          <p:cNvPr id="6" name="标题 1"/>
          <p:cNvSpPr txBox="1"/>
          <p:nvPr/>
        </p:nvSpPr>
        <p:spPr>
          <a:xfrm>
            <a:off x="760154" y="3561558"/>
            <a:ext cx="5781962" cy="878487"/>
          </a:xfrm>
          <a:prstGeom prst="rect">
            <a:avLst/>
          </a:prstGeom>
          <a:noFill/>
          <a:ln>
            <a:noFill/>
          </a:ln>
        </p:spPr>
        <p:txBody>
          <a:bodyPr vert="horz" wrap="square" lIns="0" tIns="0" rIns="0" bIns="0" rtlCol="0" anchor="t"/>
          <a:lstStyle/>
          <a:p>
            <a:pPr marL="285750" indent="-285750" algn="l">
              <a:lnSpc>
                <a:spcPct val="150000"/>
              </a:lnSpc>
              <a:buClrTx/>
              <a:buSzTx/>
              <a:buFont typeface="Arial" panose="020B0604020202020204" pitchFamily="34" charset="0"/>
              <a:buChar char="•"/>
            </a:pPr>
            <a:r>
              <a:rPr kumimoji="1" lang="en-US" altLang="zh-CN" sz="1600" dirty="0">
                <a:ln w="12700">
                  <a:noFill/>
                </a:ln>
                <a:solidFill>
                  <a:srgbClr val="000000">
                    <a:alpha val="100000"/>
                  </a:srgbClr>
                </a:solidFill>
                <a:latin typeface="+mn-ea"/>
                <a:cs typeface="黑体" panose="02010609060101010101" charset="-122"/>
              </a:rPr>
              <a:t>LoRa功耗低，适合电池供电和太阳能辅助的野外应用场景。</a:t>
            </a:r>
          </a:p>
          <a:p>
            <a:pPr marL="285750" indent="-285750" algn="l">
              <a:lnSpc>
                <a:spcPct val="150000"/>
              </a:lnSpc>
              <a:buClrTx/>
              <a:buSzTx/>
              <a:buFont typeface="Arial" panose="020B0604020202020204" pitchFamily="34" charset="0"/>
              <a:buChar char="•"/>
            </a:pPr>
            <a:r>
              <a:rPr kumimoji="1" lang="en-US" altLang="zh-CN" sz="1600" dirty="0">
                <a:ln w="12700">
                  <a:noFill/>
                </a:ln>
                <a:solidFill>
                  <a:srgbClr val="000000">
                    <a:alpha val="100000"/>
                  </a:srgbClr>
                </a:solidFill>
                <a:latin typeface="+mn-ea"/>
                <a:cs typeface="黑体" panose="02010609060101010101" charset="-122"/>
              </a:rPr>
              <a:t>低功耗设计延长设备续航时间，减少维护频率，提高系统可靠性。</a:t>
            </a:r>
            <a:endParaRPr kumimoji="1" lang="zh-CN" altLang="en-US" sz="1600" dirty="0">
              <a:latin typeface="+mn-ea"/>
            </a:endParaRPr>
          </a:p>
        </p:txBody>
      </p:sp>
      <p:sp>
        <p:nvSpPr>
          <p:cNvPr id="7" name="标题 1"/>
          <p:cNvSpPr txBox="1"/>
          <p:nvPr/>
        </p:nvSpPr>
        <p:spPr>
          <a:xfrm>
            <a:off x="843281" y="4768865"/>
            <a:ext cx="1675475" cy="339910"/>
          </a:xfrm>
          <a:prstGeom prst="rect">
            <a:avLst/>
          </a:prstGeom>
          <a:noFill/>
          <a:ln>
            <a:noFill/>
          </a:ln>
        </p:spPr>
        <p:txBody>
          <a:bodyPr vert="horz" wrap="square" lIns="0" tIns="0" rIns="0" bIns="0" rtlCol="0" anchor="b"/>
          <a:lstStyle/>
          <a:p>
            <a:pPr>
              <a:lnSpc>
                <a:spcPct val="150000"/>
              </a:lnSpc>
            </a:pPr>
            <a:r>
              <a:rPr kumimoji="1" lang="en-US" altLang="zh-CN" sz="2000" b="1" dirty="0">
                <a:ln w="12700">
                  <a:noFill/>
                </a:ln>
                <a:solidFill>
                  <a:srgbClr val="7B4A3A">
                    <a:alpha val="100000"/>
                  </a:srgbClr>
                </a:solidFill>
                <a:latin typeface="+mn-ea"/>
              </a:rPr>
              <a:t>成本效益</a:t>
            </a:r>
            <a:endParaRPr kumimoji="1" lang="zh-CN" altLang="en-US" sz="2000" b="1" dirty="0">
              <a:ln w="12700">
                <a:noFill/>
              </a:ln>
              <a:solidFill>
                <a:srgbClr val="7B4A3A">
                  <a:alpha val="100000"/>
                </a:srgbClr>
              </a:solidFill>
              <a:latin typeface="+mn-ea"/>
            </a:endParaRPr>
          </a:p>
        </p:txBody>
      </p:sp>
      <p:sp>
        <p:nvSpPr>
          <p:cNvPr id="8" name="标题 1"/>
          <p:cNvSpPr txBox="1"/>
          <p:nvPr/>
        </p:nvSpPr>
        <p:spPr>
          <a:xfrm>
            <a:off x="760154" y="5145823"/>
            <a:ext cx="6006406" cy="878487"/>
          </a:xfrm>
          <a:prstGeom prst="rect">
            <a:avLst/>
          </a:prstGeom>
          <a:noFill/>
          <a:ln>
            <a:noFill/>
          </a:ln>
        </p:spPr>
        <p:txBody>
          <a:bodyPr vert="horz" wrap="square" lIns="0" tIns="0" rIns="0" bIns="0" rtlCol="0" anchor="t"/>
          <a:lstStyle/>
          <a:p>
            <a:pPr marL="285750" indent="-285750" algn="l">
              <a:lnSpc>
                <a:spcPct val="150000"/>
              </a:lnSpc>
              <a:buFont typeface="Arial" panose="020B0604020202020204" pitchFamily="34" charset="0"/>
              <a:buChar char="•"/>
            </a:pPr>
            <a:r>
              <a:rPr kumimoji="1" lang="en-US" altLang="zh-CN" sz="1600" dirty="0">
                <a:ln w="12700">
                  <a:noFill/>
                </a:ln>
                <a:solidFill>
                  <a:srgbClr val="000000">
                    <a:alpha val="100000"/>
                  </a:srgbClr>
                </a:solidFill>
                <a:latin typeface="+mn-ea"/>
              </a:rPr>
              <a:t>LoRa设备成本相对较低，易于部署和维护，适合大规模应用</a:t>
            </a:r>
            <a:r>
              <a:rPr kumimoji="1" lang="zh-CN" altLang="en-US" sz="1600" dirty="0">
                <a:ln w="12700">
                  <a:noFill/>
                </a:ln>
                <a:solidFill>
                  <a:srgbClr val="000000">
                    <a:alpha val="100000"/>
                  </a:srgbClr>
                </a:solidFill>
                <a:latin typeface="+mn-ea"/>
              </a:rPr>
              <a:t>。</a:t>
            </a:r>
          </a:p>
          <a:p>
            <a:pPr marL="285750" indent="-285750" algn="l">
              <a:lnSpc>
                <a:spcPct val="150000"/>
              </a:lnSpc>
              <a:buFont typeface="Arial" panose="020B0604020202020204" pitchFamily="34" charset="0"/>
              <a:buChar char="•"/>
            </a:pPr>
            <a:r>
              <a:rPr kumimoji="1" lang="en-US" altLang="zh-CN" sz="1600" dirty="0">
                <a:ln w="12700">
                  <a:noFill/>
                </a:ln>
                <a:solidFill>
                  <a:srgbClr val="000000">
                    <a:alpha val="100000"/>
                  </a:srgbClr>
                </a:solidFill>
                <a:latin typeface="+mn-ea"/>
              </a:rPr>
              <a:t>低成本优势可降低项目整体投入，提高方案的经济性。</a:t>
            </a:r>
            <a:endParaRPr kumimoji="1" lang="zh-CN" altLang="en-US" sz="1600" dirty="0">
              <a:ln w="12700">
                <a:noFill/>
              </a:ln>
              <a:solidFill>
                <a:srgbClr val="000000">
                  <a:alpha val="100000"/>
                </a:srgbClr>
              </a:solidFill>
              <a:latin typeface="+mn-ea"/>
            </a:endParaRPr>
          </a:p>
        </p:txBody>
      </p:sp>
      <p:pic>
        <p:nvPicPr>
          <p:cNvPr id="2" name="图片 1" descr="屏幕截图 2025-04-12 193007"/>
          <p:cNvPicPr>
            <a:picLocks noChangeAspect="1"/>
          </p:cNvPicPr>
          <p:nvPr/>
        </p:nvPicPr>
        <p:blipFill>
          <a:blip r:embed="rId2"/>
          <a:stretch>
            <a:fillRect/>
          </a:stretch>
        </p:blipFill>
        <p:spPr>
          <a:xfrm>
            <a:off x="6785381" y="2033937"/>
            <a:ext cx="4458392" cy="3090361"/>
          </a:xfrm>
          <a:prstGeom prst="rect">
            <a:avLst/>
          </a:prstGeom>
        </p:spPr>
      </p:pic>
      <p:sp>
        <p:nvSpPr>
          <p:cNvPr id="33" name="文本框 32"/>
          <p:cNvSpPr txBox="1"/>
          <p:nvPr/>
        </p:nvSpPr>
        <p:spPr>
          <a:xfrm>
            <a:off x="8138159" y="5276191"/>
            <a:ext cx="2273473" cy="381258"/>
          </a:xfrm>
          <a:prstGeom prst="rect">
            <a:avLst/>
          </a:prstGeom>
          <a:noFill/>
        </p:spPr>
        <p:txBody>
          <a:bodyPr wrap="square" rtlCol="0">
            <a:spAutoFit/>
          </a:bodyPr>
          <a:lstStyle/>
          <a:p>
            <a:pPr>
              <a:lnSpc>
                <a:spcPct val="130000"/>
              </a:lnSpc>
            </a:pPr>
            <a:r>
              <a:rPr lang="en-US" sz="1600" dirty="0">
                <a:latin typeface="+mn-ea"/>
              </a:rPr>
              <a:t>Semtech LoRa</a:t>
            </a:r>
            <a:r>
              <a:rPr lang="zh-CN" altLang="en-US" sz="1600" dirty="0">
                <a:latin typeface="+mn-ea"/>
              </a:rPr>
              <a:t>芯片</a:t>
            </a:r>
          </a:p>
        </p:txBody>
      </p:sp>
      <p:sp>
        <p:nvSpPr>
          <p:cNvPr id="29" name="文本框 28"/>
          <p:cNvSpPr txBox="1"/>
          <p:nvPr/>
        </p:nvSpPr>
        <p:spPr>
          <a:xfrm>
            <a:off x="3472297" y="974688"/>
            <a:ext cx="5542280" cy="768350"/>
          </a:xfrm>
          <a:prstGeom prst="rect">
            <a:avLst/>
          </a:prstGeom>
          <a:noFill/>
        </p:spPr>
        <p:txBody>
          <a:bodyPr wrap="none" rtlCol="0">
            <a:spAutoFit/>
          </a:bodyPr>
          <a:lstStyle/>
          <a:p>
            <a:pPr algn="ctr"/>
            <a:r>
              <a:rPr lang="zh-CN" altLang="en-US" sz="4400" b="1" dirty="0">
                <a:solidFill>
                  <a:srgbClr val="57658E"/>
                </a:solidFill>
                <a:cs typeface="+mn-ea"/>
                <a:sym typeface="+mn-lt"/>
              </a:rPr>
              <a:t>技术对比</a:t>
            </a:r>
            <a:r>
              <a:rPr lang="en-US" altLang="zh-CN" sz="4400" b="1" dirty="0">
                <a:solidFill>
                  <a:srgbClr val="57658E"/>
                </a:solidFill>
                <a:cs typeface="+mn-ea"/>
                <a:sym typeface="+mn-lt"/>
              </a:rPr>
              <a:t>——</a:t>
            </a:r>
            <a:r>
              <a:rPr lang="en-US" altLang="zh-CN" sz="3600" b="1" dirty="0">
                <a:solidFill>
                  <a:srgbClr val="57658E"/>
                </a:solidFill>
                <a:cs typeface="+mn-ea"/>
                <a:sym typeface="+mn-lt"/>
              </a:rPr>
              <a:t>LoRa</a:t>
            </a:r>
            <a:r>
              <a:rPr lang="zh-CN" altLang="en-US" sz="3600" b="1" dirty="0">
                <a:solidFill>
                  <a:srgbClr val="57658E"/>
                </a:solidFill>
                <a:cs typeface="+mn-ea"/>
                <a:sym typeface="+mn-lt"/>
              </a:rPr>
              <a:t>技术</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1325072" y="1965036"/>
            <a:ext cx="9675495" cy="3421611"/>
            <a:chOff x="1971" y="2517"/>
            <a:chExt cx="15237" cy="6540"/>
          </a:xfrm>
        </p:grpSpPr>
        <p:sp>
          <p:nvSpPr>
            <p:cNvPr id="9" name="标题 1"/>
            <p:cNvSpPr txBox="1"/>
            <p:nvPr/>
          </p:nvSpPr>
          <p:spPr>
            <a:xfrm>
              <a:off x="1971" y="2517"/>
              <a:ext cx="4535" cy="6540"/>
            </a:xfrm>
            <a:prstGeom prst="roundRect">
              <a:avLst>
                <a:gd name="adj" fmla="val 3543"/>
              </a:avLst>
            </a:prstGeom>
            <a:solidFill>
              <a:schemeClr val="bg1"/>
            </a:solidFill>
            <a:ln cap="sq">
              <a:noFill/>
              <a:prstDash val="solid"/>
              <a:miter/>
            </a:ln>
            <a:effectLst>
              <a:outerShdw blurRad="71323" sx="102000" sy="102000" algn="ctr" rotWithShape="0">
                <a:schemeClr val="accent1">
                  <a:alpha val="8000"/>
                </a:schemeClr>
              </a:outerShdw>
            </a:effectLst>
          </p:spPr>
          <p:txBody>
            <a:bodyPr vert="horz" wrap="square" lIns="85588" tIns="42794" rIns="85588" bIns="42794" rtlCol="0" anchor="ctr"/>
            <a:lstStyle/>
            <a:p>
              <a:pPr algn="ctr">
                <a:lnSpc>
                  <a:spcPct val="110000"/>
                </a:lnSpc>
              </a:pPr>
              <a:endParaRPr kumimoji="1" lang="zh-CN" altLang="en-US"/>
            </a:p>
          </p:txBody>
        </p:sp>
        <p:sp>
          <p:nvSpPr>
            <p:cNvPr id="10" name="标题 1"/>
            <p:cNvSpPr txBox="1"/>
            <p:nvPr/>
          </p:nvSpPr>
          <p:spPr>
            <a:xfrm>
              <a:off x="12673" y="2517"/>
              <a:ext cx="4535" cy="6540"/>
            </a:xfrm>
            <a:prstGeom prst="roundRect">
              <a:avLst>
                <a:gd name="adj" fmla="val 3543"/>
              </a:avLst>
            </a:prstGeom>
            <a:solidFill>
              <a:schemeClr val="bg1"/>
            </a:solidFill>
            <a:ln cap="sq">
              <a:noFill/>
              <a:prstDash val="solid"/>
              <a:miter/>
            </a:ln>
            <a:effectLst>
              <a:outerShdw blurRad="71323" sx="102000" sy="102000" algn="ctr" rotWithShape="0">
                <a:schemeClr val="accent1">
                  <a:alpha val="8000"/>
                </a:schemeClr>
              </a:outerShdw>
            </a:effectLst>
          </p:spPr>
          <p:txBody>
            <a:bodyPr vert="horz" wrap="square" lIns="85588" tIns="42794" rIns="85588" bIns="42794" rtlCol="0" anchor="ctr"/>
            <a:lstStyle/>
            <a:p>
              <a:pPr algn="ctr">
                <a:lnSpc>
                  <a:spcPct val="110000"/>
                </a:lnSpc>
              </a:pPr>
              <a:endParaRPr kumimoji="1" lang="zh-CN" altLang="en-US"/>
            </a:p>
          </p:txBody>
        </p:sp>
        <p:sp>
          <p:nvSpPr>
            <p:cNvPr id="11" name="标题 1"/>
            <p:cNvSpPr txBox="1"/>
            <p:nvPr/>
          </p:nvSpPr>
          <p:spPr>
            <a:xfrm rot="5400000">
              <a:off x="13966" y="1778"/>
              <a:ext cx="1383" cy="3969"/>
            </a:xfrm>
            <a:prstGeom prst="round2SameRect">
              <a:avLst>
                <a:gd name="adj1" fmla="val 50000"/>
                <a:gd name="adj2" fmla="val 0"/>
              </a:avLst>
            </a:prstGeom>
            <a:solidFill>
              <a:srgbClr val="3B5085"/>
            </a:solidFill>
            <a:ln cap="sq">
              <a:solidFill>
                <a:srgbClr val="3B5085"/>
              </a:solidFill>
              <a:prstDash val="solid"/>
              <a:miter/>
            </a:ln>
          </p:spPr>
          <p:txBody>
            <a:bodyPr vert="horz" wrap="square" lIns="91440" tIns="45720" rIns="91440" bIns="45720" rtlCol="0" anchor="ctr"/>
            <a:lstStyle/>
            <a:p>
              <a:pPr algn="l">
                <a:lnSpc>
                  <a:spcPct val="110000"/>
                </a:lnSpc>
              </a:pPr>
              <a:endParaRPr kumimoji="1" lang="zh-CN" altLang="en-US"/>
            </a:p>
          </p:txBody>
        </p:sp>
        <p:sp>
          <p:nvSpPr>
            <p:cNvPr id="12" name="标题 1"/>
            <p:cNvSpPr txBox="1"/>
            <p:nvPr/>
          </p:nvSpPr>
          <p:spPr>
            <a:xfrm rot="16200000">
              <a:off x="3831" y="1778"/>
              <a:ext cx="1383" cy="3969"/>
            </a:xfrm>
            <a:prstGeom prst="round2SameRect">
              <a:avLst>
                <a:gd name="adj1" fmla="val 50000"/>
                <a:gd name="adj2" fmla="val 0"/>
              </a:avLst>
            </a:prstGeom>
            <a:solidFill>
              <a:srgbClr val="3B5085"/>
            </a:solidFill>
            <a:ln cap="sq">
              <a:solidFill>
                <a:srgbClr val="0070C0"/>
              </a:solidFill>
              <a:prstDash val="solid"/>
              <a:miter/>
            </a:ln>
          </p:spPr>
          <p:txBody>
            <a:bodyPr vert="horz" wrap="square" lIns="91440" tIns="45720" rIns="91440" bIns="45720" rtlCol="0" anchor="ctr"/>
            <a:lstStyle/>
            <a:p>
              <a:pPr algn="l">
                <a:lnSpc>
                  <a:spcPct val="110000"/>
                </a:lnSpc>
              </a:pPr>
              <a:endParaRPr kumimoji="1" lang="zh-CN" altLang="en-US"/>
            </a:p>
          </p:txBody>
        </p:sp>
        <p:sp>
          <p:nvSpPr>
            <p:cNvPr id="13" name="标题 1"/>
            <p:cNvSpPr txBox="1"/>
            <p:nvPr/>
          </p:nvSpPr>
          <p:spPr>
            <a:xfrm>
              <a:off x="2255" y="4826"/>
              <a:ext cx="3969" cy="3487"/>
            </a:xfrm>
            <a:prstGeom prst="rect">
              <a:avLst/>
            </a:prstGeom>
            <a:noFill/>
            <a:ln>
              <a:noFill/>
            </a:ln>
          </p:spPr>
          <p:txBody>
            <a:bodyPr vert="horz" wrap="square" lIns="0" tIns="0" rIns="0" bIns="0" rtlCol="0" anchor="t"/>
            <a:lstStyle/>
            <a:p>
              <a:pPr>
                <a:lnSpc>
                  <a:spcPct val="150000"/>
                </a:lnSpc>
              </a:pPr>
              <a:r>
                <a:rPr kumimoji="1" lang="en-US" altLang="zh-CN" sz="1600" dirty="0">
                  <a:ln w="12700">
                    <a:noFill/>
                  </a:ln>
                  <a:solidFill>
                    <a:srgbClr val="404040">
                      <a:alpha val="100000"/>
                    </a:srgbClr>
                  </a:solidFill>
                  <a:latin typeface="+mn-ea"/>
                  <a:cs typeface="黑体" panose="02010609060101010101" charset="-122"/>
                </a:rPr>
                <a:t>NB-IoT需依托基站实现通信，野外无基站区域无法使用。
基站覆盖范围有限，难以满足输电线路全程监测需求。</a:t>
              </a:r>
            </a:p>
          </p:txBody>
        </p:sp>
        <p:sp>
          <p:nvSpPr>
            <p:cNvPr id="14" name="标题 1"/>
            <p:cNvSpPr txBox="1"/>
            <p:nvPr/>
          </p:nvSpPr>
          <p:spPr>
            <a:xfrm>
              <a:off x="3131" y="3182"/>
              <a:ext cx="2956" cy="1007"/>
            </a:xfrm>
            <a:prstGeom prst="rect">
              <a:avLst/>
            </a:prstGeom>
            <a:noFill/>
            <a:ln>
              <a:solidFill>
                <a:srgbClr val="3B5085"/>
              </a:solidFill>
            </a:ln>
          </p:spPr>
          <p:txBody>
            <a:bodyPr vert="horz" wrap="square" lIns="91440" tIns="45720" rIns="91440" bIns="45720" rtlCol="0" anchor="ctr"/>
            <a:lstStyle/>
            <a:p>
              <a:pPr algn="r">
                <a:lnSpc>
                  <a:spcPct val="130000"/>
                </a:lnSpc>
              </a:pPr>
              <a:r>
                <a:rPr kumimoji="1" lang="en-US" altLang="zh-CN" sz="2800" b="1" dirty="0">
                  <a:ln w="12700">
                    <a:noFill/>
                  </a:ln>
                  <a:solidFill>
                    <a:srgbClr val="FFFFFF">
                      <a:alpha val="100000"/>
                    </a:srgbClr>
                  </a:solidFill>
                  <a:latin typeface="+mn-ea"/>
                  <a:cs typeface="思源黑体 CN Bold" panose="020B0800000000000000" charset="-122"/>
                </a:rPr>
                <a:t>依赖基站</a:t>
              </a:r>
              <a:endParaRPr kumimoji="1" lang="zh-CN" altLang="en-US" sz="2800" b="1" dirty="0">
                <a:latin typeface="+mn-ea"/>
              </a:endParaRPr>
            </a:p>
          </p:txBody>
        </p:sp>
        <p:sp>
          <p:nvSpPr>
            <p:cNvPr id="15" name="标题 1"/>
            <p:cNvSpPr txBox="1"/>
            <p:nvPr/>
          </p:nvSpPr>
          <p:spPr>
            <a:xfrm>
              <a:off x="7372" y="2517"/>
              <a:ext cx="4535" cy="6540"/>
            </a:xfrm>
            <a:prstGeom prst="roundRect">
              <a:avLst>
                <a:gd name="adj" fmla="val 3543"/>
              </a:avLst>
            </a:prstGeom>
            <a:solidFill>
              <a:schemeClr val="bg1"/>
            </a:solidFill>
            <a:ln cap="sq">
              <a:noFill/>
              <a:prstDash val="solid"/>
              <a:miter/>
            </a:ln>
            <a:effectLst>
              <a:outerShdw blurRad="71323" sx="102000" sy="102000" algn="ctr" rotWithShape="0">
                <a:schemeClr val="accent1">
                  <a:alpha val="8000"/>
                </a:schemeClr>
              </a:outerShdw>
            </a:effectLst>
          </p:spPr>
          <p:txBody>
            <a:bodyPr vert="horz" wrap="square" lIns="85588" tIns="42794" rIns="85588" bIns="42794" rtlCol="0" anchor="ctr"/>
            <a:lstStyle/>
            <a:p>
              <a:pPr algn="ctr">
                <a:lnSpc>
                  <a:spcPct val="110000"/>
                </a:lnSpc>
              </a:pPr>
              <a:endParaRPr kumimoji="1" lang="zh-CN" altLang="en-US"/>
            </a:p>
          </p:txBody>
        </p:sp>
        <p:sp>
          <p:nvSpPr>
            <p:cNvPr id="16" name="标题 1"/>
            <p:cNvSpPr txBox="1"/>
            <p:nvPr/>
          </p:nvSpPr>
          <p:spPr>
            <a:xfrm>
              <a:off x="7372" y="3071"/>
              <a:ext cx="4527" cy="1383"/>
            </a:xfrm>
            <a:custGeom>
              <a:avLst/>
              <a:gdLst>
                <a:gd name="connsiteX0" fmla="*/ 0 w 2480607"/>
                <a:gd name="connsiteY0" fmla="*/ 0 h 878298"/>
                <a:gd name="connsiteX1" fmla="*/ 2480607 w 2480607"/>
                <a:gd name="connsiteY1" fmla="*/ 0 h 878298"/>
                <a:gd name="connsiteX2" fmla="*/ 2480607 w 2480607"/>
                <a:gd name="connsiteY2" fmla="*/ 878298 h 878298"/>
                <a:gd name="connsiteX3" fmla="*/ 0 w 2480607"/>
                <a:gd name="connsiteY3" fmla="*/ 878298 h 878298"/>
              </a:gdLst>
              <a:ahLst/>
              <a:cxnLst/>
              <a:rect l="l" t="t" r="r" b="b"/>
              <a:pathLst>
                <a:path w="2480607" h="878298">
                  <a:moveTo>
                    <a:pt x="0" y="0"/>
                  </a:moveTo>
                  <a:lnTo>
                    <a:pt x="2480607" y="0"/>
                  </a:lnTo>
                  <a:lnTo>
                    <a:pt x="2480607" y="878298"/>
                  </a:lnTo>
                  <a:lnTo>
                    <a:pt x="0" y="878298"/>
                  </a:lnTo>
                  <a:close/>
                </a:path>
              </a:pathLst>
            </a:custGeom>
            <a:solidFill>
              <a:srgbClr val="3B5085"/>
            </a:solidFill>
            <a:ln cap="sq">
              <a:solidFill>
                <a:srgbClr val="3B5085"/>
              </a:solidFill>
              <a:prstDash val="solid"/>
              <a:miter/>
            </a:ln>
          </p:spPr>
          <p:txBody>
            <a:bodyPr vert="horz" wrap="square" lIns="91440" tIns="45720" rIns="91440" bIns="45720" rtlCol="0" anchor="ctr"/>
            <a:lstStyle/>
            <a:p>
              <a:pPr algn="l">
                <a:lnSpc>
                  <a:spcPct val="110000"/>
                </a:lnSpc>
              </a:pPr>
              <a:endParaRPr kumimoji="1" lang="zh-CN" altLang="en-US"/>
            </a:p>
          </p:txBody>
        </p:sp>
        <p:sp>
          <p:nvSpPr>
            <p:cNvPr id="17" name="标题 1"/>
            <p:cNvSpPr txBox="1"/>
            <p:nvPr/>
          </p:nvSpPr>
          <p:spPr>
            <a:xfrm>
              <a:off x="7656" y="4826"/>
              <a:ext cx="3969" cy="3471"/>
            </a:xfrm>
            <a:prstGeom prst="rect">
              <a:avLst/>
            </a:prstGeom>
            <a:noFill/>
            <a:ln>
              <a:noFill/>
            </a:ln>
          </p:spPr>
          <p:txBody>
            <a:bodyPr vert="horz" wrap="square" lIns="0" tIns="0" rIns="0" bIns="0" rtlCol="0" anchor="t"/>
            <a:lstStyle/>
            <a:p>
              <a:pPr>
                <a:lnSpc>
                  <a:spcPct val="150000"/>
                </a:lnSpc>
              </a:pPr>
              <a:r>
                <a:rPr kumimoji="1" lang="en-US" altLang="zh-CN" sz="1600" dirty="0">
                  <a:ln w="12700">
                    <a:noFill/>
                  </a:ln>
                  <a:solidFill>
                    <a:srgbClr val="404040">
                      <a:alpha val="100000"/>
                    </a:srgbClr>
                  </a:solidFill>
                  <a:latin typeface="+mn-ea"/>
                </a:rPr>
                <a:t>NB-IoT功耗适中，但相比LoRa仍较高，不适合野外无市电环境。
</a:t>
              </a:r>
            </a:p>
            <a:p>
              <a:pPr>
                <a:lnSpc>
                  <a:spcPct val="150000"/>
                </a:lnSpc>
              </a:pPr>
              <a:r>
                <a:rPr kumimoji="1" lang="en-US" altLang="zh-CN" sz="1600" dirty="0">
                  <a:ln w="12700">
                    <a:noFill/>
                  </a:ln>
                  <a:solidFill>
                    <a:srgbClr val="404040">
                      <a:alpha val="100000"/>
                    </a:srgbClr>
                  </a:solidFill>
                  <a:latin typeface="+mn-ea"/>
                </a:rPr>
                <a:t>高功耗可能导致设备续航时间短，增加维护成本。</a:t>
              </a:r>
              <a:endParaRPr kumimoji="1" lang="zh-CN" altLang="en-US" sz="1600" dirty="0">
                <a:ln w="12700">
                  <a:noFill/>
                </a:ln>
                <a:solidFill>
                  <a:srgbClr val="404040">
                    <a:alpha val="100000"/>
                  </a:srgbClr>
                </a:solidFill>
                <a:latin typeface="+mn-ea"/>
              </a:endParaRPr>
            </a:p>
          </p:txBody>
        </p:sp>
        <p:sp>
          <p:nvSpPr>
            <p:cNvPr id="18" name="标题 1"/>
            <p:cNvSpPr txBox="1"/>
            <p:nvPr/>
          </p:nvSpPr>
          <p:spPr>
            <a:xfrm>
              <a:off x="7065" y="3194"/>
              <a:ext cx="4027" cy="1007"/>
            </a:xfrm>
            <a:prstGeom prst="rect">
              <a:avLst/>
            </a:prstGeom>
            <a:noFill/>
            <a:ln>
              <a:noFill/>
            </a:ln>
          </p:spPr>
          <p:txBody>
            <a:bodyPr vert="horz" wrap="square" lIns="91440" tIns="45720" rIns="91440" bIns="45720" rtlCol="0" anchor="ctr"/>
            <a:lstStyle/>
            <a:p>
              <a:pPr algn="r">
                <a:lnSpc>
                  <a:spcPct val="130000"/>
                </a:lnSpc>
              </a:pPr>
              <a:r>
                <a:rPr kumimoji="1" lang="en-US" altLang="zh-CN" sz="2800" b="1" dirty="0">
                  <a:ln w="12700">
                    <a:noFill/>
                  </a:ln>
                  <a:solidFill>
                    <a:srgbClr val="FFFFFF">
                      <a:alpha val="100000"/>
                    </a:srgbClr>
                  </a:solidFill>
                  <a:latin typeface="+mn-ea"/>
                </a:rPr>
                <a:t>功耗适中</a:t>
              </a:r>
              <a:endParaRPr kumimoji="1" lang="zh-CN" altLang="en-US" sz="2800" b="1" dirty="0">
                <a:ln w="12700">
                  <a:noFill/>
                </a:ln>
                <a:solidFill>
                  <a:srgbClr val="FFFFFF">
                    <a:alpha val="100000"/>
                  </a:srgbClr>
                </a:solidFill>
                <a:latin typeface="+mn-ea"/>
              </a:endParaRPr>
            </a:p>
          </p:txBody>
        </p:sp>
        <p:sp>
          <p:nvSpPr>
            <p:cNvPr id="19" name="标题 1"/>
            <p:cNvSpPr txBox="1"/>
            <p:nvPr/>
          </p:nvSpPr>
          <p:spPr>
            <a:xfrm>
              <a:off x="12957" y="4822"/>
              <a:ext cx="3969" cy="3474"/>
            </a:xfrm>
            <a:prstGeom prst="rect">
              <a:avLst/>
            </a:prstGeom>
            <a:noFill/>
            <a:ln>
              <a:noFill/>
            </a:ln>
          </p:spPr>
          <p:txBody>
            <a:bodyPr vert="horz" wrap="square" lIns="0" tIns="0" rIns="0" bIns="0" rtlCol="0" anchor="t"/>
            <a:lstStyle/>
            <a:p>
              <a:pPr algn="l">
                <a:lnSpc>
                  <a:spcPct val="150000"/>
                </a:lnSpc>
              </a:pPr>
              <a:r>
                <a:rPr kumimoji="1" lang="en-US" altLang="zh-CN" sz="1600" dirty="0">
                  <a:ln w="12700">
                    <a:noFill/>
                  </a:ln>
                  <a:solidFill>
                    <a:srgbClr val="404040">
                      <a:alpha val="100000"/>
                    </a:srgbClr>
                  </a:solidFill>
                  <a:latin typeface="+mn-ea"/>
                  <a:cs typeface="黑体" panose="02010609060101010101" charset="-122"/>
                </a:rPr>
                <a:t>NB-IoT设备和网络接入成本较高，不利于大规模部署。
高成本限制了其在输电线路监测中的应用范围。</a:t>
              </a:r>
            </a:p>
          </p:txBody>
        </p:sp>
        <p:sp>
          <p:nvSpPr>
            <p:cNvPr id="20" name="标题 1"/>
            <p:cNvSpPr txBox="1"/>
            <p:nvPr/>
          </p:nvSpPr>
          <p:spPr>
            <a:xfrm>
              <a:off x="12437" y="3182"/>
              <a:ext cx="3496" cy="1007"/>
            </a:xfrm>
            <a:prstGeom prst="rect">
              <a:avLst/>
            </a:prstGeom>
            <a:noFill/>
            <a:ln>
              <a:noFill/>
            </a:ln>
          </p:spPr>
          <p:txBody>
            <a:bodyPr vert="horz" wrap="square" lIns="91440" tIns="45720" rIns="91440" bIns="45720" rtlCol="0" anchor="ctr"/>
            <a:lstStyle/>
            <a:p>
              <a:pPr algn="r">
                <a:lnSpc>
                  <a:spcPct val="130000"/>
                </a:lnSpc>
              </a:pPr>
              <a:r>
                <a:rPr kumimoji="1" lang="en-US" altLang="zh-CN" sz="2800" b="1" dirty="0">
                  <a:ln w="12700">
                    <a:noFill/>
                  </a:ln>
                  <a:solidFill>
                    <a:srgbClr val="FFFFFF">
                      <a:alpha val="100000"/>
                    </a:srgbClr>
                  </a:solidFill>
                  <a:latin typeface="+mn-ea"/>
                </a:rPr>
                <a:t>成本较高</a:t>
              </a:r>
              <a:endParaRPr kumimoji="1" lang="zh-CN" altLang="en-US" sz="2800" b="1" dirty="0">
                <a:ln w="12700">
                  <a:noFill/>
                </a:ln>
                <a:solidFill>
                  <a:srgbClr val="FFFFFF">
                    <a:alpha val="100000"/>
                  </a:srgbClr>
                </a:solidFill>
                <a:latin typeface="+mn-ea"/>
              </a:endParaRPr>
            </a:p>
          </p:txBody>
        </p:sp>
      </p:grpSp>
      <p:sp>
        <p:nvSpPr>
          <p:cNvPr id="22" name="文本框 21">
            <a:extLst>
              <a:ext uri="{FF2B5EF4-FFF2-40B4-BE49-F238E27FC236}">
                <a16:creationId xmlns:a16="http://schemas.microsoft.com/office/drawing/2014/main" id="{475FC934-895D-44E7-AA4F-BD7BEE31F0B9}"/>
              </a:ext>
            </a:extLst>
          </p:cNvPr>
          <p:cNvSpPr txBox="1"/>
          <p:nvPr/>
        </p:nvSpPr>
        <p:spPr>
          <a:xfrm>
            <a:off x="3472180" y="1020316"/>
            <a:ext cx="5542280" cy="768350"/>
          </a:xfrm>
          <a:prstGeom prst="rect">
            <a:avLst/>
          </a:prstGeom>
          <a:noFill/>
        </p:spPr>
        <p:txBody>
          <a:bodyPr wrap="none" rtlCol="0">
            <a:spAutoFit/>
          </a:bodyPr>
          <a:lstStyle/>
          <a:p>
            <a:pPr algn="ctr"/>
            <a:r>
              <a:rPr lang="zh-CN" altLang="en-US" sz="4400" b="1" dirty="0">
                <a:solidFill>
                  <a:srgbClr val="57658E"/>
                </a:solidFill>
                <a:cs typeface="+mn-ea"/>
                <a:sym typeface="+mn-lt"/>
              </a:rPr>
              <a:t>技术对比</a:t>
            </a:r>
            <a:r>
              <a:rPr lang="en-US" altLang="zh-CN" sz="4400" b="1" dirty="0">
                <a:solidFill>
                  <a:srgbClr val="57658E"/>
                </a:solidFill>
                <a:cs typeface="+mn-ea"/>
                <a:sym typeface="+mn-lt"/>
              </a:rPr>
              <a:t>——</a:t>
            </a:r>
            <a:r>
              <a:rPr lang="en-US" altLang="zh-CN" sz="3600" b="1" dirty="0">
                <a:solidFill>
                  <a:srgbClr val="57658E"/>
                </a:solidFill>
                <a:cs typeface="+mn-ea"/>
                <a:sym typeface="+mn-lt"/>
              </a:rPr>
              <a:t>LoRa</a:t>
            </a:r>
            <a:r>
              <a:rPr lang="zh-CN" altLang="en-US" sz="3600" b="1" dirty="0">
                <a:solidFill>
                  <a:srgbClr val="57658E"/>
                </a:solidFill>
                <a:cs typeface="+mn-ea"/>
                <a:sym typeface="+mn-lt"/>
              </a:rPr>
              <a:t>技术</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3569509" y="992188"/>
            <a:ext cx="5364480" cy="768350"/>
          </a:xfrm>
          <a:prstGeom prst="rect">
            <a:avLst/>
          </a:prstGeom>
          <a:noFill/>
        </p:spPr>
        <p:txBody>
          <a:bodyPr wrap="none" rtlCol="0">
            <a:spAutoFit/>
          </a:bodyPr>
          <a:lstStyle/>
          <a:p>
            <a:pPr algn="ctr"/>
            <a:r>
              <a:rPr lang="zh-CN" altLang="en-US" sz="4400" b="1" dirty="0">
                <a:solidFill>
                  <a:srgbClr val="57658E"/>
                </a:solidFill>
                <a:cs typeface="+mn-ea"/>
                <a:sym typeface="+mn-lt"/>
              </a:rPr>
              <a:t>技术对比</a:t>
            </a:r>
            <a:r>
              <a:rPr lang="en-US" altLang="zh-CN" sz="4400" b="1" dirty="0">
                <a:solidFill>
                  <a:srgbClr val="57658E"/>
                </a:solidFill>
                <a:cs typeface="+mn-ea"/>
                <a:sym typeface="+mn-lt"/>
              </a:rPr>
              <a:t>——</a:t>
            </a:r>
            <a:r>
              <a:rPr lang="zh-CN" altLang="en-US" sz="3600" b="1" dirty="0">
                <a:solidFill>
                  <a:srgbClr val="57658E"/>
                </a:solidFill>
                <a:cs typeface="+mn-ea"/>
                <a:sym typeface="+mn-lt"/>
              </a:rPr>
              <a:t>卫星通信</a:t>
            </a:r>
          </a:p>
        </p:txBody>
      </p:sp>
      <p:sp>
        <p:nvSpPr>
          <p:cNvPr id="4" name="标题 1"/>
          <p:cNvSpPr txBox="1"/>
          <p:nvPr/>
        </p:nvSpPr>
        <p:spPr>
          <a:xfrm>
            <a:off x="708660" y="2011680"/>
            <a:ext cx="3513455" cy="2759710"/>
          </a:xfrm>
          <a:prstGeom prst="roundRect">
            <a:avLst>
              <a:gd name="adj" fmla="val 5304"/>
            </a:avLst>
          </a:prstGeom>
          <a:solidFill>
            <a:schemeClr val="bg1"/>
          </a:solidFill>
          <a:ln w="12700" cap="sq">
            <a:noFill/>
            <a:miter/>
          </a:ln>
          <a:effectLst>
            <a:outerShdw blurRad="127000" sx="102000" sy="102000" algn="ctr" rotWithShape="0">
              <a:schemeClr val="accent1">
                <a:alpha val="1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1012536" y="2997489"/>
            <a:ext cx="3126740" cy="1860550"/>
          </a:xfrm>
          <a:prstGeom prst="rect">
            <a:avLst/>
          </a:prstGeom>
          <a:noFill/>
          <a:ln>
            <a:noFill/>
          </a:ln>
        </p:spPr>
        <p:txBody>
          <a:bodyPr vert="horz" wrap="square" lIns="0" tIns="0" rIns="0" bIns="0" rtlCol="0" anchor="t"/>
          <a:lstStyle/>
          <a:p>
            <a:pPr algn="l">
              <a:lnSpc>
                <a:spcPct val="150000"/>
              </a:lnSpc>
            </a:pPr>
            <a:r>
              <a:rPr kumimoji="1" lang="en-US" altLang="zh-CN" sz="1600" dirty="0">
                <a:ln w="12700">
                  <a:noFill/>
                </a:ln>
                <a:solidFill>
                  <a:srgbClr val="000000">
                    <a:alpha val="100000"/>
                  </a:srgbClr>
                </a:solidFill>
                <a:latin typeface="+mn-ea"/>
                <a:cs typeface="黑体" panose="02010609060101010101" charset="-122"/>
              </a:rPr>
              <a:t>卫星通信可实现全球覆盖，作为紧急备份方案可靠。
在公网和LoRa网络故障时，卫星通信可保障数据传输。</a:t>
            </a:r>
          </a:p>
        </p:txBody>
      </p:sp>
      <p:sp>
        <p:nvSpPr>
          <p:cNvPr id="6" name="标题 1"/>
          <p:cNvSpPr txBox="1"/>
          <p:nvPr/>
        </p:nvSpPr>
        <p:spPr>
          <a:xfrm>
            <a:off x="902335" y="2112645"/>
            <a:ext cx="3126740" cy="539750"/>
          </a:xfrm>
          <a:prstGeom prst="roundRect">
            <a:avLst>
              <a:gd name="adj" fmla="val 50000"/>
            </a:avLst>
          </a:prstGeom>
          <a:solidFill>
            <a:schemeClr val="bg1"/>
          </a:solidFill>
          <a:ln w="12700" cap="sq">
            <a:solidFill>
              <a:srgbClr val="3B5085"/>
            </a:solid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a:off x="902335" y="2169795"/>
            <a:ext cx="3126740" cy="271780"/>
          </a:xfrm>
          <a:prstGeom prst="rect">
            <a:avLst/>
          </a:prstGeom>
          <a:noFill/>
          <a:ln>
            <a:noFill/>
          </a:ln>
        </p:spPr>
        <p:txBody>
          <a:bodyPr vert="horz" wrap="square" lIns="0" tIns="0" rIns="0" bIns="0" rtlCol="0" anchor="t"/>
          <a:lstStyle/>
          <a:p>
            <a:pPr algn="ctr">
              <a:lnSpc>
                <a:spcPct val="110000"/>
              </a:lnSpc>
            </a:pPr>
            <a:r>
              <a:rPr kumimoji="1" lang="en-US" altLang="zh-CN" sz="2400" b="1" dirty="0">
                <a:ln w="12700">
                  <a:noFill/>
                </a:ln>
                <a:solidFill>
                  <a:srgbClr val="7B4A3A">
                    <a:alpha val="100000"/>
                  </a:srgbClr>
                </a:solidFill>
                <a:latin typeface="+mn-ea"/>
                <a:cs typeface="思源黑体 CN Bold" panose="020B0800000000000000" charset="-122"/>
              </a:rPr>
              <a:t>全球覆盖</a:t>
            </a:r>
          </a:p>
        </p:txBody>
      </p:sp>
      <p:sp>
        <p:nvSpPr>
          <p:cNvPr id="8" name="标题 1"/>
          <p:cNvSpPr txBox="1"/>
          <p:nvPr/>
        </p:nvSpPr>
        <p:spPr>
          <a:xfrm>
            <a:off x="4343400" y="2011680"/>
            <a:ext cx="3513455" cy="2759710"/>
          </a:xfrm>
          <a:prstGeom prst="roundRect">
            <a:avLst>
              <a:gd name="adj" fmla="val 5304"/>
            </a:avLst>
          </a:prstGeom>
          <a:solidFill>
            <a:schemeClr val="bg2"/>
          </a:solidFill>
          <a:ln w="12700" cap="sq">
            <a:noFill/>
            <a:miter/>
          </a:ln>
          <a:effectLst>
            <a:outerShdw blurRad="127000" sx="102000" sy="102000" algn="ctr" rotWithShape="0">
              <a:schemeClr val="accent1">
                <a:alpha val="1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4529455" y="2898140"/>
            <a:ext cx="3126740" cy="1563370"/>
          </a:xfrm>
          <a:prstGeom prst="rect">
            <a:avLst/>
          </a:prstGeom>
          <a:noFill/>
          <a:ln>
            <a:noFill/>
          </a:ln>
        </p:spPr>
        <p:txBody>
          <a:bodyPr vert="horz" wrap="square" lIns="0" tIns="0" rIns="0" bIns="0" rtlCol="0" anchor="t"/>
          <a:lstStyle/>
          <a:p>
            <a:pPr algn="l">
              <a:lnSpc>
                <a:spcPct val="150000"/>
              </a:lnSpc>
            </a:pPr>
            <a:r>
              <a:rPr kumimoji="1" lang="en-US" altLang="zh-CN" sz="1600" dirty="0">
                <a:ln w="12700">
                  <a:noFill/>
                </a:ln>
                <a:solidFill>
                  <a:srgbClr val="000000">
                    <a:alpha val="100000"/>
                  </a:srgbClr>
                </a:solidFill>
                <a:latin typeface="+mn-ea"/>
                <a:cs typeface="黑体" panose="02010609060101010101" charset="-122"/>
              </a:rPr>
              <a:t>卫星通信功耗高，需合理控制使用频率，避免过度消耗能源。
高功耗限制了其作为主通信方式的应用。</a:t>
            </a:r>
            <a:endParaRPr kumimoji="1" lang="zh-CN" altLang="en-US" dirty="0">
              <a:latin typeface="+mn-ea"/>
            </a:endParaRPr>
          </a:p>
        </p:txBody>
      </p:sp>
      <p:sp>
        <p:nvSpPr>
          <p:cNvPr id="22" name="标题 1"/>
          <p:cNvSpPr txBox="1"/>
          <p:nvPr/>
        </p:nvSpPr>
        <p:spPr>
          <a:xfrm>
            <a:off x="4537075" y="2112645"/>
            <a:ext cx="3126740" cy="539115"/>
          </a:xfrm>
          <a:prstGeom prst="roundRect">
            <a:avLst>
              <a:gd name="adj" fmla="val 50000"/>
            </a:avLst>
          </a:prstGeom>
          <a:solidFill>
            <a:srgbClr val="3B5085"/>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4537075" y="2169795"/>
            <a:ext cx="3126740" cy="271780"/>
          </a:xfrm>
          <a:prstGeom prst="rect">
            <a:avLst/>
          </a:prstGeom>
          <a:noFill/>
          <a:ln>
            <a:noFill/>
          </a:ln>
        </p:spPr>
        <p:txBody>
          <a:bodyPr vert="horz" wrap="square" lIns="0" tIns="0" rIns="0" bIns="0" rtlCol="0" anchor="t"/>
          <a:lstStyle/>
          <a:p>
            <a:pPr algn="ctr">
              <a:lnSpc>
                <a:spcPct val="110000"/>
              </a:lnSpc>
            </a:pPr>
            <a:r>
              <a:rPr kumimoji="1" lang="en-US" altLang="zh-CN" sz="2400" b="1" dirty="0" err="1">
                <a:ln w="12700">
                  <a:noFill/>
                </a:ln>
                <a:solidFill>
                  <a:schemeClr val="bg1"/>
                </a:solidFill>
                <a:latin typeface="+mn-ea"/>
              </a:rPr>
              <a:t>功耗高</a:t>
            </a:r>
            <a:endParaRPr kumimoji="1" lang="en-US" altLang="zh-CN" sz="2400" b="1" dirty="0">
              <a:ln w="12700">
                <a:noFill/>
              </a:ln>
              <a:solidFill>
                <a:schemeClr val="bg1"/>
              </a:solidFill>
              <a:latin typeface="+mn-ea"/>
            </a:endParaRPr>
          </a:p>
        </p:txBody>
      </p:sp>
      <p:sp>
        <p:nvSpPr>
          <p:cNvPr id="24" name="标题 1"/>
          <p:cNvSpPr txBox="1"/>
          <p:nvPr/>
        </p:nvSpPr>
        <p:spPr>
          <a:xfrm>
            <a:off x="7970520" y="2011680"/>
            <a:ext cx="3513455" cy="2759710"/>
          </a:xfrm>
          <a:prstGeom prst="roundRect">
            <a:avLst>
              <a:gd name="adj" fmla="val 5304"/>
            </a:avLst>
          </a:prstGeom>
          <a:solidFill>
            <a:schemeClr val="bg1"/>
          </a:solidFill>
          <a:ln w="12700" cap="sq">
            <a:noFill/>
            <a:miter/>
          </a:ln>
          <a:effectLst>
            <a:outerShdw blurRad="127000" sx="102000" sy="102000" algn="ctr" rotWithShape="0">
              <a:schemeClr val="accent1">
                <a:alpha val="15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8164195" y="2926080"/>
            <a:ext cx="3126740" cy="1829435"/>
          </a:xfrm>
          <a:prstGeom prst="rect">
            <a:avLst/>
          </a:prstGeom>
          <a:noFill/>
          <a:ln>
            <a:noFill/>
          </a:ln>
        </p:spPr>
        <p:txBody>
          <a:bodyPr vert="horz" wrap="square" lIns="0" tIns="0" rIns="0" bIns="0" rtlCol="0" anchor="t"/>
          <a:lstStyle/>
          <a:p>
            <a:pPr>
              <a:lnSpc>
                <a:spcPct val="150000"/>
              </a:lnSpc>
            </a:pPr>
            <a:r>
              <a:rPr kumimoji="1" lang="en-US" altLang="zh-CN" sz="1600" dirty="0">
                <a:ln w="12700">
                  <a:noFill/>
                </a:ln>
                <a:solidFill>
                  <a:srgbClr val="000000">
                    <a:alpha val="100000"/>
                  </a:srgbClr>
                </a:solidFill>
                <a:latin typeface="+mn-ea"/>
              </a:rPr>
              <a:t>卫星通信设备和运营成本高昂，仅适用于特殊场景。
高成本使其难以作为主要通信手段，但可作为备份方案。</a:t>
            </a:r>
          </a:p>
        </p:txBody>
      </p:sp>
      <p:sp>
        <p:nvSpPr>
          <p:cNvPr id="26" name="标题 1"/>
          <p:cNvSpPr txBox="1"/>
          <p:nvPr/>
        </p:nvSpPr>
        <p:spPr>
          <a:xfrm>
            <a:off x="8163560" y="2112645"/>
            <a:ext cx="3126740" cy="539115"/>
          </a:xfrm>
          <a:prstGeom prst="roundRect">
            <a:avLst>
              <a:gd name="adj" fmla="val 50000"/>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27" name="标题 1"/>
          <p:cNvSpPr txBox="1"/>
          <p:nvPr/>
        </p:nvSpPr>
        <p:spPr>
          <a:xfrm>
            <a:off x="8163560" y="2169795"/>
            <a:ext cx="3126740" cy="271780"/>
          </a:xfrm>
          <a:prstGeom prst="rect">
            <a:avLst/>
          </a:prstGeom>
          <a:noFill/>
          <a:ln>
            <a:noFill/>
          </a:ln>
        </p:spPr>
        <p:txBody>
          <a:bodyPr vert="horz" wrap="square" lIns="0" tIns="0" rIns="0" bIns="0" rtlCol="0" anchor="t"/>
          <a:lstStyle/>
          <a:p>
            <a:pPr algn="ctr">
              <a:lnSpc>
                <a:spcPct val="110000"/>
              </a:lnSpc>
            </a:pPr>
            <a:r>
              <a:rPr kumimoji="1" lang="en-US" altLang="zh-CN" sz="2400" b="1" dirty="0">
                <a:ln w="12700">
                  <a:noFill/>
                </a:ln>
                <a:solidFill>
                  <a:srgbClr val="7B4A3A">
                    <a:alpha val="100000"/>
                  </a:srgbClr>
                </a:solidFill>
                <a:latin typeface="+mn-ea"/>
              </a:rPr>
              <a:t>成本高昂</a:t>
            </a:r>
          </a:p>
        </p:txBody>
      </p:sp>
      <p:grpSp>
        <p:nvGrpSpPr>
          <p:cNvPr id="32" name="组合 31"/>
          <p:cNvGrpSpPr/>
          <p:nvPr/>
        </p:nvGrpSpPr>
        <p:grpSpPr>
          <a:xfrm>
            <a:off x="1334770" y="5263515"/>
            <a:ext cx="6521450" cy="683260"/>
            <a:chOff x="2102" y="8289"/>
            <a:chExt cx="10270" cy="1076"/>
          </a:xfrm>
        </p:grpSpPr>
        <p:sp>
          <p:nvSpPr>
            <p:cNvPr id="30" name="五角星 29"/>
            <p:cNvSpPr/>
            <p:nvPr/>
          </p:nvSpPr>
          <p:spPr>
            <a:xfrm>
              <a:off x="2102" y="8289"/>
              <a:ext cx="1258" cy="1077"/>
            </a:xfrm>
            <a:prstGeom prst="star5">
              <a:avLst/>
            </a:prstGeom>
            <a:solidFill>
              <a:srgbClr val="FFFF00"/>
            </a:solidFill>
            <a:ln>
              <a:solidFill>
                <a:srgbClr val="3B50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3360" y="8368"/>
              <a:ext cx="9013" cy="919"/>
            </a:xfrm>
            <a:prstGeom prst="rect">
              <a:avLst/>
            </a:prstGeom>
            <a:noFill/>
          </p:spPr>
          <p:txBody>
            <a:bodyPr wrap="square" rtlCol="0">
              <a:spAutoFit/>
            </a:bodyPr>
            <a:lstStyle/>
            <a:p>
              <a:r>
                <a:rPr lang="zh-CN" altLang="en-US" sz="3200" b="1" dirty="0">
                  <a:solidFill>
                    <a:srgbClr val="FF0000"/>
                  </a:solidFill>
                </a:rPr>
                <a:t>推荐：</a:t>
              </a:r>
              <a:r>
                <a:rPr lang="en-US" altLang="zh-CN" sz="3200" b="1" dirty="0"/>
                <a:t>LoRa</a:t>
              </a:r>
              <a:r>
                <a:rPr lang="zh-CN" altLang="en-US" sz="3200" b="1" dirty="0"/>
                <a:t>主网</a:t>
              </a:r>
              <a:r>
                <a:rPr lang="en-US" altLang="zh-CN" sz="3200" b="1" dirty="0"/>
                <a:t>+</a:t>
              </a:r>
              <a:r>
                <a:rPr lang="zh-CN" altLang="en-US" sz="3200" b="1" dirty="0"/>
                <a:t>卫星热备份</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2" fill="hold" nodeType="clickEffect">
                                  <p:stCondLst>
                                    <p:cond delay="0"/>
                                  </p:stCondLst>
                                  <p:childTnLst>
                                    <p:set>
                                      <p:cBhvr>
                                        <p:cTn id="6" dur="500" fill="hold">
                                          <p:stCondLst>
                                            <p:cond delay="0"/>
                                          </p:stCondLst>
                                        </p:cTn>
                                        <p:tgtEl>
                                          <p:spTgt spid="32"/>
                                        </p:tgtEl>
                                        <p:attrNameLst>
                                          <p:attrName>style.visibility</p:attrName>
                                        </p:attrNameLst>
                                      </p:cBhvr>
                                      <p:to>
                                        <p:strVal val="visible"/>
                                      </p:to>
                                    </p:set>
                                    <p:animEffect transition="in" filter="wheel(2)">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文本框 28"/>
          <p:cNvSpPr txBox="1"/>
          <p:nvPr/>
        </p:nvSpPr>
        <p:spPr>
          <a:xfrm>
            <a:off x="4886960" y="568833"/>
            <a:ext cx="2418080" cy="768350"/>
          </a:xfrm>
          <a:prstGeom prst="rect">
            <a:avLst/>
          </a:prstGeom>
          <a:noFill/>
        </p:spPr>
        <p:txBody>
          <a:bodyPr wrap="none" rtlCol="0">
            <a:spAutoFit/>
          </a:bodyPr>
          <a:lstStyle/>
          <a:p>
            <a:pPr algn="ctr"/>
            <a:r>
              <a:rPr lang="zh-CN" altLang="en-US" sz="4400" b="1" dirty="0">
                <a:solidFill>
                  <a:srgbClr val="57658E"/>
                </a:solidFill>
                <a:cs typeface="+mn-ea"/>
                <a:sym typeface="+mn-lt"/>
              </a:rPr>
              <a:t>系统架构</a:t>
            </a:r>
          </a:p>
        </p:txBody>
      </p:sp>
      <p:cxnSp>
        <p:nvCxnSpPr>
          <p:cNvPr id="3" name="标题 1"/>
          <p:cNvCxnSpPr/>
          <p:nvPr/>
        </p:nvCxnSpPr>
        <p:spPr>
          <a:xfrm>
            <a:off x="1087755" y="1486535"/>
            <a:ext cx="10241915" cy="0"/>
          </a:xfrm>
          <a:prstGeom prst="line">
            <a:avLst/>
          </a:prstGeom>
          <a:noFill/>
          <a:ln w="12700" cap="sq">
            <a:solidFill>
              <a:schemeClr val="bg1">
                <a:lumMod val="85000"/>
              </a:schemeClr>
            </a:solidFill>
            <a:miter/>
          </a:ln>
        </p:spPr>
      </p:cxnSp>
      <p:grpSp>
        <p:nvGrpSpPr>
          <p:cNvPr id="46" name="组合 45"/>
          <p:cNvGrpSpPr/>
          <p:nvPr/>
        </p:nvGrpSpPr>
        <p:grpSpPr>
          <a:xfrm>
            <a:off x="2918460" y="1358900"/>
            <a:ext cx="267970" cy="267970"/>
            <a:chOff x="1537" y="2139"/>
            <a:chExt cx="422" cy="422"/>
          </a:xfrm>
        </p:grpSpPr>
        <p:sp>
          <p:nvSpPr>
            <p:cNvPr id="4" name="标题 1"/>
            <p:cNvSpPr txBox="1"/>
            <p:nvPr/>
          </p:nvSpPr>
          <p:spPr>
            <a:xfrm>
              <a:off x="1537" y="2139"/>
              <a:ext cx="422" cy="423"/>
            </a:xfrm>
            <a:prstGeom prst="ellipse">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1630" y="2232"/>
              <a:ext cx="237" cy="237"/>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
        <p:nvSpPr>
          <p:cNvPr id="18" name="标题 1"/>
          <p:cNvSpPr txBox="1"/>
          <p:nvPr/>
        </p:nvSpPr>
        <p:spPr>
          <a:xfrm>
            <a:off x="1030406" y="3336544"/>
            <a:ext cx="283536" cy="29384"/>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4" name="标题 1"/>
          <p:cNvSpPr txBox="1"/>
          <p:nvPr/>
        </p:nvSpPr>
        <p:spPr>
          <a:xfrm>
            <a:off x="6593305" y="1421137"/>
            <a:ext cx="283536" cy="29384"/>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6593305" y="3336544"/>
            <a:ext cx="283536" cy="29384"/>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47" name="组合 46"/>
          <p:cNvGrpSpPr/>
          <p:nvPr/>
        </p:nvGrpSpPr>
        <p:grpSpPr>
          <a:xfrm>
            <a:off x="8667750" y="1351915"/>
            <a:ext cx="267970" cy="267970"/>
            <a:chOff x="1537" y="2139"/>
            <a:chExt cx="422" cy="422"/>
          </a:xfrm>
        </p:grpSpPr>
        <p:sp>
          <p:nvSpPr>
            <p:cNvPr id="48" name="标题 1"/>
            <p:cNvSpPr txBox="1"/>
            <p:nvPr/>
          </p:nvSpPr>
          <p:spPr>
            <a:xfrm>
              <a:off x="1537" y="2139"/>
              <a:ext cx="422" cy="423"/>
            </a:xfrm>
            <a:prstGeom prst="ellipse">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9" name="标题 1"/>
            <p:cNvSpPr txBox="1"/>
            <p:nvPr/>
          </p:nvSpPr>
          <p:spPr>
            <a:xfrm>
              <a:off x="1630" y="2232"/>
              <a:ext cx="237" cy="237"/>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nvGrpSpPr>
          <p:cNvPr id="84" name="组合 83"/>
          <p:cNvGrpSpPr/>
          <p:nvPr/>
        </p:nvGrpSpPr>
        <p:grpSpPr>
          <a:xfrm>
            <a:off x="460375" y="1692275"/>
            <a:ext cx="5295265" cy="4731385"/>
            <a:chOff x="725" y="2665"/>
            <a:chExt cx="8339" cy="7451"/>
          </a:xfrm>
        </p:grpSpPr>
        <p:sp>
          <p:nvSpPr>
            <p:cNvPr id="5" name="标题 1"/>
            <p:cNvSpPr txBox="1"/>
            <p:nvPr/>
          </p:nvSpPr>
          <p:spPr>
            <a:xfrm>
              <a:off x="2267" y="2665"/>
              <a:ext cx="6797" cy="7451"/>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725" y="2667"/>
              <a:ext cx="2557" cy="7449"/>
            </a:xfrm>
            <a:prstGeom prst="rightArrowCallout">
              <a:avLst>
                <a:gd name="adj1" fmla="val 33080"/>
                <a:gd name="adj2" fmla="val 32744"/>
                <a:gd name="adj3" fmla="val 32407"/>
                <a:gd name="adj4" fmla="val 64342"/>
              </a:avLst>
            </a:prstGeom>
            <a:solidFill>
              <a:srgbClr val="3B5085"/>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975" y="5214"/>
              <a:ext cx="1095" cy="1720"/>
            </a:xfrm>
            <a:prstGeom prst="rect">
              <a:avLst/>
            </a:prstGeom>
            <a:noFill/>
            <a:ln cap="sq">
              <a:noFill/>
            </a:ln>
          </p:spPr>
          <p:txBody>
            <a:bodyPr vert="horz" wrap="square" lIns="0" tIns="0" rIns="0" bIns="0" rtlCol="0" anchor="ctr"/>
            <a:lstStyle/>
            <a:p>
              <a:pPr algn="ctr">
                <a:lnSpc>
                  <a:spcPct val="130000"/>
                </a:lnSpc>
              </a:pPr>
              <a:r>
                <a:rPr kumimoji="1" lang="en-US" altLang="zh-CN" sz="3600" b="1">
                  <a:ln w="15875">
                    <a:solidFill>
                      <a:srgbClr val="FFFFFF">
                        <a:alpha val="100000"/>
                      </a:srgbClr>
                    </a:solidFill>
                  </a:ln>
                  <a:solidFill>
                    <a:srgbClr val="7B4A3A">
                      <a:alpha val="100000"/>
                    </a:srgbClr>
                  </a:solidFill>
                  <a:latin typeface="黑体" panose="02010609060101010101" charset="-122"/>
                  <a:ea typeface="黑体" panose="02010609060101010101" charset="-122"/>
                  <a:cs typeface="OPPOSans B" panose="00020600040101010101"/>
                </a:rPr>
                <a:t>网络</a:t>
              </a:r>
              <a:r>
                <a:rPr kumimoji="1" lang="zh-CN" altLang="en-US" sz="3600" b="1">
                  <a:ln w="15875">
                    <a:solidFill>
                      <a:srgbClr val="FFFFFF">
                        <a:alpha val="100000"/>
                      </a:srgbClr>
                    </a:solidFill>
                  </a:ln>
                  <a:solidFill>
                    <a:srgbClr val="7B4A3A">
                      <a:alpha val="100000"/>
                    </a:srgbClr>
                  </a:solidFill>
                  <a:latin typeface="黑体" panose="02010609060101010101" charset="-122"/>
                  <a:ea typeface="黑体" panose="02010609060101010101" charset="-122"/>
                  <a:cs typeface="OPPOSans B" panose="00020600040101010101"/>
                </a:rPr>
                <a:t>架构</a:t>
              </a:r>
            </a:p>
          </p:txBody>
        </p:sp>
        <p:grpSp>
          <p:nvGrpSpPr>
            <p:cNvPr id="50" name="组合 49"/>
            <p:cNvGrpSpPr/>
            <p:nvPr/>
          </p:nvGrpSpPr>
          <p:grpSpPr>
            <a:xfrm>
              <a:off x="3253" y="2795"/>
              <a:ext cx="5587" cy="2327"/>
              <a:chOff x="3253" y="2795"/>
              <a:chExt cx="5587" cy="2327"/>
            </a:xfrm>
          </p:grpSpPr>
          <p:sp>
            <p:nvSpPr>
              <p:cNvPr id="19" name="标题 1"/>
              <p:cNvSpPr txBox="1"/>
              <p:nvPr/>
            </p:nvSpPr>
            <p:spPr>
              <a:xfrm>
                <a:off x="3253" y="3553"/>
                <a:ext cx="5558" cy="1569"/>
              </a:xfrm>
              <a:prstGeom prst="rect">
                <a:avLst/>
              </a:prstGeom>
              <a:noFill/>
              <a:ln cap="sq">
                <a:noFill/>
              </a:ln>
            </p:spPr>
            <p:txBody>
              <a:bodyPr vert="horz" wrap="square" lIns="0" tIns="0" rIns="0" bIns="0" rtlCol="0" anchor="t"/>
              <a:lstStyle/>
              <a:p>
                <a:pPr algn="l">
                  <a:lnSpc>
                    <a:spcPct val="150000"/>
                  </a:lnSpc>
                </a:pPr>
                <a:r>
                  <a:rPr kumimoji="1" lang="en-US" altLang="zh-CN" sz="1400" dirty="0">
                    <a:ln w="12700">
                      <a:noFill/>
                    </a:ln>
                    <a:solidFill>
                      <a:srgbClr val="262626">
                        <a:alpha val="100000"/>
                      </a:srgbClr>
                    </a:solidFill>
                    <a:latin typeface="+mn-ea"/>
                    <a:cs typeface="黑体" panose="02010609060101010101" charset="-122"/>
                  </a:rPr>
                  <a:t>采集横担应力数据，通过LoRa终端传输至网关</a:t>
                </a:r>
                <a:r>
                  <a:rPr kumimoji="1" lang="zh-CN" altLang="en-US" sz="1400" dirty="0">
                    <a:ln w="12700">
                      <a:noFill/>
                    </a:ln>
                    <a:solidFill>
                      <a:srgbClr val="262626">
                        <a:alpha val="100000"/>
                      </a:srgbClr>
                    </a:solidFill>
                    <a:latin typeface="+mn-ea"/>
                    <a:cs typeface="黑体" panose="02010609060101010101" charset="-122"/>
                  </a:rPr>
                  <a:t>；传感器节点需</a:t>
                </a:r>
                <a:r>
                  <a:rPr kumimoji="1" lang="en-US" altLang="zh-CN" sz="1400" dirty="0">
                    <a:ln w="12700">
                      <a:noFill/>
                    </a:ln>
                    <a:solidFill>
                      <a:srgbClr val="262626">
                        <a:alpha val="100000"/>
                      </a:srgbClr>
                    </a:solidFill>
                    <a:latin typeface="+mn-ea"/>
                    <a:cs typeface="黑体" panose="02010609060101010101" charset="-122"/>
                  </a:rPr>
                  <a:t>具备低功耗和高可靠性，确保数据采集稳定。</a:t>
                </a:r>
                <a:endParaRPr kumimoji="1" lang="zh-CN" altLang="en-US" sz="1400" dirty="0">
                  <a:latin typeface="+mn-ea"/>
                  <a:cs typeface="黑体" panose="02010609060101010101" charset="-122"/>
                </a:endParaRPr>
              </a:p>
            </p:txBody>
          </p:sp>
          <p:sp>
            <p:nvSpPr>
              <p:cNvPr id="20" name="标题 1"/>
              <p:cNvSpPr txBox="1"/>
              <p:nvPr/>
            </p:nvSpPr>
            <p:spPr>
              <a:xfrm>
                <a:off x="3282" y="2795"/>
                <a:ext cx="5558" cy="634"/>
              </a:xfrm>
              <a:prstGeom prst="rect">
                <a:avLst/>
              </a:prstGeom>
              <a:noFill/>
              <a:ln cap="sq">
                <a:noFill/>
              </a:ln>
            </p:spPr>
            <p:txBody>
              <a:bodyPr vert="horz" wrap="square" lIns="0" tIns="0" rIns="0" bIns="0" rtlCol="0" anchor="b"/>
              <a:lstStyle/>
              <a:p>
                <a:pPr algn="l">
                  <a:lnSpc>
                    <a:spcPct val="130000"/>
                  </a:lnSpc>
                </a:pPr>
                <a:r>
                  <a:rPr kumimoji="1" lang="en-US" altLang="zh-CN" sz="1600" b="1" dirty="0">
                    <a:ln w="12700">
                      <a:noFill/>
                    </a:ln>
                    <a:solidFill>
                      <a:srgbClr val="7B4A3A">
                        <a:alpha val="100000"/>
                      </a:srgbClr>
                    </a:solidFill>
                    <a:latin typeface="+mn-ea"/>
                    <a:cs typeface="思源黑体 CN Bold" panose="020B0800000000000000" charset="-122"/>
                  </a:rPr>
                  <a:t>传感器节点</a:t>
                </a:r>
              </a:p>
            </p:txBody>
          </p:sp>
        </p:grpSp>
        <p:grpSp>
          <p:nvGrpSpPr>
            <p:cNvPr id="51" name="组合 50"/>
            <p:cNvGrpSpPr/>
            <p:nvPr/>
          </p:nvGrpSpPr>
          <p:grpSpPr>
            <a:xfrm>
              <a:off x="3253" y="5167"/>
              <a:ext cx="5558" cy="2444"/>
              <a:chOff x="3253" y="2753"/>
              <a:chExt cx="5558" cy="2444"/>
            </a:xfrm>
          </p:grpSpPr>
          <p:sp>
            <p:nvSpPr>
              <p:cNvPr id="52" name="标题 1"/>
              <p:cNvSpPr txBox="1"/>
              <p:nvPr/>
            </p:nvSpPr>
            <p:spPr>
              <a:xfrm>
                <a:off x="3253" y="3444"/>
                <a:ext cx="5558" cy="1753"/>
              </a:xfrm>
              <a:prstGeom prst="rect">
                <a:avLst/>
              </a:prstGeom>
              <a:noFill/>
              <a:ln cap="sq">
                <a:noFill/>
              </a:ln>
            </p:spPr>
            <p:txBody>
              <a:bodyPr vert="horz" wrap="square" lIns="0" tIns="0" rIns="0" bIns="0" rtlCol="0" anchor="t"/>
              <a:lstStyle/>
              <a:p>
                <a:pPr algn="l">
                  <a:lnSpc>
                    <a:spcPct val="150000"/>
                  </a:lnSpc>
                </a:pPr>
                <a:r>
                  <a:rPr kumimoji="1" lang="en-US" altLang="zh-CN" sz="1400" dirty="0">
                    <a:ln w="12700">
                      <a:noFill/>
                    </a:ln>
                    <a:solidFill>
                      <a:srgbClr val="262626">
                        <a:alpha val="100000"/>
                      </a:srgbClr>
                    </a:solidFill>
                    <a:latin typeface="+mn-ea"/>
                    <a:sym typeface="+mn-ea"/>
                  </a:rPr>
                  <a:t>每5km铁塔高点部署1个LoRa网关，覆盖扇形区域，接收节点数据</a:t>
                </a:r>
                <a:r>
                  <a:rPr kumimoji="1" lang="zh-CN" altLang="en-US" sz="1400" dirty="0">
                    <a:ln w="12700">
                      <a:noFill/>
                    </a:ln>
                    <a:solidFill>
                      <a:srgbClr val="262626">
                        <a:alpha val="100000"/>
                      </a:srgbClr>
                    </a:solidFill>
                    <a:latin typeface="+mn-ea"/>
                    <a:sym typeface="+mn-ea"/>
                  </a:rPr>
                  <a:t>；</a:t>
                </a:r>
                <a:r>
                  <a:rPr kumimoji="1" lang="en-US" altLang="zh-CN" sz="1400" dirty="0">
                    <a:ln w="12700">
                      <a:noFill/>
                    </a:ln>
                    <a:solidFill>
                      <a:srgbClr val="262626">
                        <a:alpha val="100000"/>
                      </a:srgbClr>
                    </a:solidFill>
                    <a:latin typeface="+mn-ea"/>
                    <a:sym typeface="+mn-ea"/>
                  </a:rPr>
                  <a:t>网关需具备高接收能力和抗干扰性能，保障数据传输。</a:t>
                </a:r>
                <a:endParaRPr kumimoji="1" lang="en-US" altLang="zh-CN" sz="1400" dirty="0">
                  <a:ln w="12700">
                    <a:noFill/>
                  </a:ln>
                  <a:solidFill>
                    <a:srgbClr val="262626">
                      <a:alpha val="100000"/>
                    </a:srgbClr>
                  </a:solidFill>
                  <a:latin typeface="+mn-ea"/>
                </a:endParaRPr>
              </a:p>
            </p:txBody>
          </p:sp>
          <p:sp>
            <p:nvSpPr>
              <p:cNvPr id="53" name="标题 1"/>
              <p:cNvSpPr txBox="1"/>
              <p:nvPr/>
            </p:nvSpPr>
            <p:spPr>
              <a:xfrm>
                <a:off x="3307" y="2753"/>
                <a:ext cx="2216" cy="634"/>
              </a:xfrm>
              <a:prstGeom prst="rect">
                <a:avLst/>
              </a:prstGeom>
              <a:noFill/>
              <a:ln cap="sq">
                <a:noFill/>
              </a:ln>
            </p:spPr>
            <p:txBody>
              <a:bodyPr vert="horz" wrap="square" lIns="0" tIns="0" rIns="0" bIns="0" rtlCol="0" anchor="b"/>
              <a:lstStyle/>
              <a:p>
                <a:pPr>
                  <a:lnSpc>
                    <a:spcPct val="130000"/>
                  </a:lnSpc>
                </a:pPr>
                <a:r>
                  <a:rPr kumimoji="1" lang="en-US" altLang="zh-CN" sz="1600" b="1" dirty="0">
                    <a:ln w="12700">
                      <a:noFill/>
                    </a:ln>
                    <a:solidFill>
                      <a:srgbClr val="7B4A3A">
                        <a:alpha val="100000"/>
                      </a:srgbClr>
                    </a:solidFill>
                    <a:latin typeface="+mn-ea"/>
                  </a:rPr>
                  <a:t>LoRa</a:t>
                </a:r>
                <a:r>
                  <a:rPr kumimoji="1" lang="zh-CN" altLang="en-US" sz="1600" b="1" dirty="0">
                    <a:ln w="12700">
                      <a:noFill/>
                    </a:ln>
                    <a:solidFill>
                      <a:srgbClr val="7B4A3A">
                        <a:alpha val="100000"/>
                      </a:srgbClr>
                    </a:solidFill>
                    <a:latin typeface="+mn-ea"/>
                  </a:rPr>
                  <a:t>网关</a:t>
                </a:r>
              </a:p>
            </p:txBody>
          </p:sp>
        </p:grpSp>
        <p:grpSp>
          <p:nvGrpSpPr>
            <p:cNvPr id="54" name="组合 53"/>
            <p:cNvGrpSpPr/>
            <p:nvPr/>
          </p:nvGrpSpPr>
          <p:grpSpPr>
            <a:xfrm>
              <a:off x="3268" y="7484"/>
              <a:ext cx="5558" cy="2228"/>
              <a:chOff x="3268" y="2668"/>
              <a:chExt cx="5558" cy="2228"/>
            </a:xfrm>
          </p:grpSpPr>
          <p:sp>
            <p:nvSpPr>
              <p:cNvPr id="55" name="标题 1"/>
              <p:cNvSpPr txBox="1"/>
              <p:nvPr/>
            </p:nvSpPr>
            <p:spPr>
              <a:xfrm>
                <a:off x="3268" y="3327"/>
                <a:ext cx="5558" cy="1569"/>
              </a:xfrm>
              <a:prstGeom prst="rect">
                <a:avLst/>
              </a:prstGeom>
              <a:noFill/>
              <a:ln cap="sq">
                <a:noFill/>
              </a:ln>
            </p:spPr>
            <p:txBody>
              <a:bodyPr vert="horz" wrap="square" lIns="0" tIns="0" rIns="0" bIns="0" rtlCol="0" anchor="t"/>
              <a:lstStyle/>
              <a:p>
                <a:pPr algn="l">
                  <a:lnSpc>
                    <a:spcPct val="150000"/>
                  </a:lnSpc>
                </a:pPr>
                <a:r>
                  <a:rPr kumimoji="1" lang="en-US" altLang="zh-CN" sz="1400" dirty="0">
                    <a:ln w="12700">
                      <a:noFill/>
                    </a:ln>
                    <a:solidFill>
                      <a:srgbClr val="262626">
                        <a:alpha val="100000"/>
                      </a:srgbClr>
                    </a:solidFill>
                    <a:latin typeface="+mn-ea"/>
                    <a:cs typeface="黑体" panose="02010609060101010101" charset="-122"/>
                    <a:sym typeface="+mn-ea"/>
                  </a:rPr>
                  <a:t>本地数据中心接收网关数据，进行边缘计算和存储；边缘计算可减少数据传输量，提高系统响应速度。</a:t>
                </a:r>
                <a:endParaRPr kumimoji="1" lang="zh-CN" altLang="en-US" sz="1400" dirty="0">
                  <a:latin typeface="+mn-ea"/>
                  <a:cs typeface="黑体" panose="02010609060101010101" charset="-122"/>
                </a:endParaRPr>
              </a:p>
            </p:txBody>
          </p:sp>
          <p:sp>
            <p:nvSpPr>
              <p:cNvPr id="56" name="标题 1"/>
              <p:cNvSpPr txBox="1"/>
              <p:nvPr/>
            </p:nvSpPr>
            <p:spPr>
              <a:xfrm>
                <a:off x="3323" y="2668"/>
                <a:ext cx="2648" cy="634"/>
              </a:xfrm>
              <a:prstGeom prst="rect">
                <a:avLst/>
              </a:prstGeom>
              <a:noFill/>
              <a:ln cap="sq">
                <a:noFill/>
              </a:ln>
            </p:spPr>
            <p:txBody>
              <a:bodyPr vert="horz" wrap="square" lIns="0" tIns="0" rIns="0" bIns="0" rtlCol="0" anchor="b"/>
              <a:lstStyle/>
              <a:p>
                <a:pPr>
                  <a:lnSpc>
                    <a:spcPct val="130000"/>
                  </a:lnSpc>
                </a:pPr>
                <a:r>
                  <a:rPr kumimoji="1" lang="zh-CN" altLang="en-US" sz="1600" b="1" dirty="0">
                    <a:ln w="12700">
                      <a:noFill/>
                    </a:ln>
                    <a:solidFill>
                      <a:srgbClr val="7B4A3A">
                        <a:alpha val="100000"/>
                      </a:srgbClr>
                    </a:solidFill>
                    <a:latin typeface="+mn-ea"/>
                  </a:rPr>
                  <a:t>本地数据中心</a:t>
                </a:r>
              </a:p>
            </p:txBody>
          </p:sp>
        </p:grpSp>
      </p:grpSp>
      <p:grpSp>
        <p:nvGrpSpPr>
          <p:cNvPr id="85" name="组合 84"/>
          <p:cNvGrpSpPr/>
          <p:nvPr/>
        </p:nvGrpSpPr>
        <p:grpSpPr>
          <a:xfrm>
            <a:off x="6216650" y="1692910"/>
            <a:ext cx="5295900" cy="4731385"/>
            <a:chOff x="9790" y="2666"/>
            <a:chExt cx="8340" cy="7451"/>
          </a:xfrm>
        </p:grpSpPr>
        <p:grpSp>
          <p:nvGrpSpPr>
            <p:cNvPr id="45" name="组合 44"/>
            <p:cNvGrpSpPr/>
            <p:nvPr/>
          </p:nvGrpSpPr>
          <p:grpSpPr>
            <a:xfrm>
              <a:off x="9790" y="2666"/>
              <a:ext cx="8340" cy="7451"/>
              <a:chOff x="9800" y="2100"/>
              <a:chExt cx="8340" cy="3308"/>
            </a:xfrm>
          </p:grpSpPr>
          <p:sp>
            <p:nvSpPr>
              <p:cNvPr id="30" name="标题 1"/>
              <p:cNvSpPr txBox="1"/>
              <p:nvPr/>
            </p:nvSpPr>
            <p:spPr>
              <a:xfrm>
                <a:off x="11343" y="2100"/>
                <a:ext cx="6797" cy="3308"/>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31" name="标题 1"/>
              <p:cNvSpPr txBox="1"/>
              <p:nvPr/>
            </p:nvSpPr>
            <p:spPr>
              <a:xfrm>
                <a:off x="9800" y="2100"/>
                <a:ext cx="2557" cy="3308"/>
              </a:xfrm>
              <a:prstGeom prst="rightArrowCallout">
                <a:avLst>
                  <a:gd name="adj1" fmla="val 33080"/>
                  <a:gd name="adj2" fmla="val 32744"/>
                  <a:gd name="adj3" fmla="val 32407"/>
                  <a:gd name="adj4" fmla="val 64342"/>
                </a:avLst>
              </a:prstGeom>
              <a:solidFill>
                <a:srgbClr val="3B5085"/>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32" name="标题 1"/>
              <p:cNvSpPr txBox="1"/>
              <p:nvPr/>
            </p:nvSpPr>
            <p:spPr>
              <a:xfrm>
                <a:off x="10059" y="3378"/>
                <a:ext cx="1095" cy="751"/>
              </a:xfrm>
              <a:prstGeom prst="rect">
                <a:avLst/>
              </a:prstGeom>
              <a:noFill/>
              <a:ln cap="sq">
                <a:noFill/>
              </a:ln>
            </p:spPr>
            <p:txBody>
              <a:bodyPr vert="horz" wrap="square" lIns="0" tIns="0" rIns="0" bIns="0" rtlCol="0" anchor="ctr"/>
              <a:lstStyle/>
              <a:p>
                <a:pPr algn="ctr">
                  <a:lnSpc>
                    <a:spcPct val="130000"/>
                  </a:lnSpc>
                </a:pPr>
                <a:r>
                  <a:rPr kumimoji="1" lang="zh-CN" altLang="en-US" sz="3600">
                    <a:ln w="15875">
                      <a:solidFill>
                        <a:srgbClr val="FFFFFF">
                          <a:alpha val="100000"/>
                        </a:srgbClr>
                      </a:solidFill>
                    </a:ln>
                    <a:solidFill>
                      <a:srgbClr val="7B4A3A">
                        <a:alpha val="100000"/>
                      </a:srgbClr>
                    </a:solidFill>
                    <a:latin typeface="OPPOSans B" panose="00020600040101010101"/>
                    <a:ea typeface="OPPOSans B" panose="00020600040101010101"/>
                    <a:cs typeface="OPPOSans B" panose="00020600040101010101"/>
                  </a:rPr>
                  <a:t>数据传输策略</a:t>
                </a:r>
              </a:p>
            </p:txBody>
          </p:sp>
        </p:grpSp>
        <p:grpSp>
          <p:nvGrpSpPr>
            <p:cNvPr id="74" name="组合 73"/>
            <p:cNvGrpSpPr/>
            <p:nvPr/>
          </p:nvGrpSpPr>
          <p:grpSpPr>
            <a:xfrm>
              <a:off x="12433" y="2795"/>
              <a:ext cx="5558" cy="2203"/>
              <a:chOff x="3282" y="2795"/>
              <a:chExt cx="5558" cy="2203"/>
            </a:xfrm>
          </p:grpSpPr>
          <p:sp>
            <p:nvSpPr>
              <p:cNvPr id="75" name="标题 1"/>
              <p:cNvSpPr txBox="1"/>
              <p:nvPr/>
            </p:nvSpPr>
            <p:spPr>
              <a:xfrm>
                <a:off x="3282" y="3429"/>
                <a:ext cx="5558" cy="1569"/>
              </a:xfrm>
              <a:prstGeom prst="rect">
                <a:avLst/>
              </a:prstGeom>
              <a:noFill/>
              <a:ln cap="sq">
                <a:noFill/>
              </a:ln>
            </p:spPr>
            <p:txBody>
              <a:bodyPr vert="horz" wrap="square" lIns="0" tIns="0" rIns="0" bIns="0" rtlCol="0" anchor="t"/>
              <a:lstStyle/>
              <a:p>
                <a:pPr algn="l">
                  <a:lnSpc>
                    <a:spcPct val="150000"/>
                  </a:lnSpc>
                </a:pPr>
                <a:r>
                  <a:rPr kumimoji="1" lang="en-US" altLang="zh-CN" sz="1400" dirty="0">
                    <a:ln w="12700">
                      <a:noFill/>
                    </a:ln>
                    <a:solidFill>
                      <a:srgbClr val="262626">
                        <a:alpha val="100000"/>
                      </a:srgbClr>
                    </a:solidFill>
                    <a:latin typeface="+mn-ea"/>
                    <a:cs typeface="黑体" panose="02010609060101010101" charset="-122"/>
                    <a:sym typeface="+mn-ea"/>
                  </a:rPr>
                  <a:t>每小时定时传输一次数据，减少通信频率，降低功耗</a:t>
                </a:r>
                <a:r>
                  <a:rPr kumimoji="1" lang="zh-CN" altLang="en-US" sz="1400" dirty="0">
                    <a:ln w="12700">
                      <a:noFill/>
                    </a:ln>
                    <a:solidFill>
                      <a:srgbClr val="262626">
                        <a:alpha val="100000"/>
                      </a:srgbClr>
                    </a:solidFill>
                    <a:latin typeface="+mn-ea"/>
                    <a:cs typeface="黑体" panose="02010609060101010101" charset="-122"/>
                    <a:sym typeface="+mn-ea"/>
                  </a:rPr>
                  <a:t>；</a:t>
                </a:r>
                <a:r>
                  <a:rPr kumimoji="1" lang="en-US" altLang="zh-CN" sz="1400" dirty="0">
                    <a:ln w="12700">
                      <a:noFill/>
                    </a:ln>
                    <a:solidFill>
                      <a:srgbClr val="262626">
                        <a:alpha val="100000"/>
                      </a:srgbClr>
                    </a:solidFill>
                    <a:latin typeface="+mn-ea"/>
                    <a:cs typeface="黑体" panose="02010609060101010101" charset="-122"/>
                    <a:sym typeface="+mn-ea"/>
                  </a:rPr>
                  <a:t>定时传输可保障数据的周期性获取，满足监测需求。</a:t>
                </a:r>
                <a:endParaRPr kumimoji="1" lang="zh-CN" altLang="en-US" sz="1400" dirty="0">
                  <a:latin typeface="+mn-ea"/>
                  <a:cs typeface="黑体" panose="02010609060101010101" charset="-122"/>
                </a:endParaRPr>
              </a:p>
            </p:txBody>
          </p:sp>
          <p:sp>
            <p:nvSpPr>
              <p:cNvPr id="76" name="标题 1"/>
              <p:cNvSpPr txBox="1"/>
              <p:nvPr/>
            </p:nvSpPr>
            <p:spPr>
              <a:xfrm>
                <a:off x="3282" y="2795"/>
                <a:ext cx="5558" cy="634"/>
              </a:xfrm>
              <a:prstGeom prst="rect">
                <a:avLst/>
              </a:prstGeom>
              <a:noFill/>
              <a:ln cap="sq">
                <a:noFill/>
              </a:ln>
            </p:spPr>
            <p:txBody>
              <a:bodyPr vert="horz" wrap="square" lIns="0" tIns="0" rIns="0" bIns="0" rtlCol="0" anchor="b"/>
              <a:lstStyle/>
              <a:p>
                <a:pPr algn="l">
                  <a:lnSpc>
                    <a:spcPct val="130000"/>
                  </a:lnSpc>
                </a:pPr>
                <a:r>
                  <a:rPr kumimoji="1" lang="zh-CN" altLang="en-US" sz="1600" b="1" dirty="0">
                    <a:ln w="12700">
                      <a:noFill/>
                    </a:ln>
                    <a:solidFill>
                      <a:srgbClr val="7B4A3A">
                        <a:alpha val="100000"/>
                      </a:srgbClr>
                    </a:solidFill>
                    <a:latin typeface="+mn-ea"/>
                  </a:rPr>
                  <a:t>定时传输</a:t>
                </a:r>
              </a:p>
            </p:txBody>
          </p:sp>
        </p:grpSp>
        <p:grpSp>
          <p:nvGrpSpPr>
            <p:cNvPr id="77" name="组合 76"/>
            <p:cNvGrpSpPr/>
            <p:nvPr/>
          </p:nvGrpSpPr>
          <p:grpSpPr>
            <a:xfrm>
              <a:off x="12433" y="5152"/>
              <a:ext cx="5558" cy="2542"/>
              <a:chOff x="3282" y="2738"/>
              <a:chExt cx="5558" cy="2542"/>
            </a:xfrm>
          </p:grpSpPr>
          <p:sp>
            <p:nvSpPr>
              <p:cNvPr id="78" name="标题 1"/>
              <p:cNvSpPr txBox="1"/>
              <p:nvPr/>
            </p:nvSpPr>
            <p:spPr>
              <a:xfrm>
                <a:off x="3282" y="3429"/>
                <a:ext cx="5558" cy="1851"/>
              </a:xfrm>
              <a:prstGeom prst="rect">
                <a:avLst/>
              </a:prstGeom>
              <a:noFill/>
              <a:ln cap="sq">
                <a:noFill/>
              </a:ln>
            </p:spPr>
            <p:txBody>
              <a:bodyPr vert="horz" wrap="square" lIns="0" tIns="0" rIns="0" bIns="0" rtlCol="0" anchor="t"/>
              <a:lstStyle/>
              <a:p>
                <a:pPr algn="l">
                  <a:lnSpc>
                    <a:spcPct val="150000"/>
                  </a:lnSpc>
                </a:pPr>
                <a:r>
                  <a:rPr kumimoji="1" lang="zh-CN" altLang="en-US" sz="1400" dirty="0">
                    <a:ln w="12700">
                      <a:noFill/>
                    </a:ln>
                    <a:solidFill>
                      <a:srgbClr val="262626">
                        <a:alpha val="100000"/>
                      </a:srgbClr>
                    </a:solidFill>
                    <a:latin typeface="+mn-ea"/>
                    <a:cs typeface="黑体" panose="02010609060101010101" charset="-122"/>
                    <a:sym typeface="+mn-ea"/>
                  </a:rPr>
                  <a:t>当监测数据异常时，实时触发传输，及时反馈问题；异常触发机制可快速响应突发情况，提高系统可靠性。</a:t>
                </a:r>
                <a:endParaRPr kumimoji="1" lang="zh-CN" altLang="en-US" sz="1400" dirty="0">
                  <a:ln w="12700">
                    <a:noFill/>
                  </a:ln>
                  <a:solidFill>
                    <a:srgbClr val="262626">
                      <a:alpha val="100000"/>
                    </a:srgbClr>
                  </a:solidFill>
                  <a:latin typeface="+mn-ea"/>
                  <a:cs typeface="黑体" panose="02010609060101010101" charset="-122"/>
                </a:endParaRPr>
              </a:p>
              <a:p>
                <a:pPr algn="l">
                  <a:lnSpc>
                    <a:spcPct val="150000"/>
                  </a:lnSpc>
                </a:pPr>
                <a:endParaRPr kumimoji="1" lang="en-US" altLang="zh-CN" sz="1400" dirty="0">
                  <a:ln w="12700">
                    <a:noFill/>
                  </a:ln>
                  <a:solidFill>
                    <a:srgbClr val="262626">
                      <a:alpha val="100000"/>
                    </a:srgbClr>
                  </a:solidFill>
                  <a:latin typeface="黑体" panose="02010609060101010101" charset="-122"/>
                  <a:ea typeface="黑体" panose="02010609060101010101" charset="-122"/>
                  <a:cs typeface="黑体" panose="02010609060101010101" charset="-122"/>
                </a:endParaRPr>
              </a:p>
            </p:txBody>
          </p:sp>
          <p:sp>
            <p:nvSpPr>
              <p:cNvPr id="79" name="标题 1"/>
              <p:cNvSpPr txBox="1"/>
              <p:nvPr/>
            </p:nvSpPr>
            <p:spPr>
              <a:xfrm>
                <a:off x="3282" y="2738"/>
                <a:ext cx="5558" cy="634"/>
              </a:xfrm>
              <a:prstGeom prst="rect">
                <a:avLst/>
              </a:prstGeom>
              <a:noFill/>
              <a:ln cap="sq">
                <a:noFill/>
              </a:ln>
            </p:spPr>
            <p:txBody>
              <a:bodyPr vert="horz" wrap="square" lIns="0" tIns="0" rIns="0" bIns="0" rtlCol="0" anchor="b"/>
              <a:lstStyle/>
              <a:p>
                <a:pPr>
                  <a:lnSpc>
                    <a:spcPct val="130000"/>
                  </a:lnSpc>
                </a:pPr>
                <a:r>
                  <a:rPr kumimoji="1" lang="zh-CN" altLang="en-US" sz="1600" b="1" dirty="0">
                    <a:ln w="12700">
                      <a:noFill/>
                    </a:ln>
                    <a:solidFill>
                      <a:srgbClr val="7B4A3A">
                        <a:alpha val="100000"/>
                      </a:srgbClr>
                    </a:solidFill>
                    <a:latin typeface="+mn-ea"/>
                  </a:rPr>
                  <a:t>异常触发</a:t>
                </a:r>
              </a:p>
            </p:txBody>
          </p:sp>
        </p:grpSp>
        <p:grpSp>
          <p:nvGrpSpPr>
            <p:cNvPr id="80" name="组合 79"/>
            <p:cNvGrpSpPr/>
            <p:nvPr/>
          </p:nvGrpSpPr>
          <p:grpSpPr>
            <a:xfrm>
              <a:off x="12433" y="7449"/>
              <a:ext cx="5558" cy="2245"/>
              <a:chOff x="3282" y="2633"/>
              <a:chExt cx="5558" cy="2245"/>
            </a:xfrm>
          </p:grpSpPr>
          <p:sp>
            <p:nvSpPr>
              <p:cNvPr id="81" name="标题 1"/>
              <p:cNvSpPr txBox="1"/>
              <p:nvPr/>
            </p:nvSpPr>
            <p:spPr>
              <a:xfrm>
                <a:off x="3282" y="3309"/>
                <a:ext cx="5558" cy="1569"/>
              </a:xfrm>
              <a:prstGeom prst="rect">
                <a:avLst/>
              </a:prstGeom>
              <a:noFill/>
              <a:ln cap="sq">
                <a:noFill/>
              </a:ln>
            </p:spPr>
            <p:txBody>
              <a:bodyPr vert="horz" wrap="square" lIns="0" tIns="0" rIns="0" bIns="0" rtlCol="0" anchor="t"/>
              <a:lstStyle/>
              <a:p>
                <a:pPr algn="l">
                  <a:lnSpc>
                    <a:spcPct val="150000"/>
                  </a:lnSpc>
                </a:pPr>
                <a:r>
                  <a:rPr kumimoji="1" lang="en-US" altLang="zh-CN" sz="1400" dirty="0">
                    <a:ln w="12700">
                      <a:noFill/>
                    </a:ln>
                    <a:solidFill>
                      <a:srgbClr val="262626">
                        <a:alpha val="100000"/>
                      </a:srgbClr>
                    </a:solidFill>
                    <a:latin typeface="+mn-ea"/>
                    <a:cs typeface="黑体" panose="02010609060101010101" charset="-122"/>
                    <a:sym typeface="+mn-ea"/>
                  </a:rPr>
                  <a:t>北斗卫星模块用于心跳包和应急数据传输，保障数据完整性</a:t>
                </a:r>
                <a:r>
                  <a:rPr kumimoji="1" lang="zh-CN" altLang="en-US" sz="1400" dirty="0">
                    <a:ln w="12700">
                      <a:noFill/>
                    </a:ln>
                    <a:solidFill>
                      <a:srgbClr val="262626">
                        <a:alpha val="100000"/>
                      </a:srgbClr>
                    </a:solidFill>
                    <a:latin typeface="+mn-ea"/>
                    <a:cs typeface="黑体" panose="02010609060101010101" charset="-122"/>
                    <a:sym typeface="+mn-ea"/>
                  </a:rPr>
                  <a:t>；</a:t>
                </a:r>
                <a:r>
                  <a:rPr kumimoji="1" lang="en-US" altLang="zh-CN" sz="1400" dirty="0">
                    <a:ln w="12700">
                      <a:noFill/>
                    </a:ln>
                    <a:solidFill>
                      <a:srgbClr val="262626">
                        <a:alpha val="100000"/>
                      </a:srgbClr>
                    </a:solidFill>
                    <a:latin typeface="+mn-ea"/>
                    <a:cs typeface="黑体" panose="02010609060101010101" charset="-122"/>
                    <a:sym typeface="+mn-ea"/>
                  </a:rPr>
                  <a:t>卫星备份可在主通信链路故障时，确保关键数据传输。</a:t>
                </a:r>
                <a:endParaRPr kumimoji="1" lang="zh-CN" altLang="en-US" sz="1400" dirty="0">
                  <a:latin typeface="+mn-ea"/>
                </a:endParaRPr>
              </a:p>
              <a:p>
                <a:pPr algn="l">
                  <a:lnSpc>
                    <a:spcPct val="150000"/>
                  </a:lnSpc>
                </a:pPr>
                <a:endParaRPr kumimoji="1" lang="zh-CN" altLang="en-US" sz="1400" dirty="0">
                  <a:latin typeface="黑体" panose="02010609060101010101" charset="-122"/>
                  <a:ea typeface="黑体" panose="02010609060101010101" charset="-122"/>
                  <a:cs typeface="黑体" panose="02010609060101010101" charset="-122"/>
                </a:endParaRPr>
              </a:p>
            </p:txBody>
          </p:sp>
          <p:sp>
            <p:nvSpPr>
              <p:cNvPr id="82" name="标题 1"/>
              <p:cNvSpPr txBox="1"/>
              <p:nvPr/>
            </p:nvSpPr>
            <p:spPr>
              <a:xfrm>
                <a:off x="3282" y="2633"/>
                <a:ext cx="5558" cy="634"/>
              </a:xfrm>
              <a:prstGeom prst="rect">
                <a:avLst/>
              </a:prstGeom>
              <a:noFill/>
              <a:ln cap="sq">
                <a:noFill/>
              </a:ln>
            </p:spPr>
            <p:txBody>
              <a:bodyPr vert="horz" wrap="square" lIns="0" tIns="0" rIns="0" bIns="0" rtlCol="0" anchor="b"/>
              <a:lstStyle/>
              <a:p>
                <a:pPr>
                  <a:lnSpc>
                    <a:spcPct val="130000"/>
                  </a:lnSpc>
                </a:pPr>
                <a:r>
                  <a:rPr kumimoji="1" lang="zh-CN" altLang="en-US" sz="1600" b="1" dirty="0">
                    <a:ln w="12700">
                      <a:noFill/>
                    </a:ln>
                    <a:solidFill>
                      <a:srgbClr val="7B4A3A">
                        <a:alpha val="100000"/>
                      </a:srgbClr>
                    </a:solidFill>
                    <a:latin typeface="+mn-ea"/>
                  </a:rPr>
                  <a:t>卫星备份</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p:tgtEl>
                                          <p:spTgt spid="84"/>
                                        </p:tgtEl>
                                        <p:attrNameLst>
                                          <p:attrName>ppt_y</p:attrName>
                                        </p:attrNameLst>
                                      </p:cBhvr>
                                      <p:tavLst>
                                        <p:tav tm="0">
                                          <p:val>
                                            <p:strVal val="#ppt_y+#ppt_h*1.125000"/>
                                          </p:val>
                                        </p:tav>
                                        <p:tav tm="100000">
                                          <p:val>
                                            <p:strVal val="#ppt_y"/>
                                          </p:val>
                                        </p:tav>
                                      </p:tavLst>
                                    </p:anim>
                                    <p:animEffect transition="in" filter="wipe(up)">
                                      <p:cBhvr>
                                        <p:cTn id="8" dur="500"/>
                                        <p:tgtEl>
                                          <p:spTgt spid="84"/>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85"/>
                                        </p:tgtEl>
                                        <p:attrNameLst>
                                          <p:attrName>style.visibility</p:attrName>
                                        </p:attrNameLst>
                                      </p:cBhvr>
                                      <p:to>
                                        <p:strVal val="visible"/>
                                      </p:to>
                                    </p:set>
                                    <p:anim calcmode="lin" valueType="num">
                                      <p:cBhvr additive="base">
                                        <p:cTn id="13" dur="500"/>
                                        <p:tgtEl>
                                          <p:spTgt spid="85"/>
                                        </p:tgtEl>
                                        <p:attrNameLst>
                                          <p:attrName>ppt_y</p:attrName>
                                        </p:attrNameLst>
                                      </p:cBhvr>
                                      <p:tavLst>
                                        <p:tav tm="0">
                                          <p:val>
                                            <p:strVal val="#ppt_y+#ppt_h*1.125000"/>
                                          </p:val>
                                        </p:tav>
                                        <p:tav tm="100000">
                                          <p:val>
                                            <p:strVal val="#ppt_y"/>
                                          </p:val>
                                        </p:tav>
                                      </p:tavLst>
                                    </p:anim>
                                    <p:animEffect transition="in" filter="wipe(up)">
                                      <p:cBhvr>
                                        <p:cTn id="14"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422900" y="1457325"/>
            <a:ext cx="1231265" cy="1231265"/>
            <a:chOff x="5344817" y="1856972"/>
            <a:chExt cx="1231411" cy="1231410"/>
          </a:xfrm>
        </p:grpSpPr>
        <p:sp>
          <p:nvSpPr>
            <p:cNvPr id="4" name="标题 1"/>
            <p:cNvSpPr txBox="1"/>
            <p:nvPr/>
          </p:nvSpPr>
          <p:spPr>
            <a:xfrm rot="19260000">
              <a:off x="5344817" y="1856972"/>
              <a:ext cx="1231411" cy="1231410"/>
            </a:xfrm>
            <a:prstGeom prst="arc">
              <a:avLst>
                <a:gd name="adj1" fmla="val 16200000"/>
                <a:gd name="adj2" fmla="val 20799759"/>
              </a:avLst>
            </a:prstGeom>
            <a:noFill/>
            <a:ln w="63500" cap="rnd">
              <a:gradFill>
                <a:gsLst>
                  <a:gs pos="0">
                    <a:schemeClr val="accent2">
                      <a:lumMod val="90000"/>
                    </a:schemeClr>
                  </a:gs>
                  <a:gs pos="100000">
                    <a:schemeClr val="accent1"/>
                  </a:gs>
                </a:gsLst>
                <a:lin ang="5400000" scaled="0"/>
              </a:gra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18960000" flipV="1">
              <a:off x="6296304" y="1970758"/>
              <a:ext cx="185841" cy="147905"/>
            </a:xfrm>
            <a:prstGeom prst="triangl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nvGrpSpPr>
          <p:cNvPr id="6" name="组合 5"/>
          <p:cNvGrpSpPr/>
          <p:nvPr/>
        </p:nvGrpSpPr>
        <p:grpSpPr>
          <a:xfrm>
            <a:off x="3954780" y="2446020"/>
            <a:ext cx="1731010" cy="1731010"/>
            <a:chOff x="3876559" y="2845494"/>
            <a:chExt cx="1731307" cy="1731307"/>
          </a:xfrm>
        </p:grpSpPr>
        <p:sp>
          <p:nvSpPr>
            <p:cNvPr id="2" name="标题 1"/>
            <p:cNvSpPr txBox="1"/>
            <p:nvPr/>
          </p:nvSpPr>
          <p:spPr>
            <a:xfrm rot="2328287" flipV="1">
              <a:off x="4126507" y="3095443"/>
              <a:ext cx="1231411" cy="1231410"/>
            </a:xfrm>
            <a:prstGeom prst="arc">
              <a:avLst>
                <a:gd name="adj1" fmla="val 16200000"/>
                <a:gd name="adj2" fmla="val 20799759"/>
              </a:avLst>
            </a:prstGeom>
            <a:noFill/>
            <a:ln w="63500" cap="rnd">
              <a:solidFill>
                <a:schemeClr val="accent2">
                  <a:lumMod val="9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rot="3007300">
              <a:off x="5077993" y="4085529"/>
              <a:ext cx="185841" cy="147905"/>
            </a:xfrm>
            <a:prstGeom prst="triangle">
              <a:avLst/>
            </a:prstGeom>
            <a:solidFill>
              <a:schemeClr val="accent2">
                <a:lumMod val="9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nvGrpSpPr>
          <p:cNvPr id="49" name="组合 48"/>
          <p:cNvGrpSpPr/>
          <p:nvPr/>
        </p:nvGrpSpPr>
        <p:grpSpPr>
          <a:xfrm>
            <a:off x="436880" y="1898015"/>
            <a:ext cx="3134360" cy="1600835"/>
            <a:chOff x="688" y="2989"/>
            <a:chExt cx="4936" cy="2521"/>
          </a:xfrm>
        </p:grpSpPr>
        <p:sp>
          <p:nvSpPr>
            <p:cNvPr id="13" name="标题 1"/>
            <p:cNvSpPr txBox="1"/>
            <p:nvPr/>
          </p:nvSpPr>
          <p:spPr>
            <a:xfrm>
              <a:off x="688" y="2989"/>
              <a:ext cx="4744" cy="838"/>
            </a:xfrm>
            <a:prstGeom prst="rect">
              <a:avLst/>
            </a:prstGeom>
            <a:noFill/>
            <a:ln>
              <a:noFill/>
            </a:ln>
          </p:spPr>
          <p:txBody>
            <a:bodyPr vert="horz" wrap="square" lIns="0" tIns="0" rIns="0" bIns="0" rtlCol="0" anchor="b"/>
            <a:lstStyle/>
            <a:p>
              <a:pPr algn="r">
                <a:lnSpc>
                  <a:spcPct val="110000"/>
                </a:lnSpc>
              </a:pPr>
              <a:r>
                <a:rPr kumimoji="1" lang="zh-CN" altLang="en-US" sz="2400" b="1" dirty="0">
                  <a:ln w="12700">
                    <a:noFill/>
                  </a:ln>
                  <a:solidFill>
                    <a:srgbClr val="3B5085">
                      <a:alpha val="100000"/>
                    </a:srgbClr>
                  </a:solidFill>
                  <a:latin typeface="+mn-ea"/>
                  <a:cs typeface="思源黑体 CN Bold" panose="020B0800000000000000" charset="-122"/>
                </a:rPr>
                <a:t>抗干扰</a:t>
              </a:r>
            </a:p>
          </p:txBody>
        </p:sp>
        <p:sp>
          <p:nvSpPr>
            <p:cNvPr id="14" name="标题 1"/>
            <p:cNvSpPr txBox="1"/>
            <p:nvPr/>
          </p:nvSpPr>
          <p:spPr>
            <a:xfrm>
              <a:off x="1372" y="3962"/>
              <a:ext cx="4252" cy="1549"/>
            </a:xfrm>
            <a:prstGeom prst="rect">
              <a:avLst/>
            </a:prstGeom>
            <a:noFill/>
            <a:ln>
              <a:noFill/>
            </a:ln>
          </p:spPr>
          <p:txBody>
            <a:bodyPr vert="horz" wrap="square" lIns="0" tIns="0" rIns="0" bIns="0" rtlCol="0" anchor="t"/>
            <a:lstStyle/>
            <a:p>
              <a:pPr algn="l">
                <a:lnSpc>
                  <a:spcPct val="150000"/>
                </a:lnSpc>
              </a:pPr>
              <a:r>
                <a:rPr lang="zh-CN" altLang="en-US" b="1" kern="1300" dirty="0">
                  <a:uFillTx/>
                  <a:latin typeface="+mn-ea"/>
                  <a:cs typeface="黑体" panose="02010609060101010101" charset="-122"/>
                </a:rPr>
                <a:t>频率跳变：</a:t>
              </a:r>
              <a:endParaRPr lang="zh-CN" altLang="en-US" kern="1300" dirty="0">
                <a:uFillTx/>
                <a:latin typeface="+mn-ea"/>
                <a:cs typeface="黑体" panose="02010609060101010101" charset="-122"/>
              </a:endParaRPr>
            </a:p>
            <a:p>
              <a:pPr algn="l">
                <a:lnSpc>
                  <a:spcPct val="150000"/>
                </a:lnSpc>
              </a:pPr>
              <a:r>
                <a:rPr lang="zh-CN" altLang="en-US" sz="1600" kern="1300" dirty="0">
                  <a:uFillTx/>
                  <a:latin typeface="+mn-ea"/>
                  <a:sym typeface="+mn-ea"/>
                </a:rPr>
                <a:t>采用频率跳变技术，避免电磁干扰，确保信号稳定传输。</a:t>
              </a:r>
            </a:p>
            <a:p>
              <a:pPr algn="l">
                <a:lnSpc>
                  <a:spcPct val="150000"/>
                </a:lnSpc>
              </a:pPr>
              <a:endParaRPr lang="zh-CN" altLang="en-US" sz="1600" kern="1300" dirty="0">
                <a:uFillTx/>
                <a:latin typeface="黑体" panose="02010609060101010101" charset="-122"/>
                <a:ea typeface="黑体" panose="02010609060101010101" charset="-122"/>
                <a:sym typeface="+mn-ea"/>
              </a:endParaRPr>
            </a:p>
            <a:p>
              <a:pPr algn="l">
                <a:lnSpc>
                  <a:spcPct val="150000"/>
                </a:lnSpc>
              </a:pPr>
              <a:r>
                <a:rPr lang="zh-CN" altLang="en-US" sz="1800" b="1" kern="1300" dirty="0">
                  <a:uFillTx/>
                  <a:latin typeface="+mn-ea"/>
                  <a:cs typeface="黑体" panose="02010609060101010101" charset="-122"/>
                  <a:sym typeface="+mn-ea"/>
                </a:rPr>
                <a:t>向前纠错编码：</a:t>
              </a:r>
            </a:p>
            <a:p>
              <a:pPr algn="l">
                <a:lnSpc>
                  <a:spcPct val="150000"/>
                </a:lnSpc>
              </a:pPr>
              <a:r>
                <a:rPr lang="zh-CN" altLang="en-US" sz="1600" kern="1300" dirty="0">
                  <a:uFillTx/>
                  <a:latin typeface="+mn-ea"/>
                  <a:sym typeface="+mn-ea"/>
                </a:rPr>
                <a:t>使用前向纠错编码，增强数据抗干扰能力，保障数据完整性。</a:t>
              </a:r>
              <a:endParaRPr lang="zh-CN" altLang="en-US" sz="1600" kern="1300" dirty="0">
                <a:uFillTx/>
                <a:latin typeface="+mn-ea"/>
              </a:endParaRPr>
            </a:p>
          </p:txBody>
        </p:sp>
      </p:grpSp>
      <p:sp>
        <p:nvSpPr>
          <p:cNvPr id="16" name="标题 1"/>
          <p:cNvSpPr txBox="1"/>
          <p:nvPr/>
        </p:nvSpPr>
        <p:spPr>
          <a:xfrm rot="16200000">
            <a:off x="8580120" y="2214245"/>
            <a:ext cx="155575" cy="134620"/>
          </a:xfrm>
          <a:prstGeom prst="triangle">
            <a:avLst/>
          </a:prstGeom>
          <a:solidFill>
            <a:srgbClr val="3B5085"/>
          </a:solidFill>
          <a:ln w="12700" cap="sq">
            <a:solidFill>
              <a:srgbClr val="3B5085"/>
            </a:solid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rot="5400000" flipH="1">
            <a:off x="3560445" y="2214245"/>
            <a:ext cx="155575" cy="134620"/>
          </a:xfrm>
          <a:prstGeom prst="triangle">
            <a:avLst/>
          </a:prstGeom>
          <a:solidFill>
            <a:srgbClr val="3B5085"/>
          </a:solidFill>
          <a:ln w="12700" cap="sq">
            <a:solidFill>
              <a:srgbClr val="3B5085"/>
            </a:solid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rot="7200000" flipH="1">
            <a:off x="6089650" y="3936365"/>
            <a:ext cx="155575" cy="134620"/>
          </a:xfrm>
          <a:prstGeom prst="triangle">
            <a:avLst/>
          </a:prstGeom>
          <a:solidFill>
            <a:srgbClr val="3B5085"/>
          </a:solidFill>
          <a:ln w="12700" cap="sq">
            <a:solidFill>
              <a:srgbClr val="3B5085"/>
            </a:solidFill>
            <a:miter/>
          </a:ln>
        </p:spPr>
        <p:txBody>
          <a:bodyPr vert="horz" wrap="square" lIns="91440" tIns="45720" rIns="91440" bIns="45720" rtlCol="0" anchor="ctr"/>
          <a:lstStyle/>
          <a:p>
            <a:pPr algn="ctr">
              <a:lnSpc>
                <a:spcPct val="110000"/>
              </a:lnSpc>
            </a:pPr>
            <a:endParaRPr kumimoji="1" lang="zh-CN" altLang="en-US"/>
          </a:p>
        </p:txBody>
      </p:sp>
      <p:grpSp>
        <p:nvGrpSpPr>
          <p:cNvPr id="22" name="组合 21"/>
          <p:cNvGrpSpPr/>
          <p:nvPr/>
        </p:nvGrpSpPr>
        <p:grpSpPr>
          <a:xfrm>
            <a:off x="3752215" y="1587500"/>
            <a:ext cx="4645025" cy="2150745"/>
            <a:chOff x="3649777" y="1975439"/>
            <a:chExt cx="4645154" cy="2150737"/>
          </a:xfrm>
        </p:grpSpPr>
        <p:sp>
          <p:nvSpPr>
            <p:cNvPr id="23" name="标题 1"/>
            <p:cNvSpPr txBox="1"/>
            <p:nvPr/>
          </p:nvSpPr>
          <p:spPr>
            <a:xfrm rot="18423172" flipH="1">
              <a:off x="3956611" y="2282273"/>
              <a:ext cx="1531752" cy="1531751"/>
            </a:xfrm>
            <a:prstGeom prst="arc">
              <a:avLst>
                <a:gd name="adj1" fmla="val 9798045"/>
                <a:gd name="adj2" fmla="val 5261848"/>
              </a:avLst>
            </a:prstGeom>
            <a:noFill/>
            <a:ln w="508000" cap="rnd">
              <a:solidFill>
                <a:srgbClr val="3B5085"/>
              </a:solid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rot="18423172" flipH="1">
              <a:off x="5206478" y="2282273"/>
              <a:ext cx="1531752" cy="1531751"/>
            </a:xfrm>
            <a:prstGeom prst="arc">
              <a:avLst>
                <a:gd name="adj1" fmla="val 9729398"/>
                <a:gd name="adj2" fmla="val 16268666"/>
              </a:avLst>
            </a:prstGeom>
            <a:noFill/>
            <a:ln w="508000" cap="rnd">
              <a:gradFill>
                <a:gsLst>
                  <a:gs pos="0">
                    <a:srgbClr val="3B5085"/>
                  </a:gs>
                  <a:gs pos="100000">
                    <a:schemeClr val="accent1">
                      <a:lumMod val="60000"/>
                      <a:lumOff val="40000"/>
                    </a:schemeClr>
                  </a:gs>
                </a:gsLst>
                <a:lin ang="5400000" scaled="1"/>
              </a:grad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rot="3176828" flipH="1" flipV="1">
              <a:off x="5206478" y="2287591"/>
              <a:ext cx="1531752" cy="1531751"/>
            </a:xfrm>
            <a:prstGeom prst="arc">
              <a:avLst>
                <a:gd name="adj1" fmla="val 9742101"/>
                <a:gd name="adj2" fmla="val 16258728"/>
              </a:avLst>
            </a:prstGeom>
            <a:noFill/>
            <a:ln w="508000" cap="rnd">
              <a:gradFill>
                <a:gsLst>
                  <a:gs pos="0">
                    <a:srgbClr val="3B5085"/>
                  </a:gs>
                  <a:gs pos="100000">
                    <a:schemeClr val="accent1">
                      <a:lumMod val="60000"/>
                      <a:lumOff val="40000"/>
                    </a:schemeClr>
                  </a:gs>
                </a:gsLst>
                <a:lin ang="5400000" scaled="1"/>
              </a:grad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rot="3176828">
              <a:off x="6456345" y="2282273"/>
              <a:ext cx="1531752" cy="1531751"/>
            </a:xfrm>
            <a:prstGeom prst="arc">
              <a:avLst>
                <a:gd name="adj1" fmla="val 9798045"/>
                <a:gd name="adj2" fmla="val 5480267"/>
              </a:avLst>
            </a:prstGeom>
            <a:noFill/>
            <a:ln w="508000" cap="rnd">
              <a:gradFill>
                <a:gsLst>
                  <a:gs pos="0">
                    <a:schemeClr val="accent1">
                      <a:lumMod val="60000"/>
                      <a:lumOff val="40000"/>
                    </a:schemeClr>
                  </a:gs>
                  <a:gs pos="100000">
                    <a:schemeClr val="accent1"/>
                  </a:gs>
                </a:gsLst>
                <a:lin ang="5400000" scaled="0"/>
              </a:gradFill>
              <a:miter/>
            </a:ln>
          </p:spPr>
          <p:txBody>
            <a:bodyPr vert="horz" wrap="square" lIns="91440" tIns="45720" rIns="91440" bIns="45720" rtlCol="0" anchor="ctr"/>
            <a:lstStyle/>
            <a:p>
              <a:pPr algn="ctr">
                <a:lnSpc>
                  <a:spcPct val="110000"/>
                </a:lnSpc>
              </a:pPr>
              <a:endParaRPr kumimoji="1" lang="zh-CN" altLang="en-US"/>
            </a:p>
          </p:txBody>
        </p:sp>
      </p:grpSp>
      <p:sp>
        <p:nvSpPr>
          <p:cNvPr id="27" name="标题 1"/>
          <p:cNvSpPr txBox="1"/>
          <p:nvPr/>
        </p:nvSpPr>
        <p:spPr>
          <a:xfrm>
            <a:off x="4501515" y="2364105"/>
            <a:ext cx="574675" cy="574675"/>
          </a:xfrm>
          <a:prstGeom prst="ellipse">
            <a:avLst/>
          </a:prstGeom>
          <a:solidFill>
            <a:schemeClr val="bg1"/>
          </a:solidFill>
          <a:ln w="12700" cap="sq">
            <a:noFill/>
            <a:miter/>
          </a:ln>
          <a:effectLst>
            <a:outerShdw blurRad="50800" dist="38100" dir="2700000" algn="tl" rotWithShape="0">
              <a:srgbClr val="000000">
                <a:alpha val="15000"/>
              </a:srgbClr>
            </a:outerShdw>
          </a:effectLst>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a:off x="5751830" y="2364105"/>
            <a:ext cx="574675" cy="574675"/>
          </a:xfrm>
          <a:prstGeom prst="ellipse">
            <a:avLst/>
          </a:prstGeom>
          <a:solidFill>
            <a:schemeClr val="bg1"/>
          </a:solidFill>
          <a:ln w="12700" cap="sq">
            <a:noFill/>
            <a:miter/>
          </a:ln>
          <a:effectLst>
            <a:outerShdw blurRad="50800" dist="38100" dir="2700000" algn="tl" rotWithShape="0">
              <a:srgbClr val="000000">
                <a:alpha val="15000"/>
              </a:srgbClr>
            </a:outerShdw>
          </a:effectLst>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a:off x="7010400" y="2364105"/>
            <a:ext cx="574675" cy="574675"/>
          </a:xfrm>
          <a:prstGeom prst="ellipse">
            <a:avLst/>
          </a:prstGeom>
          <a:solidFill>
            <a:schemeClr val="bg1"/>
          </a:solidFill>
          <a:ln w="12700" cap="sq">
            <a:noFill/>
            <a:miter/>
          </a:ln>
          <a:effectLst>
            <a:outerShdw blurRad="50800" dist="38100" dir="2700000" algn="tl" rotWithShape="0">
              <a:srgbClr val="000000">
                <a:alpha val="15000"/>
              </a:srgbClr>
            </a:outerShdw>
          </a:effectLst>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a:off x="4655820" y="2527935"/>
            <a:ext cx="299085" cy="247650"/>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rgbClr val="3B5085"/>
          </a:solidFill>
          <a:ln w="1860" cap="flat">
            <a:solidFill>
              <a:srgbClr val="3B5085"/>
            </a:solidFill>
            <a:miter/>
          </a:ln>
        </p:spPr>
        <p:txBody>
          <a:bodyPr vert="horz" wrap="square" lIns="91440" tIns="45720" rIns="91440" bIns="45720" rtlCol="0" anchor="ctr"/>
          <a:lstStyle/>
          <a:p>
            <a:pPr algn="l">
              <a:lnSpc>
                <a:spcPct val="110000"/>
              </a:lnSpc>
            </a:pPr>
            <a:endParaRPr kumimoji="1" lang="zh-CN" altLang="en-US"/>
          </a:p>
        </p:txBody>
      </p:sp>
      <p:sp>
        <p:nvSpPr>
          <p:cNvPr id="31" name="标题 1"/>
          <p:cNvSpPr txBox="1"/>
          <p:nvPr/>
        </p:nvSpPr>
        <p:spPr>
          <a:xfrm>
            <a:off x="5888990" y="2515870"/>
            <a:ext cx="299085" cy="271145"/>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gradFill>
            <a:gsLst>
              <a:gs pos="0">
                <a:schemeClr val="accent2">
                  <a:lumMod val="90000"/>
                </a:schemeClr>
              </a:gs>
              <a:gs pos="100000">
                <a:schemeClr val="accent1"/>
              </a:gs>
            </a:gsLst>
            <a:lin ang="0" scaled="0"/>
          </a:gra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32" name="标题 1"/>
          <p:cNvSpPr txBox="1"/>
          <p:nvPr/>
        </p:nvSpPr>
        <p:spPr>
          <a:xfrm>
            <a:off x="7147560" y="2501900"/>
            <a:ext cx="299085" cy="299085"/>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rgbClr val="3B5085"/>
          </a:solidFill>
          <a:ln w="1860" cap="flat">
            <a:solidFill>
              <a:srgbClr val="3B5085"/>
            </a:solidFill>
            <a:miter/>
          </a:ln>
        </p:spPr>
        <p:txBody>
          <a:bodyPr vert="horz" wrap="square" lIns="91440" tIns="45720" rIns="91440" bIns="45720" rtlCol="0" anchor="ctr"/>
          <a:lstStyle/>
          <a:p>
            <a:pPr algn="l">
              <a:lnSpc>
                <a:spcPct val="110000"/>
              </a:lnSpc>
            </a:pPr>
            <a:endParaRPr kumimoji="1" lang="zh-CN" altLang="en-US"/>
          </a:p>
        </p:txBody>
      </p:sp>
      <p:grpSp>
        <p:nvGrpSpPr>
          <p:cNvPr id="33" name="组合 32"/>
          <p:cNvGrpSpPr/>
          <p:nvPr/>
        </p:nvGrpSpPr>
        <p:grpSpPr>
          <a:xfrm>
            <a:off x="6448425" y="2446020"/>
            <a:ext cx="1731010" cy="1731010"/>
            <a:chOff x="6370209" y="2845494"/>
            <a:chExt cx="1731307" cy="1731307"/>
          </a:xfrm>
        </p:grpSpPr>
        <p:sp>
          <p:nvSpPr>
            <p:cNvPr id="34" name="标题 1"/>
            <p:cNvSpPr txBox="1"/>
            <p:nvPr/>
          </p:nvSpPr>
          <p:spPr>
            <a:xfrm rot="2328287" flipV="1">
              <a:off x="6620157" y="3095443"/>
              <a:ext cx="1231411" cy="1231410"/>
            </a:xfrm>
            <a:prstGeom prst="arc">
              <a:avLst>
                <a:gd name="adj1" fmla="val 16200000"/>
                <a:gd name="adj2" fmla="val 20799759"/>
              </a:avLst>
            </a:prstGeom>
            <a:noFill/>
            <a:ln w="63500" cap="rnd">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rot="3007300">
              <a:off x="7571644" y="4085529"/>
              <a:ext cx="185841" cy="147905"/>
            </a:xfrm>
            <a:prstGeom prst="triangl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nvGrpSpPr>
          <p:cNvPr id="50" name="组合 49"/>
          <p:cNvGrpSpPr/>
          <p:nvPr/>
        </p:nvGrpSpPr>
        <p:grpSpPr>
          <a:xfrm>
            <a:off x="8590915" y="1897380"/>
            <a:ext cx="3012440" cy="1587500"/>
            <a:chOff x="13529" y="2988"/>
            <a:chExt cx="4744" cy="2500"/>
          </a:xfrm>
        </p:grpSpPr>
        <p:sp>
          <p:nvSpPr>
            <p:cNvPr id="15" name="标题 1"/>
            <p:cNvSpPr txBox="1"/>
            <p:nvPr/>
          </p:nvSpPr>
          <p:spPr>
            <a:xfrm>
              <a:off x="14011" y="2988"/>
              <a:ext cx="4263" cy="838"/>
            </a:xfrm>
            <a:prstGeom prst="rect">
              <a:avLst/>
            </a:prstGeom>
            <a:noFill/>
            <a:ln>
              <a:noFill/>
            </a:ln>
          </p:spPr>
          <p:txBody>
            <a:bodyPr vert="horz" wrap="square" lIns="0" tIns="0" rIns="0" bIns="0" rtlCol="0" anchor="b"/>
            <a:lstStyle/>
            <a:p>
              <a:pPr algn="l">
                <a:lnSpc>
                  <a:spcPct val="110000"/>
                </a:lnSpc>
              </a:pPr>
              <a:r>
                <a:rPr kumimoji="1" lang="zh-CN" altLang="en-US" sz="2400" b="1" dirty="0">
                  <a:ln w="12700">
                    <a:noFill/>
                  </a:ln>
                  <a:solidFill>
                    <a:srgbClr val="3B5085">
                      <a:alpha val="100000"/>
                    </a:srgbClr>
                  </a:solidFill>
                  <a:latin typeface="+mn-ea"/>
                  <a:cs typeface="思源黑体 CN Bold" panose="020B0800000000000000" charset="-122"/>
                </a:rPr>
                <a:t>低功耗</a:t>
              </a:r>
            </a:p>
          </p:txBody>
        </p:sp>
        <p:sp>
          <p:nvSpPr>
            <p:cNvPr id="46" name="标题 1"/>
            <p:cNvSpPr txBox="1"/>
            <p:nvPr/>
          </p:nvSpPr>
          <p:spPr>
            <a:xfrm>
              <a:off x="13529" y="3940"/>
              <a:ext cx="4252" cy="1549"/>
            </a:xfrm>
            <a:prstGeom prst="rect">
              <a:avLst/>
            </a:prstGeom>
            <a:noFill/>
            <a:ln>
              <a:noFill/>
            </a:ln>
          </p:spPr>
          <p:txBody>
            <a:bodyPr vert="horz" wrap="square" lIns="0" tIns="0" rIns="0" bIns="0" rtlCol="0" anchor="t"/>
            <a:lstStyle/>
            <a:p>
              <a:pPr algn="l">
                <a:lnSpc>
                  <a:spcPct val="150000"/>
                </a:lnSpc>
              </a:pPr>
              <a:r>
                <a:rPr lang="zh-CN" altLang="en-US" b="1" kern="1300" dirty="0">
                  <a:uFillTx/>
                  <a:latin typeface="+mn-ea"/>
                  <a:cs typeface="黑体" panose="02010609060101010101" charset="-122"/>
                </a:rPr>
                <a:t>休眠模式：</a:t>
              </a:r>
              <a:endParaRPr lang="zh-CN" altLang="en-US" kern="1300" dirty="0">
                <a:uFillTx/>
                <a:latin typeface="+mn-ea"/>
                <a:cs typeface="黑体" panose="02010609060101010101" charset="-122"/>
              </a:endParaRPr>
            </a:p>
            <a:p>
              <a:pPr algn="l">
                <a:lnSpc>
                  <a:spcPct val="150000"/>
                </a:lnSpc>
              </a:pPr>
              <a:r>
                <a:rPr lang="zh-CN" altLang="en-US" sz="1600" kern="1300" dirty="0">
                  <a:uFillTx/>
                  <a:latin typeface="+mn-ea"/>
                  <a:sym typeface="+mn-ea"/>
                </a:rPr>
                <a:t>设备采用休眠模式，占空比小于1%，降低功耗。</a:t>
              </a:r>
            </a:p>
            <a:p>
              <a:pPr algn="l">
                <a:lnSpc>
                  <a:spcPct val="150000"/>
                </a:lnSpc>
              </a:pPr>
              <a:endParaRPr lang="zh-CN" altLang="en-US" sz="1600" kern="1300" dirty="0">
                <a:uFillTx/>
                <a:latin typeface="+mn-ea"/>
                <a:sym typeface="+mn-ea"/>
              </a:endParaRPr>
            </a:p>
            <a:p>
              <a:pPr algn="l">
                <a:lnSpc>
                  <a:spcPct val="150000"/>
                </a:lnSpc>
              </a:pPr>
              <a:r>
                <a:rPr lang="zh-CN" altLang="en-US" sz="1800" b="1" kern="1300" dirty="0">
                  <a:uFillTx/>
                  <a:latin typeface="+mn-ea"/>
                  <a:cs typeface="黑体" panose="02010609060101010101" charset="-122"/>
                  <a:sym typeface="+mn-ea"/>
                </a:rPr>
                <a:t>能源管理：</a:t>
              </a:r>
            </a:p>
            <a:p>
              <a:pPr algn="l">
                <a:lnSpc>
                  <a:spcPct val="150000"/>
                </a:lnSpc>
              </a:pPr>
              <a:r>
                <a:rPr lang="zh-CN" altLang="en-US" sz="1600" kern="1300" dirty="0">
                  <a:uFillTx/>
                  <a:latin typeface="+mn-ea"/>
                  <a:sym typeface="+mn-ea"/>
                </a:rPr>
                <a:t>配置太阳能板和超级电容，实现能源自给自足。</a:t>
              </a:r>
              <a:r>
                <a:rPr lang="zh-CN" altLang="en-US" sz="1600" kern="1300" dirty="0">
                  <a:uFillTx/>
                  <a:latin typeface="黑体" panose="02010609060101010101" charset="-122"/>
                  <a:ea typeface="黑体" panose="02010609060101010101" charset="-122"/>
                  <a:sym typeface="+mn-ea"/>
                </a:rPr>
                <a:t>
</a:t>
              </a:r>
              <a:endParaRPr lang="zh-CN" altLang="en-US" sz="1600" kern="1300" dirty="0">
                <a:uFillTx/>
                <a:latin typeface="黑体" panose="02010609060101010101" charset="-122"/>
                <a:ea typeface="黑体" panose="02010609060101010101" charset="-122"/>
              </a:endParaRPr>
            </a:p>
          </p:txBody>
        </p:sp>
      </p:grpSp>
      <p:grpSp>
        <p:nvGrpSpPr>
          <p:cNvPr id="51" name="组合 50"/>
          <p:cNvGrpSpPr/>
          <p:nvPr/>
        </p:nvGrpSpPr>
        <p:grpSpPr>
          <a:xfrm>
            <a:off x="4329430" y="3878580"/>
            <a:ext cx="3849370" cy="1389380"/>
            <a:chOff x="6818" y="6108"/>
            <a:chExt cx="6062" cy="2188"/>
          </a:xfrm>
        </p:grpSpPr>
        <p:sp>
          <p:nvSpPr>
            <p:cNvPr id="19" name="标题 1"/>
            <p:cNvSpPr txBox="1"/>
            <p:nvPr/>
          </p:nvSpPr>
          <p:spPr>
            <a:xfrm>
              <a:off x="7089" y="6108"/>
              <a:ext cx="5336" cy="838"/>
            </a:xfrm>
            <a:prstGeom prst="rect">
              <a:avLst/>
            </a:prstGeom>
            <a:noFill/>
            <a:ln>
              <a:noFill/>
            </a:ln>
          </p:spPr>
          <p:txBody>
            <a:bodyPr vert="horz" wrap="square" lIns="0" tIns="0" rIns="0" bIns="0" rtlCol="0" anchor="b"/>
            <a:lstStyle/>
            <a:p>
              <a:pPr algn="ctr">
                <a:lnSpc>
                  <a:spcPct val="110000"/>
                </a:lnSpc>
              </a:pPr>
              <a:r>
                <a:rPr kumimoji="1" lang="zh-CN" altLang="en-US" sz="2000" b="1" dirty="0">
                  <a:ln w="12700">
                    <a:noFill/>
                  </a:ln>
                  <a:solidFill>
                    <a:srgbClr val="3B5085">
                      <a:alpha val="100000"/>
                    </a:srgbClr>
                  </a:solidFill>
                  <a:latin typeface="+mn-ea"/>
                  <a:cs typeface="思源黑体 CN Bold" panose="020B0800000000000000" charset="-122"/>
                </a:rPr>
                <a:t>冗余设计</a:t>
              </a:r>
            </a:p>
          </p:txBody>
        </p:sp>
        <p:sp>
          <p:nvSpPr>
            <p:cNvPr id="47" name="标题 1"/>
            <p:cNvSpPr txBox="1"/>
            <p:nvPr/>
          </p:nvSpPr>
          <p:spPr>
            <a:xfrm>
              <a:off x="6818" y="6748"/>
              <a:ext cx="6063" cy="1549"/>
            </a:xfrm>
            <a:prstGeom prst="rect">
              <a:avLst/>
            </a:prstGeom>
            <a:noFill/>
            <a:ln>
              <a:noFill/>
            </a:ln>
          </p:spPr>
          <p:txBody>
            <a:bodyPr vert="horz" wrap="square" lIns="0" tIns="0" rIns="0" bIns="0" rtlCol="0" anchor="t"/>
            <a:lstStyle/>
            <a:p>
              <a:pPr algn="l">
                <a:lnSpc>
                  <a:spcPct val="150000"/>
                </a:lnSpc>
              </a:pPr>
              <a:r>
                <a:rPr lang="zh-CN" altLang="en-US" b="1" kern="1300" dirty="0">
                  <a:uFillTx/>
                  <a:latin typeface="+mn-ea"/>
                  <a:cs typeface="黑体" panose="02010609060101010101" charset="-122"/>
                </a:rPr>
                <a:t>双</a:t>
              </a:r>
              <a:r>
                <a:rPr lang="en-US" altLang="zh-CN" b="1" kern="1300" dirty="0">
                  <a:uFillTx/>
                  <a:latin typeface="+mn-ea"/>
                  <a:cs typeface="黑体" panose="02010609060101010101" charset="-122"/>
                </a:rPr>
                <a:t>LoRa</a:t>
              </a:r>
              <a:r>
                <a:rPr lang="zh-CN" altLang="en-US" b="1" kern="1300" dirty="0">
                  <a:uFillTx/>
                  <a:latin typeface="+mn-ea"/>
                  <a:cs typeface="黑体" panose="02010609060101010101" charset="-122"/>
                </a:rPr>
                <a:t>信通：</a:t>
              </a:r>
              <a:endParaRPr lang="zh-CN" altLang="en-US" kern="1300" dirty="0">
                <a:uFillTx/>
                <a:latin typeface="+mn-ea"/>
                <a:cs typeface="黑体" panose="02010609060101010101" charset="-122"/>
              </a:endParaRPr>
            </a:p>
            <a:p>
              <a:pPr algn="l">
                <a:lnSpc>
                  <a:spcPct val="150000"/>
                </a:lnSpc>
              </a:pPr>
              <a:r>
                <a:rPr kumimoji="1" lang="en-US" altLang="zh-CN" sz="1600" dirty="0" err="1">
                  <a:ln w="12700">
                    <a:noFill/>
                  </a:ln>
                  <a:solidFill>
                    <a:srgbClr val="262626">
                      <a:alpha val="100000"/>
                    </a:srgbClr>
                  </a:solidFill>
                  <a:latin typeface="+mn-ea"/>
                  <a:cs typeface="黑体" panose="02010609060101010101" charset="-122"/>
                  <a:sym typeface="+mn-ea"/>
                </a:rPr>
                <a:t>设计双LoRa信道，提高通信可靠性，避免单点故障</a:t>
              </a:r>
              <a:r>
                <a:rPr kumimoji="1" lang="en-US" altLang="zh-CN" sz="1600" dirty="0">
                  <a:ln w="12700">
                    <a:noFill/>
                  </a:ln>
                  <a:solidFill>
                    <a:srgbClr val="262626">
                      <a:alpha val="100000"/>
                    </a:srgbClr>
                  </a:solidFill>
                  <a:latin typeface="+mn-ea"/>
                  <a:cs typeface="黑体" panose="02010609060101010101" charset="-122"/>
                  <a:sym typeface="+mn-ea"/>
                </a:rPr>
                <a:t>。</a:t>
              </a:r>
              <a:endParaRPr lang="zh-CN" altLang="en-US" sz="1600" kern="1300" dirty="0">
                <a:uFillTx/>
                <a:latin typeface="+mn-ea"/>
                <a:sym typeface="+mn-ea"/>
              </a:endParaRPr>
            </a:p>
            <a:p>
              <a:pPr algn="l">
                <a:lnSpc>
                  <a:spcPct val="150000"/>
                </a:lnSpc>
              </a:pPr>
              <a:r>
                <a:rPr lang="en-US" altLang="zh-CN" b="1" kern="1300" dirty="0" err="1">
                  <a:uFillTx/>
                  <a:latin typeface="+mn-ea"/>
                  <a:cs typeface="黑体" panose="02010609060101010101" charset="-122"/>
                  <a:sym typeface="+mn-ea"/>
                </a:rPr>
                <a:t>卫星心跳检测</a:t>
              </a:r>
              <a:r>
                <a:rPr lang="en-US" altLang="zh-CN" sz="1800" b="1" kern="1300" dirty="0">
                  <a:uFillTx/>
                  <a:latin typeface="+mn-ea"/>
                  <a:cs typeface="黑体" panose="02010609060101010101" charset="-122"/>
                  <a:sym typeface="+mn-ea"/>
                </a:rPr>
                <a:t>：</a:t>
              </a:r>
            </a:p>
            <a:p>
              <a:pPr algn="l">
                <a:lnSpc>
                  <a:spcPct val="150000"/>
                </a:lnSpc>
              </a:pPr>
              <a:r>
                <a:rPr kumimoji="1" lang="en-US" altLang="zh-CN" sz="1600" dirty="0" err="1">
                  <a:ln w="12700">
                    <a:noFill/>
                  </a:ln>
                  <a:solidFill>
                    <a:srgbClr val="262626">
                      <a:alpha val="100000"/>
                    </a:srgbClr>
                  </a:solidFill>
                  <a:latin typeface="+mn-ea"/>
                  <a:cs typeface="黑体" panose="02010609060101010101" charset="-122"/>
                  <a:sym typeface="+mn-ea"/>
                </a:rPr>
                <a:t>每日进行一次卫星心跳检测，确保卫星通信链路正常</a:t>
              </a:r>
              <a:r>
                <a:rPr kumimoji="1" lang="en-US" altLang="zh-CN" sz="1600" dirty="0">
                  <a:ln w="12700">
                    <a:noFill/>
                  </a:ln>
                  <a:solidFill>
                    <a:srgbClr val="262626">
                      <a:alpha val="100000"/>
                    </a:srgbClr>
                  </a:solidFill>
                  <a:latin typeface="+mn-ea"/>
                  <a:cs typeface="黑体" panose="02010609060101010101" charset="-122"/>
                  <a:sym typeface="+mn-ea"/>
                </a:rPr>
                <a:t>。</a:t>
              </a:r>
              <a:endParaRPr lang="zh-CN" altLang="en-US" sz="1600" kern="1300" dirty="0">
                <a:uFillTx/>
                <a:latin typeface="+mn-ea"/>
              </a:endParaRPr>
            </a:p>
          </p:txBody>
        </p:sp>
      </p:grpSp>
      <p:sp>
        <p:nvSpPr>
          <p:cNvPr id="48" name="文本框 47"/>
          <p:cNvSpPr txBox="1"/>
          <p:nvPr/>
        </p:nvSpPr>
        <p:spPr>
          <a:xfrm>
            <a:off x="4329430" y="615963"/>
            <a:ext cx="3535680" cy="768350"/>
          </a:xfrm>
          <a:prstGeom prst="rect">
            <a:avLst/>
          </a:prstGeom>
          <a:noFill/>
        </p:spPr>
        <p:txBody>
          <a:bodyPr wrap="none" rtlCol="0">
            <a:spAutoFit/>
          </a:bodyPr>
          <a:lstStyle/>
          <a:p>
            <a:pPr algn="ctr"/>
            <a:r>
              <a:rPr lang="zh-CN" altLang="en-US" sz="4400" b="1" dirty="0">
                <a:solidFill>
                  <a:srgbClr val="57658E"/>
                </a:solidFill>
                <a:cs typeface="+mn-ea"/>
                <a:sym typeface="+mn-lt"/>
              </a:rPr>
              <a:t>关键技术实现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p:tgtEl>
                                          <p:spTgt spid="49"/>
                                        </p:tgtEl>
                                        <p:attrNameLst>
                                          <p:attrName>ppt_x</p:attrName>
                                        </p:attrNameLst>
                                      </p:cBhvr>
                                      <p:tavLst>
                                        <p:tav tm="0">
                                          <p:val>
                                            <p:strVal val="#ppt_x-#ppt_w*1.125000"/>
                                          </p:val>
                                        </p:tav>
                                        <p:tav tm="100000">
                                          <p:val>
                                            <p:strVal val="#ppt_x"/>
                                          </p:val>
                                        </p:tav>
                                      </p:tavLst>
                                    </p:anim>
                                    <p:animEffect transition="in" filter="wipe(right)">
                                      <p:cBhvr>
                                        <p:cTn id="8" dur="500"/>
                                        <p:tgtEl>
                                          <p:spTgt spid="49"/>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2" fill="hold" nodeType="clickEffect">
                                  <p:stCondLst>
                                    <p:cond delay="0"/>
                                  </p:stCondLst>
                                  <p:childTnLst>
                                    <p:set>
                                      <p:cBhvr>
                                        <p:cTn id="12" dur="1" fill="hold">
                                          <p:stCondLst>
                                            <p:cond delay="0"/>
                                          </p:stCondLst>
                                        </p:cTn>
                                        <p:tgtEl>
                                          <p:spTgt spid="50"/>
                                        </p:tgtEl>
                                        <p:attrNameLst>
                                          <p:attrName>style.visibility</p:attrName>
                                        </p:attrNameLst>
                                      </p:cBhvr>
                                      <p:to>
                                        <p:strVal val="visible"/>
                                      </p:to>
                                    </p:set>
                                    <p:anim calcmode="lin" valueType="num">
                                      <p:cBhvr additive="base">
                                        <p:cTn id="13" dur="500"/>
                                        <p:tgtEl>
                                          <p:spTgt spid="50"/>
                                        </p:tgtEl>
                                        <p:attrNameLst>
                                          <p:attrName>ppt_x</p:attrName>
                                        </p:attrNameLst>
                                      </p:cBhvr>
                                      <p:tavLst>
                                        <p:tav tm="0">
                                          <p:val>
                                            <p:strVal val="#ppt_x+#ppt_w*1.125000"/>
                                          </p:val>
                                        </p:tav>
                                        <p:tav tm="100000">
                                          <p:val>
                                            <p:strVal val="#ppt_x"/>
                                          </p:val>
                                        </p:tav>
                                      </p:tavLst>
                                    </p:anim>
                                    <p:animEffect transition="in" filter="wipe(left)">
                                      <p:cBhvr>
                                        <p:cTn id="14" dur="500"/>
                                        <p:tgtEl>
                                          <p:spTgt spid="50"/>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anim calcmode="lin" valueType="num">
                                      <p:cBhvr additive="base">
                                        <p:cTn id="19" dur="500"/>
                                        <p:tgtEl>
                                          <p:spTgt spid="51"/>
                                        </p:tgtEl>
                                        <p:attrNameLst>
                                          <p:attrName>ppt_y</p:attrName>
                                        </p:attrNameLst>
                                      </p:cBhvr>
                                      <p:tavLst>
                                        <p:tav tm="0">
                                          <p:val>
                                            <p:strVal val="#ppt_y+#ppt_h*1.125000"/>
                                          </p:val>
                                        </p:tav>
                                        <p:tav tm="100000">
                                          <p:val>
                                            <p:strVal val="#ppt_y"/>
                                          </p:val>
                                        </p:tav>
                                      </p:tavLst>
                                    </p:anim>
                                    <p:animEffect transition="in" filter="wipe(up)">
                                      <p:cBhvr>
                                        <p:cTn id="20"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75150" y="1075342"/>
            <a:ext cx="2441694" cy="769441"/>
          </a:xfrm>
          <a:prstGeom prst="rect">
            <a:avLst/>
          </a:prstGeom>
          <a:noFill/>
        </p:spPr>
        <p:txBody>
          <a:bodyPr wrap="none" rtlCol="0">
            <a:spAutoFit/>
          </a:bodyPr>
          <a:lstStyle/>
          <a:p>
            <a:pPr algn="ctr"/>
            <a:r>
              <a:rPr lang="zh-CN" altLang="en-US" sz="4400" b="1" dirty="0">
                <a:solidFill>
                  <a:srgbClr val="57658E"/>
                </a:solidFill>
                <a:cs typeface="+mn-ea"/>
                <a:sym typeface="+mn-lt"/>
              </a:rPr>
              <a:t>考虑因素</a:t>
            </a:r>
          </a:p>
        </p:txBody>
      </p:sp>
      <p:cxnSp>
        <p:nvCxnSpPr>
          <p:cNvPr id="47" name="直接连接符 46"/>
          <p:cNvCxnSpPr/>
          <p:nvPr/>
        </p:nvCxnSpPr>
        <p:spPr>
          <a:xfrm>
            <a:off x="5663997" y="1935827"/>
            <a:ext cx="864000" cy="0"/>
          </a:xfrm>
          <a:prstGeom prst="line">
            <a:avLst/>
          </a:prstGeom>
          <a:ln w="88900" cap="rnd">
            <a:solidFill>
              <a:srgbClr val="E9DAC6"/>
            </a:solidFill>
            <a:round/>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103052" y="2577729"/>
            <a:ext cx="10452218" cy="1542597"/>
            <a:chOff x="748644" y="2098457"/>
            <a:chExt cx="10694713" cy="1542731"/>
          </a:xfrm>
        </p:grpSpPr>
        <p:grpSp>
          <p:nvGrpSpPr>
            <p:cNvPr id="4" name="组合 3"/>
            <p:cNvGrpSpPr/>
            <p:nvPr/>
          </p:nvGrpSpPr>
          <p:grpSpPr>
            <a:xfrm>
              <a:off x="748644" y="2098787"/>
              <a:ext cx="3124956" cy="1542400"/>
              <a:chOff x="748644" y="2098787"/>
              <a:chExt cx="3124956" cy="1542400"/>
            </a:xfrm>
          </p:grpSpPr>
          <p:sp>
            <p:nvSpPr>
              <p:cNvPr id="6" name="矩形 5"/>
              <p:cNvSpPr/>
              <p:nvPr/>
            </p:nvSpPr>
            <p:spPr>
              <a:xfrm>
                <a:off x="748644" y="2098787"/>
                <a:ext cx="3124956" cy="1542400"/>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a:cs typeface="+mn-ea"/>
                  <a:sym typeface="+mn-lt"/>
                </a:endParaRPr>
              </a:p>
            </p:txBody>
          </p:sp>
          <p:sp>
            <p:nvSpPr>
              <p:cNvPr id="13" name="文本框 12"/>
              <p:cNvSpPr txBox="1"/>
              <p:nvPr/>
            </p:nvSpPr>
            <p:spPr>
              <a:xfrm>
                <a:off x="905764" y="2475230"/>
                <a:ext cx="2810717" cy="786950"/>
              </a:xfrm>
              <a:prstGeom prst="rect">
                <a:avLst/>
              </a:prstGeom>
              <a:noFill/>
            </p:spPr>
            <p:txBody>
              <a:bodyPr wrap="square" rtlCol="0">
                <a:spAutoFit/>
              </a:bodyPr>
              <a:lstStyle/>
              <a:p>
                <a:pPr algn="ctr">
                  <a:lnSpc>
                    <a:spcPct val="150000"/>
                  </a:lnSpc>
                </a:pPr>
                <a:r>
                  <a:rPr lang="zh-CN" altLang="en-US" sz="1600" dirty="0">
                    <a:solidFill>
                      <a:schemeClr val="bg1"/>
                    </a:solidFill>
                  </a:rPr>
                  <a:t>电源应高效率、低能耗，提高电源使用寿命</a:t>
                </a:r>
                <a:endParaRPr lang="en-US" altLang="zh-CN" sz="1600" dirty="0">
                  <a:solidFill>
                    <a:schemeClr val="bg1"/>
                  </a:solidFill>
                  <a:cs typeface="+mn-ea"/>
                  <a:sym typeface="+mn-lt"/>
                </a:endParaRPr>
              </a:p>
            </p:txBody>
          </p:sp>
        </p:grpSp>
        <p:grpSp>
          <p:nvGrpSpPr>
            <p:cNvPr id="16" name="组合 15"/>
            <p:cNvGrpSpPr/>
            <p:nvPr/>
          </p:nvGrpSpPr>
          <p:grpSpPr>
            <a:xfrm>
              <a:off x="4533522" y="2098457"/>
              <a:ext cx="3124956" cy="1542730"/>
              <a:chOff x="4533523" y="2098457"/>
              <a:chExt cx="3124956" cy="1542730"/>
            </a:xfrm>
          </p:grpSpPr>
          <p:sp>
            <p:nvSpPr>
              <p:cNvPr id="17" name="矩形 16"/>
              <p:cNvSpPr/>
              <p:nvPr/>
            </p:nvSpPr>
            <p:spPr>
              <a:xfrm>
                <a:off x="4533523" y="2098457"/>
                <a:ext cx="3124956" cy="1542730"/>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文本框 22"/>
              <p:cNvSpPr txBox="1"/>
              <p:nvPr/>
            </p:nvSpPr>
            <p:spPr>
              <a:xfrm>
                <a:off x="4803807" y="2335231"/>
                <a:ext cx="2584387" cy="1156314"/>
              </a:xfrm>
              <a:prstGeom prst="rect">
                <a:avLst/>
              </a:prstGeom>
              <a:noFill/>
            </p:spPr>
            <p:txBody>
              <a:bodyPr wrap="square" rtlCol="0">
                <a:spAutoFit/>
              </a:bodyPr>
              <a:lstStyle/>
              <a:p>
                <a:pPr algn="ctr">
                  <a:lnSpc>
                    <a:spcPct val="150000"/>
                  </a:lnSpc>
                </a:pPr>
                <a:r>
                  <a:rPr lang="zh-CN" altLang="en-US" sz="1600" dirty="0">
                    <a:solidFill>
                      <a:schemeClr val="bg1"/>
                    </a:solidFill>
                  </a:rPr>
                  <a:t>电源应具有较高的稳定性和可靠性，保证装置能连续工作</a:t>
                </a:r>
                <a:endParaRPr lang="zh-CN" altLang="en-US" sz="1600" dirty="0">
                  <a:solidFill>
                    <a:schemeClr val="bg1"/>
                  </a:solidFill>
                  <a:cs typeface="+mn-ea"/>
                  <a:sym typeface="+mn-lt"/>
                </a:endParaRPr>
              </a:p>
            </p:txBody>
          </p:sp>
        </p:grpSp>
        <p:grpSp>
          <p:nvGrpSpPr>
            <p:cNvPr id="29" name="组合 28"/>
            <p:cNvGrpSpPr/>
            <p:nvPr/>
          </p:nvGrpSpPr>
          <p:grpSpPr>
            <a:xfrm>
              <a:off x="8318401" y="2098458"/>
              <a:ext cx="3124956" cy="1542730"/>
              <a:chOff x="8318401" y="2098458"/>
              <a:chExt cx="3124956" cy="1542730"/>
            </a:xfrm>
          </p:grpSpPr>
          <p:sp>
            <p:nvSpPr>
              <p:cNvPr id="42" name="矩形 41"/>
              <p:cNvSpPr/>
              <p:nvPr/>
            </p:nvSpPr>
            <p:spPr>
              <a:xfrm>
                <a:off x="8318401" y="2098458"/>
                <a:ext cx="3124956" cy="1542730"/>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cs typeface="+mn-ea"/>
                  <a:sym typeface="+mn-lt"/>
                </a:endParaRPr>
              </a:p>
            </p:txBody>
          </p:sp>
          <p:sp>
            <p:nvSpPr>
              <p:cNvPr id="52" name="文本框 51"/>
              <p:cNvSpPr txBox="1"/>
              <p:nvPr/>
            </p:nvSpPr>
            <p:spPr>
              <a:xfrm>
                <a:off x="8546756" y="2475230"/>
                <a:ext cx="2810717" cy="786950"/>
              </a:xfrm>
              <a:prstGeom prst="rect">
                <a:avLst/>
              </a:prstGeom>
              <a:noFill/>
            </p:spPr>
            <p:txBody>
              <a:bodyPr wrap="square" rtlCol="0">
                <a:spAutoFit/>
              </a:bodyPr>
              <a:lstStyle/>
              <a:p>
                <a:pPr algn="ctr">
                  <a:lnSpc>
                    <a:spcPct val="150000"/>
                  </a:lnSpc>
                </a:pPr>
                <a:r>
                  <a:rPr lang="zh-CN" altLang="en-US" sz="1600" dirty="0">
                    <a:solidFill>
                      <a:schemeClr val="bg1"/>
                    </a:solidFill>
                  </a:rPr>
                  <a:t>结合在线监测技术进行抗干扰和安全保护等方面的设计</a:t>
                </a:r>
                <a:endParaRPr lang="zh-CN" altLang="en-US" sz="1600" dirty="0">
                  <a:solidFill>
                    <a:schemeClr val="bg1"/>
                  </a:solidFill>
                  <a:cs typeface="+mn-ea"/>
                  <a:sym typeface="+mn-lt"/>
                </a:endParaRPr>
              </a:p>
            </p:txBody>
          </p:sp>
        </p:grpSp>
      </p:grpSp>
      <p:sp>
        <p:nvSpPr>
          <p:cNvPr id="30" name="文本框 29">
            <a:extLst>
              <a:ext uri="{FF2B5EF4-FFF2-40B4-BE49-F238E27FC236}">
                <a16:creationId xmlns:a16="http://schemas.microsoft.com/office/drawing/2014/main" id="{C8A4B33F-0AEF-435A-8ED0-1CB59C6E1BFA}"/>
              </a:ext>
            </a:extLst>
          </p:cNvPr>
          <p:cNvSpPr txBox="1"/>
          <p:nvPr/>
        </p:nvSpPr>
        <p:spPr>
          <a:xfrm>
            <a:off x="269391" y="208568"/>
            <a:ext cx="2031326" cy="646331"/>
          </a:xfrm>
          <a:prstGeom prst="rect">
            <a:avLst/>
          </a:prstGeom>
          <a:noFill/>
        </p:spPr>
        <p:txBody>
          <a:bodyPr wrap="none" rtlCol="0">
            <a:spAutoFit/>
          </a:bodyPr>
          <a:lstStyle/>
          <a:p>
            <a:pPr algn="ctr"/>
            <a:r>
              <a:rPr lang="zh-CN" altLang="en-US" sz="3600" b="1" dirty="0">
                <a:solidFill>
                  <a:srgbClr val="57658E"/>
                </a:solidFill>
                <a:cs typeface="+mn-ea"/>
                <a:sym typeface="+mn-lt"/>
              </a:rPr>
              <a:t>电源设计</a:t>
            </a:r>
          </a:p>
        </p:txBody>
      </p:sp>
      <p:sp>
        <p:nvSpPr>
          <p:cNvPr id="31" name="文本框 30">
            <a:extLst>
              <a:ext uri="{FF2B5EF4-FFF2-40B4-BE49-F238E27FC236}">
                <a16:creationId xmlns:a16="http://schemas.microsoft.com/office/drawing/2014/main" id="{F0A295C3-6757-4FED-BA15-0EA1A03B23CA}"/>
              </a:ext>
            </a:extLst>
          </p:cNvPr>
          <p:cNvSpPr txBox="1"/>
          <p:nvPr/>
        </p:nvSpPr>
        <p:spPr>
          <a:xfrm>
            <a:off x="258819" y="1011408"/>
            <a:ext cx="2031326" cy="458202"/>
          </a:xfrm>
          <a:prstGeom prst="rect">
            <a:avLst/>
          </a:prstGeom>
          <a:noFill/>
        </p:spPr>
        <p:txBody>
          <a:bodyPr wrap="square" rtlCol="0">
            <a:spAutoFit/>
          </a:bodyPr>
          <a:lstStyle/>
          <a:p>
            <a:pPr algn="ctr">
              <a:lnSpc>
                <a:spcPct val="150000"/>
              </a:lnSpc>
            </a:pPr>
            <a:r>
              <a:rPr lang="zh-CN" altLang="en-US" b="1" dirty="0">
                <a:solidFill>
                  <a:srgbClr val="57658E"/>
                </a:solidFill>
                <a:latin typeface="+mn-ea"/>
                <a:cs typeface="+mn-ea"/>
                <a:sym typeface="+mn-lt"/>
              </a:rPr>
              <a:t>野外无市电环境</a:t>
            </a:r>
            <a:r>
              <a:rPr lang="en-US" altLang="zh-CN" b="1" dirty="0">
                <a:solidFill>
                  <a:srgbClr val="57658E"/>
                </a:solidFill>
                <a:latin typeface="+mn-ea"/>
                <a:cs typeface="+mn-ea"/>
                <a:sym typeface="+mn-lt"/>
              </a:rPr>
              <a:t> </a:t>
            </a:r>
          </a:p>
        </p:txBody>
      </p:sp>
      <p:cxnSp>
        <p:nvCxnSpPr>
          <p:cNvPr id="32" name="直接连接符 31">
            <a:extLst>
              <a:ext uri="{FF2B5EF4-FFF2-40B4-BE49-F238E27FC236}">
                <a16:creationId xmlns:a16="http://schemas.microsoft.com/office/drawing/2014/main" id="{C4C0D79A-C89D-42FA-BE1F-B0F836A564BE}"/>
              </a:ext>
            </a:extLst>
          </p:cNvPr>
          <p:cNvCxnSpPr/>
          <p:nvPr/>
        </p:nvCxnSpPr>
        <p:spPr>
          <a:xfrm>
            <a:off x="427776" y="922394"/>
            <a:ext cx="928914" cy="0"/>
          </a:xfrm>
          <a:prstGeom prst="line">
            <a:avLst/>
          </a:prstGeom>
          <a:ln w="127000" cap="rnd">
            <a:solidFill>
              <a:srgbClr val="E9DAC6"/>
            </a:solidFill>
            <a:round/>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656331A-8A4A-48F1-8080-03879F10AB2C}"/>
              </a:ext>
            </a:extLst>
          </p:cNvPr>
          <p:cNvCxnSpPr>
            <a:stCxn id="6" idx="2"/>
          </p:cNvCxnSpPr>
          <p:nvPr/>
        </p:nvCxnSpPr>
        <p:spPr>
          <a:xfrm>
            <a:off x="2630102" y="4120325"/>
            <a:ext cx="0" cy="775871"/>
          </a:xfrm>
          <a:prstGeom prst="line">
            <a:avLst/>
          </a:prstGeom>
          <a:ln w="57150">
            <a:solidFill>
              <a:srgbClr val="57658E"/>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3571CFF-B68F-4454-8841-CFFB10F18E46}"/>
              </a:ext>
            </a:extLst>
          </p:cNvPr>
          <p:cNvCxnSpPr>
            <a:cxnSpLocks/>
            <a:stCxn id="42" idx="2"/>
          </p:cNvCxnSpPr>
          <p:nvPr/>
        </p:nvCxnSpPr>
        <p:spPr>
          <a:xfrm>
            <a:off x="10028220" y="4120326"/>
            <a:ext cx="0" cy="775870"/>
          </a:xfrm>
          <a:prstGeom prst="line">
            <a:avLst/>
          </a:prstGeom>
          <a:ln w="57150">
            <a:solidFill>
              <a:srgbClr val="57658E"/>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C1BBE2CC-07DA-4170-B429-D9E6C274C264}"/>
              </a:ext>
            </a:extLst>
          </p:cNvPr>
          <p:cNvCxnSpPr>
            <a:cxnSpLocks/>
          </p:cNvCxnSpPr>
          <p:nvPr/>
        </p:nvCxnSpPr>
        <p:spPr>
          <a:xfrm>
            <a:off x="2630102" y="4896196"/>
            <a:ext cx="7398118" cy="0"/>
          </a:xfrm>
          <a:prstGeom prst="line">
            <a:avLst/>
          </a:prstGeom>
          <a:ln w="57150">
            <a:solidFill>
              <a:srgbClr val="57658E"/>
            </a:solidFill>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3AF0ED0F-8F48-4DAA-ADDC-663947E7555D}"/>
              </a:ext>
            </a:extLst>
          </p:cNvPr>
          <p:cNvCxnSpPr>
            <a:stCxn id="17" idx="2"/>
          </p:cNvCxnSpPr>
          <p:nvPr/>
        </p:nvCxnSpPr>
        <p:spPr>
          <a:xfrm>
            <a:off x="6329161" y="4120325"/>
            <a:ext cx="0" cy="1399326"/>
          </a:xfrm>
          <a:prstGeom prst="straightConnector1">
            <a:avLst/>
          </a:prstGeom>
          <a:ln w="57150">
            <a:solidFill>
              <a:srgbClr val="57658E"/>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E301A413-CAC4-4D21-A065-1E4ACA26374F}"/>
              </a:ext>
            </a:extLst>
          </p:cNvPr>
          <p:cNvSpPr txBox="1"/>
          <p:nvPr/>
        </p:nvSpPr>
        <p:spPr>
          <a:xfrm>
            <a:off x="4713173" y="5526080"/>
            <a:ext cx="3231975" cy="646331"/>
          </a:xfrm>
          <a:prstGeom prst="rect">
            <a:avLst/>
          </a:prstGeom>
          <a:noFill/>
        </p:spPr>
        <p:txBody>
          <a:bodyPr wrap="none" rtlCol="0">
            <a:spAutoFit/>
          </a:bodyPr>
          <a:lstStyle/>
          <a:p>
            <a:pPr algn="ctr"/>
            <a:r>
              <a:rPr lang="zh-CN" altLang="en-US" sz="3600" b="1" dirty="0">
                <a:solidFill>
                  <a:srgbClr val="57658E"/>
                </a:solidFill>
                <a:cs typeface="+mn-ea"/>
                <a:sym typeface="+mn-lt"/>
              </a:rPr>
              <a:t>太阳能</a:t>
            </a:r>
            <a:r>
              <a:rPr lang="en-US" altLang="zh-CN" sz="3600" b="1" dirty="0">
                <a:solidFill>
                  <a:srgbClr val="57658E"/>
                </a:solidFill>
                <a:cs typeface="+mn-ea"/>
                <a:sym typeface="+mn-lt"/>
              </a:rPr>
              <a:t>+</a:t>
            </a:r>
            <a:r>
              <a:rPr lang="zh-CN" altLang="en-US" sz="3600" b="1" dirty="0">
                <a:solidFill>
                  <a:srgbClr val="57658E"/>
                </a:solidFill>
                <a:cs typeface="+mn-ea"/>
                <a:sym typeface="+mn-lt"/>
              </a:rPr>
              <a:t>蓄电池</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75153" y="493484"/>
            <a:ext cx="2441694" cy="769441"/>
          </a:xfrm>
          <a:prstGeom prst="rect">
            <a:avLst/>
          </a:prstGeom>
          <a:noFill/>
        </p:spPr>
        <p:txBody>
          <a:bodyPr wrap="none" rtlCol="0">
            <a:spAutoFit/>
          </a:bodyPr>
          <a:lstStyle/>
          <a:p>
            <a:pPr algn="ctr"/>
            <a:r>
              <a:rPr lang="zh-CN" altLang="en-US" sz="4400" b="1" dirty="0">
                <a:solidFill>
                  <a:srgbClr val="57658E"/>
                </a:solidFill>
                <a:cs typeface="+mn-ea"/>
                <a:sym typeface="+mn-lt"/>
              </a:rPr>
              <a:t>电源设计</a:t>
            </a:r>
          </a:p>
        </p:txBody>
      </p:sp>
      <p:cxnSp>
        <p:nvCxnSpPr>
          <p:cNvPr id="31" name="直接连接符 30"/>
          <p:cNvCxnSpPr/>
          <p:nvPr/>
        </p:nvCxnSpPr>
        <p:spPr>
          <a:xfrm>
            <a:off x="5664000" y="1353969"/>
            <a:ext cx="864000" cy="0"/>
          </a:xfrm>
          <a:prstGeom prst="line">
            <a:avLst/>
          </a:prstGeom>
          <a:ln w="88900" cap="rnd">
            <a:solidFill>
              <a:srgbClr val="E9DAC6"/>
            </a:solidFill>
            <a:round/>
          </a:ln>
        </p:spPr>
        <p:style>
          <a:lnRef idx="1">
            <a:schemeClr val="accent1"/>
          </a:lnRef>
          <a:fillRef idx="0">
            <a:schemeClr val="accent1"/>
          </a:fillRef>
          <a:effectRef idx="0">
            <a:schemeClr val="accent1"/>
          </a:effectRef>
          <a:fontRef idx="minor">
            <a:schemeClr val="tx1"/>
          </a:fontRef>
        </p:style>
      </p:cxnSp>
      <p:grpSp>
        <p:nvGrpSpPr>
          <p:cNvPr id="33" name="组合 32"/>
          <p:cNvGrpSpPr/>
          <p:nvPr>
            <p:custDataLst>
              <p:tags r:id="rId1"/>
            </p:custDataLst>
          </p:nvPr>
        </p:nvGrpSpPr>
        <p:grpSpPr>
          <a:xfrm>
            <a:off x="949318" y="1582288"/>
            <a:ext cx="10293366" cy="4672061"/>
            <a:chOff x="977926" y="1888592"/>
            <a:chExt cx="4138791" cy="3960408"/>
          </a:xfrm>
        </p:grpSpPr>
        <p:sp>
          <p:nvSpPr>
            <p:cNvPr id="8" name="矩形 7"/>
            <p:cNvSpPr/>
            <p:nvPr>
              <p:custDataLst>
                <p:tags r:id="rId2"/>
              </p:custDataLst>
            </p:nvPr>
          </p:nvSpPr>
          <p:spPr>
            <a:xfrm>
              <a:off x="977926" y="1888592"/>
              <a:ext cx="4138791" cy="3960408"/>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dirty="0">
                <a:solidFill>
                  <a:srgbClr val="FCFBFC"/>
                </a:solidFill>
                <a:cs typeface="+mn-ea"/>
                <a:sym typeface="+mn-lt"/>
              </a:endParaRPr>
            </a:p>
          </p:txBody>
        </p:sp>
        <p:sp>
          <p:nvSpPr>
            <p:cNvPr id="11" name="文本框 10"/>
            <p:cNvSpPr txBox="1"/>
            <p:nvPr>
              <p:custDataLst>
                <p:tags r:id="rId3"/>
              </p:custDataLst>
            </p:nvPr>
          </p:nvSpPr>
          <p:spPr>
            <a:xfrm>
              <a:off x="1160199" y="4140439"/>
              <a:ext cx="3904823" cy="1177944"/>
            </a:xfrm>
            <a:prstGeom prst="rect">
              <a:avLst/>
            </a:prstGeom>
            <a:noFill/>
          </p:spPr>
          <p:txBody>
            <a:bodyPr wrap="square" rtlCol="0">
              <a:noAutofit/>
            </a:bodyPr>
            <a:lstStyle/>
            <a:p>
              <a:pPr>
                <a:lnSpc>
                  <a:spcPct val="150000"/>
                </a:lnSpc>
              </a:pPr>
              <a:r>
                <a:rPr lang="zh-CN" altLang="en-US" sz="1600" dirty="0">
                  <a:solidFill>
                    <a:srgbClr val="FCFBFC"/>
                  </a:solidFill>
                  <a:cs typeface="+mn-ea"/>
                  <a:sym typeface="+mn-lt"/>
                </a:rPr>
                <a:t>应力监测终端工作电源主要由太阳能、蓄电池、充放电控制和保护部分、电源稳压部分组成。为了降低在线监测装置的平均功耗，装置采用间断式供电方式，即一部分电路长期供电，如单片机、通信模块等，一部分电路采取间断式供电，如半导体应变式电阻传感器等。具体电源的开断由 </a:t>
              </a:r>
              <a:r>
                <a:rPr lang="en-US" altLang="zh-CN" sz="1600" dirty="0">
                  <a:solidFill>
                    <a:srgbClr val="FCFBFC"/>
                  </a:solidFill>
                  <a:cs typeface="+mn-ea"/>
                  <a:sym typeface="+mn-lt"/>
                </a:rPr>
                <a:t>CMD </a:t>
              </a:r>
              <a:r>
                <a:rPr lang="zh-CN" altLang="en-US" sz="1600" dirty="0">
                  <a:solidFill>
                    <a:srgbClr val="FCFBFC"/>
                  </a:solidFill>
                  <a:cs typeface="+mn-ea"/>
                  <a:sym typeface="+mn-lt"/>
                </a:rPr>
                <a:t>下发指令，然后充放电控制路通过相应继电器或电子开关（三极管、场效应管、</a:t>
              </a:r>
              <a:r>
                <a:rPr lang="en-US" altLang="zh-CN" sz="1600" dirty="0">
                  <a:solidFill>
                    <a:srgbClr val="FCFBFC"/>
                  </a:solidFill>
                  <a:cs typeface="+mn-ea"/>
                  <a:sym typeface="+mn-lt"/>
                </a:rPr>
                <a:t>IGBT </a:t>
              </a:r>
              <a:r>
                <a:rPr lang="zh-CN" altLang="en-US" sz="1600" dirty="0">
                  <a:solidFill>
                    <a:srgbClr val="FCFBFC"/>
                  </a:solidFill>
                  <a:cs typeface="+mn-ea"/>
                  <a:sym typeface="+mn-lt"/>
                </a:rPr>
                <a:t>等）的开合来实现。</a:t>
              </a:r>
            </a:p>
          </p:txBody>
        </p:sp>
      </p:grpSp>
      <p:pic>
        <p:nvPicPr>
          <p:cNvPr id="14" name="图片 13">
            <a:extLst>
              <a:ext uri="{FF2B5EF4-FFF2-40B4-BE49-F238E27FC236}">
                <a16:creationId xmlns:a16="http://schemas.microsoft.com/office/drawing/2014/main" id="{867F5DF1-BDE3-405D-A32F-7E3FD961D159}"/>
              </a:ext>
            </a:extLst>
          </p:cNvPr>
          <p:cNvPicPr/>
          <p:nvPr/>
        </p:nvPicPr>
        <p:blipFill rotWithShape="1">
          <a:blip r:embed="rId5"/>
          <a:srcRect l="2407" t="8058" r="6212" b="19420"/>
          <a:stretch/>
        </p:blipFill>
        <p:spPr bwMode="auto">
          <a:xfrm>
            <a:off x="2862866" y="2014807"/>
            <a:ext cx="6671832" cy="190351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3308491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C1CCBAE2-9D2F-4D04-A6C1-38BD3C44FA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12375" y="3279371"/>
            <a:ext cx="2231216" cy="2231216"/>
          </a:xfrm>
          <a:prstGeom prst="rect">
            <a:avLst/>
          </a:prstGeom>
        </p:spPr>
      </p:pic>
      <p:grpSp>
        <p:nvGrpSpPr>
          <p:cNvPr id="12" name="组合 11">
            <a:extLst>
              <a:ext uri="{FF2B5EF4-FFF2-40B4-BE49-F238E27FC236}">
                <a16:creationId xmlns:a16="http://schemas.microsoft.com/office/drawing/2014/main" id="{DF7F561D-0828-4479-92B1-A5A632B14BD2}"/>
              </a:ext>
            </a:extLst>
          </p:cNvPr>
          <p:cNvGrpSpPr/>
          <p:nvPr/>
        </p:nvGrpSpPr>
        <p:grpSpPr>
          <a:xfrm>
            <a:off x="1559444" y="1429352"/>
            <a:ext cx="4902200" cy="4893228"/>
            <a:chOff x="2482" y="2628"/>
            <a:chExt cx="7720" cy="6579"/>
          </a:xfrm>
        </p:grpSpPr>
        <p:sp>
          <p:nvSpPr>
            <p:cNvPr id="15" name="矩形 14">
              <a:extLst>
                <a:ext uri="{FF2B5EF4-FFF2-40B4-BE49-F238E27FC236}">
                  <a16:creationId xmlns:a16="http://schemas.microsoft.com/office/drawing/2014/main" id="{064CEA00-869F-43E9-99F7-A788CC17C9E6}"/>
                </a:ext>
              </a:extLst>
            </p:cNvPr>
            <p:cNvSpPr/>
            <p:nvPr>
              <p:custDataLst>
                <p:tags r:id="rId1"/>
              </p:custDataLst>
            </p:nvPr>
          </p:nvSpPr>
          <p:spPr>
            <a:xfrm>
              <a:off x="2482" y="2628"/>
              <a:ext cx="7720" cy="6579"/>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dirty="0">
                <a:solidFill>
                  <a:srgbClr val="FCFBFC"/>
                </a:solidFill>
                <a:cs typeface="+mn-ea"/>
                <a:sym typeface="+mn-lt"/>
              </a:endParaRPr>
            </a:p>
          </p:txBody>
        </p:sp>
        <p:sp>
          <p:nvSpPr>
            <p:cNvPr id="14" name="文本框 13">
              <a:extLst>
                <a:ext uri="{FF2B5EF4-FFF2-40B4-BE49-F238E27FC236}">
                  <a16:creationId xmlns:a16="http://schemas.microsoft.com/office/drawing/2014/main" id="{003C4DED-7396-4E1F-ACCB-C424331E78BD}"/>
                </a:ext>
              </a:extLst>
            </p:cNvPr>
            <p:cNvSpPr txBox="1"/>
            <p:nvPr/>
          </p:nvSpPr>
          <p:spPr>
            <a:xfrm>
              <a:off x="3060" y="2905"/>
              <a:ext cx="6826" cy="6025"/>
            </a:xfrm>
            <a:prstGeom prst="rect">
              <a:avLst/>
            </a:prstGeom>
            <a:noFill/>
          </p:spPr>
          <p:txBody>
            <a:bodyPr wrap="square" rtlCol="0">
              <a:spAutoFit/>
            </a:bodyPr>
            <a:lstStyle/>
            <a:p>
              <a:pPr>
                <a:lnSpc>
                  <a:spcPct val="150000"/>
                </a:lnSpc>
              </a:pPr>
              <a:r>
                <a:rPr lang="zh-CN" altLang="zh-CN" sz="1600" kern="100" dirty="0">
                  <a:solidFill>
                    <a:schemeClr val="bg1"/>
                  </a:solidFill>
                  <a:latin typeface="+mn-ea"/>
                  <a:cs typeface="Times New Roman" panose="02020603050405020304" pitchFamily="18" charset="0"/>
                </a:rPr>
                <a:t>在铁塔应力监测终端的电源系统中，主要所涉及</a:t>
              </a:r>
              <a:r>
                <a:rPr lang="en-US" altLang="zh-CN" sz="1600" kern="100" dirty="0">
                  <a:solidFill>
                    <a:schemeClr val="bg1"/>
                  </a:solidFill>
                  <a:latin typeface="+mn-ea"/>
                  <a:cs typeface="Times New Roman" panose="02020603050405020304" pitchFamily="18" charset="0"/>
                </a:rPr>
                <a:t>+12</a:t>
              </a:r>
              <a:r>
                <a:rPr lang="zh-CN" altLang="zh-CN" sz="1600" kern="100" dirty="0">
                  <a:solidFill>
                    <a:schemeClr val="bg1"/>
                  </a:solidFill>
                  <a:latin typeface="+mn-ea"/>
                  <a:cs typeface="Times New Roman" panose="02020603050405020304" pitchFamily="18" charset="0"/>
                </a:rPr>
                <a:t>、</a:t>
              </a:r>
              <a:r>
                <a:rPr lang="en-US" altLang="zh-CN" sz="1600" kern="100" dirty="0">
                  <a:solidFill>
                    <a:schemeClr val="bg1"/>
                  </a:solidFill>
                  <a:latin typeface="+mn-ea"/>
                  <a:cs typeface="Times New Roman" panose="02020603050405020304" pitchFamily="18" charset="0"/>
                </a:rPr>
                <a:t>+5V</a:t>
              </a:r>
              <a:r>
                <a:rPr lang="zh-CN" altLang="zh-CN" sz="1600" kern="100" dirty="0">
                  <a:solidFill>
                    <a:schemeClr val="bg1"/>
                  </a:solidFill>
                  <a:latin typeface="+mn-ea"/>
                  <a:cs typeface="Times New Roman" panose="02020603050405020304" pitchFamily="18" charset="0"/>
                </a:rPr>
                <a:t>、</a:t>
              </a:r>
              <a:r>
                <a:rPr lang="en-US" altLang="zh-CN" sz="1600" kern="100" dirty="0">
                  <a:solidFill>
                    <a:schemeClr val="bg1"/>
                  </a:solidFill>
                  <a:latin typeface="+mn-ea"/>
                  <a:cs typeface="Times New Roman" panose="02020603050405020304" pitchFamily="18" charset="0"/>
                </a:rPr>
                <a:t>+3.3V </a:t>
              </a:r>
              <a:r>
                <a:rPr lang="zh-CN" altLang="zh-CN" sz="1600" kern="100" dirty="0">
                  <a:solidFill>
                    <a:schemeClr val="bg1"/>
                  </a:solidFill>
                  <a:latin typeface="+mn-ea"/>
                  <a:cs typeface="Times New Roman" panose="02020603050405020304" pitchFamily="18" charset="0"/>
                </a:rPr>
                <a:t>三种电压供电。</a:t>
              </a:r>
              <a:endParaRPr lang="en-US" altLang="zh-CN" sz="1600" kern="100" dirty="0">
                <a:solidFill>
                  <a:schemeClr val="bg1"/>
                </a:solidFill>
                <a:latin typeface="+mn-ea"/>
                <a:cs typeface="Times New Roman" panose="02020603050405020304" pitchFamily="18" charset="0"/>
              </a:endParaRPr>
            </a:p>
            <a:p>
              <a:pPr>
                <a:lnSpc>
                  <a:spcPct val="150000"/>
                </a:lnSpc>
              </a:pPr>
              <a:endParaRPr lang="en-US" altLang="zh-CN" sz="1600" kern="100" dirty="0">
                <a:solidFill>
                  <a:schemeClr val="bg1"/>
                </a:solidFill>
                <a:latin typeface="+mn-ea"/>
                <a:cs typeface="Times New Roman" panose="02020603050405020304" pitchFamily="18" charset="0"/>
              </a:endParaRPr>
            </a:p>
            <a:p>
              <a:pPr>
                <a:lnSpc>
                  <a:spcPct val="150000"/>
                </a:lnSpc>
              </a:pPr>
              <a:r>
                <a:rPr lang="en-US" altLang="zh-CN" sz="1600" kern="100" dirty="0">
                  <a:solidFill>
                    <a:schemeClr val="bg1"/>
                  </a:solidFill>
                  <a:latin typeface="+mn-ea"/>
                  <a:cs typeface="Times New Roman" panose="02020603050405020304" pitchFamily="18" charset="0"/>
                </a:rPr>
                <a:t>+12V </a:t>
              </a:r>
              <a:r>
                <a:rPr lang="zh-CN" altLang="zh-CN" sz="1600" kern="100" dirty="0">
                  <a:solidFill>
                    <a:schemeClr val="bg1"/>
                  </a:solidFill>
                  <a:latin typeface="+mn-ea"/>
                  <a:cs typeface="Times New Roman" panose="02020603050405020304" pitchFamily="18" charset="0"/>
                </a:rPr>
                <a:t>的电压源直接来自硅能蓄电池，</a:t>
              </a:r>
              <a:r>
                <a:rPr lang="en-US" altLang="zh-CN" sz="1600" kern="100" dirty="0">
                  <a:solidFill>
                    <a:schemeClr val="bg1"/>
                  </a:solidFill>
                  <a:latin typeface="+mn-ea"/>
                  <a:cs typeface="Times New Roman" panose="02020603050405020304" pitchFamily="18" charset="0"/>
                </a:rPr>
                <a:t>+12V </a:t>
              </a:r>
              <a:r>
                <a:rPr lang="zh-CN" altLang="zh-CN" sz="1600" kern="100" dirty="0">
                  <a:solidFill>
                    <a:schemeClr val="bg1"/>
                  </a:solidFill>
                  <a:latin typeface="+mn-ea"/>
                  <a:cs typeface="Times New Roman" panose="02020603050405020304" pitchFamily="18" charset="0"/>
                </a:rPr>
                <a:t>转</a:t>
              </a:r>
              <a:r>
                <a:rPr lang="en-US" altLang="zh-CN" sz="1600" kern="100" dirty="0">
                  <a:solidFill>
                    <a:schemeClr val="bg1"/>
                  </a:solidFill>
                  <a:latin typeface="+mn-ea"/>
                  <a:cs typeface="Times New Roman" panose="02020603050405020304" pitchFamily="18" charset="0"/>
                </a:rPr>
                <a:t>+5V </a:t>
              </a:r>
              <a:r>
                <a:rPr lang="zh-CN" altLang="zh-CN" sz="1600" kern="100" dirty="0">
                  <a:solidFill>
                    <a:schemeClr val="bg1"/>
                  </a:solidFill>
                  <a:latin typeface="+mn-ea"/>
                  <a:cs typeface="Times New Roman" panose="02020603050405020304" pitchFamily="18" charset="0"/>
                </a:rPr>
                <a:t>的电压转换采用</a:t>
              </a:r>
              <a:r>
                <a:rPr lang="en-US" altLang="zh-CN" sz="1600" kern="100" dirty="0">
                  <a:solidFill>
                    <a:schemeClr val="bg1"/>
                  </a:solidFill>
                  <a:latin typeface="+mn-ea"/>
                  <a:cs typeface="Times New Roman" panose="02020603050405020304" pitchFamily="18" charset="0"/>
                </a:rPr>
                <a:t> SCT2433 </a:t>
              </a:r>
              <a:r>
                <a:rPr lang="zh-CN" altLang="en-US" sz="1600" kern="100" dirty="0">
                  <a:solidFill>
                    <a:schemeClr val="bg1"/>
                  </a:solidFill>
                  <a:latin typeface="+mn-ea"/>
                  <a:cs typeface="Times New Roman" panose="02020603050405020304" pitchFamily="18" charset="0"/>
                </a:rPr>
                <a:t>芯片。</a:t>
              </a:r>
              <a:endParaRPr lang="en-US" altLang="zh-CN" sz="1600" kern="100" dirty="0">
                <a:solidFill>
                  <a:schemeClr val="bg1"/>
                </a:solidFill>
                <a:latin typeface="+mn-ea"/>
                <a:cs typeface="Times New Roman" panose="02020603050405020304" pitchFamily="18" charset="0"/>
              </a:endParaRPr>
            </a:p>
            <a:p>
              <a:pPr>
                <a:lnSpc>
                  <a:spcPct val="150000"/>
                </a:lnSpc>
              </a:pPr>
              <a:endParaRPr lang="en-US" altLang="zh-CN" sz="1600" kern="100" dirty="0">
                <a:solidFill>
                  <a:schemeClr val="bg1"/>
                </a:solidFill>
                <a:latin typeface="+mn-ea"/>
                <a:cs typeface="Times New Roman" panose="02020603050405020304" pitchFamily="18" charset="0"/>
              </a:endParaRPr>
            </a:p>
            <a:p>
              <a:pPr>
                <a:lnSpc>
                  <a:spcPct val="150000"/>
                </a:lnSpc>
              </a:pPr>
              <a:r>
                <a:rPr lang="en-US" altLang="zh-CN" sz="1600" kern="100" dirty="0">
                  <a:solidFill>
                    <a:schemeClr val="bg1"/>
                  </a:solidFill>
                  <a:latin typeface="+mn-ea"/>
                  <a:cs typeface="Times New Roman" panose="02020603050405020304" pitchFamily="18" charset="0"/>
                </a:rPr>
                <a:t>SCT2433</a:t>
              </a:r>
              <a:r>
                <a:rPr lang="zh-CN" altLang="zh-CN" sz="1600" kern="100" dirty="0">
                  <a:solidFill>
                    <a:schemeClr val="bg1"/>
                  </a:solidFill>
                  <a:latin typeface="+mn-ea"/>
                  <a:cs typeface="Times New Roman" panose="02020603050405020304" pitchFamily="18" charset="0"/>
                </a:rPr>
                <a:t>的主要性能及特点如下：</a:t>
              </a:r>
              <a:endParaRPr lang="en-US" altLang="zh-CN" sz="1600" kern="100" dirty="0">
                <a:solidFill>
                  <a:schemeClr val="bg1"/>
                </a:solidFill>
                <a:latin typeface="+mn-ea"/>
                <a:cs typeface="Times New Roman" panose="02020603050405020304" pitchFamily="18" charset="0"/>
              </a:endParaRPr>
            </a:p>
            <a:p>
              <a:pPr>
                <a:lnSpc>
                  <a:spcPct val="150000"/>
                </a:lnSpc>
              </a:pPr>
              <a:r>
                <a:rPr lang="zh-CN" altLang="zh-CN" sz="1600" kern="100" dirty="0">
                  <a:solidFill>
                    <a:schemeClr val="bg1"/>
                  </a:solidFill>
                  <a:latin typeface="+mn-ea"/>
                  <a:cs typeface="Times New Roman" panose="02020603050405020304" pitchFamily="18" charset="0"/>
                </a:rPr>
                <a:t>输入电压范围从</a:t>
              </a:r>
              <a:r>
                <a:rPr lang="en-US" altLang="zh-CN" sz="1600" kern="100" dirty="0">
                  <a:solidFill>
                    <a:schemeClr val="bg1"/>
                  </a:solidFill>
                  <a:latin typeface="+mn-ea"/>
                  <a:cs typeface="Times New Roman" panose="02020603050405020304" pitchFamily="18" charset="0"/>
                </a:rPr>
                <a:t> 3.8~40V</a:t>
              </a:r>
              <a:r>
                <a:rPr lang="zh-CN" altLang="zh-CN" sz="1600" kern="100" dirty="0">
                  <a:solidFill>
                    <a:schemeClr val="bg1"/>
                  </a:solidFill>
                  <a:latin typeface="+mn-ea"/>
                  <a:cs typeface="Times New Roman" panose="02020603050405020304" pitchFamily="18" charset="0"/>
                </a:rPr>
                <a:t>，即使用太阳能电池直接供电，</a:t>
              </a:r>
              <a:r>
                <a:rPr lang="en-US" altLang="zh-CN" sz="1600" kern="100" dirty="0">
                  <a:solidFill>
                    <a:schemeClr val="bg1"/>
                  </a:solidFill>
                  <a:latin typeface="+mn-ea"/>
                  <a:cs typeface="Times New Roman" panose="02020603050405020304" pitchFamily="18" charset="0"/>
                </a:rPr>
                <a:t> SCT2433 </a:t>
              </a:r>
              <a:r>
                <a:rPr lang="zh-CN" altLang="zh-CN" sz="1600" kern="100" dirty="0">
                  <a:solidFill>
                    <a:schemeClr val="bg1"/>
                  </a:solidFill>
                  <a:latin typeface="+mn-ea"/>
                  <a:cs typeface="Times New Roman" panose="02020603050405020304" pitchFamily="18" charset="0"/>
                </a:rPr>
                <a:t>也能满足要求；器件内部含有放大器补偿反馈电路，能够减少外部器件的布局；工作温度为</a:t>
              </a:r>
              <a:r>
                <a:rPr lang="zh-CN" altLang="en-US" sz="1600" kern="100" dirty="0">
                  <a:solidFill>
                    <a:schemeClr val="bg1"/>
                  </a:solidFill>
                  <a:latin typeface="+mn-ea"/>
                  <a:cs typeface="Times New Roman" panose="02020603050405020304" pitchFamily="18" charset="0"/>
                </a:rPr>
                <a:t>范围大</a:t>
              </a:r>
              <a:r>
                <a:rPr lang="zh-CN" altLang="zh-CN" sz="1600" kern="100" dirty="0">
                  <a:solidFill>
                    <a:schemeClr val="bg1"/>
                  </a:solidFill>
                  <a:latin typeface="+mn-ea"/>
                  <a:cs typeface="Times New Roman" panose="02020603050405020304" pitchFamily="18" charset="0"/>
                </a:rPr>
                <a:t>，能有效适用于输电线路所处的高低温环境中。 </a:t>
              </a:r>
            </a:p>
          </p:txBody>
        </p:sp>
      </p:grpSp>
      <p:pic>
        <p:nvPicPr>
          <p:cNvPr id="11" name="图片 10">
            <a:extLst>
              <a:ext uri="{FF2B5EF4-FFF2-40B4-BE49-F238E27FC236}">
                <a16:creationId xmlns:a16="http://schemas.microsoft.com/office/drawing/2014/main" id="{53EC69D9-031E-417E-9B2F-8B86500A51B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27133"/>
          <a:stretch/>
        </p:blipFill>
        <p:spPr>
          <a:xfrm>
            <a:off x="7688926" y="973128"/>
            <a:ext cx="4278284" cy="2828023"/>
          </a:xfrm>
          <a:prstGeom prst="rect">
            <a:avLst/>
          </a:prstGeom>
        </p:spPr>
      </p:pic>
    </p:spTree>
    <p:extLst>
      <p:ext uri="{BB962C8B-B14F-4D97-AF65-F5344CB8AC3E}">
        <p14:creationId xmlns:p14="http://schemas.microsoft.com/office/powerpoint/2010/main" val="417698352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554015" y="2113643"/>
            <a:ext cx="5070000" cy="2757715"/>
            <a:chOff x="3561000" y="1785257"/>
            <a:chExt cx="5070000" cy="2757715"/>
          </a:xfrm>
        </p:grpSpPr>
        <p:sp>
          <p:nvSpPr>
            <p:cNvPr id="7" name="椭圆 6"/>
            <p:cNvSpPr/>
            <p:nvPr/>
          </p:nvSpPr>
          <p:spPr>
            <a:xfrm>
              <a:off x="5523152" y="1785257"/>
              <a:ext cx="1145697" cy="1145697"/>
            </a:xfrm>
            <a:prstGeom prst="ellipse">
              <a:avLst/>
            </a:prstGeom>
            <a:solidFill>
              <a:srgbClr val="57658E"/>
            </a:solidFill>
            <a:ln w="31750">
              <a:solidFill>
                <a:srgbClr val="FBFB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dirty="0">
                  <a:solidFill>
                    <a:srgbClr val="FCFBFC"/>
                  </a:solidFill>
                  <a:cs typeface="+mn-ea"/>
                  <a:sym typeface="+mn-lt"/>
                </a:rPr>
                <a:t>04</a:t>
              </a:r>
              <a:endParaRPr lang="zh-CN" altLang="en-US" sz="4000" dirty="0">
                <a:solidFill>
                  <a:srgbClr val="FCFBFC"/>
                </a:solidFill>
                <a:cs typeface="+mn-ea"/>
                <a:sym typeface="+mn-lt"/>
              </a:endParaRPr>
            </a:p>
          </p:txBody>
        </p:sp>
        <p:sp>
          <p:nvSpPr>
            <p:cNvPr id="8" name="文本框 7"/>
            <p:cNvSpPr txBox="1"/>
            <p:nvPr/>
          </p:nvSpPr>
          <p:spPr>
            <a:xfrm>
              <a:off x="5941060" y="3100585"/>
              <a:ext cx="309880" cy="829945"/>
            </a:xfrm>
            <a:prstGeom prst="rect">
              <a:avLst/>
            </a:prstGeom>
            <a:noFill/>
          </p:spPr>
          <p:txBody>
            <a:bodyPr wrap="none" rtlCol="0">
              <a:spAutoFit/>
            </a:bodyPr>
            <a:lstStyle/>
            <a:p>
              <a:pPr algn="ctr"/>
              <a:endParaRPr lang="zh-CN" altLang="en-US" sz="4800">
                <a:solidFill>
                  <a:srgbClr val="57658E"/>
                </a:solidFill>
                <a:cs typeface="+mn-ea"/>
                <a:sym typeface="+mn-lt"/>
              </a:endParaRPr>
            </a:p>
          </p:txBody>
        </p:sp>
        <p:sp>
          <p:nvSpPr>
            <p:cNvPr id="9" name="文本框 8"/>
            <p:cNvSpPr txBox="1"/>
            <p:nvPr/>
          </p:nvSpPr>
          <p:spPr>
            <a:xfrm>
              <a:off x="3561000" y="3908270"/>
              <a:ext cx="5070000" cy="506730"/>
            </a:xfrm>
            <a:prstGeom prst="rect">
              <a:avLst/>
            </a:prstGeom>
            <a:noFill/>
          </p:spPr>
          <p:txBody>
            <a:bodyPr wrap="square" rtlCol="0">
              <a:spAutoFit/>
            </a:bodyPr>
            <a:lstStyle/>
            <a:p>
              <a:pPr algn="ctr">
                <a:lnSpc>
                  <a:spcPct val="150000"/>
                </a:lnSpc>
              </a:pPr>
              <a:endParaRPr lang="en-US" altLang="zh-CN">
                <a:solidFill>
                  <a:srgbClr val="57658E"/>
                </a:solidFill>
                <a:cs typeface="+mn-ea"/>
                <a:sym typeface="+mn-lt"/>
              </a:endParaRPr>
            </a:p>
          </p:txBody>
        </p:sp>
        <p:cxnSp>
          <p:nvCxnSpPr>
            <p:cNvPr id="11" name="直接连接符 10"/>
            <p:cNvCxnSpPr/>
            <p:nvPr/>
          </p:nvCxnSpPr>
          <p:spPr>
            <a:xfrm>
              <a:off x="5631543" y="4542972"/>
              <a:ext cx="928914" cy="0"/>
            </a:xfrm>
            <a:prstGeom prst="line">
              <a:avLst/>
            </a:prstGeom>
            <a:ln w="127000" cap="rnd">
              <a:solidFill>
                <a:srgbClr val="E9DAC6"/>
              </a:solidFill>
              <a:round/>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29EA8E0B-9075-4BA7-AEBA-1B9A2067B0CF}"/>
              </a:ext>
            </a:extLst>
          </p:cNvPr>
          <p:cNvSpPr txBox="1"/>
          <p:nvPr/>
        </p:nvSpPr>
        <p:spPr>
          <a:xfrm>
            <a:off x="4303911" y="3720580"/>
            <a:ext cx="3570208" cy="769441"/>
          </a:xfrm>
          <a:prstGeom prst="rect">
            <a:avLst/>
          </a:prstGeom>
          <a:noFill/>
        </p:spPr>
        <p:txBody>
          <a:bodyPr wrap="none" rtlCol="0">
            <a:spAutoFit/>
          </a:bodyPr>
          <a:lstStyle/>
          <a:p>
            <a:r>
              <a:rPr lang="zh-CN" altLang="en-US" sz="4400" b="1" dirty="0">
                <a:solidFill>
                  <a:srgbClr val="57658E"/>
                </a:solidFill>
                <a:cs typeface="+mn-ea"/>
                <a:sym typeface="+mn-lt"/>
              </a:rPr>
              <a:t>关键技术难点</a:t>
            </a:r>
          </a:p>
        </p:txBody>
      </p:sp>
    </p:spTree>
    <p:extLst>
      <p:ext uri="{BB962C8B-B14F-4D97-AF65-F5344CB8AC3E}">
        <p14:creationId xmlns:p14="http://schemas.microsoft.com/office/powerpoint/2010/main" val="187799550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custDataLst>
              <p:tags r:id="rId1"/>
            </p:custDataLst>
          </p:nvPr>
        </p:nvGrpSpPr>
        <p:grpSpPr>
          <a:xfrm>
            <a:off x="831259" y="689956"/>
            <a:ext cx="4901884" cy="5599571"/>
            <a:chOff x="831259" y="1959430"/>
            <a:chExt cx="4901884" cy="4349297"/>
          </a:xfrm>
        </p:grpSpPr>
        <p:grpSp>
          <p:nvGrpSpPr>
            <p:cNvPr id="33" name="组合 32"/>
            <p:cNvGrpSpPr/>
            <p:nvPr/>
          </p:nvGrpSpPr>
          <p:grpSpPr>
            <a:xfrm>
              <a:off x="831259" y="1959430"/>
              <a:ext cx="4901884" cy="2053218"/>
              <a:chOff x="831259" y="2017486"/>
              <a:chExt cx="4901884" cy="2053218"/>
            </a:xfrm>
          </p:grpSpPr>
          <p:sp>
            <p:nvSpPr>
              <p:cNvPr id="8" name="矩形 7"/>
              <p:cNvSpPr/>
              <p:nvPr>
                <p:custDataLst>
                  <p:tags r:id="rId12"/>
                </p:custDataLst>
              </p:nvPr>
            </p:nvSpPr>
            <p:spPr>
              <a:xfrm>
                <a:off x="831259" y="2017486"/>
                <a:ext cx="4901884" cy="2053218"/>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a:solidFill>
                    <a:srgbClr val="FCFBFC"/>
                  </a:solidFill>
                  <a:cs typeface="+mn-ea"/>
                  <a:sym typeface="+mn-lt"/>
                </a:endParaRPr>
              </a:p>
            </p:txBody>
          </p:sp>
          <p:grpSp>
            <p:nvGrpSpPr>
              <p:cNvPr id="9" name="组合 8"/>
              <p:cNvGrpSpPr/>
              <p:nvPr/>
            </p:nvGrpSpPr>
            <p:grpSpPr>
              <a:xfrm>
                <a:off x="1092529" y="2231301"/>
                <a:ext cx="4313977" cy="1620030"/>
                <a:chOff x="2725340" y="1929325"/>
                <a:chExt cx="4313977" cy="1620030"/>
              </a:xfrm>
            </p:grpSpPr>
            <p:sp>
              <p:nvSpPr>
                <p:cNvPr id="11" name="文本框 10"/>
                <p:cNvSpPr txBox="1"/>
                <p:nvPr>
                  <p:custDataLst>
                    <p:tags r:id="rId13"/>
                  </p:custDataLst>
                </p:nvPr>
              </p:nvSpPr>
              <p:spPr>
                <a:xfrm>
                  <a:off x="2725340" y="2077566"/>
                  <a:ext cx="4313977" cy="1471789"/>
                </a:xfrm>
                <a:prstGeom prst="rect">
                  <a:avLst/>
                </a:prstGeom>
                <a:noFill/>
              </p:spPr>
              <p:txBody>
                <a:bodyPr wrap="square" rtlCol="0">
                  <a:spAutoFit/>
                </a:bodyPr>
                <a:lstStyle/>
                <a:p>
                  <a:pPr>
                    <a:lnSpc>
                      <a:spcPct val="150000"/>
                    </a:lnSpc>
                  </a:pPr>
                  <a:r>
                    <a:rPr lang="en-US" altLang="zh-CN" sz="1600" dirty="0">
                      <a:solidFill>
                        <a:srgbClr val="FCFBFC"/>
                      </a:solidFill>
                      <a:cs typeface="+mn-ea"/>
                      <a:sym typeface="+mn-lt"/>
                    </a:rPr>
                    <a:t>1.</a:t>
                  </a:r>
                  <a:r>
                    <a:rPr lang="zh-CN" altLang="en-US" sz="1600" dirty="0">
                      <a:solidFill>
                        <a:srgbClr val="FCFBFC"/>
                      </a:solidFill>
                      <a:cs typeface="+mn-ea"/>
                      <a:sym typeface="+mn-lt"/>
                    </a:rPr>
                    <a:t>由于输电铁塔结构复杂，不同工况下应力复杂多变，需要借助一些仿真软件建立塔线体系有限元模型，分析铁塔在不同破坏事件下的应力特性，找出关键杆件分布，确定半导体应变式电阻传感器的安装位置。 </a:t>
                  </a:r>
                </a:p>
              </p:txBody>
            </p:sp>
            <p:cxnSp>
              <p:nvCxnSpPr>
                <p:cNvPr id="12" name="直接连接符 11"/>
                <p:cNvCxnSpPr/>
                <p:nvPr>
                  <p:custDataLst>
                    <p:tags r:id="rId14"/>
                  </p:custDataLst>
                </p:nvPr>
              </p:nvCxnSpPr>
              <p:spPr>
                <a:xfrm>
                  <a:off x="2725340" y="1929325"/>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nvGrpSpPr>
            <p:cNvPr id="34" name="组合 33"/>
            <p:cNvGrpSpPr/>
            <p:nvPr/>
          </p:nvGrpSpPr>
          <p:grpSpPr>
            <a:xfrm>
              <a:off x="831259" y="4255509"/>
              <a:ext cx="4901884" cy="2053218"/>
              <a:chOff x="831259" y="1970074"/>
              <a:chExt cx="4901884" cy="2053218"/>
            </a:xfrm>
          </p:grpSpPr>
          <p:sp>
            <p:nvSpPr>
              <p:cNvPr id="35" name="矩形 34"/>
              <p:cNvSpPr/>
              <p:nvPr>
                <p:custDataLst>
                  <p:tags r:id="rId9"/>
                </p:custDataLst>
              </p:nvPr>
            </p:nvSpPr>
            <p:spPr>
              <a:xfrm>
                <a:off x="831259" y="1970074"/>
                <a:ext cx="4901884" cy="2053218"/>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CFBFC"/>
                  </a:solidFill>
                  <a:cs typeface="+mn-ea"/>
                  <a:sym typeface="+mn-lt"/>
                </a:endParaRPr>
              </a:p>
            </p:txBody>
          </p:sp>
          <p:grpSp>
            <p:nvGrpSpPr>
              <p:cNvPr id="36" name="组合 35"/>
              <p:cNvGrpSpPr/>
              <p:nvPr/>
            </p:nvGrpSpPr>
            <p:grpSpPr>
              <a:xfrm>
                <a:off x="1092529" y="2146347"/>
                <a:ext cx="4409952" cy="1775583"/>
                <a:chOff x="2725340" y="1844371"/>
                <a:chExt cx="4409952" cy="1775583"/>
              </a:xfrm>
            </p:grpSpPr>
            <p:sp>
              <p:nvSpPr>
                <p:cNvPr id="38" name="文本框 37"/>
                <p:cNvSpPr txBox="1"/>
                <p:nvPr>
                  <p:custDataLst>
                    <p:tags r:id="rId10"/>
                  </p:custDataLst>
                </p:nvPr>
              </p:nvSpPr>
              <p:spPr>
                <a:xfrm>
                  <a:off x="2821315" y="1861298"/>
                  <a:ext cx="4313977" cy="1758656"/>
                </a:xfrm>
                <a:prstGeom prst="rect">
                  <a:avLst/>
                </a:prstGeom>
                <a:noFill/>
              </p:spPr>
              <p:txBody>
                <a:bodyPr wrap="square" rtlCol="0">
                  <a:spAutoFit/>
                </a:bodyPr>
                <a:lstStyle/>
                <a:p>
                  <a:pPr>
                    <a:lnSpc>
                      <a:spcPct val="150000"/>
                    </a:lnSpc>
                  </a:pPr>
                  <a:r>
                    <a:rPr lang="en-US" altLang="zh-CN" sz="1600" dirty="0">
                      <a:solidFill>
                        <a:schemeClr val="tx1"/>
                      </a:solidFill>
                      <a:cs typeface="+mn-ea"/>
                      <a:sym typeface="+mn-lt"/>
                    </a:rPr>
                    <a:t>2.</a:t>
                  </a:r>
                  <a:r>
                    <a:rPr lang="zh-CN" altLang="en-US" sz="1600" dirty="0">
                      <a:solidFill>
                        <a:schemeClr val="tx1"/>
                      </a:solidFill>
                      <a:cs typeface="+mn-ea"/>
                      <a:sym typeface="+mn-lt"/>
                    </a:rPr>
                    <a:t>传感器是采集铁塔应力的直接敏感元件，是整个在线监测系统的关键，该方案采用半导体应变式电阻传感器，尺寸、横向效应、机械滞后都很小，且灵敏系数大，但电阻值和灵敏系数的温度稳定性差，故需要采用措施进行温度补偿，以保证测量结果的准确性。</a:t>
                  </a:r>
                  <a:endParaRPr lang="en-US" altLang="zh-CN" sz="1600" dirty="0">
                    <a:solidFill>
                      <a:schemeClr val="tx1"/>
                    </a:solidFill>
                    <a:cs typeface="+mn-ea"/>
                    <a:sym typeface="+mn-lt"/>
                  </a:endParaRPr>
                </a:p>
              </p:txBody>
            </p:sp>
            <p:cxnSp>
              <p:nvCxnSpPr>
                <p:cNvPr id="39" name="直接连接符 38"/>
                <p:cNvCxnSpPr/>
                <p:nvPr>
                  <p:custDataLst>
                    <p:tags r:id="rId11"/>
                  </p:custDataLst>
                </p:nvPr>
              </p:nvCxnSpPr>
              <p:spPr>
                <a:xfrm>
                  <a:off x="2725340" y="1844371"/>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grpSp>
        <p:nvGrpSpPr>
          <p:cNvPr id="41" name="组合 40"/>
          <p:cNvGrpSpPr/>
          <p:nvPr>
            <p:custDataLst>
              <p:tags r:id="rId2"/>
            </p:custDataLst>
          </p:nvPr>
        </p:nvGrpSpPr>
        <p:grpSpPr>
          <a:xfrm>
            <a:off x="6458857" y="689956"/>
            <a:ext cx="4901884" cy="5619341"/>
            <a:chOff x="831259" y="1959430"/>
            <a:chExt cx="4901884" cy="4349296"/>
          </a:xfrm>
        </p:grpSpPr>
        <p:grpSp>
          <p:nvGrpSpPr>
            <p:cNvPr id="42" name="组合 41"/>
            <p:cNvGrpSpPr/>
            <p:nvPr/>
          </p:nvGrpSpPr>
          <p:grpSpPr>
            <a:xfrm>
              <a:off x="831259" y="1959430"/>
              <a:ext cx="4901884" cy="2045994"/>
              <a:chOff x="831259" y="2017486"/>
              <a:chExt cx="4901884" cy="2045994"/>
            </a:xfrm>
          </p:grpSpPr>
          <p:sp>
            <p:nvSpPr>
              <p:cNvPr id="49" name="矩形 48"/>
              <p:cNvSpPr/>
              <p:nvPr>
                <p:custDataLst>
                  <p:tags r:id="rId7"/>
                </p:custDataLst>
              </p:nvPr>
            </p:nvSpPr>
            <p:spPr>
              <a:xfrm>
                <a:off x="831259" y="2017486"/>
                <a:ext cx="4901884" cy="2045994"/>
              </a:xfrm>
              <a:prstGeom prst="rect">
                <a:avLst/>
              </a:prstGeom>
              <a:solidFill>
                <a:srgbClr val="E9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FBFC"/>
                  </a:solidFill>
                  <a:cs typeface="+mn-ea"/>
                  <a:sym typeface="+mn-lt"/>
                </a:endParaRPr>
              </a:p>
            </p:txBody>
          </p:sp>
          <p:cxnSp>
            <p:nvCxnSpPr>
              <p:cNvPr id="53" name="直接连接符 52"/>
              <p:cNvCxnSpPr/>
              <p:nvPr>
                <p:custDataLst>
                  <p:tags r:id="rId8"/>
                </p:custDataLst>
              </p:nvPr>
            </p:nvCxnSpPr>
            <p:spPr>
              <a:xfrm>
                <a:off x="1179622" y="2230549"/>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nvGrpSpPr>
            <p:cNvPr id="43" name="组合 42"/>
            <p:cNvGrpSpPr/>
            <p:nvPr/>
          </p:nvGrpSpPr>
          <p:grpSpPr>
            <a:xfrm>
              <a:off x="831259" y="3956196"/>
              <a:ext cx="4901884" cy="2352530"/>
              <a:chOff x="831259" y="1670761"/>
              <a:chExt cx="4901884" cy="2352530"/>
            </a:xfrm>
          </p:grpSpPr>
          <p:sp>
            <p:nvSpPr>
              <p:cNvPr id="44" name="矩形 43"/>
              <p:cNvSpPr/>
              <p:nvPr>
                <p:custDataLst>
                  <p:tags r:id="rId3"/>
                </p:custDataLst>
              </p:nvPr>
            </p:nvSpPr>
            <p:spPr>
              <a:xfrm>
                <a:off x="831259" y="1961995"/>
                <a:ext cx="4901884" cy="2061296"/>
              </a:xfrm>
              <a:prstGeom prst="rect">
                <a:avLst/>
              </a:prstGeom>
              <a:solidFill>
                <a:srgbClr val="5765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CFBFC"/>
                  </a:solidFill>
                  <a:cs typeface="+mn-ea"/>
                  <a:sym typeface="+mn-lt"/>
                </a:endParaRPr>
              </a:p>
            </p:txBody>
          </p:sp>
          <p:grpSp>
            <p:nvGrpSpPr>
              <p:cNvPr id="45" name="组合 44"/>
              <p:cNvGrpSpPr/>
              <p:nvPr/>
            </p:nvGrpSpPr>
            <p:grpSpPr>
              <a:xfrm>
                <a:off x="1059173" y="1670761"/>
                <a:ext cx="4481863" cy="1823043"/>
                <a:chOff x="2691984" y="1368785"/>
                <a:chExt cx="4481863" cy="1823043"/>
              </a:xfrm>
            </p:grpSpPr>
            <p:sp>
              <p:nvSpPr>
                <p:cNvPr id="46" name="文本框 45"/>
                <p:cNvSpPr txBox="1"/>
                <p:nvPr>
                  <p:custDataLst>
                    <p:tags r:id="rId4"/>
                  </p:custDataLst>
                </p:nvPr>
              </p:nvSpPr>
              <p:spPr>
                <a:xfrm>
                  <a:off x="2691984" y="1368785"/>
                  <a:ext cx="1415772" cy="357323"/>
                </a:xfrm>
                <a:prstGeom prst="rect">
                  <a:avLst/>
                </a:prstGeom>
                <a:noFill/>
              </p:spPr>
              <p:txBody>
                <a:bodyPr wrap="none" rtlCol="0">
                  <a:spAutoFit/>
                </a:bodyPr>
                <a:lstStyle/>
                <a:p>
                  <a:pPr algn="l"/>
                  <a:r>
                    <a:rPr lang="zh-CN" altLang="en-US" sz="2400" b="1" dirty="0">
                      <a:solidFill>
                        <a:srgbClr val="FCFBFC"/>
                      </a:solidFill>
                      <a:cs typeface="+mn-ea"/>
                      <a:sym typeface="+mn-lt"/>
                    </a:rPr>
                    <a:t>绝缘电阻</a:t>
                  </a:r>
                </a:p>
              </p:txBody>
            </p:sp>
            <p:sp>
              <p:nvSpPr>
                <p:cNvPr id="47" name="文本框 46"/>
                <p:cNvSpPr txBox="1"/>
                <p:nvPr>
                  <p:custDataLst>
                    <p:tags r:id="rId5"/>
                  </p:custDataLst>
                </p:nvPr>
              </p:nvSpPr>
              <p:spPr>
                <a:xfrm>
                  <a:off x="2859870" y="2011075"/>
                  <a:ext cx="4313977" cy="1180753"/>
                </a:xfrm>
                <a:prstGeom prst="rect">
                  <a:avLst/>
                </a:prstGeom>
                <a:noFill/>
              </p:spPr>
              <p:txBody>
                <a:bodyPr wrap="square" rtlCol="0">
                  <a:spAutoFit/>
                </a:bodyPr>
                <a:lstStyle/>
                <a:p>
                  <a:pPr>
                    <a:lnSpc>
                      <a:spcPct val="150000"/>
                    </a:lnSpc>
                  </a:pPr>
                  <a:r>
                    <a:rPr lang="en-US" altLang="zh-CN" sz="1600" dirty="0">
                      <a:solidFill>
                        <a:srgbClr val="FCFBFC"/>
                      </a:solidFill>
                      <a:cs typeface="+mn-ea"/>
                      <a:sym typeface="+mn-lt"/>
                    </a:rPr>
                    <a:t>4.</a:t>
                  </a:r>
                  <a:r>
                    <a:rPr lang="zh-CN" altLang="en-US" sz="1600" dirty="0">
                      <a:solidFill>
                        <a:srgbClr val="FCFBFC"/>
                      </a:solidFill>
                      <a:cs typeface="+mn-ea"/>
                      <a:sym typeface="+mn-lt"/>
                    </a:rPr>
                    <a:t>在野外无市电环境下，因为太阳能易受天气、灰尘遮挡等影响，会导致能量收集不稳定，同时极端温度下电池等会失效，故需要设计混合供电系统及低温优化等工作。</a:t>
                  </a:r>
                </a:p>
              </p:txBody>
            </p:sp>
            <p:cxnSp>
              <p:nvCxnSpPr>
                <p:cNvPr id="48" name="直接连接符 47"/>
                <p:cNvCxnSpPr/>
                <p:nvPr>
                  <p:custDataLst>
                    <p:tags r:id="rId6"/>
                  </p:custDataLst>
                </p:nvPr>
              </p:nvCxnSpPr>
              <p:spPr>
                <a:xfrm>
                  <a:off x="2859870" y="1790322"/>
                  <a:ext cx="540000" cy="0"/>
                </a:xfrm>
                <a:prstGeom prst="line">
                  <a:avLst/>
                </a:prstGeom>
                <a:ln w="63500" cap="rnd">
                  <a:solidFill>
                    <a:srgbClr val="FCFBFC"/>
                  </a:solidFill>
                  <a:round/>
                </a:ln>
              </p:spPr>
              <p:style>
                <a:lnRef idx="1">
                  <a:schemeClr val="accent1"/>
                </a:lnRef>
                <a:fillRef idx="0">
                  <a:schemeClr val="accent1"/>
                </a:fillRef>
                <a:effectRef idx="0">
                  <a:schemeClr val="accent1"/>
                </a:effectRef>
                <a:fontRef idx="minor">
                  <a:schemeClr val="tx1"/>
                </a:fontRef>
              </p:style>
            </p:cxnSp>
          </p:grpSp>
        </p:grpSp>
      </p:grpSp>
      <p:sp>
        <p:nvSpPr>
          <p:cNvPr id="3" name="文本框 2"/>
          <p:cNvSpPr txBox="1"/>
          <p:nvPr/>
        </p:nvSpPr>
        <p:spPr>
          <a:xfrm>
            <a:off x="6979645" y="1308492"/>
            <a:ext cx="4064000" cy="1525546"/>
          </a:xfrm>
          <a:prstGeom prst="rect">
            <a:avLst/>
          </a:prstGeom>
          <a:noFill/>
        </p:spPr>
        <p:txBody>
          <a:bodyPr wrap="square" rtlCol="0">
            <a:spAutoFit/>
          </a:bodyPr>
          <a:lstStyle/>
          <a:p>
            <a:pPr>
              <a:lnSpc>
                <a:spcPct val="150000"/>
              </a:lnSpc>
            </a:pPr>
            <a:r>
              <a:rPr lang="en-US" altLang="zh-CN" sz="1600" dirty="0">
                <a:solidFill>
                  <a:schemeClr val="tx1"/>
                </a:solidFill>
              </a:rPr>
              <a:t>3.</a:t>
            </a:r>
            <a:r>
              <a:rPr lang="zh-CN" altLang="en-US" sz="1600" dirty="0">
                <a:solidFill>
                  <a:schemeClr val="tx1"/>
                </a:solidFill>
              </a:rPr>
              <a:t>测量电路、放大电路等长期运行在强电磁环境下，而且承担着数据处理、转发的任务，因此，在进行设计时必须保证其长期稳定运行。 </a:t>
            </a:r>
          </a:p>
        </p:txBody>
      </p:sp>
    </p:spTree>
    <p:extLst>
      <p:ext uri="{BB962C8B-B14F-4D97-AF65-F5344CB8AC3E}">
        <p14:creationId xmlns:p14="http://schemas.microsoft.com/office/powerpoint/2010/main" val="380184997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28"/>
          <p:cNvSpPr/>
          <p:nvPr/>
        </p:nvSpPr>
        <p:spPr>
          <a:xfrm>
            <a:off x="2201127" y="3649777"/>
            <a:ext cx="7956000" cy="324000"/>
          </a:xfrm>
          <a:prstGeom prst="parallelogram">
            <a:avLst/>
          </a:prstGeom>
          <a:solidFill>
            <a:srgbClr val="E9DAC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7658E"/>
              </a:solidFill>
              <a:cs typeface="+mn-ea"/>
              <a:sym typeface="+mn-lt"/>
            </a:endParaRPr>
          </a:p>
        </p:txBody>
      </p:sp>
      <p:sp>
        <p:nvSpPr>
          <p:cNvPr id="10" name="文本框 2"/>
          <p:cNvSpPr txBox="1"/>
          <p:nvPr>
            <p:custDataLst>
              <p:tags r:id="rId1"/>
            </p:custDataLst>
          </p:nvPr>
        </p:nvSpPr>
        <p:spPr>
          <a:xfrm>
            <a:off x="1340210" y="2768639"/>
            <a:ext cx="9511579" cy="1205138"/>
          </a:xfrm>
          <a:prstGeom prst="rect">
            <a:avLst/>
          </a:prstGeom>
        </p:spPr>
        <p:txBody>
          <a:bodyPr wrap="square">
            <a:spAutoFit/>
            <a:scene3d>
              <a:camera prst="orthographicFront"/>
              <a:lightRig rig="threePt" dir="t"/>
            </a:scene3d>
            <a:sp3d contourW="12700"/>
          </a:bodyPr>
          <a:lstStyle>
            <a:defPPr>
              <a:defRPr lang="zh-CN"/>
            </a:defPPr>
            <a:lvl1pPr marR="0" lvl="0" indent="0" fontAlgn="auto">
              <a:lnSpc>
                <a:spcPct val="120000"/>
              </a:lnSpc>
              <a:spcBef>
                <a:spcPct val="0"/>
              </a:spcBef>
              <a:spcAft>
                <a:spcPct val="0"/>
              </a:spcAft>
              <a:buClrTx/>
              <a:buSzTx/>
              <a:buFontTx/>
              <a:buNone/>
              <a:defRPr kumimoji="0" sz="5400" b="1" i="0" u="none" strike="noStrike" cap="none" spc="0" normalizeH="0" baseline="0">
                <a:ln>
                  <a:noFill/>
                </a:ln>
                <a:gradFill>
                  <a:gsLst>
                    <a:gs pos="0">
                      <a:srgbClr val="CDA23D"/>
                    </a:gs>
                    <a:gs pos="55000">
                      <a:srgbClr val="E1B64A"/>
                    </a:gs>
                    <a:gs pos="100000">
                      <a:srgbClr val="F7E880">
                        <a:lumMod val="99000"/>
                      </a:srgbClr>
                    </a:gs>
                  </a:gsLst>
                  <a:lin ang="2700000" scaled="1"/>
                </a:gradFill>
                <a:effectLst/>
                <a:uLnTx/>
                <a:uFillTx/>
                <a:latin typeface="Arial" panose="020B0604020202020204" pitchFamily="34" charset="0"/>
                <a:ea typeface="微软雅黑" panose="020B0503020204020204" pitchFamily="34" charset="-122"/>
              </a:defRPr>
            </a:lvl1pPr>
          </a:lstStyle>
          <a:p>
            <a:pPr algn="ctr"/>
            <a:r>
              <a:rPr lang="zh-CN" altLang="en-US" sz="6600" dirty="0">
                <a:solidFill>
                  <a:srgbClr val="57658E"/>
                </a:solidFill>
                <a:latin typeface="+mn-ea"/>
                <a:ea typeface="+mn-ea"/>
                <a:cs typeface="+mn-ea"/>
                <a:sym typeface="+mn-lt"/>
              </a:rPr>
              <a:t>谢谢大家</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4393.0"/>
  <p:tag name="AS_RELEASE_DATE" val="2017.10.11"/>
  <p:tag name="AS_TITLE" val="Aspose.Slides for .NET 2.0"/>
  <p:tag name="AS_VERSION" val="17.9.1"/>
  <p:tag name="COMMONDATA" val="eyJoZGlkIjoiZjAxODA5MTBmOTEyMzc5ZTk5YzcwMmE0YWZmZjBmM2EifQ=="/>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59.3867716535433,&quot;left&quot;:82.48204724409449,&quot;top&quot;:131.68913385826772,&quot;width&quot;:795.0359842519684}"/>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59.3867716535433,&quot;left&quot;:82.48204724409449,&quot;top&quot;:131.68913385826772,&quot;width&quot;:795.0359842519684}"/>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59.3867716535433,&quot;left&quot;:82.48204724409449,&quot;top&quot;:131.68913385826772,&quot;width&quot;:795.0359842519684}"/>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59.3867716535433,&quot;left&quot;:82.48204724409449,&quot;top&quot;:131.68913385826772,&quot;width&quot;:795.0359842519684}"/>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59.3867716535433,&quot;left&quot;:82.48204724409449,&quot;top&quot;:131.68913385826772,&quot;width&quot;:795.0359842519684}"/>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59.3867716535433,&quot;left&quot;:82.48204724409449,&quot;top&quot;:131.68913385826772,&quot;width&quot;:795.0359842519684}"/>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59.3867716535433,&quot;left&quot;:82.48204724409449,&quot;top&quot;:131.68913385826772,&quot;width&quot;:795.0359842519684}"/>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59.3867716535433,&quot;left&quot;:82.48204724409449,&quot;top&quot;:131.68913385826772,&quot;width&quot;:795.0359842519684}"/>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59.3867716535433,&quot;left&quot;:82.48204724409449,&quot;top&quot;:131.68913385826772,&quot;width&quot;:795.0359842519684}"/>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59.3867716535433,&quot;left&quot;:82.48204724409449,&quot;top&quot;:131.68913385826772,&quot;width&quot;:795.0359842519684}"/>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59.3867716535433,&quot;left&quot;:82.48204724409449,&quot;top&quot;:131.68913385826772,&quot;width&quot;:795.0359842519684}"/>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27.3707086614173,&quot;left&quot;:63.46968503937006,&quot;top&quot;:170.96385826771652,&quot;width&quot;:840.5304724409449}"/>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487.2173217788577,&quot;left&quot;:83.33204724409447,&quot;top&quot;:70.89162668919849,&quot;width&quot;:795.0359842519686}"/>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quot;top&quot;:154.28582677165355,&quot;width&quot;:828.835748031496}"/>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52.29960629921266,&quot;left&quot;:65.45346456692913,&quot;top&quot;:154.28582677165355,&quot;width&quot;:828.8322834645669}"/>
</p:tagLst>
</file>

<file path=ppt/tags/tag146.xml><?xml version="1.0" encoding="utf-8"?>
<p:tagLst xmlns:a="http://schemas.openxmlformats.org/drawingml/2006/main" xmlns:r="http://schemas.openxmlformats.org/officeDocument/2006/relationships" xmlns:p="http://schemas.openxmlformats.org/presentationml/2006/main">
  <p:tag name="PA" val="v4.1.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zih1w3w">
      <a:majorFont>
        <a:latin typeface="Century Gothic"/>
        <a:ea typeface="微软雅黑"/>
        <a:cs typeface="Arial"/>
      </a:majorFont>
      <a:minorFont>
        <a:latin typeface="Century Gothic"/>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941</TotalTime>
  <Words>3131</Words>
  <Application>Microsoft Office PowerPoint</Application>
  <PresentationFormat>宽屏</PresentationFormat>
  <Paragraphs>273</Paragraphs>
  <Slides>38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OPPOSans B</vt:lpstr>
      <vt:lpstr>黑体</vt:lpstr>
      <vt:lpstr>宋体</vt:lpstr>
      <vt:lpstr>微软雅黑</vt:lpstr>
      <vt:lpstr>Arial</vt:lpstr>
      <vt:lpstr>Calibri</vt:lpstr>
      <vt:lpstr>Cambria Math</vt:lpstr>
      <vt:lpstr>Century Gothic</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姜涵</dc:creator>
  <cp:lastModifiedBy>Bin Yan</cp:lastModifiedBy>
  <cp:revision>52</cp:revision>
  <cp:lastPrinted>1900-01-01T00:00:00Z</cp:lastPrinted>
  <dcterms:created xsi:type="dcterms:W3CDTF">1900-01-01T00:00:00Z</dcterms:created>
  <dcterms:modified xsi:type="dcterms:W3CDTF">2025-04-17T02:55:11Z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E08F6C44EA80427F9B50435921A523FA_13</vt:lpwstr>
  </property>
  <property fmtid="{D5CDD505-2E9C-101B-9397-08002B2CF9AE}" pid="3" name="KSOProductBuildVer">
    <vt:lpwstr>2052-12.1.0.15990</vt:lpwstr>
  </property>
</Properties>
</file>